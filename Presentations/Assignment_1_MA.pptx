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1190" r:id="rId6"/>
    <p:sldId id="118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DD2"/>
    <a:srgbClr val="6899E2"/>
    <a:srgbClr val="78ADD2"/>
    <a:srgbClr val="B8CFF2"/>
    <a:srgbClr val="266CCC"/>
    <a:srgbClr val="215EB3"/>
    <a:srgbClr val="1D5199"/>
    <a:srgbClr val="194787"/>
    <a:srgbClr val="184482"/>
    <a:srgbClr val="1B4E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>
        <p:scale>
          <a:sx n="77" d="100"/>
          <a:sy n="77" d="100"/>
        </p:scale>
        <p:origin x="806" y="43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F70A90-CA7E-49EB-AB17-C37FEDD075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7711EA-1FBE-4E98-9D43-C2D65C45D0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ABEA4-9216-4FDF-AAE1-D8632908A8EC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CCD3C8-8930-4E0E-A891-B770724F2B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98FB5-86BC-42DA-9D05-F96D484814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5DCD-866D-47AE-A236-118539F5337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2322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A90D-FE7E-41AF-B03D-808D82937CB9}" type="datetimeFigureOut">
              <a:rPr lang="de-CH" smtClean="0"/>
              <a:t>04.03.2026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DDFD-030C-4D5A-B33E-3A7E7538D2B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14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Voyage Multimodal </a:t>
            </a:r>
            <a:r>
              <a:rPr lang="de-DE" dirty="0" err="1"/>
              <a:t>embeddings</a:t>
            </a:r>
            <a:r>
              <a:rPr lang="de-DE" dirty="0"/>
              <a:t> - Visual and </a:t>
            </a:r>
            <a:r>
              <a:rPr lang="de-DE" dirty="0" err="1"/>
              <a:t>textual</a:t>
            </a:r>
            <a:r>
              <a:rPr lang="de-DE" dirty="0"/>
              <a:t> </a:t>
            </a:r>
            <a:r>
              <a:rPr lang="de-DE" dirty="0" err="1"/>
              <a:t>features</a:t>
            </a:r>
            <a:r>
              <a:rPr lang="de-DE" dirty="0"/>
              <a:t> – </a:t>
            </a:r>
            <a:r>
              <a:rPr lang="de-DE" dirty="0" err="1"/>
              <a:t>hope</a:t>
            </a:r>
            <a:r>
              <a:rPr lang="de-DE" dirty="0"/>
              <a:t> that with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differentiation</a:t>
            </a:r>
            <a:r>
              <a:rPr lang="de-DE" dirty="0"/>
              <a:t> possible between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products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Dimensionality</a:t>
            </a:r>
            <a:r>
              <a:rPr lang="de-DE" dirty="0"/>
              <a:t> </a:t>
            </a:r>
            <a:r>
              <a:rPr lang="de-DE" dirty="0" err="1"/>
              <a:t>reduction</a:t>
            </a:r>
            <a:r>
              <a:rPr lang="de-DE" dirty="0"/>
              <a:t> because i did not </a:t>
            </a:r>
            <a:r>
              <a:rPr lang="de-DE" dirty="0" err="1"/>
              <a:t>get</a:t>
            </a:r>
            <a:r>
              <a:rPr lang="de-DE" dirty="0"/>
              <a:t> good and robust results with 2048 </a:t>
            </a:r>
            <a:r>
              <a:rPr lang="de-DE" dirty="0" err="1"/>
              <a:t>dimensions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because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dimensionality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Tried</a:t>
            </a:r>
            <a:r>
              <a:rPr lang="de-DE" dirty="0"/>
              <a:t> HDBSCAN and </a:t>
            </a:r>
            <a:r>
              <a:rPr lang="de-DE" dirty="0" err="1"/>
              <a:t>Kmeans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clustering</a:t>
            </a:r>
            <a:r>
              <a:rPr lang="de-DE" dirty="0"/>
              <a:t> but </a:t>
            </a:r>
            <a:r>
              <a:rPr lang="de-DE" dirty="0" err="1"/>
              <a:t>kmeans</a:t>
            </a:r>
            <a:r>
              <a:rPr lang="de-DE" dirty="0"/>
              <a:t> </a:t>
            </a:r>
            <a:r>
              <a:rPr lang="de-DE" dirty="0" err="1"/>
              <a:t>seemed</a:t>
            </a:r>
            <a:r>
              <a:rPr lang="de-DE" dirty="0"/>
              <a:t> to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since</a:t>
            </a:r>
            <a:r>
              <a:rPr lang="de-DE" dirty="0"/>
              <a:t> HDBSCAN was </a:t>
            </a:r>
            <a:r>
              <a:rPr lang="de-DE" dirty="0" err="1"/>
              <a:t>struggeling</a:t>
            </a:r>
            <a:r>
              <a:rPr lang="de-DE" dirty="0"/>
              <a:t> to </a:t>
            </a:r>
            <a:r>
              <a:rPr lang="de-DE" dirty="0" err="1"/>
              <a:t>differentiate</a:t>
            </a:r>
            <a:r>
              <a:rPr lang="de-DE" dirty="0"/>
              <a:t> between </a:t>
            </a:r>
            <a:r>
              <a:rPr lang="de-DE" dirty="0" err="1"/>
              <a:t>trousers</a:t>
            </a:r>
            <a:r>
              <a:rPr lang="de-DE" dirty="0"/>
              <a:t> and </a:t>
            </a:r>
            <a:r>
              <a:rPr lang="de-DE" dirty="0" err="1"/>
              <a:t>jackets</a:t>
            </a:r>
            <a:r>
              <a:rPr lang="de-DE" dirty="0"/>
              <a:t> – i </a:t>
            </a:r>
            <a:r>
              <a:rPr lang="de-DE" dirty="0" err="1"/>
              <a:t>gues</a:t>
            </a:r>
            <a:r>
              <a:rPr lang="de-DE" dirty="0"/>
              <a:t> because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sometimes</a:t>
            </a:r>
            <a:r>
              <a:rPr lang="de-DE" dirty="0"/>
              <a:t> </a:t>
            </a:r>
            <a:r>
              <a:rPr lang="de-DE" dirty="0" err="1"/>
              <a:t>trousers</a:t>
            </a:r>
            <a:r>
              <a:rPr lang="de-DE" dirty="0"/>
              <a:t> visible</a:t>
            </a:r>
          </a:p>
          <a:p>
            <a:endParaRPr lang="de-DE" dirty="0"/>
          </a:p>
          <a:p>
            <a:r>
              <a:rPr lang="de-DE" dirty="0"/>
              <a:t>To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clusters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kmeans</a:t>
            </a:r>
            <a:r>
              <a:rPr lang="de-DE" dirty="0"/>
              <a:t> i used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elbow</a:t>
            </a:r>
            <a:r>
              <a:rPr lang="de-DE" dirty="0"/>
              <a:t> </a:t>
            </a:r>
            <a:r>
              <a:rPr lang="de-DE" dirty="0" err="1"/>
              <a:t>method</a:t>
            </a:r>
            <a:r>
              <a:rPr lang="de-DE" dirty="0"/>
              <a:t> which did not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clear</a:t>
            </a:r>
            <a:r>
              <a:rPr lang="de-DE" dirty="0"/>
              <a:t> results on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clusters</a:t>
            </a:r>
            <a:r>
              <a:rPr lang="de-DE" dirty="0"/>
              <a:t> to pick </a:t>
            </a:r>
            <a:r>
              <a:rPr lang="de-DE" dirty="0">
                <a:sym typeface="Wingdings" panose="05000000000000000000" pitchFamily="2" charset="2"/>
              </a:rPr>
              <a:t> Silhouette score was a </a:t>
            </a:r>
            <a:r>
              <a:rPr lang="de-DE" dirty="0" err="1">
                <a:sym typeface="Wingdings" panose="05000000000000000000" pitchFamily="2" charset="2"/>
              </a:rPr>
              <a:t>lot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more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clear</a:t>
            </a:r>
            <a:r>
              <a:rPr lang="de-DE" dirty="0">
                <a:sym typeface="Wingdings" panose="05000000000000000000" pitchFamily="2" charset="2"/>
              </a:rPr>
              <a:t> so i </a:t>
            </a:r>
            <a:r>
              <a:rPr lang="de-DE" dirty="0" err="1">
                <a:sym typeface="Wingdings" panose="05000000000000000000" pitchFamily="2" charset="2"/>
              </a:rPr>
              <a:t>decided</a:t>
            </a:r>
            <a:r>
              <a:rPr lang="de-DE" dirty="0">
                <a:sym typeface="Wingdings" panose="05000000000000000000" pitchFamily="2" charset="2"/>
              </a:rPr>
              <a:t> on </a:t>
            </a:r>
            <a:r>
              <a:rPr lang="de-DE" dirty="0" err="1">
                <a:sym typeface="Wingdings" panose="05000000000000000000" pitchFamily="2" charset="2"/>
              </a:rPr>
              <a:t>using</a:t>
            </a:r>
            <a:r>
              <a:rPr lang="de-DE" dirty="0">
                <a:sym typeface="Wingdings" panose="05000000000000000000" pitchFamily="2" charset="2"/>
              </a:rPr>
              <a:t> 8 </a:t>
            </a:r>
            <a:r>
              <a:rPr lang="de-DE" dirty="0" err="1">
                <a:sym typeface="Wingdings" panose="05000000000000000000" pitchFamily="2" charset="2"/>
              </a:rPr>
              <a:t>clusters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5DDFD-030C-4D5A-B33E-3A7E7538D2B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9236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429338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640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pos="61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00241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92406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32532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/>
              <a:t>Organisationseinheit verbal</a:t>
            </a:r>
            <a:br>
              <a:rPr lang="de-DE"/>
            </a:br>
            <a:r>
              <a:rPr lang="de-DE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789257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9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5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‹Nr.›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371683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94385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842048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996394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08575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252988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‹Nr.›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de-DE" noProof="0"/>
              <a:t>Tabelle durch Klicken auf Symbol hinzufügen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92866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70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‹Nr.›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0960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164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4201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dplatzhalter 18" descr="Ein Bild, das Gebäude, Stadt, Schloss, Turm enthält.&#10;&#10;Automatisch generierte Beschreibung">
            <a:extLst>
              <a:ext uri="{FF2B5EF4-FFF2-40B4-BE49-F238E27FC236}">
                <a16:creationId xmlns:a16="http://schemas.microsoft.com/office/drawing/2014/main" id="{882FF669-564A-4497-A386-BA8B28F256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 b="461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AC1FB292-90C1-439C-8480-EB4116CF2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noProof="0" dirty="0">
                <a:ea typeface="+mj-lt"/>
                <a:cs typeface="+mj-lt"/>
              </a:rPr>
              <a:t>Assignment 1:</a:t>
            </a:r>
            <a:br>
              <a:rPr lang="en-US" sz="2400" noProof="0" dirty="0">
                <a:ea typeface="+mj-lt"/>
                <a:cs typeface="+mj-lt"/>
              </a:rPr>
            </a:br>
            <a:r>
              <a:rPr lang="en-US" sz="2400" noProof="0" dirty="0">
                <a:ea typeface="+mj-lt"/>
                <a:cs typeface="+mj-lt"/>
              </a:rPr>
              <a:t>Embedding Challenge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1ADABBC-2742-48DB-BA2B-E411F07CEE7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171C1F6-869F-40B1-8975-92FF2042F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sz="1600" b="1" noProof="0" dirty="0">
                <a:cs typeface="+mn-lt"/>
              </a:rPr>
              <a:t>Julius Voss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C6B18E6F-BDD9-4B0B-9B9E-C25187E0E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36168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02"/>
    </mc:Choice>
    <mc:Fallback xmlns="">
      <p:transition spd="slow" advTm="1410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D59B-742D-025E-BD09-3306E029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7A14E-39A0-DC48-010C-49D20FBF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Setup &amp; Model </a:t>
            </a:r>
            <a:r>
              <a:rPr lang="de-DE" dirty="0" err="1"/>
              <a:t>Selection</a:t>
            </a:r>
            <a:br>
              <a:rPr lang="de-DE" dirty="0"/>
            </a:br>
            <a:r>
              <a:rPr lang="de-DE" sz="800" dirty="0">
                <a:solidFill>
                  <a:schemeClr val="bg1"/>
                </a:solidFill>
              </a:rPr>
              <a:t>a</a:t>
            </a:r>
            <a:br>
              <a:rPr lang="de-DE" dirty="0"/>
            </a:br>
            <a:r>
              <a:rPr lang="en-US" sz="2000" dirty="0"/>
              <a:t>Reducing high-dimensional image-text data (Voyage AI) using UMAP, enabled a robust identification of 8 fashion product clusters.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C37F3D-0401-4858-87A7-08303556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668A99-D2EB-14F4-5468-6047A8B5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  <a:p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6F0994-E2A0-79F8-2D29-F6E9657C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2</a:t>
            </a:fld>
            <a:endParaRPr lang="de-CH" noProof="0"/>
          </a:p>
        </p:txBody>
      </p:sp>
      <p:pic>
        <p:nvPicPr>
          <p:cNvPr id="9" name="Bildplatzhalter 8">
            <a:extLst>
              <a:ext uri="{FF2B5EF4-FFF2-40B4-BE49-F238E27FC236}">
                <a16:creationId xmlns:a16="http://schemas.microsoft.com/office/drawing/2014/main" id="{F1094B2A-2D0F-5B43-CCF9-BA404149E0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/>
        </p:blipFill>
        <p:spPr>
          <a:xfrm>
            <a:off x="5435184" y="1285874"/>
            <a:ext cx="6182718" cy="5111047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F33C145-0350-9AB1-81FA-039F03D07B51}"/>
              </a:ext>
            </a:extLst>
          </p:cNvPr>
          <p:cNvGrpSpPr/>
          <p:nvPr/>
        </p:nvGrpSpPr>
        <p:grpSpPr>
          <a:xfrm>
            <a:off x="1580877" y="1638008"/>
            <a:ext cx="3854307" cy="1144652"/>
            <a:chOff x="6947044" y="1946658"/>
            <a:chExt cx="3854307" cy="1144652"/>
          </a:xfrm>
        </p:grpSpPr>
        <p:sp>
          <p:nvSpPr>
            <p:cNvPr id="8" name="Textplatzhalter 31">
              <a:extLst>
                <a:ext uri="{FF2B5EF4-FFF2-40B4-BE49-F238E27FC236}">
                  <a16:creationId xmlns:a16="http://schemas.microsoft.com/office/drawing/2014/main" id="{84C3FE62-6BAC-897C-D38F-8283C7EA3165}"/>
                </a:ext>
              </a:extLst>
            </p:cNvPr>
            <p:cNvSpPr txBox="1">
              <a:spLocks/>
            </p:cNvSpPr>
            <p:nvPr/>
          </p:nvSpPr>
          <p:spPr>
            <a:xfrm>
              <a:off x="6948000" y="1946658"/>
              <a:ext cx="3853351" cy="540955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8163" indent="-271463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10000" indent="-2700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80000" indent="-271463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50000" indent="-2700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Multi-modal Embeddings (Voyage)</a:t>
              </a:r>
              <a:endParaRPr lang="de-DE" dirty="0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6EA3660-7B9B-2BDE-5787-9D1E6EF34717}"/>
                </a:ext>
              </a:extLst>
            </p:cNvPr>
            <p:cNvSpPr txBox="1"/>
            <p:nvPr/>
          </p:nvSpPr>
          <p:spPr>
            <a:xfrm>
              <a:off x="6947044" y="2352646"/>
              <a:ext cx="38536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Combination of image and text data (2048 dimensions) for a comprehensive understanding of the product.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2719C0B-00F5-2127-CF8A-016864F3F269}"/>
              </a:ext>
            </a:extLst>
          </p:cNvPr>
          <p:cNvGrpSpPr/>
          <p:nvPr/>
        </p:nvGrpSpPr>
        <p:grpSpPr>
          <a:xfrm>
            <a:off x="1580877" y="2857401"/>
            <a:ext cx="3853940" cy="1142553"/>
            <a:chOff x="6947044" y="2905920"/>
            <a:chExt cx="3853940" cy="1142553"/>
          </a:xfrm>
        </p:grpSpPr>
        <p:sp>
          <p:nvSpPr>
            <p:cNvPr id="12" name="Textplatzhalter 31">
              <a:extLst>
                <a:ext uri="{FF2B5EF4-FFF2-40B4-BE49-F238E27FC236}">
                  <a16:creationId xmlns:a16="http://schemas.microsoft.com/office/drawing/2014/main" id="{4CF8A01A-FFB9-EAB3-63A6-413A5BBFA837}"/>
                </a:ext>
              </a:extLst>
            </p:cNvPr>
            <p:cNvSpPr txBox="1">
              <a:spLocks/>
            </p:cNvSpPr>
            <p:nvPr/>
          </p:nvSpPr>
          <p:spPr>
            <a:xfrm>
              <a:off x="6947633" y="2905920"/>
              <a:ext cx="3853351" cy="540955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8163" indent="-271463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10000" indent="-2700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80000" indent="-271463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50000" indent="-2700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Dimensionality Reduction (UMAP)</a:t>
              </a:r>
              <a:r>
                <a:rPr lang="de-DE" dirty="0"/>
                <a:t> 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002DC236-6DDE-888E-81C3-B6C381151F88}"/>
                </a:ext>
              </a:extLst>
            </p:cNvPr>
            <p:cNvSpPr txBox="1"/>
            <p:nvPr/>
          </p:nvSpPr>
          <p:spPr>
            <a:xfrm>
              <a:off x="6947044" y="3309809"/>
              <a:ext cx="385369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Compression from 2048 to 20 dimensions to sharpen the structures (curse of dimensionality).</a:t>
              </a:r>
              <a:r>
                <a:rPr lang="de-DE" sz="1400" dirty="0"/>
                <a:t>  </a:t>
              </a:r>
              <a:endParaRPr lang="en-US" sz="1400" dirty="0"/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B5F28B2-7B81-6CCE-ABC0-836FA08FA8BD}"/>
              </a:ext>
            </a:extLst>
          </p:cNvPr>
          <p:cNvGrpSpPr/>
          <p:nvPr/>
        </p:nvGrpSpPr>
        <p:grpSpPr>
          <a:xfrm>
            <a:off x="1580877" y="4177183"/>
            <a:ext cx="3853693" cy="931220"/>
            <a:chOff x="6947044" y="4074416"/>
            <a:chExt cx="3853693" cy="931220"/>
          </a:xfrm>
        </p:grpSpPr>
        <p:sp>
          <p:nvSpPr>
            <p:cNvPr id="15" name="Textplatzhalter 31">
              <a:extLst>
                <a:ext uri="{FF2B5EF4-FFF2-40B4-BE49-F238E27FC236}">
                  <a16:creationId xmlns:a16="http://schemas.microsoft.com/office/drawing/2014/main" id="{7AA73466-7A43-093B-94C0-EFB3653AB4BB}"/>
                </a:ext>
              </a:extLst>
            </p:cNvPr>
            <p:cNvSpPr txBox="1">
              <a:spLocks/>
            </p:cNvSpPr>
            <p:nvPr/>
          </p:nvSpPr>
          <p:spPr>
            <a:xfrm>
              <a:off x="6947386" y="4074416"/>
              <a:ext cx="3853351" cy="540955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8163" indent="-271463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10000" indent="-2700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80000" indent="-271463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50000" indent="-2700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Symbol" panose="05050102010706020507" pitchFamily="18" charset="2"/>
                <a:buChar char="-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Clustering with </a:t>
              </a:r>
              <a:r>
                <a:rPr lang="en-US" dirty="0" err="1"/>
                <a:t>KMeans</a:t>
              </a:r>
              <a:endParaRPr lang="de-DE" dirty="0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515A001-2263-EED6-BAB1-BBFFE3EAE124}"/>
                </a:ext>
              </a:extLst>
            </p:cNvPr>
            <p:cNvSpPr txBox="1"/>
            <p:nvPr/>
          </p:nvSpPr>
          <p:spPr>
            <a:xfrm>
              <a:off x="6947044" y="4482416"/>
              <a:ext cx="38536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/>
                <a:t>KMeans</a:t>
              </a:r>
              <a:r>
                <a:rPr lang="en-US" sz="1400" dirty="0"/>
                <a:t> delivers 8 stable, business-relevant, product segments</a:t>
              </a:r>
            </a:p>
          </p:txBody>
        </p:sp>
      </p:grpSp>
      <p:pic>
        <p:nvPicPr>
          <p:cNvPr id="20" name="Inhaltsplatzhalter 78">
            <a:extLst>
              <a:ext uri="{FF2B5EF4-FFF2-40B4-BE49-F238E27FC236}">
                <a16:creationId xmlns:a16="http://schemas.microsoft.com/office/drawing/2014/main" id="{11BB39EA-C64D-C3A7-8093-5B6F0F588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879371" y="1854963"/>
            <a:ext cx="648000" cy="6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nhaltsplatzhalter 86">
            <a:extLst>
              <a:ext uri="{FF2B5EF4-FFF2-40B4-BE49-F238E27FC236}">
                <a16:creationId xmlns:a16="http://schemas.microsoft.com/office/drawing/2014/main" id="{9F7398E1-8C59-E60A-95F2-238CC4E036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79371" y="4318793"/>
            <a:ext cx="648000" cy="648000"/>
          </a:xfrm>
          <a:prstGeom prst="rect">
            <a:avLst/>
          </a:prstGeom>
        </p:spPr>
      </p:pic>
      <p:pic>
        <p:nvPicPr>
          <p:cNvPr id="22" name="Inhaltsplatzhalter 109">
            <a:extLst>
              <a:ext uri="{FF2B5EF4-FFF2-40B4-BE49-F238E27FC236}">
                <a16:creationId xmlns:a16="http://schemas.microsoft.com/office/drawing/2014/main" id="{CC02CF77-291E-6DF8-DA30-9041DA9AFD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933029" y="3158803"/>
            <a:ext cx="539750" cy="53975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564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7B57A-EDA6-909B-2745-CEECB32A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Cluster Interpretation</a:t>
            </a:r>
            <a:br>
              <a:rPr lang="de-DE" dirty="0"/>
            </a:br>
            <a:r>
              <a:rPr lang="de-DE" sz="800" dirty="0">
                <a:solidFill>
                  <a:schemeClr val="bg1"/>
                </a:solidFill>
              </a:rPr>
              <a:t>a</a:t>
            </a:r>
            <a:br>
              <a:rPr lang="de-DE" dirty="0"/>
            </a:br>
            <a:r>
              <a:rPr lang="en-US" sz="2000" dirty="0"/>
              <a:t>Cross-referencing predicted clusters with manual category tags validates the model's high semantic accuracy.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BCE553-DE36-0EB6-BE5C-43E0D2EDC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04.03.2026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218AD0-A83F-EA78-9FFA-E8C0815D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BDADE5-00DA-D112-E3B5-6CDEEE55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3</a:t>
            </a:fld>
            <a:endParaRPr lang="de-CH" noProof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8711214C-5C6A-70F4-D4EB-661599A6E23E}"/>
              </a:ext>
            </a:extLst>
          </p:cNvPr>
          <p:cNvGrpSpPr>
            <a:grpSpLocks noChangeAspect="1"/>
          </p:cNvGrpSpPr>
          <p:nvPr/>
        </p:nvGrpSpPr>
        <p:grpSpPr>
          <a:xfrm>
            <a:off x="731837" y="1324528"/>
            <a:ext cx="5072742" cy="5152342"/>
            <a:chOff x="482874" y="710351"/>
            <a:chExt cx="5613125" cy="5701204"/>
          </a:xfrm>
        </p:grpSpPr>
        <p:pic>
          <p:nvPicPr>
            <p:cNvPr id="21" name="Grafik 20" descr="Ein Bild, das Screenshot, Design enthält.&#10;&#10;KI-generierte Inhalte können fehlerhaft sein.">
              <a:extLst>
                <a:ext uri="{FF2B5EF4-FFF2-40B4-BE49-F238E27FC236}">
                  <a16:creationId xmlns:a16="http://schemas.microsoft.com/office/drawing/2014/main" id="{1A45BBD7-4CE0-BDFD-F46E-5B4731E31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3936" y="4497030"/>
              <a:ext cx="4638675" cy="1914525"/>
            </a:xfrm>
            <a:prstGeom prst="rect">
              <a:avLst/>
            </a:prstGeom>
          </p:spPr>
        </p:pic>
        <p:pic>
          <p:nvPicPr>
            <p:cNvPr id="32" name="Grafik 31" descr="Ein Bild, das Zubehör, Handtasche, Tasche, Gepäck und Koffer enthält.&#10;&#10;KI-generierte Inhalte können fehlerhaft sein.">
              <a:extLst>
                <a:ext uri="{FF2B5EF4-FFF2-40B4-BE49-F238E27FC236}">
                  <a16:creationId xmlns:a16="http://schemas.microsoft.com/office/drawing/2014/main" id="{B49C7DE2-AD46-CC17-9B0E-C56A2830B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874" y="710351"/>
              <a:ext cx="2752725" cy="3771900"/>
            </a:xfrm>
            <a:prstGeom prst="rect">
              <a:avLst/>
            </a:prstGeom>
          </p:spPr>
        </p:pic>
        <p:pic>
          <p:nvPicPr>
            <p:cNvPr id="36" name="Grafik 35" descr="Ein Bild, das Kleidung, Ärmel, Muster (Modedesign), Freizeitkleidung enthält.&#10;&#10;KI-generierte Inhalte können fehlerhaft sein.">
              <a:extLst>
                <a:ext uri="{FF2B5EF4-FFF2-40B4-BE49-F238E27FC236}">
                  <a16:creationId xmlns:a16="http://schemas.microsoft.com/office/drawing/2014/main" id="{6B46B2A3-589C-F528-B99E-88B0C079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3274" y="715605"/>
              <a:ext cx="2752725" cy="3781425"/>
            </a:xfrm>
            <a:prstGeom prst="rect">
              <a:avLst/>
            </a:prstGeom>
          </p:spPr>
        </p:pic>
      </p:grpSp>
      <p:pic>
        <p:nvPicPr>
          <p:cNvPr id="40" name="Grafik 39" descr="Ein Bild, das Text, Screenshot, Zahl, parallel enthält.&#10;&#10;KI-generierte Inhalte können fehlerhaft sein.">
            <a:extLst>
              <a:ext uri="{FF2B5EF4-FFF2-40B4-BE49-F238E27FC236}">
                <a16:creationId xmlns:a16="http://schemas.microsoft.com/office/drawing/2014/main" id="{E7FF2963-4BC7-95A4-B276-6F53674E6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782" y="1657954"/>
            <a:ext cx="5390380" cy="447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51573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Präsentation3" id="{9C84984C-18ED-5E49-A574-15FF8A3954B8}" vid="{0B390235-9264-874C-ABEB-5D2188FC234E}"/>
    </a:ext>
  </a:extLst>
</a:theme>
</file>

<file path=ppt/theme/theme2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0F59E03F3A02E49BD70E31348545014" ma:contentTypeVersion="7" ma:contentTypeDescription="Ein neues Dokument erstellen." ma:contentTypeScope="" ma:versionID="907cdc0f808be0b4bc1373a5a8f6a492">
  <xsd:schema xmlns:xsd="http://www.w3.org/2001/XMLSchema" xmlns:xs="http://www.w3.org/2001/XMLSchema" xmlns:p="http://schemas.microsoft.com/office/2006/metadata/properties" xmlns:ns2="7fd05bba-d45d-467f-a5a8-3f2970e80e4a" targetNamespace="http://schemas.microsoft.com/office/2006/metadata/properties" ma:root="true" ma:fieldsID="6eaf8534fcc486a778b01aa1a7a62fa4" ns2:_="">
    <xsd:import namespace="7fd05bba-d45d-467f-a5a8-3f2970e80e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d05bba-d45d-467f-a5a8-3f2970e80e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7B52BC-33EF-4C54-820C-9984D5F8AFB1}">
  <ds:schemaRefs>
    <ds:schemaRef ds:uri="7fd05bba-d45d-467f-a5a8-3f2970e80e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0CFCB78-2973-46E2-963D-C72C98C43B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3B1C8D-BA84-44B8-B31F-BF26E7BAC85C}">
  <ds:schemaRefs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7fd05bba-d45d-467f-a5a8-3f2970e80e4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eth_pp_praesentation_ohne_klassifizierung</Template>
  <TotalTime>0</TotalTime>
  <Words>233</Words>
  <Application>Microsoft Office PowerPoint</Application>
  <PresentationFormat>Breitbild</PresentationFormat>
  <Paragraphs>22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Symbol</vt:lpstr>
      <vt:lpstr>Wingdings</vt:lpstr>
      <vt:lpstr>ETH Zürich</vt:lpstr>
      <vt:lpstr>Assignment 1: Embedding Challenge</vt:lpstr>
      <vt:lpstr>Setup &amp; Model Selection a Reducing high-dimensional image-text data (Voyage AI) using UMAP, enabled a robust identification of 8 fashion product clusters.</vt:lpstr>
      <vt:lpstr>Cluster Interpretation a Cross-referencing predicted clusters with manual category tags validates the model's high semantic accuracy.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Voss  Julius</dc:creator>
  <cp:lastModifiedBy>Voss  Julius</cp:lastModifiedBy>
  <cp:revision>10</cp:revision>
  <dcterms:created xsi:type="dcterms:W3CDTF">2025-11-07T08:31:52Z</dcterms:created>
  <dcterms:modified xsi:type="dcterms:W3CDTF">2026-03-05T11:58:24Z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0x010100D0F59E03F3A02E49BD70E31348545014</vt:lpwstr>
  </property>
</Properties>
</file>
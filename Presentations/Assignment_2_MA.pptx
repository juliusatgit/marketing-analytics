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1190" r:id="rId6"/>
    <p:sldId id="118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9E75"/>
    <a:srgbClr val="286DD2"/>
    <a:srgbClr val="6899E2"/>
    <a:srgbClr val="78ADD2"/>
    <a:srgbClr val="B8CFF2"/>
    <a:srgbClr val="266CCC"/>
    <a:srgbClr val="215EB3"/>
    <a:srgbClr val="1D5199"/>
    <a:srgbClr val="194787"/>
    <a:srgbClr val="1844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917" y="7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25.03.2026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25.03.2026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59236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25.03.2026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25.03.2026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25.03.2026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25.03.2026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25.03.2026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25.03.2026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25.03.2026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25.03.2026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25.03.2026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25.03.2026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de-DE" noProof="0"/>
              <a:t>Tabelle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25.03.2026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 descr="Ein Bild, das Gebäude, Stadt, Schloss, Turm enthält.&#10;&#10;Automatisch generierte Beschreibung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 b="461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noProof="0" dirty="0">
                <a:ea typeface="+mj-lt"/>
                <a:cs typeface="+mj-lt"/>
              </a:rPr>
              <a:t>Assignment 2:</a:t>
            </a:r>
            <a:br>
              <a:rPr lang="en-US" sz="2400" noProof="0" dirty="0">
                <a:ea typeface="+mj-lt"/>
                <a:cs typeface="+mj-lt"/>
              </a:rPr>
            </a:br>
            <a:r>
              <a:rPr lang="en-US" sz="2400" noProof="0" dirty="0">
                <a:ea typeface="+mj-lt"/>
                <a:cs typeface="+mj-lt"/>
              </a:rPr>
              <a:t>Baseline Challenge</a:t>
            </a:r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id="{11ADABBC-2742-48DB-BA2B-E411F07CEE7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sz="1600" b="1" noProof="0" dirty="0">
                <a:cs typeface="+mn-lt"/>
              </a:rPr>
              <a:t>Constantin </a:t>
            </a:r>
            <a:r>
              <a:rPr lang="en-US" sz="1600" b="1" noProof="0">
                <a:cs typeface="+mn-lt"/>
              </a:rPr>
              <a:t>Cimpoes, Julius </a:t>
            </a:r>
            <a:r>
              <a:rPr lang="en-US" sz="1600" b="1" noProof="0" dirty="0">
                <a:cs typeface="+mn-lt"/>
              </a:rPr>
              <a:t>Voss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02"/>
    </mc:Choice>
    <mc:Fallback xmlns="">
      <p:transition spd="slow" advTm="1410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6D59B-742D-025E-BD09-3306E0296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C37F3D-0401-4858-87A7-08303556E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25.03.2026</a:t>
            </a:fld>
            <a:endParaRPr lang="de-CH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668A99-D2EB-14F4-5468-6047A8B53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  <a:p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6F0994-E2A0-79F8-2D29-F6E9657C8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AA545B-3B28-6803-1E27-2A196AFAE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30" y="119556"/>
            <a:ext cx="10728325" cy="900000"/>
          </a:xfrm>
        </p:spPr>
        <p:txBody>
          <a:bodyPr/>
          <a:lstStyle/>
          <a:p>
            <a:r>
              <a:rPr lang="en-US" dirty="0"/>
              <a:t>RFM Baseline for CLV Prediction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38C4B1-8BA4-8DD6-388B-E7C0C4E144DA}"/>
              </a:ext>
            </a:extLst>
          </p:cNvPr>
          <p:cNvSpPr txBox="1"/>
          <p:nvPr/>
        </p:nvSpPr>
        <p:spPr>
          <a:xfrm>
            <a:off x="6348822" y="2038811"/>
            <a:ext cx="586657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●"/>
            </a:pPr>
            <a:r>
              <a:rPr lang="en-US" b="1" dirty="0"/>
              <a:t>Ridge Regression</a:t>
            </a:r>
            <a:r>
              <a:rPr lang="en-US" dirty="0"/>
              <a:t>: </a:t>
            </a:r>
            <a:r>
              <a:rPr lang="en-US" sz="1600" dirty="0"/>
              <a:t>The simple linear ridge model cannot handle customers who spent a lot in 2021 but stopped completely in 2023. It hallucinates high revenue for dead accounts</a:t>
            </a:r>
          </a:p>
          <a:p>
            <a:pPr marL="285750" indent="-285750">
              <a:buFont typeface="Arial" panose="020B0604020202020204" pitchFamily="34" charset="0"/>
              <a:buChar char="●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●"/>
            </a:pPr>
            <a:endParaRPr lang="en-US" sz="1600" dirty="0"/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●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●"/>
            </a:pPr>
            <a:r>
              <a:rPr lang="en-US" b="1" dirty="0" err="1"/>
              <a:t>LightGBM</a:t>
            </a:r>
            <a:r>
              <a:rPr lang="en-US" dirty="0"/>
              <a:t>: </a:t>
            </a:r>
            <a:r>
              <a:rPr lang="en-US" sz="1600" dirty="0"/>
              <a:t>We implement a tree-based model that can implicitly learn to ignore these churned customers. Upgrading to a tree-based model cuts the MAE by ~30%:</a:t>
            </a:r>
          </a:p>
          <a:p>
            <a:pPr marL="285750" indent="-285750">
              <a:buFont typeface="Arial" panose="020B0604020202020204" pitchFamily="34" charset="0"/>
              <a:buChar char="●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●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●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●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●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●"/>
            </a:pPr>
            <a:r>
              <a:rPr lang="en-US" b="1" dirty="0"/>
              <a:t>Next Steps</a:t>
            </a:r>
            <a:r>
              <a:rPr lang="en-US" dirty="0"/>
              <a:t>: </a:t>
            </a:r>
            <a:r>
              <a:rPr lang="en-US" sz="1600" dirty="0"/>
              <a:t>Pure RFM is insufficient to close the gap to the 93 NOK benchmark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73E8C4E-6B72-DE38-8DAE-1F0E44DCA590}"/>
              </a:ext>
            </a:extLst>
          </p:cNvPr>
          <p:cNvGrpSpPr/>
          <p:nvPr/>
        </p:nvGrpSpPr>
        <p:grpSpPr>
          <a:xfrm>
            <a:off x="122238" y="735339"/>
            <a:ext cx="6203183" cy="1626621"/>
            <a:chOff x="4924012" y="1256056"/>
            <a:chExt cx="7207830" cy="1626621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FE72850-96D5-C273-26F1-EC72D20FCF41}"/>
                </a:ext>
              </a:extLst>
            </p:cNvPr>
            <p:cNvSpPr txBox="1"/>
            <p:nvPr/>
          </p:nvSpPr>
          <p:spPr>
            <a:xfrm>
              <a:off x="4942917" y="1256056"/>
              <a:ext cx="9925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 dirty="0">
                  <a:ln/>
                  <a:solidFill>
                    <a:srgbClr val="B8B6D8"/>
                  </a:solidFill>
                  <a:latin typeface="Segoe UI"/>
                  <a:cs typeface="Segoe UI"/>
                  <a:sym typeface="Segoe UI"/>
                  <a:rtl val="0"/>
                </a:rPr>
                <a:t>Validation fold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9E0C421-6492-CC4B-0270-38CA8BF5EC4D}"/>
                </a:ext>
              </a:extLst>
            </p:cNvPr>
            <p:cNvSpPr txBox="1"/>
            <p:nvPr/>
          </p:nvSpPr>
          <p:spPr>
            <a:xfrm>
              <a:off x="4942582" y="1399684"/>
              <a:ext cx="107914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 dirty="0">
                  <a:ln/>
                  <a:solidFill>
                    <a:srgbClr val="625F8A"/>
                  </a:solidFill>
                  <a:latin typeface="Segoe UI"/>
                  <a:cs typeface="Segoe UI"/>
                  <a:sym typeface="Segoe UI"/>
                  <a:rtl val="0"/>
                </a:rPr>
                <a:t>(current testing)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3A4AAAF-731E-4D68-68AD-966770499C6F}"/>
                </a:ext>
              </a:extLst>
            </p:cNvPr>
            <p:cNvSpPr txBox="1"/>
            <p:nvPr/>
          </p:nvSpPr>
          <p:spPr>
            <a:xfrm>
              <a:off x="4924718" y="1941856"/>
              <a:ext cx="108074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 dirty="0">
                  <a:ln/>
                  <a:solidFill>
                    <a:srgbClr val="B8B6D8"/>
                  </a:solidFill>
                  <a:latin typeface="Segoe UI"/>
                  <a:cs typeface="Segoe UI"/>
                  <a:sym typeface="Segoe UI"/>
                  <a:rtl val="0"/>
                </a:rPr>
                <a:t>Final submission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7F49F98-E120-17E6-34B1-E066F4FC4A24}"/>
                </a:ext>
              </a:extLst>
            </p:cNvPr>
            <p:cNvSpPr txBox="1"/>
            <p:nvPr/>
          </p:nvSpPr>
          <p:spPr>
            <a:xfrm>
              <a:off x="4924012" y="2085484"/>
              <a:ext cx="12025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 dirty="0">
                  <a:ln/>
                  <a:solidFill>
                    <a:srgbClr val="625F8A"/>
                  </a:solidFill>
                  <a:latin typeface="Segoe UI"/>
                  <a:cs typeface="Segoe UI"/>
                  <a:sym typeface="Segoe UI"/>
                  <a:rtl val="0"/>
                </a:rPr>
                <a:t>(future prediction)</a:t>
              </a: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B03F168B-92EB-8CA8-C89A-89D0DA73297F}"/>
                </a:ext>
              </a:extLst>
            </p:cNvPr>
            <p:cNvSpPr/>
            <p:nvPr/>
          </p:nvSpPr>
          <p:spPr>
            <a:xfrm>
              <a:off x="6210300" y="1257300"/>
              <a:ext cx="2457450" cy="247650"/>
            </a:xfrm>
            <a:custGeom>
              <a:avLst/>
              <a:gdLst>
                <a:gd name="csX0" fmla="*/ 2419350 w 2457450"/>
                <a:gd name="csY0" fmla="*/ 0 h 247650"/>
                <a:gd name="csX1" fmla="*/ 2457450 w 2457450"/>
                <a:gd name="csY1" fmla="*/ 0 h 247650"/>
                <a:gd name="csX2" fmla="*/ 2457450 w 2457450"/>
                <a:gd name="csY2" fmla="*/ 247650 h 247650"/>
                <a:gd name="csX3" fmla="*/ 2419350 w 2457450"/>
                <a:gd name="csY3" fmla="*/ 247650 h 247650"/>
                <a:gd name="csX4" fmla="*/ 38100 w 2457450"/>
                <a:gd name="csY4" fmla="*/ 247650 h 247650"/>
                <a:gd name="csX5" fmla="*/ 0 w 2457450"/>
                <a:gd name="csY5" fmla="*/ 247650 h 247650"/>
                <a:gd name="csX6" fmla="*/ 0 w 2457450"/>
                <a:gd name="csY6" fmla="*/ 0 h 247650"/>
                <a:gd name="csX7" fmla="*/ 38100 w 2457450"/>
                <a:gd name="csY7" fmla="*/ 0 h 247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457450" h="247650">
                  <a:moveTo>
                    <a:pt x="2419350" y="0"/>
                  </a:moveTo>
                  <a:cubicBezTo>
                    <a:pt x="2440392" y="0"/>
                    <a:pt x="2457450" y="0"/>
                    <a:pt x="2457450" y="0"/>
                  </a:cubicBezTo>
                  <a:lnTo>
                    <a:pt x="2457450" y="247650"/>
                  </a:lnTo>
                  <a:cubicBezTo>
                    <a:pt x="2457450" y="247650"/>
                    <a:pt x="2440392" y="247650"/>
                    <a:pt x="2419350" y="247650"/>
                  </a:cubicBezTo>
                  <a:lnTo>
                    <a:pt x="38100" y="247650"/>
                  </a:lnTo>
                  <a:cubicBezTo>
                    <a:pt x="17058" y="247650"/>
                    <a:pt x="0" y="247650"/>
                    <a:pt x="0" y="24765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534AB7">
                <a:alpha val="82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A9087F4-A921-B2D4-BD73-C9245E005CA4}"/>
                </a:ext>
              </a:extLst>
            </p:cNvPr>
            <p:cNvSpPr txBox="1"/>
            <p:nvPr/>
          </p:nvSpPr>
          <p:spPr>
            <a:xfrm>
              <a:off x="6989513" y="1270720"/>
              <a:ext cx="1053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>
                  <a:ln/>
                  <a:solidFill>
                    <a:srgbClr val="D0CEFC"/>
                  </a:solidFill>
                  <a:latin typeface="Segoe UI"/>
                  <a:cs typeface="Segoe UI"/>
                  <a:sym typeface="Segoe UI"/>
                  <a:rtl val="0"/>
                </a:rPr>
                <a:t>Feature window</a:t>
              </a: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D5CEB38E-6D0E-3631-CA96-E6AB39F48FE4}"/>
                </a:ext>
              </a:extLst>
            </p:cNvPr>
            <p:cNvSpPr/>
            <p:nvPr/>
          </p:nvSpPr>
          <p:spPr>
            <a:xfrm>
              <a:off x="8667750" y="1257300"/>
              <a:ext cx="1466850" cy="247650"/>
            </a:xfrm>
            <a:custGeom>
              <a:avLst/>
              <a:gdLst>
                <a:gd name="csX0" fmla="*/ 1428750 w 1466850"/>
                <a:gd name="csY0" fmla="*/ 0 h 247650"/>
                <a:gd name="csX1" fmla="*/ 1466850 w 1466850"/>
                <a:gd name="csY1" fmla="*/ 0 h 247650"/>
                <a:gd name="csX2" fmla="*/ 1466850 w 1466850"/>
                <a:gd name="csY2" fmla="*/ 247650 h 247650"/>
                <a:gd name="csX3" fmla="*/ 1428750 w 1466850"/>
                <a:gd name="csY3" fmla="*/ 247650 h 247650"/>
                <a:gd name="csX4" fmla="*/ 38100 w 1466850"/>
                <a:gd name="csY4" fmla="*/ 247650 h 247650"/>
                <a:gd name="csX5" fmla="*/ 0 w 1466850"/>
                <a:gd name="csY5" fmla="*/ 247650 h 247650"/>
                <a:gd name="csX6" fmla="*/ 0 w 1466850"/>
                <a:gd name="csY6" fmla="*/ 0 h 247650"/>
                <a:gd name="csX7" fmla="*/ 38100 w 1466850"/>
                <a:gd name="csY7" fmla="*/ 0 h 247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66850" h="247650">
                  <a:moveTo>
                    <a:pt x="1428750" y="0"/>
                  </a:moveTo>
                  <a:cubicBezTo>
                    <a:pt x="1449792" y="0"/>
                    <a:pt x="1466850" y="0"/>
                    <a:pt x="1466850" y="0"/>
                  </a:cubicBezTo>
                  <a:lnTo>
                    <a:pt x="1466850" y="247650"/>
                  </a:lnTo>
                  <a:cubicBezTo>
                    <a:pt x="1466850" y="247650"/>
                    <a:pt x="1449792" y="247650"/>
                    <a:pt x="1428750" y="247650"/>
                  </a:cubicBezTo>
                  <a:lnTo>
                    <a:pt x="38100" y="247650"/>
                  </a:lnTo>
                  <a:cubicBezTo>
                    <a:pt x="17058" y="247650"/>
                    <a:pt x="0" y="247650"/>
                    <a:pt x="0" y="24765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D85A30">
                <a:alpha val="82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02B202D-040E-2948-8062-002C4A386590}"/>
                </a:ext>
              </a:extLst>
            </p:cNvPr>
            <p:cNvSpPr txBox="1"/>
            <p:nvPr/>
          </p:nvSpPr>
          <p:spPr>
            <a:xfrm>
              <a:off x="9019031" y="1270720"/>
              <a:ext cx="90120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>
                  <a:ln/>
                  <a:solidFill>
                    <a:srgbClr val="F5CDB6"/>
                  </a:solidFill>
                  <a:latin typeface="Segoe UI"/>
                  <a:cs typeface="Segoe UI"/>
                  <a:sym typeface="Segoe UI"/>
                  <a:rtl val="0"/>
                </a:rPr>
                <a:t>Target (12M)</a:t>
              </a: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CB29E37-5B5A-58E4-C945-8C8B57720F9E}"/>
                </a:ext>
              </a:extLst>
            </p:cNvPr>
            <p:cNvSpPr/>
            <p:nvPr/>
          </p:nvSpPr>
          <p:spPr>
            <a:xfrm>
              <a:off x="7686675" y="1971675"/>
              <a:ext cx="2447925" cy="247650"/>
            </a:xfrm>
            <a:custGeom>
              <a:avLst/>
              <a:gdLst>
                <a:gd name="csX0" fmla="*/ 2409825 w 2447925"/>
                <a:gd name="csY0" fmla="*/ 0 h 247650"/>
                <a:gd name="csX1" fmla="*/ 2447925 w 2447925"/>
                <a:gd name="csY1" fmla="*/ 0 h 247650"/>
                <a:gd name="csX2" fmla="*/ 2447925 w 2447925"/>
                <a:gd name="csY2" fmla="*/ 247650 h 247650"/>
                <a:gd name="csX3" fmla="*/ 2409825 w 2447925"/>
                <a:gd name="csY3" fmla="*/ 247650 h 247650"/>
                <a:gd name="csX4" fmla="*/ 38100 w 2447925"/>
                <a:gd name="csY4" fmla="*/ 247650 h 247650"/>
                <a:gd name="csX5" fmla="*/ 0 w 2447925"/>
                <a:gd name="csY5" fmla="*/ 247650 h 247650"/>
                <a:gd name="csX6" fmla="*/ 0 w 2447925"/>
                <a:gd name="csY6" fmla="*/ 0 h 247650"/>
                <a:gd name="csX7" fmla="*/ 38100 w 2447925"/>
                <a:gd name="csY7" fmla="*/ 0 h 247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447925" h="247650">
                  <a:moveTo>
                    <a:pt x="2409825" y="0"/>
                  </a:moveTo>
                  <a:cubicBezTo>
                    <a:pt x="2430867" y="0"/>
                    <a:pt x="2447925" y="0"/>
                    <a:pt x="2447925" y="0"/>
                  </a:cubicBezTo>
                  <a:lnTo>
                    <a:pt x="2447925" y="247650"/>
                  </a:lnTo>
                  <a:cubicBezTo>
                    <a:pt x="2447925" y="247650"/>
                    <a:pt x="2430867" y="247650"/>
                    <a:pt x="2409825" y="247650"/>
                  </a:cubicBezTo>
                  <a:lnTo>
                    <a:pt x="38100" y="247650"/>
                  </a:lnTo>
                  <a:cubicBezTo>
                    <a:pt x="17058" y="247650"/>
                    <a:pt x="0" y="247650"/>
                    <a:pt x="0" y="24765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534AB7">
                <a:alpha val="82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745A372-DD15-77FB-4592-20932CDB4D93}"/>
                </a:ext>
              </a:extLst>
            </p:cNvPr>
            <p:cNvSpPr txBox="1"/>
            <p:nvPr/>
          </p:nvSpPr>
          <p:spPr>
            <a:xfrm>
              <a:off x="8456363" y="1985095"/>
              <a:ext cx="1053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>
                  <a:ln/>
                  <a:solidFill>
                    <a:srgbClr val="D0CEFC"/>
                  </a:solidFill>
                  <a:latin typeface="Segoe UI"/>
                  <a:cs typeface="Segoe UI"/>
                  <a:sym typeface="Segoe UI"/>
                  <a:rtl val="0"/>
                </a:rPr>
                <a:t>Feature window</a:t>
              </a: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B8AD6FC-7DBD-757E-60C3-F7BB7ECCB5C4}"/>
                </a:ext>
              </a:extLst>
            </p:cNvPr>
            <p:cNvSpPr/>
            <p:nvPr/>
          </p:nvSpPr>
          <p:spPr>
            <a:xfrm>
              <a:off x="10134600" y="1971675"/>
              <a:ext cx="1476375" cy="247650"/>
            </a:xfrm>
            <a:custGeom>
              <a:avLst/>
              <a:gdLst>
                <a:gd name="csX0" fmla="*/ 1438275 w 1476375"/>
                <a:gd name="csY0" fmla="*/ 0 h 247650"/>
                <a:gd name="csX1" fmla="*/ 1476375 w 1476375"/>
                <a:gd name="csY1" fmla="*/ 0 h 247650"/>
                <a:gd name="csX2" fmla="*/ 1476375 w 1476375"/>
                <a:gd name="csY2" fmla="*/ 247650 h 247650"/>
                <a:gd name="csX3" fmla="*/ 1438275 w 1476375"/>
                <a:gd name="csY3" fmla="*/ 247650 h 247650"/>
                <a:gd name="csX4" fmla="*/ 38100 w 1476375"/>
                <a:gd name="csY4" fmla="*/ 247650 h 247650"/>
                <a:gd name="csX5" fmla="*/ 0 w 1476375"/>
                <a:gd name="csY5" fmla="*/ 247650 h 247650"/>
                <a:gd name="csX6" fmla="*/ 0 w 1476375"/>
                <a:gd name="csY6" fmla="*/ 0 h 247650"/>
                <a:gd name="csX7" fmla="*/ 38100 w 1476375"/>
                <a:gd name="csY7" fmla="*/ 0 h 2476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76375" h="247650">
                  <a:moveTo>
                    <a:pt x="1438275" y="0"/>
                  </a:moveTo>
                  <a:cubicBezTo>
                    <a:pt x="1459317" y="0"/>
                    <a:pt x="1476375" y="0"/>
                    <a:pt x="1476375" y="0"/>
                  </a:cubicBezTo>
                  <a:lnTo>
                    <a:pt x="1476375" y="247650"/>
                  </a:lnTo>
                  <a:cubicBezTo>
                    <a:pt x="1476375" y="247650"/>
                    <a:pt x="1459317" y="247650"/>
                    <a:pt x="1438275" y="247650"/>
                  </a:cubicBezTo>
                  <a:lnTo>
                    <a:pt x="38100" y="247650"/>
                  </a:lnTo>
                  <a:cubicBezTo>
                    <a:pt x="17058" y="247650"/>
                    <a:pt x="0" y="247650"/>
                    <a:pt x="0" y="24765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D85A30">
                <a:alpha val="82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B825F5F-119F-775B-9BC7-6953DE87AC2A}"/>
                </a:ext>
              </a:extLst>
            </p:cNvPr>
            <p:cNvSpPr txBox="1"/>
            <p:nvPr/>
          </p:nvSpPr>
          <p:spPr>
            <a:xfrm>
              <a:off x="10485881" y="1985095"/>
              <a:ext cx="90120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>
                  <a:ln/>
                  <a:solidFill>
                    <a:srgbClr val="F5CDB6"/>
                  </a:solidFill>
                  <a:latin typeface="Segoe UI"/>
                  <a:cs typeface="Segoe UI"/>
                  <a:sym typeface="Segoe UI"/>
                  <a:rtl val="0"/>
                </a:rPr>
                <a:t>Target (12M)</a:t>
              </a: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CDC5862-3FA7-E42D-8FFA-A2D07FA5C098}"/>
                </a:ext>
              </a:extLst>
            </p:cNvPr>
            <p:cNvSpPr/>
            <p:nvPr/>
          </p:nvSpPr>
          <p:spPr>
            <a:xfrm>
              <a:off x="6210300" y="2438400"/>
              <a:ext cx="5524500" cy="9525"/>
            </a:xfrm>
            <a:custGeom>
              <a:avLst/>
              <a:gdLst>
                <a:gd name="csX0" fmla="*/ 0 w 5524500"/>
                <a:gd name="csY0" fmla="*/ 0 h 9525"/>
                <a:gd name="csX1" fmla="*/ 5524500 w 5524500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ln w="7620" cap="flat">
              <a:solidFill>
                <a:srgbClr val="3A3A6A"/>
              </a:solidFill>
              <a:prstDash val="solid"/>
              <a:miter/>
            </a:ln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AC58178-8672-F3A6-BDB1-CFF779C8E1F3}"/>
                </a:ext>
              </a:extLst>
            </p:cNvPr>
            <p:cNvSpPr/>
            <p:nvPr/>
          </p:nvSpPr>
          <p:spPr>
            <a:xfrm>
              <a:off x="6581775" y="2409825"/>
              <a:ext cx="9525" cy="66675"/>
            </a:xfrm>
            <a:custGeom>
              <a:avLst/>
              <a:gdLst>
                <a:gd name="csX0" fmla="*/ 0 w 9525"/>
                <a:gd name="csY0" fmla="*/ 0 h 66675"/>
                <a:gd name="csX1" fmla="*/ 0 w 9525"/>
                <a:gd name="csY1" fmla="*/ 66675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ln w="7620" cap="flat">
              <a:solidFill>
                <a:srgbClr val="3A3A6A"/>
              </a:solidFill>
              <a:prstDash val="solid"/>
              <a:miter/>
            </a:ln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18AC7A8-311C-3C70-F317-87757EFD14CC}"/>
                </a:ext>
              </a:extLst>
            </p:cNvPr>
            <p:cNvSpPr txBox="1"/>
            <p:nvPr/>
          </p:nvSpPr>
          <p:spPr>
            <a:xfrm>
              <a:off x="6308873" y="2456959"/>
              <a:ext cx="6799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>
                  <a:ln/>
                  <a:solidFill>
                    <a:srgbClr val="625F8A"/>
                  </a:solidFill>
                  <a:latin typeface="Segoe UI"/>
                  <a:cs typeface="Segoe UI"/>
                  <a:sym typeface="Segoe UI"/>
                  <a:rtl val="0"/>
                </a:rPr>
                <a:t>Apr 2021</a:t>
              </a: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180F70C-E101-0658-2686-1CFCCFA15D70}"/>
                </a:ext>
              </a:extLst>
            </p:cNvPr>
            <p:cNvSpPr/>
            <p:nvPr/>
          </p:nvSpPr>
          <p:spPr>
            <a:xfrm>
              <a:off x="7315200" y="2409825"/>
              <a:ext cx="9525" cy="66675"/>
            </a:xfrm>
            <a:custGeom>
              <a:avLst/>
              <a:gdLst>
                <a:gd name="csX0" fmla="*/ 0 w 9525"/>
                <a:gd name="csY0" fmla="*/ 0 h 66675"/>
                <a:gd name="csX1" fmla="*/ 0 w 9525"/>
                <a:gd name="csY1" fmla="*/ 66675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ln w="7620" cap="flat">
              <a:solidFill>
                <a:srgbClr val="3A3A6A"/>
              </a:solidFill>
              <a:prstDash val="solid"/>
              <a:miter/>
            </a:ln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DB8E407-4001-7951-BBED-2D1D484414AD}"/>
                </a:ext>
              </a:extLst>
            </p:cNvPr>
            <p:cNvSpPr txBox="1"/>
            <p:nvPr/>
          </p:nvSpPr>
          <p:spPr>
            <a:xfrm>
              <a:off x="7043469" y="2456959"/>
              <a:ext cx="6687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>
                  <a:ln/>
                  <a:solidFill>
                    <a:srgbClr val="625F8A"/>
                  </a:solidFill>
                  <a:latin typeface="Segoe UI"/>
                  <a:cs typeface="Segoe UI"/>
                  <a:sym typeface="Segoe UI"/>
                  <a:rtl val="0"/>
                </a:rPr>
                <a:t>Oct 2021</a:t>
              </a: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3D1978E-3289-125B-2746-03CEA43735DA}"/>
                </a:ext>
              </a:extLst>
            </p:cNvPr>
            <p:cNvSpPr/>
            <p:nvPr/>
          </p:nvSpPr>
          <p:spPr>
            <a:xfrm>
              <a:off x="8048625" y="2409825"/>
              <a:ext cx="9525" cy="66675"/>
            </a:xfrm>
            <a:custGeom>
              <a:avLst/>
              <a:gdLst>
                <a:gd name="csX0" fmla="*/ 0 w 9525"/>
                <a:gd name="csY0" fmla="*/ 0 h 66675"/>
                <a:gd name="csX1" fmla="*/ 0 w 9525"/>
                <a:gd name="csY1" fmla="*/ 66675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ln w="7620" cap="flat">
              <a:solidFill>
                <a:srgbClr val="3A3A6A"/>
              </a:solidFill>
              <a:prstDash val="solid"/>
              <a:miter/>
            </a:ln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21A0350-A399-3FA7-BADE-014F48B7C028}"/>
                </a:ext>
              </a:extLst>
            </p:cNvPr>
            <p:cNvSpPr txBox="1"/>
            <p:nvPr/>
          </p:nvSpPr>
          <p:spPr>
            <a:xfrm>
              <a:off x="7775723" y="2456959"/>
              <a:ext cx="6799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>
                  <a:ln/>
                  <a:solidFill>
                    <a:srgbClr val="625F8A"/>
                  </a:solidFill>
                  <a:latin typeface="Segoe UI"/>
                  <a:cs typeface="Segoe UI"/>
                  <a:sym typeface="Segoe UI"/>
                  <a:rtl val="0"/>
                </a:rPr>
                <a:t>Apr 2022</a:t>
              </a: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6CE8176-3271-D450-536D-534F069963F6}"/>
                </a:ext>
              </a:extLst>
            </p:cNvPr>
            <p:cNvSpPr/>
            <p:nvPr/>
          </p:nvSpPr>
          <p:spPr>
            <a:xfrm>
              <a:off x="8782050" y="2409825"/>
              <a:ext cx="9525" cy="66675"/>
            </a:xfrm>
            <a:custGeom>
              <a:avLst/>
              <a:gdLst>
                <a:gd name="csX0" fmla="*/ 0 w 9525"/>
                <a:gd name="csY0" fmla="*/ 0 h 66675"/>
                <a:gd name="csX1" fmla="*/ 0 w 9525"/>
                <a:gd name="csY1" fmla="*/ 66675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ln w="7620" cap="flat">
              <a:solidFill>
                <a:srgbClr val="3A3A6A"/>
              </a:solidFill>
              <a:prstDash val="solid"/>
              <a:miter/>
            </a:ln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3A612A9-B091-1543-C755-A103554FB818}"/>
                </a:ext>
              </a:extLst>
            </p:cNvPr>
            <p:cNvSpPr txBox="1"/>
            <p:nvPr/>
          </p:nvSpPr>
          <p:spPr>
            <a:xfrm>
              <a:off x="8510319" y="2456959"/>
              <a:ext cx="6687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>
                  <a:ln/>
                  <a:solidFill>
                    <a:srgbClr val="625F8A"/>
                  </a:solidFill>
                  <a:latin typeface="Segoe UI"/>
                  <a:cs typeface="Segoe UI"/>
                  <a:sym typeface="Segoe UI"/>
                  <a:rtl val="0"/>
                </a:rPr>
                <a:t>Oct 2022</a:t>
              </a: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78034E3-550A-F453-5A00-78C9F8FD98C6}"/>
                </a:ext>
              </a:extLst>
            </p:cNvPr>
            <p:cNvSpPr/>
            <p:nvPr/>
          </p:nvSpPr>
          <p:spPr>
            <a:xfrm>
              <a:off x="9525000" y="2409825"/>
              <a:ext cx="9525" cy="66675"/>
            </a:xfrm>
            <a:custGeom>
              <a:avLst/>
              <a:gdLst>
                <a:gd name="csX0" fmla="*/ 0 w 9525"/>
                <a:gd name="csY0" fmla="*/ 0 h 66675"/>
                <a:gd name="csX1" fmla="*/ 0 w 9525"/>
                <a:gd name="csY1" fmla="*/ 66675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ln w="7620" cap="flat">
              <a:solidFill>
                <a:srgbClr val="3A3A6A"/>
              </a:solidFill>
              <a:prstDash val="solid"/>
              <a:miter/>
            </a:ln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54C49AA-D41E-A065-E576-4A2E3127319C}"/>
                </a:ext>
              </a:extLst>
            </p:cNvPr>
            <p:cNvSpPr txBox="1"/>
            <p:nvPr/>
          </p:nvSpPr>
          <p:spPr>
            <a:xfrm>
              <a:off x="9252098" y="2456959"/>
              <a:ext cx="6799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>
                  <a:ln/>
                  <a:solidFill>
                    <a:srgbClr val="625F8A"/>
                  </a:solidFill>
                  <a:latin typeface="Segoe UI"/>
                  <a:cs typeface="Segoe UI"/>
                  <a:sym typeface="Segoe UI"/>
                  <a:rtl val="0"/>
                </a:rPr>
                <a:t>Apr 2023</a:t>
              </a: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5CCF3DC9-7065-E410-0D18-384C99755681}"/>
                </a:ext>
              </a:extLst>
            </p:cNvPr>
            <p:cNvSpPr/>
            <p:nvPr/>
          </p:nvSpPr>
          <p:spPr>
            <a:xfrm>
              <a:off x="10258425" y="2409825"/>
              <a:ext cx="9525" cy="66675"/>
            </a:xfrm>
            <a:custGeom>
              <a:avLst/>
              <a:gdLst>
                <a:gd name="csX0" fmla="*/ 0 w 9525"/>
                <a:gd name="csY0" fmla="*/ 0 h 66675"/>
                <a:gd name="csX1" fmla="*/ 0 w 9525"/>
                <a:gd name="csY1" fmla="*/ 66675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ln w="7620" cap="flat">
              <a:solidFill>
                <a:srgbClr val="3A3A6A"/>
              </a:solidFill>
              <a:prstDash val="solid"/>
              <a:miter/>
            </a:ln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2B2EFFB-DFCB-740F-4397-6F9AE366DBE1}"/>
                </a:ext>
              </a:extLst>
            </p:cNvPr>
            <p:cNvSpPr txBox="1"/>
            <p:nvPr/>
          </p:nvSpPr>
          <p:spPr>
            <a:xfrm>
              <a:off x="9986694" y="2456959"/>
              <a:ext cx="6687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>
                  <a:ln/>
                  <a:solidFill>
                    <a:srgbClr val="625F8A"/>
                  </a:solidFill>
                  <a:latin typeface="Segoe UI"/>
                  <a:cs typeface="Segoe UI"/>
                  <a:sym typeface="Segoe UI"/>
                  <a:rtl val="0"/>
                </a:rPr>
                <a:t>Oct 2023</a:t>
              </a: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1B2FA54-2789-6E0D-F49F-06289D033B1F}"/>
                </a:ext>
              </a:extLst>
            </p:cNvPr>
            <p:cNvSpPr/>
            <p:nvPr/>
          </p:nvSpPr>
          <p:spPr>
            <a:xfrm>
              <a:off x="10991850" y="2409825"/>
              <a:ext cx="9525" cy="66675"/>
            </a:xfrm>
            <a:custGeom>
              <a:avLst/>
              <a:gdLst>
                <a:gd name="csX0" fmla="*/ 0 w 9525"/>
                <a:gd name="csY0" fmla="*/ 0 h 66675"/>
                <a:gd name="csX1" fmla="*/ 0 w 9525"/>
                <a:gd name="csY1" fmla="*/ 66675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ln w="7620" cap="flat">
              <a:solidFill>
                <a:srgbClr val="3A3A6A"/>
              </a:solidFill>
              <a:prstDash val="solid"/>
              <a:miter/>
            </a:ln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F24246DB-2654-E9A0-3E98-EC9FA3579F7A}"/>
                </a:ext>
              </a:extLst>
            </p:cNvPr>
            <p:cNvSpPr txBox="1"/>
            <p:nvPr/>
          </p:nvSpPr>
          <p:spPr>
            <a:xfrm>
              <a:off x="10718948" y="2456959"/>
              <a:ext cx="6799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>
                  <a:ln/>
                  <a:solidFill>
                    <a:srgbClr val="625F8A"/>
                  </a:solidFill>
                  <a:latin typeface="Segoe UI"/>
                  <a:cs typeface="Segoe UI"/>
                  <a:sym typeface="Segoe UI"/>
                  <a:rtl val="0"/>
                </a:rPr>
                <a:t>Apr 2024</a:t>
              </a: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B9FCC387-09FE-1FF6-8993-C4FDAE5EC058}"/>
                </a:ext>
              </a:extLst>
            </p:cNvPr>
            <p:cNvSpPr/>
            <p:nvPr/>
          </p:nvSpPr>
          <p:spPr>
            <a:xfrm>
              <a:off x="11734800" y="2409825"/>
              <a:ext cx="9525" cy="66675"/>
            </a:xfrm>
            <a:custGeom>
              <a:avLst/>
              <a:gdLst>
                <a:gd name="csX0" fmla="*/ 0 w 9525"/>
                <a:gd name="csY0" fmla="*/ 0 h 66675"/>
                <a:gd name="csX1" fmla="*/ 0 w 9525"/>
                <a:gd name="csY1" fmla="*/ 66675 h 66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ln w="7620" cap="flat">
              <a:solidFill>
                <a:srgbClr val="3A3A6A"/>
              </a:solidFill>
              <a:prstDash val="solid"/>
              <a:miter/>
            </a:ln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EF4D1B3-7879-1F6D-977A-1C8A053167A1}"/>
                </a:ext>
              </a:extLst>
            </p:cNvPr>
            <p:cNvSpPr txBox="1"/>
            <p:nvPr/>
          </p:nvSpPr>
          <p:spPr>
            <a:xfrm>
              <a:off x="11463069" y="2456959"/>
              <a:ext cx="6687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>
                  <a:ln/>
                  <a:solidFill>
                    <a:srgbClr val="625F8A"/>
                  </a:solidFill>
                  <a:latin typeface="Segoe UI"/>
                  <a:cs typeface="Segoe UI"/>
                  <a:sym typeface="Segoe UI"/>
                  <a:rtl val="0"/>
                </a:rPr>
                <a:t>Oct 2024</a:t>
              </a: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F03B7955-5390-1920-FB1A-1438120F213B}"/>
                </a:ext>
              </a:extLst>
            </p:cNvPr>
            <p:cNvSpPr/>
            <p:nvPr/>
          </p:nvSpPr>
          <p:spPr>
            <a:xfrm>
              <a:off x="7810500" y="2714625"/>
              <a:ext cx="114300" cy="95250"/>
            </a:xfrm>
            <a:custGeom>
              <a:avLst/>
              <a:gdLst>
                <a:gd name="csX0" fmla="*/ 95250 w 114300"/>
                <a:gd name="csY0" fmla="*/ 0 h 95250"/>
                <a:gd name="csX1" fmla="*/ 114300 w 114300"/>
                <a:gd name="csY1" fmla="*/ 0 h 95250"/>
                <a:gd name="csX2" fmla="*/ 114300 w 114300"/>
                <a:gd name="csY2" fmla="*/ 95250 h 95250"/>
                <a:gd name="csX3" fmla="*/ 95250 w 114300"/>
                <a:gd name="csY3" fmla="*/ 95250 h 95250"/>
                <a:gd name="csX4" fmla="*/ 19050 w 114300"/>
                <a:gd name="csY4" fmla="*/ 95250 h 95250"/>
                <a:gd name="csX5" fmla="*/ 0 w 114300"/>
                <a:gd name="csY5" fmla="*/ 95250 h 95250"/>
                <a:gd name="csX6" fmla="*/ 0 w 114300"/>
                <a:gd name="csY6" fmla="*/ 0 h 95250"/>
                <a:gd name="csX7" fmla="*/ 19050 w 114300"/>
                <a:gd name="csY7" fmla="*/ 0 h 95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4300" h="95250">
                  <a:moveTo>
                    <a:pt x="95250" y="0"/>
                  </a:moveTo>
                  <a:cubicBezTo>
                    <a:pt x="105771" y="0"/>
                    <a:pt x="114300" y="0"/>
                    <a:pt x="114300" y="0"/>
                  </a:cubicBezTo>
                  <a:lnTo>
                    <a:pt x="114300" y="95250"/>
                  </a:lnTo>
                  <a:cubicBezTo>
                    <a:pt x="114300" y="95250"/>
                    <a:pt x="105771" y="95250"/>
                    <a:pt x="95250" y="95250"/>
                  </a:cubicBezTo>
                  <a:lnTo>
                    <a:pt x="19050" y="95250"/>
                  </a:lnTo>
                  <a:cubicBezTo>
                    <a:pt x="8529" y="95250"/>
                    <a:pt x="0" y="95250"/>
                    <a:pt x="0" y="95250"/>
                  </a:cubicBezTo>
                  <a:lnTo>
                    <a:pt x="0" y="0"/>
                  </a:lnTo>
                  <a:cubicBezTo>
                    <a:pt x="0" y="0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534AB7">
                <a:alpha val="82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D057BBC-F4ED-A405-DBA7-F7EDBAE269D1}"/>
                </a:ext>
              </a:extLst>
            </p:cNvPr>
            <p:cNvSpPr txBox="1"/>
            <p:nvPr/>
          </p:nvSpPr>
          <p:spPr>
            <a:xfrm>
              <a:off x="7871460" y="2651845"/>
              <a:ext cx="105349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>
                  <a:ln/>
                  <a:solidFill>
                    <a:srgbClr val="9F9DC8"/>
                  </a:solidFill>
                  <a:latin typeface="Segoe UI"/>
                  <a:cs typeface="Segoe UI"/>
                  <a:sym typeface="Segoe UI"/>
                  <a:rtl val="0"/>
                </a:rPr>
                <a:t>Feature window</a:t>
              </a: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15D7E9A-0651-179E-FC30-80EAF3F140AB}"/>
                </a:ext>
              </a:extLst>
            </p:cNvPr>
            <p:cNvSpPr/>
            <p:nvPr/>
          </p:nvSpPr>
          <p:spPr>
            <a:xfrm>
              <a:off x="9144000" y="2714625"/>
              <a:ext cx="114300" cy="95250"/>
            </a:xfrm>
            <a:custGeom>
              <a:avLst/>
              <a:gdLst>
                <a:gd name="csX0" fmla="*/ 95250 w 114300"/>
                <a:gd name="csY0" fmla="*/ 0 h 95250"/>
                <a:gd name="csX1" fmla="*/ 114300 w 114300"/>
                <a:gd name="csY1" fmla="*/ 0 h 95250"/>
                <a:gd name="csX2" fmla="*/ 114300 w 114300"/>
                <a:gd name="csY2" fmla="*/ 95250 h 95250"/>
                <a:gd name="csX3" fmla="*/ 95250 w 114300"/>
                <a:gd name="csY3" fmla="*/ 95250 h 95250"/>
                <a:gd name="csX4" fmla="*/ 19050 w 114300"/>
                <a:gd name="csY4" fmla="*/ 95250 h 95250"/>
                <a:gd name="csX5" fmla="*/ 0 w 114300"/>
                <a:gd name="csY5" fmla="*/ 95250 h 95250"/>
                <a:gd name="csX6" fmla="*/ 0 w 114300"/>
                <a:gd name="csY6" fmla="*/ 0 h 95250"/>
                <a:gd name="csX7" fmla="*/ 19050 w 114300"/>
                <a:gd name="csY7" fmla="*/ 0 h 95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4300" h="95250">
                  <a:moveTo>
                    <a:pt x="95250" y="0"/>
                  </a:moveTo>
                  <a:cubicBezTo>
                    <a:pt x="105771" y="0"/>
                    <a:pt x="114300" y="0"/>
                    <a:pt x="114300" y="0"/>
                  </a:cubicBezTo>
                  <a:lnTo>
                    <a:pt x="114300" y="95250"/>
                  </a:lnTo>
                  <a:cubicBezTo>
                    <a:pt x="114300" y="95250"/>
                    <a:pt x="105771" y="95250"/>
                    <a:pt x="95250" y="95250"/>
                  </a:cubicBezTo>
                  <a:lnTo>
                    <a:pt x="19050" y="95250"/>
                  </a:lnTo>
                  <a:cubicBezTo>
                    <a:pt x="8529" y="95250"/>
                    <a:pt x="0" y="95250"/>
                    <a:pt x="0" y="95250"/>
                  </a:cubicBezTo>
                  <a:lnTo>
                    <a:pt x="0" y="0"/>
                  </a:lnTo>
                  <a:cubicBezTo>
                    <a:pt x="0" y="0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D85A30">
                <a:alpha val="82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A6DBF94-A969-EA6B-555C-19038AF073C9}"/>
                </a:ext>
              </a:extLst>
            </p:cNvPr>
            <p:cNvSpPr txBox="1"/>
            <p:nvPr/>
          </p:nvSpPr>
          <p:spPr>
            <a:xfrm>
              <a:off x="9204960" y="2651845"/>
              <a:ext cx="123463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900" b="1" spc="0" baseline="0">
                  <a:ln/>
                  <a:solidFill>
                    <a:srgbClr val="9F9DC8"/>
                  </a:solidFill>
                  <a:latin typeface="Segoe UI"/>
                  <a:cs typeface="Segoe UI"/>
                  <a:sym typeface="Segoe UI"/>
                  <a:rtl val="0"/>
                </a:rPr>
                <a:t>Target (12 months)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3A83291-AFA7-90F1-92A1-60F153AD9AB6}"/>
              </a:ext>
            </a:extLst>
          </p:cNvPr>
          <p:cNvSpPr txBox="1"/>
          <p:nvPr/>
        </p:nvSpPr>
        <p:spPr>
          <a:xfrm>
            <a:off x="5684475" y="209815"/>
            <a:ext cx="650752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Setup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Filtered dataset to transactions from Jan 1, 2021, onwards to ensure the model learns from the new normal, using pure RFM features (Recency, Frequency, Monetary)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135BA3F6-0426-FEB2-7BB8-D575916FB625}"/>
              </a:ext>
            </a:extLst>
          </p:cNvPr>
          <p:cNvSpPr/>
          <p:nvPr/>
        </p:nvSpPr>
        <p:spPr>
          <a:xfrm>
            <a:off x="7741645" y="1788401"/>
            <a:ext cx="3886200" cy="171450"/>
          </a:xfrm>
          <a:custGeom>
            <a:avLst/>
            <a:gdLst>
              <a:gd name="csX0" fmla="*/ 3857625 w 3886200"/>
              <a:gd name="csY0" fmla="*/ 0 h 171450"/>
              <a:gd name="csX1" fmla="*/ 3886200 w 3886200"/>
              <a:gd name="csY1" fmla="*/ 0 h 171450"/>
              <a:gd name="csX2" fmla="*/ 3886200 w 3886200"/>
              <a:gd name="csY2" fmla="*/ 171450 h 171450"/>
              <a:gd name="csX3" fmla="*/ 3857625 w 3886200"/>
              <a:gd name="csY3" fmla="*/ 171450 h 171450"/>
              <a:gd name="csX4" fmla="*/ 28575 w 3886200"/>
              <a:gd name="csY4" fmla="*/ 171450 h 171450"/>
              <a:gd name="csX5" fmla="*/ 0 w 3886200"/>
              <a:gd name="csY5" fmla="*/ 171450 h 171450"/>
              <a:gd name="csX6" fmla="*/ 0 w 3886200"/>
              <a:gd name="csY6" fmla="*/ 0 h 171450"/>
              <a:gd name="csX7" fmla="*/ 28575 w 3886200"/>
              <a:gd name="csY7" fmla="*/ 0 h 171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886200" h="171450">
                <a:moveTo>
                  <a:pt x="3857625" y="0"/>
                </a:moveTo>
                <a:cubicBezTo>
                  <a:pt x="3873407" y="0"/>
                  <a:pt x="3886200" y="0"/>
                  <a:pt x="3886200" y="0"/>
                </a:cubicBezTo>
                <a:lnTo>
                  <a:pt x="3886200" y="171450"/>
                </a:lnTo>
                <a:cubicBezTo>
                  <a:pt x="3886200" y="171450"/>
                  <a:pt x="3873407" y="171450"/>
                  <a:pt x="3857625" y="171450"/>
                </a:cubicBezTo>
                <a:lnTo>
                  <a:pt x="28575" y="171450"/>
                </a:lnTo>
                <a:cubicBezTo>
                  <a:pt x="12793" y="171450"/>
                  <a:pt x="0" y="171450"/>
                  <a:pt x="0" y="171450"/>
                </a:cubicBezTo>
                <a:lnTo>
                  <a:pt x="0" y="0"/>
                </a:lnTo>
                <a:cubicBezTo>
                  <a:pt x="0" y="0"/>
                  <a:pt x="12793" y="0"/>
                  <a:pt x="28575" y="0"/>
                </a:cubicBez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78421C5-F679-3644-538B-90F9B5B6B24C}"/>
              </a:ext>
            </a:extLst>
          </p:cNvPr>
          <p:cNvGrpSpPr/>
          <p:nvPr/>
        </p:nvGrpSpPr>
        <p:grpSpPr>
          <a:xfrm>
            <a:off x="6825268" y="1135674"/>
            <a:ext cx="4453045" cy="862763"/>
            <a:chOff x="7745455" y="1754196"/>
            <a:chExt cx="3420143" cy="86276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F9584AC-FC0F-A15D-1464-6C151AF1793D}"/>
                </a:ext>
              </a:extLst>
            </p:cNvPr>
            <p:cNvSpPr txBox="1"/>
            <p:nvPr/>
          </p:nvSpPr>
          <p:spPr>
            <a:xfrm>
              <a:off x="7745455" y="1754196"/>
              <a:ext cx="636713" cy="246221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00" b="1" spc="0" baseline="0" dirty="0">
                  <a:ln/>
                  <a:latin typeface="Segoe UI"/>
                  <a:cs typeface="Segoe UI"/>
                  <a:sym typeface="Segoe UI"/>
                  <a:rtl val="0"/>
                </a:rPr>
                <a:t>Feature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1154143-8CA9-4D81-73B6-A8230C5FB453}"/>
                </a:ext>
              </a:extLst>
            </p:cNvPr>
            <p:cNvSpPr txBox="1"/>
            <p:nvPr/>
          </p:nvSpPr>
          <p:spPr>
            <a:xfrm>
              <a:off x="8831305" y="1754196"/>
              <a:ext cx="875561" cy="246221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00" b="1" spc="0" baseline="0" dirty="0">
                  <a:ln/>
                  <a:latin typeface="Segoe UI"/>
                  <a:cs typeface="Segoe UI"/>
                  <a:sym typeface="Segoe UI"/>
                  <a:rtl val="0"/>
                </a:rPr>
                <a:t>Description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BDE8CB2-7605-C549-D244-BA69022AB87B}"/>
                </a:ext>
              </a:extLst>
            </p:cNvPr>
            <p:cNvSpPr txBox="1"/>
            <p:nvPr/>
          </p:nvSpPr>
          <p:spPr>
            <a:xfrm>
              <a:off x="7745455" y="1943943"/>
              <a:ext cx="699230" cy="253916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b="1" spc="0" baseline="0">
                  <a:ln/>
                  <a:latin typeface="Segoe UI"/>
                  <a:cs typeface="Segoe UI"/>
                  <a:sym typeface="Segoe UI"/>
                  <a:rtl val="0"/>
                </a:rPr>
                <a:t>Recency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ABD6587-E1DD-A2A9-6B1D-551E7D60EA5F}"/>
                </a:ext>
              </a:extLst>
            </p:cNvPr>
            <p:cNvSpPr txBox="1"/>
            <p:nvPr/>
          </p:nvSpPr>
          <p:spPr>
            <a:xfrm>
              <a:off x="8831305" y="1943943"/>
              <a:ext cx="2231701" cy="253916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latin typeface="Segoe UI"/>
                  <a:cs typeface="Segoe UI"/>
                  <a:sym typeface="Segoe UI"/>
                  <a:rtl val="0"/>
                </a:rPr>
                <a:t>Days since last rental before cutoff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1FB57F0-A278-20CA-1DCE-BEFE42D2663A}"/>
                </a:ext>
              </a:extLst>
            </p:cNvPr>
            <p:cNvSpPr txBox="1"/>
            <p:nvPr/>
          </p:nvSpPr>
          <p:spPr>
            <a:xfrm>
              <a:off x="7745455" y="2153493"/>
              <a:ext cx="835485" cy="253916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b="1" spc="0" baseline="0" dirty="0">
                  <a:ln/>
                  <a:latin typeface="Segoe UI"/>
                  <a:cs typeface="Segoe UI"/>
                  <a:sym typeface="Segoe UI"/>
                  <a:rtl val="0"/>
                </a:rPr>
                <a:t>Frequency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0814E2-2227-8A34-4056-3F7229DED91F}"/>
                </a:ext>
              </a:extLst>
            </p:cNvPr>
            <p:cNvSpPr txBox="1"/>
            <p:nvPr/>
          </p:nvSpPr>
          <p:spPr>
            <a:xfrm>
              <a:off x="8831305" y="2153493"/>
              <a:ext cx="2334293" cy="253916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latin typeface="Segoe UI"/>
                  <a:cs typeface="Segoe UI"/>
                  <a:sym typeface="Segoe UI"/>
                  <a:rtl val="0"/>
                </a:rPr>
                <a:t>Total rental count in feature window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B973BDE-062B-4572-A928-E46072F388EF}"/>
                </a:ext>
              </a:extLst>
            </p:cNvPr>
            <p:cNvSpPr txBox="1"/>
            <p:nvPr/>
          </p:nvSpPr>
          <p:spPr>
            <a:xfrm>
              <a:off x="7745455" y="2363043"/>
              <a:ext cx="798617" cy="253916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b="1" spc="0" baseline="0">
                  <a:ln/>
                  <a:latin typeface="Segoe UI"/>
                  <a:cs typeface="Segoe UI"/>
                  <a:sym typeface="Segoe UI"/>
                  <a:rtl val="0"/>
                </a:rPr>
                <a:t>Monetary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79D079C-0D47-85B5-DBA9-0E35061D6826}"/>
                </a:ext>
              </a:extLst>
            </p:cNvPr>
            <p:cNvSpPr txBox="1"/>
            <p:nvPr/>
          </p:nvSpPr>
          <p:spPr>
            <a:xfrm>
              <a:off x="8831305" y="2363043"/>
              <a:ext cx="2032929" cy="253916"/>
            </a:xfrm>
            <a:prstGeom prst="rect">
              <a:avLst/>
            </a:prstGeom>
            <a:solidFill>
              <a:schemeClr val="bg2"/>
            </a:solidFill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latin typeface="Segoe UI"/>
                  <a:cs typeface="Segoe UI"/>
                  <a:sym typeface="Segoe UI"/>
                  <a:rtl val="0"/>
                </a:rPr>
                <a:t>Total revenue generated (NOK)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3766DCB-B959-67E8-F5B9-DF360F58D8BF}"/>
              </a:ext>
            </a:extLst>
          </p:cNvPr>
          <p:cNvSpPr txBox="1"/>
          <p:nvPr/>
        </p:nvSpPr>
        <p:spPr>
          <a:xfrm>
            <a:off x="8430888" y="2899122"/>
            <a:ext cx="30480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Consolas" panose="020B0609020204030204" pitchFamily="49" charset="0"/>
              </a:rPr>
              <a:t>Feature </a:t>
            </a:r>
            <a:r>
              <a:rPr lang="en-US" b="1" dirty="0">
                <a:latin typeface="Consolas" panose="020B0609020204030204" pitchFamily="49" charset="0"/>
              </a:rPr>
              <a:t>    </a:t>
            </a:r>
            <a:r>
              <a:rPr lang="en-US" b="1" i="0" dirty="0">
                <a:effectLst/>
                <a:latin typeface="Consolas" panose="020B0609020204030204" pitchFamily="49" charset="0"/>
              </a:rPr>
              <a:t>Importance</a:t>
            </a:r>
            <a:endParaRPr lang="en-US" b="0" i="0" dirty="0">
              <a:effectLst/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R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ecency 	</a:t>
            </a:r>
            <a:r>
              <a:rPr lang="en-US" b="0" i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-7793</a:t>
            </a:r>
          </a:p>
          <a:p>
            <a:r>
              <a:rPr lang="en-US" dirty="0">
                <a:latin typeface="Consolas" panose="020B0609020204030204" pitchFamily="49" charset="0"/>
              </a:rPr>
              <a:t>F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requency 	</a:t>
            </a:r>
            <a:r>
              <a:rPr lang="en-US" b="0" i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-9150</a:t>
            </a:r>
          </a:p>
          <a:p>
            <a:r>
              <a:rPr lang="en-US" dirty="0">
                <a:latin typeface="Consolas" panose="020B0609020204030204" pitchFamily="49" charset="0"/>
              </a:rPr>
              <a:t>M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onetary 	</a:t>
            </a:r>
            <a:r>
              <a:rPr lang="en-US" b="0" i="0" dirty="0">
                <a:solidFill>
                  <a:srgbClr val="1D9E75"/>
                </a:solidFill>
                <a:effectLst/>
                <a:latin typeface="Consolas" panose="020B0609020204030204" pitchFamily="49" charset="0"/>
              </a:rPr>
              <a:t>21982</a:t>
            </a:r>
            <a:endParaRPr lang="en-US" dirty="0">
              <a:solidFill>
                <a:srgbClr val="1D9E7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8C2E2E-BDEF-E0F0-0A29-F9FE32BFD08A}"/>
              </a:ext>
            </a:extLst>
          </p:cNvPr>
          <p:cNvSpPr txBox="1"/>
          <p:nvPr/>
        </p:nvSpPr>
        <p:spPr>
          <a:xfrm>
            <a:off x="8412163" y="4978907"/>
            <a:ext cx="30480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Consolas" panose="020B0609020204030204" pitchFamily="49" charset="0"/>
              </a:rPr>
              <a:t>Feature     Importance</a:t>
            </a:r>
            <a:br>
              <a:rPr lang="en-US" b="0" i="0" dirty="0">
                <a:effectLst/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M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onetary 	 556 </a:t>
            </a:r>
            <a:br>
              <a:rPr lang="en-US" b="0" i="0" dirty="0">
                <a:effectLst/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R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ecency 	 451 </a:t>
            </a:r>
            <a:br>
              <a:rPr lang="en-US" b="0" i="0" dirty="0">
                <a:effectLst/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F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requency 	 337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8C2B7F-B398-AA94-D3A9-0E8FAD03B87D}"/>
              </a:ext>
            </a:extLst>
          </p:cNvPr>
          <p:cNvSpPr txBox="1"/>
          <p:nvPr/>
        </p:nvSpPr>
        <p:spPr>
          <a:xfrm>
            <a:off x="7433020" y="3429000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i="1" dirty="0" err="1"/>
              <a:t>Coefficients</a:t>
            </a:r>
            <a:endParaRPr lang="en-US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D149C-09C2-3EEC-58DC-B9A96AE142B0}"/>
              </a:ext>
            </a:extLst>
          </p:cNvPr>
          <p:cNvSpPr txBox="1"/>
          <p:nvPr/>
        </p:nvSpPr>
        <p:spPr>
          <a:xfrm>
            <a:off x="7861287" y="5528014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i="1" dirty="0" err="1"/>
              <a:t>Splits</a:t>
            </a:r>
            <a:endParaRPr lang="en-US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53F874-DA3C-A95A-8086-2DD689F91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6" y="2543084"/>
            <a:ext cx="6366660" cy="37916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C8069D-901F-4AE7-3D95-774CDEF163D4}"/>
              </a:ext>
            </a:extLst>
          </p:cNvPr>
          <p:cNvSpPr txBox="1"/>
          <p:nvPr/>
        </p:nvSpPr>
        <p:spPr>
          <a:xfrm>
            <a:off x="2019127" y="3747950"/>
            <a:ext cx="765447" cy="357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spc="0" baseline="0" dirty="0">
                <a:ln/>
                <a:solidFill>
                  <a:srgbClr val="1D9E75"/>
                </a:solidFill>
                <a:latin typeface="Segoe UI"/>
                <a:cs typeface="Segoe UI"/>
                <a:sym typeface="Segoe UI"/>
                <a:rtl val="0"/>
              </a:rPr>
              <a:t>−31%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A3BF1A-5886-13F6-26C7-7930C87A764C}"/>
              </a:ext>
            </a:extLst>
          </p:cNvPr>
          <p:cNvSpPr txBox="1"/>
          <p:nvPr/>
        </p:nvSpPr>
        <p:spPr>
          <a:xfrm>
            <a:off x="4301072" y="4802166"/>
            <a:ext cx="669050" cy="35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600" b="1" dirty="0">
                <a:ln/>
                <a:solidFill>
                  <a:srgbClr val="C00000"/>
                </a:solidFill>
                <a:latin typeface="Segoe UI"/>
                <a:cs typeface="Segoe UI"/>
                <a:sym typeface="Segoe UI"/>
                <a:rtl val="0"/>
              </a:rPr>
              <a:t>x</a:t>
            </a:r>
            <a:r>
              <a:rPr lang="en-US" sz="1600" b="1" dirty="0">
                <a:ln/>
                <a:solidFill>
                  <a:srgbClr val="C00000"/>
                </a:solidFill>
                <a:latin typeface="Segoe UI"/>
                <a:cs typeface="Segoe UI"/>
                <a:sym typeface="Segoe UI"/>
                <a:rtl val="0"/>
              </a:rPr>
              <a:t>110</a:t>
            </a:r>
            <a:endParaRPr lang="en-US" sz="1600" b="1" spc="0" baseline="0" dirty="0">
              <a:ln/>
              <a:solidFill>
                <a:srgbClr val="C00000"/>
              </a:solidFill>
              <a:latin typeface="Segoe UI"/>
              <a:cs typeface="Segoe UI"/>
              <a:sym typeface="Segoe UI"/>
              <a:rtl val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124440-49AE-1463-88FD-CFF585FECD2D}"/>
              </a:ext>
            </a:extLst>
          </p:cNvPr>
          <p:cNvCxnSpPr>
            <a:cxnSpLocks/>
          </p:cNvCxnSpPr>
          <p:nvPr/>
        </p:nvCxnSpPr>
        <p:spPr>
          <a:xfrm>
            <a:off x="1926507" y="3937499"/>
            <a:ext cx="959860" cy="741854"/>
          </a:xfrm>
          <a:prstGeom prst="straightConnector1">
            <a:avLst/>
          </a:prstGeom>
          <a:ln>
            <a:solidFill>
              <a:srgbClr val="1D9E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B683CE5-BA72-E214-811E-567923C39807}"/>
              </a:ext>
            </a:extLst>
          </p:cNvPr>
          <p:cNvCxnSpPr>
            <a:cxnSpLocks/>
          </p:cNvCxnSpPr>
          <p:nvPr/>
        </p:nvCxnSpPr>
        <p:spPr>
          <a:xfrm flipH="1" flipV="1">
            <a:off x="4073267" y="5002723"/>
            <a:ext cx="896855" cy="90353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64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A7B57A-EDA6-909B-2745-CEECB32A3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Cluster Interpretation</a:t>
            </a:r>
            <a:br>
              <a:rPr lang="de-DE" dirty="0"/>
            </a:br>
            <a:r>
              <a:rPr lang="de-DE" sz="800" dirty="0">
                <a:solidFill>
                  <a:schemeClr val="bg1"/>
                </a:solidFill>
              </a:rPr>
              <a:t>a</a:t>
            </a:r>
            <a:br>
              <a:rPr lang="de-DE" dirty="0"/>
            </a:br>
            <a:r>
              <a:rPr lang="en-US" sz="2000" dirty="0"/>
              <a:t>Cross-referencing predicted clusters with manual category tags validates the model's high semantic accuracy.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BCE553-DE36-0EB6-BE5C-43E0D2EDC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25.03.2026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218AD0-A83F-EA78-9FFA-E8C0815DF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BDADE5-00DA-D112-E3B5-6CDEEE558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</a:t>
            </a:fld>
            <a:endParaRPr lang="de-CH" noProof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8711214C-5C6A-70F4-D4EB-661599A6E23E}"/>
              </a:ext>
            </a:extLst>
          </p:cNvPr>
          <p:cNvGrpSpPr>
            <a:grpSpLocks noChangeAspect="1"/>
          </p:cNvGrpSpPr>
          <p:nvPr/>
        </p:nvGrpSpPr>
        <p:grpSpPr>
          <a:xfrm>
            <a:off x="731837" y="1324528"/>
            <a:ext cx="5072742" cy="5152342"/>
            <a:chOff x="482874" y="710351"/>
            <a:chExt cx="5613125" cy="5701204"/>
          </a:xfrm>
        </p:grpSpPr>
        <p:pic>
          <p:nvPicPr>
            <p:cNvPr id="21" name="Grafik 20" descr="Ein Bild, das Screenshot, Design enthält.&#10;&#10;KI-generierte Inhalte können fehlerhaft sein.">
              <a:extLst>
                <a:ext uri="{FF2B5EF4-FFF2-40B4-BE49-F238E27FC236}">
                  <a16:creationId xmlns:a16="http://schemas.microsoft.com/office/drawing/2014/main" id="{1A45BBD7-4CE0-BDFD-F46E-5B4731E31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3936" y="4497030"/>
              <a:ext cx="4638675" cy="1914525"/>
            </a:xfrm>
            <a:prstGeom prst="rect">
              <a:avLst/>
            </a:prstGeom>
          </p:spPr>
        </p:pic>
        <p:pic>
          <p:nvPicPr>
            <p:cNvPr id="32" name="Grafik 31" descr="Ein Bild, das Zubehör, Handtasche, Tasche, Gepäck und Koffer enthält.&#10;&#10;KI-generierte Inhalte können fehlerhaft sein.">
              <a:extLst>
                <a:ext uri="{FF2B5EF4-FFF2-40B4-BE49-F238E27FC236}">
                  <a16:creationId xmlns:a16="http://schemas.microsoft.com/office/drawing/2014/main" id="{B49C7DE2-AD46-CC17-9B0E-C56A2830B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874" y="710351"/>
              <a:ext cx="2752725" cy="3771900"/>
            </a:xfrm>
            <a:prstGeom prst="rect">
              <a:avLst/>
            </a:prstGeom>
          </p:spPr>
        </p:pic>
        <p:pic>
          <p:nvPicPr>
            <p:cNvPr id="36" name="Grafik 35" descr="Ein Bild, das Kleidung, Ärmel, Muster (Modedesign), Freizeitkleidung enthält.&#10;&#10;KI-generierte Inhalte können fehlerhaft sein.">
              <a:extLst>
                <a:ext uri="{FF2B5EF4-FFF2-40B4-BE49-F238E27FC236}">
                  <a16:creationId xmlns:a16="http://schemas.microsoft.com/office/drawing/2014/main" id="{6B46B2A3-589C-F528-B99E-88B0C079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3274" y="715605"/>
              <a:ext cx="2752725" cy="3781425"/>
            </a:xfrm>
            <a:prstGeom prst="rect">
              <a:avLst/>
            </a:prstGeom>
          </p:spPr>
        </p:pic>
      </p:grpSp>
      <p:pic>
        <p:nvPicPr>
          <p:cNvPr id="40" name="Grafik 39" descr="Ein Bild, das Text, Screenshot, Zahl, parallel enthält.&#10;&#10;KI-generierte Inhalte können fehlerhaft sein.">
            <a:extLst>
              <a:ext uri="{FF2B5EF4-FFF2-40B4-BE49-F238E27FC236}">
                <a16:creationId xmlns:a16="http://schemas.microsoft.com/office/drawing/2014/main" id="{E7FF2963-4BC7-95A4-B276-6F53674E6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782" y="1657954"/>
            <a:ext cx="5390380" cy="447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51573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Präsentation3" id="{9C84984C-18ED-5E49-A574-15FF8A3954B8}" vid="{0B390235-9264-874C-ABEB-5D2188FC234E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0F59E03F3A02E49BD70E31348545014" ma:contentTypeVersion="7" ma:contentTypeDescription="Ein neues Dokument erstellen." ma:contentTypeScope="" ma:versionID="907cdc0f808be0b4bc1373a5a8f6a492">
  <xsd:schema xmlns:xsd="http://www.w3.org/2001/XMLSchema" xmlns:xs="http://www.w3.org/2001/XMLSchema" xmlns:p="http://schemas.microsoft.com/office/2006/metadata/properties" xmlns:ns2="7fd05bba-d45d-467f-a5a8-3f2970e80e4a" targetNamespace="http://schemas.microsoft.com/office/2006/metadata/properties" ma:root="true" ma:fieldsID="6eaf8534fcc486a778b01aa1a7a62fa4" ns2:_="">
    <xsd:import namespace="7fd05bba-d45d-467f-a5a8-3f2970e80e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d05bba-d45d-467f-a5a8-3f2970e80e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B7B52BC-33EF-4C54-820C-9984D5F8AFB1}">
  <ds:schemaRefs>
    <ds:schemaRef ds:uri="7fd05bba-d45d-467f-a5a8-3f2970e80e4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0CFCB78-2973-46E2-963D-C72C98C43B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3B1C8D-BA84-44B8-B31F-BF26E7BAC85C}">
  <ds:schemaRefs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7fd05bba-d45d-467f-a5a8-3f2970e80e4a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eth_pp_praesentation_ohne_klassifizierung</Template>
  <TotalTime>0</TotalTime>
  <Words>257</Words>
  <Application>Microsoft Office PowerPoint</Application>
  <PresentationFormat>Widescreen</PresentationFormat>
  <Paragraphs>57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Consolas</vt:lpstr>
      <vt:lpstr>Segoe UI</vt:lpstr>
      <vt:lpstr>Symbol</vt:lpstr>
      <vt:lpstr>ETH Zürich</vt:lpstr>
      <vt:lpstr>Assignment 2: Baseline Challenge</vt:lpstr>
      <vt:lpstr>RFM Baseline for CLV Prediction</vt:lpstr>
      <vt:lpstr>Cluster Interpretation a Cross-referencing predicted clusters with manual category tags validates the model's high semantic accuracy.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Voss  Julius</dc:creator>
  <cp:lastModifiedBy>Constantin Cimpoes</cp:lastModifiedBy>
  <cp:revision>17</cp:revision>
  <dcterms:created xsi:type="dcterms:W3CDTF">2025-11-07T08:31:52Z</dcterms:created>
  <dcterms:modified xsi:type="dcterms:W3CDTF">2026-03-25T10:32:21Z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0x010100D0F59E03F3A02E49BD70E31348545014</vt:lpwstr>
  </property>
</Properties>
</file>
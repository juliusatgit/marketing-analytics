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76" r:id="rId6"/>
    <p:sldId id="119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FF9900"/>
    <a:srgbClr val="1D9E75"/>
    <a:srgbClr val="286DD2"/>
    <a:srgbClr val="6899E2"/>
    <a:srgbClr val="78ADD2"/>
    <a:srgbClr val="B8CFF2"/>
    <a:srgbClr val="266CCC"/>
    <a:srgbClr val="215EB3"/>
    <a:srgbClr val="1D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86405" autoAdjust="0"/>
  </p:normalViewPr>
  <p:slideViewPr>
    <p:cSldViewPr snapToGrid="0">
      <p:cViewPr varScale="1">
        <p:scale>
          <a:sx n="71" d="100"/>
          <a:sy n="71" d="100"/>
        </p:scale>
        <p:origin x="1176" y="5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65807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break in </a:t>
            </a:r>
            <a:r>
              <a:rPr lang="de-DE" dirty="0" err="1"/>
              <a:t>consumer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renting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maybe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iniatied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by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change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business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model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Because </a:t>
            </a:r>
            <a:r>
              <a:rPr lang="de-DE" dirty="0" err="1">
                <a:sym typeface="Wingdings" panose="05000000000000000000" pitchFamily="2" charset="2"/>
              </a:rPr>
              <a:t>before</a:t>
            </a:r>
            <a:r>
              <a:rPr lang="de-DE" dirty="0">
                <a:sym typeface="Wingdings" panose="05000000000000000000" pitchFamily="2" charset="2"/>
              </a:rPr>
              <a:t> 2020 </a:t>
            </a:r>
            <a:r>
              <a:rPr lang="de-DE" dirty="0" err="1">
                <a:sym typeface="Wingdings" panose="05000000000000000000" pitchFamily="2" charset="2"/>
              </a:rPr>
              <a:t>most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were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around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week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long</a:t>
            </a:r>
            <a:r>
              <a:rPr lang="de-DE" dirty="0">
                <a:sym typeface="Wingdings" panose="05000000000000000000" pitchFamily="2" charset="2"/>
              </a:rPr>
              <a:t> and after </a:t>
            </a:r>
            <a:r>
              <a:rPr lang="de-DE" dirty="0" err="1">
                <a:sym typeface="Wingdings" panose="05000000000000000000" pitchFamily="2" charset="2"/>
              </a:rPr>
              <a:t>it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basically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stabilized</a:t>
            </a:r>
            <a:r>
              <a:rPr lang="de-DE" dirty="0">
                <a:sym typeface="Wingdings" panose="05000000000000000000" pitchFamily="2" charset="2"/>
              </a:rPr>
              <a:t> to 30 </a:t>
            </a:r>
            <a:r>
              <a:rPr lang="de-DE" dirty="0" err="1">
                <a:sym typeface="Wingdings" panose="05000000000000000000" pitchFamily="2" charset="2"/>
              </a:rPr>
              <a:t>day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en-US" dirty="0"/>
              <a:t>That’s why we are just going to focus on the data after the shift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dirty="0" err="1"/>
              <a:t>tought</a:t>
            </a:r>
            <a:r>
              <a:rPr lang="en-US" dirty="0"/>
              <a:t> about doing a two fold test train approach</a:t>
            </a:r>
          </a:p>
          <a:p>
            <a:endParaRPr lang="en-US" dirty="0"/>
          </a:p>
          <a:p>
            <a:r>
              <a:rPr lang="en-US" dirty="0"/>
              <a:t>We use Fold 1 to establish a baseline. If Fold 1 performs well, and Fold 2 performs just as well or better, it proves our model is stable and ready to predict </a:t>
            </a:r>
          </a:p>
          <a:p>
            <a:endParaRPr lang="en-US" dirty="0"/>
          </a:p>
          <a:p>
            <a:r>
              <a:rPr lang="en-US" dirty="0"/>
              <a:t>But what could also be a point is to check if the first couple of months have too much “variance” in them before the data distribution settles. If the first fold is a lot worse that could be a hind to this and then we would crop the data even further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0402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[Transition - Take the floor from your colleague]</a:t>
            </a:r>
          </a:p>
          <a:p>
            <a:r>
              <a:rPr lang="en-US" dirty="0"/>
              <a:t>"Following up on the temporal split my colleague just explained, I'll walk you through our baseline models and a critical issue we discovered in the data: Latent Attrition."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Bar Chart on the left]</a:t>
            </a:r>
          </a:p>
          <a:p>
            <a:r>
              <a:rPr lang="en-US" dirty="0"/>
              <a:t>"We started with a standard RFM approach using a simple Ridge Regression. As you can see on the chart, this resulted in a massive Mean Absolute Error of nearly 14,700 NOK."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Table on the top right]</a:t>
            </a:r>
          </a:p>
          <a:p>
            <a:r>
              <a:rPr lang="en-US" dirty="0"/>
              <a:t>"To understand why it failed, look at the actual data in the table. Customer number 3 is a 'churned whale'. They spent over 55,000 NOK historically, but haven't rented anything in 245 days. Their actual future revenue is zero.</a:t>
            </a:r>
          </a:p>
          <a:p>
            <a:r>
              <a:rPr lang="en-US" dirty="0"/>
              <a:t>But because a linear model heavily weights historical spend, it doesn't understand this latent attrition. It hallucinates over 24,000 NOK in future revenue for a completely dead account."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back to the </a:t>
            </a:r>
            <a:r>
              <a:rPr lang="en-US" dirty="0" err="1"/>
              <a:t>LightGBM</a:t>
            </a:r>
            <a:r>
              <a:rPr lang="en-US" dirty="0"/>
              <a:t> Bar on the chart]</a:t>
            </a:r>
          </a:p>
          <a:p>
            <a:r>
              <a:rPr lang="en-US" dirty="0"/>
              <a:t>"To fix this, we upgraded to a tree-based model: </a:t>
            </a:r>
            <a:r>
              <a:rPr lang="en-US" dirty="0" err="1"/>
              <a:t>LightGBM</a:t>
            </a:r>
            <a:r>
              <a:rPr lang="en-US" dirty="0"/>
              <a:t>. Because trees can learn non-linear rules, </a:t>
            </a:r>
            <a:r>
              <a:rPr lang="en-US" dirty="0" err="1"/>
              <a:t>LightGBM</a:t>
            </a:r>
            <a:r>
              <a:rPr lang="en-US" dirty="0"/>
              <a:t> implicitly learned that once 'Recency' crosses a certain threshold, the predicted revenue must drop to zero. This cut our error by 30%."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[Look at the audience / Point to the Takeaways]</a:t>
            </a:r>
          </a:p>
          <a:p>
            <a:r>
              <a:rPr lang="en-US" dirty="0"/>
              <a:t>"However, the main takeaway here is that even an optimized pure-RFM baseline is insufficient. To close the error gap further, our next step is to enrich this tree model with the behavioral features we engineered earlier — like Style Entropy — to precisely predict who is churning.</a:t>
            </a:r>
          </a:p>
          <a:p>
            <a:r>
              <a:rPr lang="en-US" dirty="0"/>
              <a:t>Thank you."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9186" y="3785845"/>
            <a:ext cx="4680000" cy="1008000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b="1" noProof="0" dirty="0">
                <a:cs typeface="+mn-lt"/>
              </a:rPr>
              <a:t>Group 2:</a:t>
            </a:r>
          </a:p>
          <a:p>
            <a:endParaRPr lang="en-US" sz="1000" b="1" noProof="0" dirty="0">
              <a:cs typeface="+mn-lt"/>
            </a:endParaRPr>
          </a:p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 dirty="0" err="1">
                <a:cs typeface="+mn-lt"/>
              </a:rPr>
              <a:t>Cimpoes</a:t>
            </a:r>
            <a:r>
              <a:rPr lang="en-US" sz="1600" b="1" noProof="0" dirty="0">
                <a:cs typeface="+mn-lt"/>
              </a:rPr>
              <a:t>, Julius 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Marketing Analytics</a:t>
            </a:r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59CF38-73BF-14E6-D6D6-89219DE0D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</p:spPr>
        <p:txBody>
          <a:bodyPr anchor="t">
            <a:normAutofit/>
          </a:bodyPr>
          <a:lstStyle/>
          <a:p>
            <a:r>
              <a:rPr lang="en-US" dirty="0"/>
              <a:t>Time-Based Validation Strategy for CLV Prediction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5806576-01BD-1368-3251-24A99FBA6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83" b="2"/>
          <a:stretch>
            <a:fillRect/>
          </a:stretch>
        </p:blipFill>
        <p:spPr>
          <a:xfrm>
            <a:off x="731835" y="1303219"/>
            <a:ext cx="5017325" cy="2188699"/>
          </a:xfrm>
          <a:prstGeom prst="rect">
            <a:avLst/>
          </a:prstGeom>
          <a:noFill/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41F404-3525-32B2-7EDA-5192C37A5C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3692" y="6522444"/>
            <a:ext cx="612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1B96697-4585-4368-989A-16003D150648}" type="datetime1">
              <a:rPr lang="de-CH" noProof="0" smtClean="0"/>
              <a:pPr>
                <a:spcAft>
                  <a:spcPts val="600"/>
                </a:spcAft>
              </a:pPr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4B1234-E164-FC6C-DAFC-6074E797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5400000" cy="216000"/>
          </a:xfrm>
        </p:spPr>
        <p:txBody>
          <a:bodyPr anchor="ctr">
            <a:normAutofit/>
          </a:bodyPr>
          <a:lstStyle/>
          <a:p>
            <a:r>
              <a:rPr lang="en-US" dirty="0"/>
              <a:t>Marketing Analytics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A976B1-562C-68B6-998A-659638C4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7585" y="6522444"/>
            <a:ext cx="322577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ACA52AF-F19D-405C-AD5F-7D94B96A5CC3}" type="slidenum">
              <a:rPr lang="de-CH" noProof="0" smtClean="0"/>
              <a:pPr>
                <a:spcAft>
                  <a:spcPts val="600"/>
                </a:spcAft>
              </a:pPr>
              <a:t>2</a:t>
            </a:fld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A19BDA3-86A0-B299-B5FD-E9084E8C0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5" y="3535404"/>
            <a:ext cx="5017324" cy="217733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1ADD9EB-ECBE-BFB4-5C5C-C1BF8FEC3DCC}"/>
              </a:ext>
            </a:extLst>
          </p:cNvPr>
          <p:cNvSpPr txBox="1"/>
          <p:nvPr/>
        </p:nvSpPr>
        <p:spPr>
          <a:xfrm>
            <a:off x="731836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Data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B5D105C-3E82-A1E7-16F5-F1FF44791031}"/>
              </a:ext>
            </a:extLst>
          </p:cNvPr>
          <p:cNvSpPr txBox="1"/>
          <p:nvPr/>
        </p:nvSpPr>
        <p:spPr>
          <a:xfrm>
            <a:off x="6442838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Train-test </a:t>
            </a:r>
            <a:r>
              <a:rPr lang="de-DE" dirty="0" err="1">
                <a:solidFill>
                  <a:schemeClr val="bg1"/>
                </a:solidFill>
              </a:rPr>
              <a:t>split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0C11ECE-32CA-9E14-57D2-2CBB7566D165}"/>
              </a:ext>
            </a:extLst>
          </p:cNvPr>
          <p:cNvSpPr txBox="1"/>
          <p:nvPr/>
        </p:nvSpPr>
        <p:spPr>
          <a:xfrm>
            <a:off x="767672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sz="1400" dirty="0"/>
              <a:t>Plots </a:t>
            </a:r>
            <a:r>
              <a:rPr lang="de-DE" sz="1400" dirty="0" err="1"/>
              <a:t>reveal</a:t>
            </a:r>
            <a:r>
              <a:rPr lang="de-DE" sz="1400" dirty="0"/>
              <a:t> a </a:t>
            </a:r>
            <a:r>
              <a:rPr lang="de-DE" sz="1400" b="1" dirty="0" err="1"/>
              <a:t>structural</a:t>
            </a:r>
            <a:r>
              <a:rPr lang="de-DE" sz="1400" b="1" dirty="0"/>
              <a:t> break</a:t>
            </a:r>
            <a:r>
              <a:rPr lang="de-DE" sz="1400" dirty="0"/>
              <a:t> in </a:t>
            </a:r>
            <a:r>
              <a:rPr lang="de-DE" sz="1400" dirty="0" err="1"/>
              <a:t>consumer</a:t>
            </a:r>
            <a:r>
              <a:rPr lang="de-DE" sz="1400" dirty="0"/>
              <a:t> </a:t>
            </a:r>
            <a:r>
              <a:rPr lang="de-DE" sz="1400" dirty="0" err="1"/>
              <a:t>behavior</a:t>
            </a:r>
            <a:r>
              <a:rPr lang="de-DE" sz="1400" dirty="0"/>
              <a:t> </a:t>
            </a:r>
            <a:r>
              <a:rPr lang="de-DE" sz="1400" dirty="0" err="1"/>
              <a:t>starting</a:t>
            </a:r>
            <a:r>
              <a:rPr lang="de-DE" sz="1400" dirty="0"/>
              <a:t> April 2020</a:t>
            </a:r>
            <a:endParaRPr lang="en-US" sz="1400" dirty="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5875D0B7-E59C-033E-8563-2C696D7C7B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07" b="25369"/>
          <a:stretch>
            <a:fillRect/>
          </a:stretch>
        </p:blipFill>
        <p:spPr>
          <a:xfrm>
            <a:off x="6575873" y="4526324"/>
            <a:ext cx="4751254" cy="1163312"/>
          </a:xfrm>
          <a:prstGeom prst="rect">
            <a:avLst/>
          </a:prstGeom>
        </p:spPr>
      </p:pic>
      <p:sp>
        <p:nvSpPr>
          <p:cNvPr id="55" name="Textfeld 54">
            <a:extLst>
              <a:ext uri="{FF2B5EF4-FFF2-40B4-BE49-F238E27FC236}">
                <a16:creationId xmlns:a16="http://schemas.microsoft.com/office/drawing/2014/main" id="{E3466438-2397-5171-233F-C2CFC72E4EA6}"/>
              </a:ext>
            </a:extLst>
          </p:cNvPr>
          <p:cNvSpPr txBox="1"/>
          <p:nvPr/>
        </p:nvSpPr>
        <p:spPr>
          <a:xfrm>
            <a:off x="6442838" y="1366743"/>
            <a:ext cx="5017324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de-DE" sz="1400" dirty="0"/>
              <a:t>F</a:t>
            </a:r>
            <a:r>
              <a:rPr lang="en-US" sz="1400" dirty="0" err="1"/>
              <a:t>ocus</a:t>
            </a:r>
            <a:r>
              <a:rPr lang="en-US" sz="1400" dirty="0"/>
              <a:t> on </a:t>
            </a:r>
            <a:r>
              <a:rPr lang="en-US" sz="1400" b="1" dirty="0"/>
              <a:t>post-behavioral shift period (Apr 2020 onward)</a:t>
            </a:r>
            <a:r>
              <a:rPr lang="en-US" sz="1400" dirty="0"/>
              <a:t> to ensure consistent customer dynamics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Forward-chaining validation (2 folds)</a:t>
            </a:r>
            <a:r>
              <a:rPr lang="en-US" sz="1400" dirty="0"/>
              <a:t> tests model stability across time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1 (consistency check): </a:t>
            </a:r>
            <a:r>
              <a:rPr lang="en-US" sz="1400" i="1" dirty="0"/>
              <a:t>Can the model generalize to unseen data before the final period?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2 (main validation): </a:t>
            </a:r>
            <a:r>
              <a:rPr lang="en-US" sz="1400" i="1" dirty="0"/>
              <a:t>Does the model work in the most recent, most relevant period?</a:t>
            </a:r>
            <a:r>
              <a:rPr lang="en-US" sz="1400" dirty="0"/>
              <a:t>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Consistent performance across folds → reliable generalization to unseen period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With expanded historical data, Fold 2 is expected to match or exceed baseline performance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F64E5EFB-5C74-FDBA-3ED0-3F45AEF0D1F2}"/>
              </a:ext>
            </a:extLst>
          </p:cNvPr>
          <p:cNvSpPr txBox="1"/>
          <p:nvPr/>
        </p:nvSpPr>
        <p:spPr>
          <a:xfrm>
            <a:off x="6442838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Final model predicts CLV for Sep 2023 – Sep 2024 using </a:t>
            </a:r>
            <a:r>
              <a:rPr lang="en-US" sz="1400" b="1" dirty="0"/>
              <a:t>all available stable data</a:t>
            </a:r>
          </a:p>
        </p:txBody>
      </p:sp>
    </p:spTree>
    <p:extLst>
      <p:ext uri="{BB962C8B-B14F-4D97-AF65-F5344CB8AC3E}">
        <p14:creationId xmlns:p14="http://schemas.microsoft.com/office/powerpoint/2010/main" val="28078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113136" y="587947"/>
            <a:ext cx="4453045" cy="862763"/>
            <a:chOff x="7745455" y="1754196"/>
            <a:chExt cx="3420143" cy="86276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E8C2E2E-BDEF-E0F0-0A29-F9FE32BFD08A}"/>
              </a:ext>
            </a:extLst>
          </p:cNvPr>
          <p:cNvSpPr txBox="1"/>
          <p:nvPr/>
        </p:nvSpPr>
        <p:spPr>
          <a:xfrm>
            <a:off x="9648151" y="4838530"/>
            <a:ext cx="238981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    Importance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556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 451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4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337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D149C-09C2-3EEC-58DC-B9A96AE142B0}"/>
              </a:ext>
            </a:extLst>
          </p:cNvPr>
          <p:cNvSpPr txBox="1"/>
          <p:nvPr/>
        </p:nvSpPr>
        <p:spPr>
          <a:xfrm>
            <a:off x="11122753" y="5792637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Splits</a:t>
            </a:r>
            <a:endParaRPr lang="en-US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7303FA8-A842-8B78-6F17-C7979BFF9A9C}"/>
              </a:ext>
            </a:extLst>
          </p:cNvPr>
          <p:cNvGrpSpPr/>
          <p:nvPr/>
        </p:nvGrpSpPr>
        <p:grpSpPr>
          <a:xfrm>
            <a:off x="113136" y="1579371"/>
            <a:ext cx="4955457" cy="3683560"/>
            <a:chOff x="304800" y="2482571"/>
            <a:chExt cx="5307509" cy="395711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D987225-2772-B115-2B3D-6C7910618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2482571"/>
              <a:ext cx="5307509" cy="395711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806499" y="3742189"/>
              <a:ext cx="765447" cy="3572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547278" y="3817040"/>
              <a:ext cx="1299786" cy="975144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4210C51-698D-B115-CD92-15AA68E97334}"/>
              </a:ext>
            </a:extLst>
          </p:cNvPr>
          <p:cNvSpPr txBox="1"/>
          <p:nvPr/>
        </p:nvSpPr>
        <p:spPr>
          <a:xfrm>
            <a:off x="5176927" y="245551"/>
            <a:ext cx="701507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Ridge Regression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simple linear ridge model cannot handle customers who spent a lot in 2021 but stopped completely in 2023. It hallucinates high revenue for dead accounts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0EA73-A785-385C-9D8A-9627A70360A8}"/>
              </a:ext>
            </a:extLst>
          </p:cNvPr>
          <p:cNvSpPr txBox="1"/>
          <p:nvPr/>
        </p:nvSpPr>
        <p:spPr>
          <a:xfrm>
            <a:off x="5176928" y="1223462"/>
            <a:ext cx="4318764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b="1" i="0" dirty="0">
                <a:effectLst/>
                <a:latin typeface="Consolas" panose="020B0609020204030204" pitchFamily="49" charset="0"/>
              </a:rPr>
              <a:t>--- LATENT ATTRITION EXAMPLES --- </a:t>
            </a: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3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Recency: 245 days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Frequency: 33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55,451.33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0.00 NOK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24,355.41 NOK 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9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Recency: 3 days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Frequency: 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3,402.67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6,700.00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14,653.23 NOK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766DCB-B959-67E8-F5B9-DF360F58D8BF}"/>
              </a:ext>
            </a:extLst>
          </p:cNvPr>
          <p:cNvSpPr txBox="1"/>
          <p:nvPr/>
        </p:nvSpPr>
        <p:spPr>
          <a:xfrm>
            <a:off x="9574505" y="1223462"/>
            <a:ext cx="253710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</a:t>
            </a:r>
            <a:r>
              <a:rPr lang="en-US" sz="1400" b="1" dirty="0">
                <a:latin typeface="Consolas" panose="020B0609020204030204" pitchFamily="49" charset="0"/>
              </a:rPr>
              <a:t>     </a:t>
            </a:r>
            <a:r>
              <a:rPr lang="en-US" sz="1400" b="1" i="0" dirty="0">
                <a:effectLst/>
                <a:latin typeface="Consolas" panose="020B0609020204030204" pitchFamily="49" charset="0"/>
              </a:rPr>
              <a:t>Importance</a:t>
            </a:r>
            <a:endParaRPr lang="en-US" sz="1400" b="0" i="0" dirty="0"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</a:t>
            </a:r>
            <a:r>
              <a:rPr lang="en-US" sz="11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-7793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-9150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</a:t>
            </a:r>
            <a:r>
              <a:rPr lang="en-US" sz="14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21982</a:t>
            </a:r>
            <a:endParaRPr lang="en-US" sz="1400" dirty="0">
              <a:solidFill>
                <a:srgbClr val="1D9E7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C2B7F-B398-AA94-D3A9-0E8FAD03B87D}"/>
              </a:ext>
            </a:extLst>
          </p:cNvPr>
          <p:cNvSpPr txBox="1"/>
          <p:nvPr/>
        </p:nvSpPr>
        <p:spPr>
          <a:xfrm>
            <a:off x="10909555" y="2197553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Coefficients</a:t>
            </a:r>
            <a:endParaRPr lang="en-US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BDEDB8-5A09-889B-1E17-255AA7019E77}"/>
              </a:ext>
            </a:extLst>
          </p:cNvPr>
          <p:cNvSpPr txBox="1"/>
          <p:nvPr/>
        </p:nvSpPr>
        <p:spPr>
          <a:xfrm>
            <a:off x="5176927" y="4073248"/>
            <a:ext cx="70150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464" indent="-283464" algn="l" rtl="0" eaLnBrk="1" latinLnBrk="0" hangingPunct="1">
              <a:buClrTx/>
              <a:buSzPts val="1800"/>
              <a:buFont typeface="Arial" panose="020B0604020202020204" pitchFamily="34" charset="0"/>
              <a:buChar char="●"/>
            </a:pPr>
            <a:r>
              <a:rPr lang="en-US" sz="2000" b="1" kern="12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LightGBM</a:t>
            </a:r>
            <a:r>
              <a:rPr lang="en-US" sz="20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r>
              <a:rPr lang="en-US" sz="16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 implement a tree-based model that can implicitly learn to ignore these churned customers. Upgrading to a tree-based model cuts the MAE by 31%:</a:t>
            </a:r>
            <a:endParaRPr lang="en-US" sz="2000" dirty="0"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BFBCD7-0E3E-61C5-3D61-850507BAC495}"/>
              </a:ext>
            </a:extLst>
          </p:cNvPr>
          <p:cNvSpPr txBox="1"/>
          <p:nvPr/>
        </p:nvSpPr>
        <p:spPr>
          <a:xfrm>
            <a:off x="181231" y="5317243"/>
            <a:ext cx="9177374" cy="1077218"/>
          </a:xfrm>
          <a:prstGeom prst="rect">
            <a:avLst/>
          </a:prstGeom>
          <a:solidFill>
            <a:srgbClr val="000066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While this is a solid improvement, our conclusion is that pure RFM features are still not enough for a highly accurate prediction. Our next step for the final model is to enrich this </a:t>
            </a:r>
            <a:r>
              <a:rPr lang="en-US" sz="1600" b="1" dirty="0" err="1">
                <a:solidFill>
                  <a:schemeClr val="bg1"/>
                </a:solidFill>
              </a:rPr>
              <a:t>LightGBM</a:t>
            </a:r>
            <a:r>
              <a:rPr lang="en-US" sz="1600" b="1" dirty="0">
                <a:solidFill>
                  <a:schemeClr val="bg1"/>
                </a:solidFill>
              </a:rPr>
              <a:t> with behavioral features (e.g., Style Entropy and Cluster Affinity) to precisely predict who is churning and reduce the error gap even further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CFF14FB-C344-290F-B84B-465E89ADDC61}"/>
              </a:ext>
            </a:extLst>
          </p:cNvPr>
          <p:cNvSpPr txBox="1">
            <a:spLocks/>
          </p:cNvSpPr>
          <p:nvPr/>
        </p:nvSpPr>
        <p:spPr>
          <a:xfrm>
            <a:off x="2165476" y="6525556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Marketing Analytics</a:t>
            </a:r>
          </a:p>
        </p:txBody>
      </p: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875</Words>
  <Application>Microsoft Office PowerPoint</Application>
  <PresentationFormat>Widescreen</PresentationFormat>
  <Paragraphs>87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Segoe UI</vt:lpstr>
      <vt:lpstr>Symbol</vt:lpstr>
      <vt:lpstr>Wingdings</vt:lpstr>
      <vt:lpstr>ETH Zürich</vt:lpstr>
      <vt:lpstr> Assignment 2: Baseline Challenge</vt:lpstr>
      <vt:lpstr>Time-Based Validation Strategy for CLV Prediction</vt:lpstr>
      <vt:lpstr>RFM Baseline for CLV Prediction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Constantin Cimpoes</cp:lastModifiedBy>
  <cp:revision>23</cp:revision>
  <dcterms:created xsi:type="dcterms:W3CDTF">2025-11-07T08:31:52Z</dcterms:created>
  <dcterms:modified xsi:type="dcterms:W3CDTF">2026-03-25T13:22:21Z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
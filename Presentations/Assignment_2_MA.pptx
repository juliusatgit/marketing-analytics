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"/>
  </p:notesMasterIdLst>
  <p:handoutMasterIdLst>
    <p:handoutMasterId r:id="rId9"/>
  </p:handoutMasterIdLst>
  <p:sldIdLst>
    <p:sldId id="256" r:id="rId5"/>
    <p:sldId id="276" r:id="rId6"/>
    <p:sldId id="1190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66"/>
    <a:srgbClr val="FF9900"/>
    <a:srgbClr val="1D9E75"/>
    <a:srgbClr val="286DD2"/>
    <a:srgbClr val="6899E2"/>
    <a:srgbClr val="78ADD2"/>
    <a:srgbClr val="B8CFF2"/>
    <a:srgbClr val="266CCC"/>
    <a:srgbClr val="215EB3"/>
    <a:srgbClr val="1D51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59" autoAdjust="0"/>
    <p:restoredTop sz="54510" autoAdjust="0"/>
  </p:normalViewPr>
  <p:slideViewPr>
    <p:cSldViewPr snapToGrid="0">
      <p:cViewPr>
        <p:scale>
          <a:sx n="88" d="100"/>
          <a:sy n="88" d="100"/>
        </p:scale>
        <p:origin x="461" y="-1795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8AF70A90-CA7E-49EB-AB17-C37FEDD0759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A7711EA-1FBE-4E98-9D43-C2D65C45D0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8ABEA4-9216-4FDF-AAE1-D8632908A8EC}" type="datetimeFigureOut">
              <a:rPr lang="de-CH" smtClean="0"/>
              <a:t>25.03.2026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CCD3C8-8930-4E0E-A891-B770724F2B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798FB5-86BC-42DA-9D05-F96D484814F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685DCD-866D-47AE-A236-118539F5337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232272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8A90D-FE7E-41AF-B03D-808D82937CB9}" type="datetimeFigureOut">
              <a:rPr lang="de-CH" smtClean="0"/>
              <a:t>25.03.2026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5DDFD-030C-4D5A-B33E-3A7E7538D2B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4149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Structural</a:t>
            </a:r>
            <a:r>
              <a:rPr lang="de-DE" dirty="0"/>
              <a:t> break in </a:t>
            </a:r>
            <a:r>
              <a:rPr lang="de-DE" dirty="0" err="1"/>
              <a:t>consumer</a:t>
            </a:r>
            <a:r>
              <a:rPr lang="de-DE" dirty="0"/>
              <a:t> </a:t>
            </a:r>
            <a:r>
              <a:rPr lang="de-DE" dirty="0" err="1"/>
              <a:t>behavior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renting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maybe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iniatied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by</a:t>
            </a:r>
            <a:r>
              <a:rPr lang="de-DE" dirty="0">
                <a:sym typeface="Wingdings" panose="05000000000000000000" pitchFamily="2" charset="2"/>
              </a:rPr>
              <a:t> a </a:t>
            </a:r>
            <a:r>
              <a:rPr lang="de-DE" dirty="0" err="1">
                <a:sym typeface="Wingdings" panose="05000000000000000000" pitchFamily="2" charset="2"/>
              </a:rPr>
              <a:t>change</a:t>
            </a:r>
            <a:r>
              <a:rPr lang="de-DE" dirty="0">
                <a:sym typeface="Wingdings" panose="05000000000000000000" pitchFamily="2" charset="2"/>
              </a:rPr>
              <a:t> in </a:t>
            </a:r>
            <a:r>
              <a:rPr lang="de-DE" dirty="0" err="1">
                <a:sym typeface="Wingdings" panose="05000000000000000000" pitchFamily="2" charset="2"/>
              </a:rPr>
              <a:t>the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renting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business</a:t>
            </a:r>
            <a:endParaRPr lang="de-DE" dirty="0">
              <a:sym typeface="Wingdings" panose="05000000000000000000" pitchFamily="2" charset="2"/>
            </a:endParaRPr>
          </a:p>
          <a:p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Because </a:t>
            </a:r>
            <a:r>
              <a:rPr lang="de-DE" dirty="0" err="1">
                <a:sym typeface="Wingdings" panose="05000000000000000000" pitchFamily="2" charset="2"/>
              </a:rPr>
              <a:t>before</a:t>
            </a:r>
            <a:r>
              <a:rPr lang="de-DE" dirty="0">
                <a:sym typeface="Wingdings" panose="05000000000000000000" pitchFamily="2" charset="2"/>
              </a:rPr>
              <a:t> 2020 </a:t>
            </a:r>
            <a:r>
              <a:rPr lang="de-DE" dirty="0" err="1">
                <a:sym typeface="Wingdings" panose="05000000000000000000" pitchFamily="2" charset="2"/>
              </a:rPr>
              <a:t>most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rentals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were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around</a:t>
            </a:r>
            <a:r>
              <a:rPr lang="de-DE" dirty="0">
                <a:sym typeface="Wingdings" panose="05000000000000000000" pitchFamily="2" charset="2"/>
              </a:rPr>
              <a:t> a </a:t>
            </a:r>
            <a:r>
              <a:rPr lang="de-DE" dirty="0" err="1">
                <a:sym typeface="Wingdings" panose="05000000000000000000" pitchFamily="2" charset="2"/>
              </a:rPr>
              <a:t>week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long</a:t>
            </a:r>
            <a:r>
              <a:rPr lang="de-DE" dirty="0">
                <a:sym typeface="Wingdings" panose="05000000000000000000" pitchFamily="2" charset="2"/>
              </a:rPr>
              <a:t> and after </a:t>
            </a:r>
            <a:r>
              <a:rPr lang="de-DE" dirty="0" err="1">
                <a:sym typeface="Wingdings" panose="05000000000000000000" pitchFamily="2" charset="2"/>
              </a:rPr>
              <a:t>it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basically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stabilized</a:t>
            </a:r>
            <a:r>
              <a:rPr lang="de-DE" dirty="0">
                <a:sym typeface="Wingdings" panose="05000000000000000000" pitchFamily="2" charset="2"/>
              </a:rPr>
              <a:t> to 30 </a:t>
            </a:r>
            <a:r>
              <a:rPr lang="de-DE" dirty="0" err="1">
                <a:sym typeface="Wingdings" panose="05000000000000000000" pitchFamily="2" charset="2"/>
              </a:rPr>
              <a:t>day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rentals</a:t>
            </a:r>
            <a:endParaRPr lang="de-DE" dirty="0">
              <a:sym typeface="Wingdings" panose="05000000000000000000" pitchFamily="2" charset="2"/>
            </a:endParaRPr>
          </a:p>
          <a:p>
            <a:endParaRPr lang="de-DE" dirty="0">
              <a:sym typeface="Wingdings" panose="05000000000000000000" pitchFamily="2" charset="2"/>
            </a:endParaRPr>
          </a:p>
          <a:p>
            <a:r>
              <a:rPr lang="en-US" dirty="0"/>
              <a:t>That’s why we are just going to focus on the data after the shift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</a:t>
            </a:r>
            <a:r>
              <a:rPr lang="en-US" dirty="0" err="1"/>
              <a:t>tought</a:t>
            </a:r>
            <a:r>
              <a:rPr lang="en-US" dirty="0"/>
              <a:t> about doing a two fold test train approach</a:t>
            </a:r>
          </a:p>
          <a:p>
            <a:endParaRPr lang="en-US" dirty="0"/>
          </a:p>
          <a:p>
            <a:r>
              <a:rPr lang="en-US" dirty="0"/>
              <a:t>We use Fold 1 to establish a baseline. If Fold 1 performs well, and Fold 2 performs just as well or better, it proves our model is stable and ready to predict </a:t>
            </a:r>
          </a:p>
          <a:p>
            <a:endParaRPr lang="en-US" dirty="0"/>
          </a:p>
          <a:p>
            <a:r>
              <a:rPr lang="en-US" dirty="0"/>
              <a:t>But what could also be a point is to check if the first couple of months have too much “variance” in them before the data distribution settles. If the first fold is a lot worse that could be a hind to this and then we would crop the data </a:t>
            </a:r>
            <a:r>
              <a:rPr lang="en-US"/>
              <a:t>even further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204022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[Transition - Take the floor from your colleague]</a:t>
            </a:r>
          </a:p>
          <a:p>
            <a:r>
              <a:rPr lang="en-US" dirty="0"/>
              <a:t>"Following up on the temporal split my colleague just explained, I'll walk you through our baseline models and a critical issue we discovered in the data: Latent Attrition."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[Point to the Bar Chart on the left]</a:t>
            </a:r>
          </a:p>
          <a:p>
            <a:r>
              <a:rPr lang="en-US" dirty="0"/>
              <a:t>"We started with a standard RFM approach using a simple Ridge Regression. As you can see on the chart, this resulted in a massive Mean Absolute Error of nearly 14,700 NOK."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[Point to the Table on the top right]</a:t>
            </a:r>
          </a:p>
          <a:p>
            <a:r>
              <a:rPr lang="en-US" dirty="0"/>
              <a:t>"To understand why it failed, look at the actual data in the table. Customer number 3 is a 'churned whale'. They spent over 55,000 NOK historically, but haven't rented anything in 245 days. Their actual future revenue is zero.</a:t>
            </a:r>
          </a:p>
          <a:p>
            <a:r>
              <a:rPr lang="en-US" dirty="0"/>
              <a:t>But because a linear model heavily weights historical spend, it doesn't understand this latent attrition. It hallucinates over 24,000 NOK in future revenue for a completely dead account."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[Point back to the </a:t>
            </a:r>
            <a:r>
              <a:rPr lang="en-US" dirty="0" err="1"/>
              <a:t>LightGBM</a:t>
            </a:r>
            <a:r>
              <a:rPr lang="en-US" dirty="0"/>
              <a:t> Bar on the chart]</a:t>
            </a:r>
          </a:p>
          <a:p>
            <a:r>
              <a:rPr lang="en-US" dirty="0"/>
              <a:t>"To fix this, we upgraded to a tree-based model: </a:t>
            </a:r>
            <a:r>
              <a:rPr lang="en-US" dirty="0" err="1"/>
              <a:t>LightGBM</a:t>
            </a:r>
            <a:r>
              <a:rPr lang="en-US" dirty="0"/>
              <a:t>. Because trees can learn non-linear rules, </a:t>
            </a:r>
            <a:r>
              <a:rPr lang="en-US" dirty="0" err="1"/>
              <a:t>LightGBM</a:t>
            </a:r>
            <a:r>
              <a:rPr lang="en-US" dirty="0"/>
              <a:t> implicitly learned that once 'Recency' crosses a certain threshold, the predicted revenue must drop to zero. This cut our error by 30%."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[Look at the audience / Point to the Takeaways]</a:t>
            </a:r>
          </a:p>
          <a:p>
            <a:r>
              <a:rPr lang="en-US" dirty="0"/>
              <a:t>"However, the main takeaway here is that even an optimized pure-RFM baseline is insufficient. To close the error gap further, our next step is to enrich this tree model with the behavioral features we engineered earlier — like Style Entropy — to precisely predict who is churning.</a:t>
            </a:r>
          </a:p>
          <a:p>
            <a:r>
              <a:rPr lang="en-US" dirty="0"/>
              <a:t>Thank you."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59236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1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3C296D1-2CD0-479F-A866-6EC741D2293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41BE31-9613-4103-99FF-7DCFF643B3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DEB298C-798E-4D73-9DD6-F896C06530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4293381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  <p15:guide id="3" orient="horz" pos="640" userDrawn="1">
          <p15:clr>
            <a:srgbClr val="FBAE40"/>
          </p15:clr>
        </p15:guide>
        <p15:guide id="4" orient="horz" pos="3952" userDrawn="1">
          <p15:clr>
            <a:srgbClr val="FBAE40"/>
          </p15:clr>
        </p15:guide>
        <p15:guide id="5" pos="610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8A01615F-450E-43D0-B554-DA3FBD48DF3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0" tIns="0" rIns="558000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4000" y="2957494"/>
            <a:ext cx="5688000" cy="2268000"/>
          </a:xfrm>
          <a:solidFill>
            <a:schemeClr val="accent6"/>
          </a:solidFill>
        </p:spPr>
        <p:txBody>
          <a:bodyPr lIns="324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03A487C-8977-4264-A8A1-D6C1DB6046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45210" y="4639666"/>
            <a:ext cx="4320000" cy="46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E91D3734-CD8F-4F94-A813-570EF31C473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547D2927-4A99-4714-8EBA-F773EAA263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1002411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62D94F76-218E-49F2-87F8-05982912ED18}"/>
              </a:ext>
            </a:extLst>
          </p:cNvPr>
          <p:cNvSpPr/>
          <p:nvPr userDrawn="1"/>
        </p:nvSpPr>
        <p:spPr>
          <a:xfrm>
            <a:off x="731838" y="1016000"/>
            <a:ext cx="10728325" cy="5257800"/>
          </a:xfrm>
          <a:prstGeom prst="rect">
            <a:avLst/>
          </a:prstGeom>
          <a:solidFill>
            <a:srgbClr val="8E67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940405"/>
            <a:ext cx="10188000" cy="3420000"/>
          </a:xfrm>
          <a:solidFill>
            <a:schemeClr val="accent3"/>
          </a:solidFill>
          <a:ln>
            <a:noFill/>
          </a:ln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0503E57F-F89F-431B-8D38-7CC97B7C20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4217884"/>
            <a:ext cx="864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2" name="Bildplatzhalter 8">
            <a:extLst>
              <a:ext uri="{FF2B5EF4-FFF2-40B4-BE49-F238E27FC236}">
                <a16:creationId xmlns:a16="http://schemas.microsoft.com/office/drawing/2014/main" id="{1BEB6197-C509-4752-B57E-CEE955F5D92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4ADF7DEC-21BD-45CA-9E91-B9F58A69F62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3924069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837" y="1016000"/>
            <a:ext cx="10728326" cy="5256000"/>
          </a:xfrm>
          <a:solidFill>
            <a:schemeClr val="accent6"/>
          </a:solidFill>
          <a:ln>
            <a:noFill/>
          </a:ln>
        </p:spPr>
        <p:txBody>
          <a:bodyPr lIns="324000" tIns="11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5FCAD79B-EF47-46A0-9575-229F3DAA72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5" y="5122625"/>
            <a:ext cx="10044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72236FC6-C8FF-43C1-86B9-BF112345926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789A3267-E086-4EC3-A0BB-F8ECD01A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7325320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 – Uni Zür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2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93E2EDD-B19F-478D-BB03-AD55EC1E86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7672" y="228020"/>
            <a:ext cx="3679200" cy="552508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D364BCB8-820F-4C3A-BA37-7048A4C8D4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A73913C2-8DFE-4F15-B2DB-2A6D5C2670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791A1AD7-DB7D-4C75-BEFB-EB6D34D3B2A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2789257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39750" indent="-539750">
              <a:buFont typeface="+mj-lt"/>
              <a:buAutoNum type="arabicPeriod"/>
              <a:defRPr/>
            </a:lvl1pPr>
            <a:lvl2pPr marL="1079500" indent="-539750">
              <a:buFont typeface="+mj-lt"/>
              <a:buAutoNum type="arabicPeriod"/>
              <a:defRPr/>
            </a:lvl2pPr>
            <a:lvl3pPr marL="1612900" indent="-533400">
              <a:buFont typeface="+mj-lt"/>
              <a:buAutoNum type="arabicPeriod"/>
              <a:defRPr/>
            </a:lvl3pPr>
            <a:lvl4pPr marL="2152650" indent="-539750">
              <a:buFont typeface="+mj-lt"/>
              <a:buAutoNum type="arabicPeriod"/>
              <a:defRPr/>
            </a:lvl4pPr>
            <a:lvl5pPr marL="2692400" indent="-539750">
              <a:buFont typeface="+mj-lt"/>
              <a:buAutoNum type="arabicPeriod"/>
              <a:defRPr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2D50A-E6CC-4D88-8908-F2129032F4C7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99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753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Fuss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1E762-278A-4155-9BEB-7C2CB2386E92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2F6D94FA-21C6-4AE0-AA4F-3A077810ED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836" y="5570135"/>
            <a:ext cx="5364164" cy="721233"/>
          </a:xfrm>
        </p:spPr>
        <p:txBody>
          <a:bodyPr anchor="b" anchorCtr="0"/>
          <a:lstStyle>
            <a:lvl1pPr marL="179388" indent="-179388">
              <a:spcBef>
                <a:spcPts val="0"/>
              </a:spcBef>
              <a:buFont typeface="+mj-lt"/>
              <a:buAutoNum type="arabicPeriod"/>
              <a:defRPr sz="800"/>
            </a:lvl1pPr>
            <a:lvl2pPr marL="266700" indent="0">
              <a:buNone/>
              <a:defRPr sz="800"/>
            </a:lvl2pPr>
            <a:lvl3pPr marL="538163" indent="0">
              <a:buNone/>
              <a:defRPr sz="800"/>
            </a:lvl3pPr>
            <a:lvl4pPr marL="804862" indent="0">
              <a:buNone/>
              <a:defRPr sz="800"/>
            </a:lvl4pPr>
            <a:lvl5pPr marL="1076325" indent="0">
              <a:buNone/>
              <a:defRPr sz="800"/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26001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224781"/>
            <a:ext cx="10728325" cy="1260000"/>
          </a:xfrm>
        </p:spPr>
        <p:txBody>
          <a:bodyPr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C4EAFE7-317E-4912-B75C-DD6945F82242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‹Nr.›</a:t>
            </a:fld>
            <a:endParaRPr lang="de-CH" noProof="0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GrpSpPr/>
          <p:nvPr/>
        </p:nvGrpSpPr>
        <p:grpSpPr>
          <a:xfrm>
            <a:off x="731837" y="6507088"/>
            <a:ext cx="984462" cy="162000"/>
            <a:chOff x="731837" y="6507088"/>
            <a:chExt cx="984462" cy="162000"/>
          </a:xfrm>
          <a:solidFill>
            <a:schemeClr val="bg1"/>
          </a:solidFill>
        </p:grpSpPr>
        <p:grpSp>
          <p:nvGrpSpPr>
            <p:cNvPr id="12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266489" y="6555186"/>
              <a:ext cx="197463" cy="110963"/>
              <a:chOff x="1266489" y="6555186"/>
              <a:chExt cx="197463" cy="110963"/>
            </a:xfrm>
            <a:grpFill/>
          </p:grpSpPr>
          <p:sp>
            <p:nvSpPr>
              <p:cNvPr id="13" name="Freihandform: Form 12">
                <a:extLst>
                  <a:ext uri="{FF2B5EF4-FFF2-40B4-BE49-F238E27FC236}">
                    <a16:creationId xmlns:a16="http://schemas.microsoft.com/office/drawing/2014/main" id="{18BB0752-F87C-44D9-A9A5-97AF1DEDA1AE}"/>
                  </a:ext>
                </a:extLst>
              </p:cNvPr>
              <p:cNvSpPr/>
              <p:nvPr/>
            </p:nvSpPr>
            <p:spPr>
              <a:xfrm>
                <a:off x="1266489" y="6556934"/>
                <a:ext cx="95902" cy="109216"/>
              </a:xfrm>
              <a:custGeom>
                <a:avLst/>
                <a:gdLst>
                  <a:gd name="connsiteX0" fmla="*/ 66742 w 95902"/>
                  <a:gd name="connsiteY0" fmla="*/ 65797 h 109216"/>
                  <a:gd name="connsiteX1" fmla="*/ 35339 w 95902"/>
                  <a:gd name="connsiteY1" fmla="*/ 95082 h 109216"/>
                  <a:gd name="connsiteX2" fmla="*/ 15953 w 95902"/>
                  <a:gd name="connsiteY2" fmla="*/ 79537 h 109216"/>
                  <a:gd name="connsiteX3" fmla="*/ 15899 w 95902"/>
                  <a:gd name="connsiteY3" fmla="*/ 76265 h 109216"/>
                  <a:gd name="connsiteX4" fmla="*/ 16896 w 95902"/>
                  <a:gd name="connsiteY4" fmla="*/ 66295 h 109216"/>
                  <a:gd name="connsiteX5" fmla="*/ 30230 w 95902"/>
                  <a:gd name="connsiteY5" fmla="*/ 0 h 109216"/>
                  <a:gd name="connsiteX6" fmla="*/ 30230 w 95902"/>
                  <a:gd name="connsiteY6" fmla="*/ 0 h 109216"/>
                  <a:gd name="connsiteX7" fmla="*/ 14528 w 95902"/>
                  <a:gd name="connsiteY7" fmla="*/ 0 h 109216"/>
                  <a:gd name="connsiteX8" fmla="*/ 1194 w 95902"/>
                  <a:gd name="connsiteY8" fmla="*/ 67791 h 109216"/>
                  <a:gd name="connsiteX9" fmla="*/ 1194 w 95902"/>
                  <a:gd name="connsiteY9" fmla="*/ 68788 h 109216"/>
                  <a:gd name="connsiteX10" fmla="*/ 73 w 95902"/>
                  <a:gd name="connsiteY10" fmla="*/ 78508 h 109216"/>
                  <a:gd name="connsiteX11" fmla="*/ 26638 w 95902"/>
                  <a:gd name="connsiteY11" fmla="*/ 109122 h 109216"/>
                  <a:gd name="connsiteX12" fmla="*/ 29980 w 95902"/>
                  <a:gd name="connsiteY12" fmla="*/ 109163 h 109216"/>
                  <a:gd name="connsiteX13" fmla="*/ 61384 w 95902"/>
                  <a:gd name="connsiteY13" fmla="*/ 96702 h 109216"/>
                  <a:gd name="connsiteX14" fmla="*/ 59265 w 95902"/>
                  <a:gd name="connsiteY14" fmla="*/ 107917 h 109216"/>
                  <a:gd name="connsiteX15" fmla="*/ 59265 w 95902"/>
                  <a:gd name="connsiteY15" fmla="*/ 107917 h 109216"/>
                  <a:gd name="connsiteX16" fmla="*/ 74842 w 95902"/>
                  <a:gd name="connsiteY16" fmla="*/ 107917 h 109216"/>
                  <a:gd name="connsiteX17" fmla="*/ 95902 w 95902"/>
                  <a:gd name="connsiteY17" fmla="*/ 0 h 109216"/>
                  <a:gd name="connsiteX18" fmla="*/ 95902 w 95902"/>
                  <a:gd name="connsiteY18" fmla="*/ 0 h 109216"/>
                  <a:gd name="connsiteX19" fmla="*/ 79951 w 95902"/>
                  <a:gd name="connsiteY19" fmla="*/ 0 h 109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95902" h="109216">
                    <a:moveTo>
                      <a:pt x="66742" y="65797"/>
                    </a:moveTo>
                    <a:cubicBezTo>
                      <a:pt x="65228" y="82115"/>
                      <a:pt x="51723" y="94709"/>
                      <a:pt x="35339" y="95082"/>
                    </a:cubicBezTo>
                    <a:cubicBezTo>
                      <a:pt x="25692" y="96142"/>
                      <a:pt x="17013" y="89183"/>
                      <a:pt x="15953" y="79537"/>
                    </a:cubicBezTo>
                    <a:cubicBezTo>
                      <a:pt x="15833" y="78450"/>
                      <a:pt x="15814" y="77355"/>
                      <a:pt x="15899" y="76265"/>
                    </a:cubicBezTo>
                    <a:cubicBezTo>
                      <a:pt x="15976" y="72921"/>
                      <a:pt x="16309" y="69588"/>
                      <a:pt x="16896" y="66295"/>
                    </a:cubicBezTo>
                    <a:lnTo>
                      <a:pt x="30230" y="0"/>
                    </a:lnTo>
                    <a:lnTo>
                      <a:pt x="30230" y="0"/>
                    </a:lnTo>
                    <a:lnTo>
                      <a:pt x="14528" y="0"/>
                    </a:lnTo>
                    <a:lnTo>
                      <a:pt x="1194" y="67791"/>
                    </a:lnTo>
                    <a:lnTo>
                      <a:pt x="1194" y="68788"/>
                    </a:lnTo>
                    <a:cubicBezTo>
                      <a:pt x="472" y="71978"/>
                      <a:pt x="95" y="75237"/>
                      <a:pt x="73" y="78508"/>
                    </a:cubicBezTo>
                    <a:cubicBezTo>
                      <a:pt x="-1045" y="94298"/>
                      <a:pt x="10848" y="108004"/>
                      <a:pt x="26638" y="109122"/>
                    </a:cubicBezTo>
                    <a:cubicBezTo>
                      <a:pt x="27751" y="109200"/>
                      <a:pt x="28866" y="109214"/>
                      <a:pt x="29980" y="109163"/>
                    </a:cubicBezTo>
                    <a:cubicBezTo>
                      <a:pt x="41760" y="109765"/>
                      <a:pt x="53221" y="105218"/>
                      <a:pt x="61384" y="96702"/>
                    </a:cubicBezTo>
                    <a:lnTo>
                      <a:pt x="59265" y="107917"/>
                    </a:lnTo>
                    <a:lnTo>
                      <a:pt x="59265" y="107917"/>
                    </a:lnTo>
                    <a:lnTo>
                      <a:pt x="74842" y="107917"/>
                    </a:lnTo>
                    <a:lnTo>
                      <a:pt x="95902" y="0"/>
                    </a:lnTo>
                    <a:lnTo>
                      <a:pt x="95902" y="0"/>
                    </a:lnTo>
                    <a:lnTo>
                      <a:pt x="79951" y="0"/>
                    </a:lnTo>
                    <a:close/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4" name="Freihandform: Form 13">
                <a:extLst>
                  <a:ext uri="{FF2B5EF4-FFF2-40B4-BE49-F238E27FC236}">
                    <a16:creationId xmlns:a16="http://schemas.microsoft.com/office/drawing/2014/main" id="{ED44DE23-7081-4AC9-BF06-502BEC71C004}"/>
                  </a:ext>
                </a:extLst>
              </p:cNvPr>
              <p:cNvSpPr/>
              <p:nvPr/>
            </p:nvSpPr>
            <p:spPr>
              <a:xfrm>
                <a:off x="1376472" y="6555186"/>
                <a:ext cx="87480" cy="109664"/>
              </a:xfrm>
              <a:custGeom>
                <a:avLst/>
                <a:gdLst>
                  <a:gd name="connsiteX0" fmla="*/ 64302 w 87480"/>
                  <a:gd name="connsiteY0" fmla="*/ 3 h 109664"/>
                  <a:gd name="connsiteX1" fmla="*/ 34518 w 87480"/>
                  <a:gd name="connsiteY1" fmla="*/ 14209 h 109664"/>
                  <a:gd name="connsiteX2" fmla="*/ 36886 w 87480"/>
                  <a:gd name="connsiteY2" fmla="*/ 1747 h 109664"/>
                  <a:gd name="connsiteX3" fmla="*/ 36886 w 87480"/>
                  <a:gd name="connsiteY3" fmla="*/ 1747 h 109664"/>
                  <a:gd name="connsiteX4" fmla="*/ 21434 w 87480"/>
                  <a:gd name="connsiteY4" fmla="*/ 1747 h 109664"/>
                  <a:gd name="connsiteX5" fmla="*/ 0 w 87480"/>
                  <a:gd name="connsiteY5" fmla="*/ 109664 h 109664"/>
                  <a:gd name="connsiteX6" fmla="*/ 0 w 87480"/>
                  <a:gd name="connsiteY6" fmla="*/ 109664 h 109664"/>
                  <a:gd name="connsiteX7" fmla="*/ 15826 w 87480"/>
                  <a:gd name="connsiteY7" fmla="*/ 109664 h 109664"/>
                  <a:gd name="connsiteX8" fmla="*/ 28288 w 87480"/>
                  <a:gd name="connsiteY8" fmla="*/ 43493 h 109664"/>
                  <a:gd name="connsiteX9" fmla="*/ 59940 w 87480"/>
                  <a:gd name="connsiteY9" fmla="*/ 14209 h 109664"/>
                  <a:gd name="connsiteX10" fmla="*/ 75019 w 87480"/>
                  <a:gd name="connsiteY10" fmla="*/ 21810 h 109664"/>
                  <a:gd name="connsiteX11" fmla="*/ 75019 w 87480"/>
                  <a:gd name="connsiteY11" fmla="*/ 21810 h 109664"/>
                  <a:gd name="connsiteX12" fmla="*/ 87480 w 87480"/>
                  <a:gd name="connsiteY12" fmla="*/ 10346 h 109664"/>
                  <a:gd name="connsiteX13" fmla="*/ 87480 w 87480"/>
                  <a:gd name="connsiteY13" fmla="*/ 10346 h 109664"/>
                  <a:gd name="connsiteX14" fmla="*/ 63928 w 87480"/>
                  <a:gd name="connsiteY14" fmla="*/ 252 h 109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87480" h="109664">
                    <a:moveTo>
                      <a:pt x="64302" y="3"/>
                    </a:moveTo>
                    <a:cubicBezTo>
                      <a:pt x="52709" y="-136"/>
                      <a:pt x="41706" y="5111"/>
                      <a:pt x="34518" y="14209"/>
                    </a:cubicBezTo>
                    <a:lnTo>
                      <a:pt x="36886" y="1747"/>
                    </a:lnTo>
                    <a:lnTo>
                      <a:pt x="36886" y="1747"/>
                    </a:lnTo>
                    <a:lnTo>
                      <a:pt x="21434" y="1747"/>
                    </a:lnTo>
                    <a:lnTo>
                      <a:pt x="0" y="109664"/>
                    </a:lnTo>
                    <a:lnTo>
                      <a:pt x="0" y="109664"/>
                    </a:lnTo>
                    <a:lnTo>
                      <a:pt x="15826" y="109664"/>
                    </a:lnTo>
                    <a:lnTo>
                      <a:pt x="28288" y="43493"/>
                    </a:lnTo>
                    <a:cubicBezTo>
                      <a:pt x="30515" y="27438"/>
                      <a:pt x="43760" y="15183"/>
                      <a:pt x="59940" y="14209"/>
                    </a:cubicBezTo>
                    <a:cubicBezTo>
                      <a:pt x="65919" y="14072"/>
                      <a:pt x="71573" y="16922"/>
                      <a:pt x="75019" y="21810"/>
                    </a:cubicBezTo>
                    <a:lnTo>
                      <a:pt x="75019" y="21810"/>
                    </a:lnTo>
                    <a:lnTo>
                      <a:pt x="87480" y="10346"/>
                    </a:lnTo>
                    <a:lnTo>
                      <a:pt x="87480" y="10346"/>
                    </a:lnTo>
                    <a:cubicBezTo>
                      <a:pt x="81552" y="3603"/>
                      <a:pt x="72899" y="-105"/>
                      <a:pt x="63928" y="2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18C24FD2-AEE2-43CA-8EB3-8E646C2E5E46}"/>
                </a:ext>
              </a:extLst>
            </p:cNvPr>
            <p:cNvSpPr/>
            <p:nvPr/>
          </p:nvSpPr>
          <p:spPr>
            <a:xfrm>
              <a:off x="1159517" y="6556560"/>
              <a:ext cx="96452" cy="108166"/>
            </a:xfrm>
            <a:custGeom>
              <a:avLst/>
              <a:gdLst>
                <a:gd name="connsiteX0" fmla="*/ 23303 w 96452"/>
                <a:gd name="connsiteY0" fmla="*/ 0 h 108166"/>
                <a:gd name="connsiteX1" fmla="*/ 20562 w 96452"/>
                <a:gd name="connsiteY1" fmla="*/ 13708 h 108166"/>
                <a:gd name="connsiteX2" fmla="*/ 20562 w 96452"/>
                <a:gd name="connsiteY2" fmla="*/ 13957 h 108166"/>
                <a:gd name="connsiteX3" fmla="*/ 74271 w 96452"/>
                <a:gd name="connsiteY3" fmla="*/ 13957 h 108166"/>
                <a:gd name="connsiteX4" fmla="*/ 2742 w 96452"/>
                <a:gd name="connsiteY4" fmla="*/ 94957 h 108166"/>
                <a:gd name="connsiteX5" fmla="*/ 2617 w 96452"/>
                <a:gd name="connsiteY5" fmla="*/ 94957 h 108166"/>
                <a:gd name="connsiteX6" fmla="*/ 0 w 96452"/>
                <a:gd name="connsiteY6" fmla="*/ 108166 h 108166"/>
                <a:gd name="connsiteX7" fmla="*/ 76265 w 96452"/>
                <a:gd name="connsiteY7" fmla="*/ 108166 h 108166"/>
                <a:gd name="connsiteX8" fmla="*/ 79006 w 96452"/>
                <a:gd name="connsiteY8" fmla="*/ 94209 h 108166"/>
                <a:gd name="connsiteX9" fmla="*/ 21932 w 96452"/>
                <a:gd name="connsiteY9" fmla="*/ 94209 h 108166"/>
                <a:gd name="connsiteX10" fmla="*/ 93835 w 96452"/>
                <a:gd name="connsiteY10" fmla="*/ 13209 h 108166"/>
                <a:gd name="connsiteX11" fmla="*/ 93835 w 96452"/>
                <a:gd name="connsiteY11" fmla="*/ 13209 h 108166"/>
                <a:gd name="connsiteX12" fmla="*/ 96452 w 96452"/>
                <a:gd name="connsiteY12" fmla="*/ 0 h 108166"/>
                <a:gd name="connsiteX13" fmla="*/ 23303 w 96452"/>
                <a:gd name="connsiteY13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452" h="108166">
                  <a:moveTo>
                    <a:pt x="23303" y="0"/>
                  </a:moveTo>
                  <a:lnTo>
                    <a:pt x="20562" y="13708"/>
                  </a:lnTo>
                  <a:lnTo>
                    <a:pt x="20562" y="13957"/>
                  </a:lnTo>
                  <a:lnTo>
                    <a:pt x="74271" y="13957"/>
                  </a:lnTo>
                  <a:lnTo>
                    <a:pt x="2742" y="94957"/>
                  </a:lnTo>
                  <a:lnTo>
                    <a:pt x="2617" y="94957"/>
                  </a:lnTo>
                  <a:lnTo>
                    <a:pt x="0" y="108166"/>
                  </a:lnTo>
                  <a:lnTo>
                    <a:pt x="76265" y="108166"/>
                  </a:lnTo>
                  <a:lnTo>
                    <a:pt x="79006" y="94209"/>
                  </a:lnTo>
                  <a:lnTo>
                    <a:pt x="21932" y="94209"/>
                  </a:lnTo>
                  <a:lnTo>
                    <a:pt x="93835" y="13209"/>
                  </a:lnTo>
                  <a:lnTo>
                    <a:pt x="93835" y="13209"/>
                  </a:lnTo>
                  <a:lnTo>
                    <a:pt x="96452" y="0"/>
                  </a:lnTo>
                  <a:lnTo>
                    <a:pt x="2330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EE7F6F4-4D2C-45B3-A061-9606B2BD36A7}"/>
                </a:ext>
              </a:extLst>
            </p:cNvPr>
            <p:cNvSpPr/>
            <p:nvPr/>
          </p:nvSpPr>
          <p:spPr>
            <a:xfrm>
              <a:off x="1466445" y="6556560"/>
              <a:ext cx="37259" cy="108166"/>
            </a:xfrm>
            <a:custGeom>
              <a:avLst/>
              <a:gdLst>
                <a:gd name="connsiteX0" fmla="*/ 21683 w 37259"/>
                <a:gd name="connsiteY0" fmla="*/ 0 h 108166"/>
                <a:gd name="connsiteX1" fmla="*/ 0 w 37259"/>
                <a:gd name="connsiteY1" fmla="*/ 107917 h 108166"/>
                <a:gd name="connsiteX2" fmla="*/ 0 w 37259"/>
                <a:gd name="connsiteY2" fmla="*/ 108166 h 108166"/>
                <a:gd name="connsiteX3" fmla="*/ 15702 w 37259"/>
                <a:gd name="connsiteY3" fmla="*/ 108166 h 108166"/>
                <a:gd name="connsiteX4" fmla="*/ 37260 w 37259"/>
                <a:gd name="connsiteY4" fmla="*/ 0 h 108166"/>
                <a:gd name="connsiteX5" fmla="*/ 21683 w 37259"/>
                <a:gd name="connsiteY5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259" h="108166">
                  <a:moveTo>
                    <a:pt x="21683" y="0"/>
                  </a:moveTo>
                  <a:lnTo>
                    <a:pt x="0" y="107917"/>
                  </a:lnTo>
                  <a:lnTo>
                    <a:pt x="0" y="108166"/>
                  </a:lnTo>
                  <a:lnTo>
                    <a:pt x="15702" y="108166"/>
                  </a:lnTo>
                  <a:lnTo>
                    <a:pt x="37260" y="0"/>
                  </a:lnTo>
                  <a:lnTo>
                    <a:pt x="2168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grpSp>
          <p:nvGrpSpPr>
            <p:cNvPr id="17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518879" y="6507337"/>
              <a:ext cx="191395" cy="158803"/>
              <a:chOff x="1518879" y="6507337"/>
              <a:chExt cx="191395" cy="158803"/>
            </a:xfrm>
            <a:grpFill/>
          </p:grpSpPr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B2186F78-5D28-4695-8B1C-5A3F1A53AAB3}"/>
                  </a:ext>
                </a:extLst>
              </p:cNvPr>
              <p:cNvSpPr/>
              <p:nvPr/>
            </p:nvSpPr>
            <p:spPr>
              <a:xfrm>
                <a:off x="1614114" y="6507337"/>
                <a:ext cx="96160" cy="157638"/>
              </a:xfrm>
              <a:custGeom>
                <a:avLst/>
                <a:gdLst>
                  <a:gd name="connsiteX0" fmla="*/ 66046 w 96160"/>
                  <a:gd name="connsiteY0" fmla="*/ 47852 h 157638"/>
                  <a:gd name="connsiteX1" fmla="*/ 35142 w 96160"/>
                  <a:gd name="connsiteY1" fmla="*/ 60314 h 157638"/>
                  <a:gd name="connsiteX2" fmla="*/ 47603 w 96160"/>
                  <a:gd name="connsiteY2" fmla="*/ 0 h 157638"/>
                  <a:gd name="connsiteX3" fmla="*/ 31652 w 96160"/>
                  <a:gd name="connsiteY3" fmla="*/ 0 h 157638"/>
                  <a:gd name="connsiteX4" fmla="*/ 0 w 96160"/>
                  <a:gd name="connsiteY4" fmla="*/ 157389 h 157638"/>
                  <a:gd name="connsiteX5" fmla="*/ 15701 w 96160"/>
                  <a:gd name="connsiteY5" fmla="*/ 157389 h 157638"/>
                  <a:gd name="connsiteX6" fmla="*/ 28911 w 96160"/>
                  <a:gd name="connsiteY6" fmla="*/ 91218 h 157638"/>
                  <a:gd name="connsiteX7" fmla="*/ 60563 w 96160"/>
                  <a:gd name="connsiteY7" fmla="*/ 62058 h 157638"/>
                  <a:gd name="connsiteX8" fmla="*/ 79837 w 96160"/>
                  <a:gd name="connsiteY8" fmla="*/ 77742 h 157638"/>
                  <a:gd name="connsiteX9" fmla="*/ 79878 w 96160"/>
                  <a:gd name="connsiteY9" fmla="*/ 80875 h 157638"/>
                  <a:gd name="connsiteX10" fmla="*/ 78757 w 96160"/>
                  <a:gd name="connsiteY10" fmla="*/ 90969 h 157638"/>
                  <a:gd name="connsiteX11" fmla="*/ 65423 w 96160"/>
                  <a:gd name="connsiteY11" fmla="*/ 157638 h 157638"/>
                  <a:gd name="connsiteX12" fmla="*/ 81125 w 96160"/>
                  <a:gd name="connsiteY12" fmla="*/ 157638 h 157638"/>
                  <a:gd name="connsiteX13" fmla="*/ 94957 w 96160"/>
                  <a:gd name="connsiteY13" fmla="*/ 89474 h 157638"/>
                  <a:gd name="connsiteX14" fmla="*/ 96078 w 96160"/>
                  <a:gd name="connsiteY14" fmla="*/ 78757 h 157638"/>
                  <a:gd name="connsiteX15" fmla="*/ 69522 w 96160"/>
                  <a:gd name="connsiteY15" fmla="*/ 47902 h 157638"/>
                  <a:gd name="connsiteX16" fmla="*/ 66046 w 96160"/>
                  <a:gd name="connsiteY16" fmla="*/ 47852 h 157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6160" h="157638">
                    <a:moveTo>
                      <a:pt x="66046" y="47852"/>
                    </a:moveTo>
                    <a:cubicBezTo>
                      <a:pt x="54431" y="47363"/>
                      <a:pt x="43168" y="51904"/>
                      <a:pt x="35142" y="60314"/>
                    </a:cubicBezTo>
                    <a:lnTo>
                      <a:pt x="47603" y="0"/>
                    </a:lnTo>
                    <a:lnTo>
                      <a:pt x="31652" y="0"/>
                    </a:lnTo>
                    <a:lnTo>
                      <a:pt x="0" y="157389"/>
                    </a:lnTo>
                    <a:lnTo>
                      <a:pt x="15701" y="157389"/>
                    </a:lnTo>
                    <a:lnTo>
                      <a:pt x="28911" y="91218"/>
                    </a:lnTo>
                    <a:cubicBezTo>
                      <a:pt x="30603" y="74910"/>
                      <a:pt x="44170" y="62411"/>
                      <a:pt x="60563" y="62058"/>
                    </a:cubicBezTo>
                    <a:cubicBezTo>
                      <a:pt x="70216" y="61067"/>
                      <a:pt x="78845" y="68088"/>
                      <a:pt x="79837" y="77742"/>
                    </a:cubicBezTo>
                    <a:cubicBezTo>
                      <a:pt x="79945" y="78783"/>
                      <a:pt x="79958" y="79832"/>
                      <a:pt x="79878" y="80875"/>
                    </a:cubicBezTo>
                    <a:cubicBezTo>
                      <a:pt x="79822" y="84268"/>
                      <a:pt x="79446" y="87647"/>
                      <a:pt x="78757" y="90969"/>
                    </a:cubicBezTo>
                    <a:lnTo>
                      <a:pt x="65423" y="157638"/>
                    </a:lnTo>
                    <a:lnTo>
                      <a:pt x="81125" y="157638"/>
                    </a:lnTo>
                    <a:lnTo>
                      <a:pt x="94957" y="89474"/>
                    </a:lnTo>
                    <a:cubicBezTo>
                      <a:pt x="95657" y="85943"/>
                      <a:pt x="96034" y="82356"/>
                      <a:pt x="96078" y="78757"/>
                    </a:cubicBezTo>
                    <a:cubicBezTo>
                      <a:pt x="97265" y="62903"/>
                      <a:pt x="85375" y="49089"/>
                      <a:pt x="69522" y="47902"/>
                    </a:cubicBezTo>
                    <a:cubicBezTo>
                      <a:pt x="68365" y="47815"/>
                      <a:pt x="67205" y="47799"/>
                      <a:pt x="66046" y="478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9" name="Freihandform: Form 18">
                <a:extLst>
                  <a:ext uri="{FF2B5EF4-FFF2-40B4-BE49-F238E27FC236}">
                    <a16:creationId xmlns:a16="http://schemas.microsoft.com/office/drawing/2014/main" id="{1FE5475E-83C3-4BE3-BBF1-FAE9A6986B3F}"/>
                  </a:ext>
                </a:extLst>
              </p:cNvPr>
              <p:cNvSpPr/>
              <p:nvPr/>
            </p:nvSpPr>
            <p:spPr>
              <a:xfrm>
                <a:off x="1518879" y="6555189"/>
                <a:ext cx="87882" cy="110951"/>
              </a:xfrm>
              <a:custGeom>
                <a:avLst/>
                <a:gdLst>
                  <a:gd name="connsiteX0" fmla="*/ 56853 w 87882"/>
                  <a:gd name="connsiteY0" fmla="*/ 0 h 110951"/>
                  <a:gd name="connsiteX1" fmla="*/ 1649 w 87882"/>
                  <a:gd name="connsiteY1" fmla="*/ 55329 h 110951"/>
                  <a:gd name="connsiteX2" fmla="*/ 153 w 87882"/>
                  <a:gd name="connsiteY2" fmla="*/ 71903 h 110951"/>
                  <a:gd name="connsiteX3" fmla="*/ 32484 w 87882"/>
                  <a:gd name="connsiteY3" fmla="*/ 110801 h 110951"/>
                  <a:gd name="connsiteX4" fmla="*/ 37538 w 87882"/>
                  <a:gd name="connsiteY4" fmla="*/ 110908 h 110951"/>
                  <a:gd name="connsiteX5" fmla="*/ 73552 w 87882"/>
                  <a:gd name="connsiteY5" fmla="*/ 95705 h 110951"/>
                  <a:gd name="connsiteX6" fmla="*/ 73552 w 87882"/>
                  <a:gd name="connsiteY6" fmla="*/ 95705 h 110951"/>
                  <a:gd name="connsiteX7" fmla="*/ 64455 w 87882"/>
                  <a:gd name="connsiteY7" fmla="*/ 84614 h 110951"/>
                  <a:gd name="connsiteX8" fmla="*/ 64455 w 87882"/>
                  <a:gd name="connsiteY8" fmla="*/ 84614 h 110951"/>
                  <a:gd name="connsiteX9" fmla="*/ 64455 w 87882"/>
                  <a:gd name="connsiteY9" fmla="*/ 84614 h 110951"/>
                  <a:gd name="connsiteX10" fmla="*/ 38535 w 87882"/>
                  <a:gd name="connsiteY10" fmla="*/ 97075 h 110951"/>
                  <a:gd name="connsiteX11" fmla="*/ 15233 w 87882"/>
                  <a:gd name="connsiteY11" fmla="*/ 75551 h 110951"/>
                  <a:gd name="connsiteX12" fmla="*/ 15356 w 87882"/>
                  <a:gd name="connsiteY12" fmla="*/ 72152 h 110951"/>
                  <a:gd name="connsiteX13" fmla="*/ 17101 w 87882"/>
                  <a:gd name="connsiteY13" fmla="*/ 55952 h 110951"/>
                  <a:gd name="connsiteX14" fmla="*/ 31058 w 87882"/>
                  <a:gd name="connsiteY14" fmla="*/ 25048 h 110951"/>
                  <a:gd name="connsiteX15" fmla="*/ 55233 w 87882"/>
                  <a:gd name="connsiteY15" fmla="*/ 14206 h 110951"/>
                  <a:gd name="connsiteX16" fmla="*/ 76293 w 87882"/>
                  <a:gd name="connsiteY16" fmla="*/ 26668 h 110951"/>
                  <a:gd name="connsiteX17" fmla="*/ 76293 w 87882"/>
                  <a:gd name="connsiteY17" fmla="*/ 26668 h 110951"/>
                  <a:gd name="connsiteX18" fmla="*/ 87883 w 87882"/>
                  <a:gd name="connsiteY18" fmla="*/ 16823 h 110951"/>
                  <a:gd name="connsiteX19" fmla="*/ 87883 w 87882"/>
                  <a:gd name="connsiteY19" fmla="*/ 16823 h 110951"/>
                  <a:gd name="connsiteX20" fmla="*/ 56729 w 87882"/>
                  <a:gd name="connsiteY20" fmla="*/ 748 h 1109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87882" h="110951">
                    <a:moveTo>
                      <a:pt x="56853" y="0"/>
                    </a:moveTo>
                    <a:cubicBezTo>
                      <a:pt x="28192" y="0"/>
                      <a:pt x="8129" y="20188"/>
                      <a:pt x="1649" y="55329"/>
                    </a:cubicBezTo>
                    <a:cubicBezTo>
                      <a:pt x="671" y="60800"/>
                      <a:pt x="170" y="66345"/>
                      <a:pt x="153" y="71903"/>
                    </a:cubicBezTo>
                    <a:cubicBezTo>
                      <a:pt x="-1660" y="91572"/>
                      <a:pt x="12814" y="108987"/>
                      <a:pt x="32484" y="110801"/>
                    </a:cubicBezTo>
                    <a:cubicBezTo>
                      <a:pt x="34163" y="110955"/>
                      <a:pt x="35853" y="110991"/>
                      <a:pt x="37538" y="110908"/>
                    </a:cubicBezTo>
                    <a:cubicBezTo>
                      <a:pt x="51112" y="110955"/>
                      <a:pt x="64118" y="105465"/>
                      <a:pt x="73552" y="95705"/>
                    </a:cubicBezTo>
                    <a:lnTo>
                      <a:pt x="73552" y="95705"/>
                    </a:lnTo>
                    <a:lnTo>
                      <a:pt x="64455" y="84614"/>
                    </a:lnTo>
                    <a:lnTo>
                      <a:pt x="64455" y="84614"/>
                    </a:lnTo>
                    <a:lnTo>
                      <a:pt x="64455" y="84614"/>
                    </a:lnTo>
                    <a:cubicBezTo>
                      <a:pt x="58138" y="92466"/>
                      <a:pt x="48613" y="97045"/>
                      <a:pt x="38535" y="97075"/>
                    </a:cubicBezTo>
                    <a:cubicBezTo>
                      <a:pt x="26157" y="97566"/>
                      <a:pt x="15724" y="87929"/>
                      <a:pt x="15233" y="75551"/>
                    </a:cubicBezTo>
                    <a:cubicBezTo>
                      <a:pt x="15188" y="74416"/>
                      <a:pt x="15229" y="73280"/>
                      <a:pt x="15356" y="72152"/>
                    </a:cubicBezTo>
                    <a:cubicBezTo>
                      <a:pt x="15424" y="66709"/>
                      <a:pt x="16008" y="61285"/>
                      <a:pt x="17101" y="55952"/>
                    </a:cubicBezTo>
                    <a:cubicBezTo>
                      <a:pt x="18838" y="44568"/>
                      <a:pt x="23666" y="33878"/>
                      <a:pt x="31058" y="25048"/>
                    </a:cubicBezTo>
                    <a:cubicBezTo>
                      <a:pt x="37213" y="18167"/>
                      <a:pt x="46002" y="14225"/>
                      <a:pt x="55233" y="14206"/>
                    </a:cubicBezTo>
                    <a:cubicBezTo>
                      <a:pt x="64085" y="13892"/>
                      <a:pt x="72308" y="18758"/>
                      <a:pt x="76293" y="26668"/>
                    </a:cubicBezTo>
                    <a:lnTo>
                      <a:pt x="76293" y="26668"/>
                    </a:lnTo>
                    <a:lnTo>
                      <a:pt x="87883" y="16823"/>
                    </a:lnTo>
                    <a:lnTo>
                      <a:pt x="87883" y="16823"/>
                    </a:lnTo>
                    <a:cubicBezTo>
                      <a:pt x="81104" y="6298"/>
                      <a:pt x="69235" y="174"/>
                      <a:pt x="56729" y="748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1B77B6E-E7CB-412B-95AC-A9322C6799BB}"/>
                </a:ext>
              </a:extLst>
            </p:cNvPr>
            <p:cNvSpPr/>
            <p:nvPr/>
          </p:nvSpPr>
          <p:spPr>
            <a:xfrm>
              <a:off x="1493985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832E5C1A-13CE-49A6-B590-B6EAA5F9E1AD}"/>
                </a:ext>
              </a:extLst>
            </p:cNvPr>
            <p:cNvSpPr/>
            <p:nvPr/>
          </p:nvSpPr>
          <p:spPr>
            <a:xfrm>
              <a:off x="1340708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63AE00B0-780F-4053-8FE9-B7D321217AFF}"/>
                </a:ext>
              </a:extLst>
            </p:cNvPr>
            <p:cNvSpPr/>
            <p:nvPr/>
          </p:nvSpPr>
          <p:spPr>
            <a:xfrm>
              <a:off x="1298712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702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702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2406CEAF-7399-4CCB-A322-03F0BA2532F5}"/>
                </a:ext>
              </a:extLst>
            </p:cNvPr>
            <p:cNvSpPr/>
            <p:nvPr/>
          </p:nvSpPr>
          <p:spPr>
            <a:xfrm>
              <a:off x="731837" y="6507088"/>
              <a:ext cx="417960" cy="157638"/>
            </a:xfrm>
            <a:custGeom>
              <a:avLst/>
              <a:gdLst>
                <a:gd name="connsiteX0" fmla="*/ 368612 w 417960"/>
                <a:gd name="connsiteY0" fmla="*/ 0 h 157638"/>
                <a:gd name="connsiteX1" fmla="*/ 356151 w 417960"/>
                <a:gd name="connsiteY1" fmla="*/ 61062 h 157638"/>
                <a:gd name="connsiteX2" fmla="*/ 320760 w 417960"/>
                <a:gd name="connsiteY2" fmla="*/ 61062 h 157638"/>
                <a:gd name="connsiteX3" fmla="*/ 333222 w 417960"/>
                <a:gd name="connsiteY3" fmla="*/ 0 h 157638"/>
                <a:gd name="connsiteX4" fmla="*/ 31652 w 417960"/>
                <a:gd name="connsiteY4" fmla="*/ 0 h 157638"/>
                <a:gd name="connsiteX5" fmla="*/ 0 w 417960"/>
                <a:gd name="connsiteY5" fmla="*/ 157638 h 157638"/>
                <a:gd name="connsiteX6" fmla="*/ 120254 w 417960"/>
                <a:gd name="connsiteY6" fmla="*/ 157638 h 157638"/>
                <a:gd name="connsiteX7" fmla="*/ 128105 w 417960"/>
                <a:gd name="connsiteY7" fmla="*/ 118260 h 157638"/>
                <a:gd name="connsiteX8" fmla="*/ 57074 w 417960"/>
                <a:gd name="connsiteY8" fmla="*/ 118260 h 157638"/>
                <a:gd name="connsiteX9" fmla="*/ 61435 w 417960"/>
                <a:gd name="connsiteY9" fmla="*/ 96577 h 157638"/>
                <a:gd name="connsiteX10" fmla="*/ 132342 w 417960"/>
                <a:gd name="connsiteY10" fmla="*/ 96577 h 157638"/>
                <a:gd name="connsiteX11" fmla="*/ 139569 w 417960"/>
                <a:gd name="connsiteY11" fmla="*/ 61062 h 157638"/>
                <a:gd name="connsiteX12" fmla="*/ 68538 w 417960"/>
                <a:gd name="connsiteY12" fmla="*/ 61062 h 157638"/>
                <a:gd name="connsiteX13" fmla="*/ 72900 w 417960"/>
                <a:gd name="connsiteY13" fmla="*/ 39378 h 157638"/>
                <a:gd name="connsiteX14" fmla="*/ 185303 w 417960"/>
                <a:gd name="connsiteY14" fmla="*/ 39378 h 157638"/>
                <a:gd name="connsiteX15" fmla="*/ 161626 w 417960"/>
                <a:gd name="connsiteY15" fmla="*/ 157638 h 157638"/>
                <a:gd name="connsiteX16" fmla="*/ 210849 w 417960"/>
                <a:gd name="connsiteY16" fmla="*/ 157638 h 157638"/>
                <a:gd name="connsiteX17" fmla="*/ 234651 w 417960"/>
                <a:gd name="connsiteY17" fmla="*/ 39378 h 157638"/>
                <a:gd name="connsiteX18" fmla="*/ 276023 w 417960"/>
                <a:gd name="connsiteY18" fmla="*/ 39378 h 157638"/>
                <a:gd name="connsiteX19" fmla="*/ 252222 w 417960"/>
                <a:gd name="connsiteY19" fmla="*/ 157638 h 157638"/>
                <a:gd name="connsiteX20" fmla="*/ 301569 w 417960"/>
                <a:gd name="connsiteY20" fmla="*/ 157638 h 157638"/>
                <a:gd name="connsiteX21" fmla="*/ 313657 w 417960"/>
                <a:gd name="connsiteY21" fmla="*/ 96577 h 157638"/>
                <a:gd name="connsiteX22" fmla="*/ 349172 w 417960"/>
                <a:gd name="connsiteY22" fmla="*/ 96577 h 157638"/>
                <a:gd name="connsiteX23" fmla="*/ 336960 w 417960"/>
                <a:gd name="connsiteY23" fmla="*/ 157638 h 157638"/>
                <a:gd name="connsiteX24" fmla="*/ 386308 w 417960"/>
                <a:gd name="connsiteY24" fmla="*/ 157638 h 157638"/>
                <a:gd name="connsiteX25" fmla="*/ 417960 w 417960"/>
                <a:gd name="connsiteY25" fmla="*/ 0 h 157638"/>
                <a:gd name="connsiteX26" fmla="*/ 368612 w 417960"/>
                <a:gd name="connsiteY26" fmla="*/ 0 h 1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17960" h="157638">
                  <a:moveTo>
                    <a:pt x="368612" y="0"/>
                  </a:moveTo>
                  <a:lnTo>
                    <a:pt x="356151" y="61062"/>
                  </a:lnTo>
                  <a:lnTo>
                    <a:pt x="320760" y="61062"/>
                  </a:lnTo>
                  <a:lnTo>
                    <a:pt x="333222" y="0"/>
                  </a:lnTo>
                  <a:lnTo>
                    <a:pt x="31652" y="0"/>
                  </a:lnTo>
                  <a:lnTo>
                    <a:pt x="0" y="157638"/>
                  </a:lnTo>
                  <a:lnTo>
                    <a:pt x="120254" y="157638"/>
                  </a:lnTo>
                  <a:lnTo>
                    <a:pt x="128105" y="118260"/>
                  </a:lnTo>
                  <a:lnTo>
                    <a:pt x="57074" y="118260"/>
                  </a:lnTo>
                  <a:lnTo>
                    <a:pt x="61435" y="96577"/>
                  </a:lnTo>
                  <a:lnTo>
                    <a:pt x="132342" y="96577"/>
                  </a:lnTo>
                  <a:lnTo>
                    <a:pt x="139569" y="61062"/>
                  </a:lnTo>
                  <a:lnTo>
                    <a:pt x="68538" y="61062"/>
                  </a:lnTo>
                  <a:lnTo>
                    <a:pt x="72900" y="39378"/>
                  </a:lnTo>
                  <a:lnTo>
                    <a:pt x="185303" y="39378"/>
                  </a:lnTo>
                  <a:lnTo>
                    <a:pt x="161626" y="157638"/>
                  </a:lnTo>
                  <a:lnTo>
                    <a:pt x="210849" y="157638"/>
                  </a:lnTo>
                  <a:lnTo>
                    <a:pt x="234651" y="39378"/>
                  </a:lnTo>
                  <a:lnTo>
                    <a:pt x="276023" y="39378"/>
                  </a:lnTo>
                  <a:lnTo>
                    <a:pt x="252222" y="157638"/>
                  </a:lnTo>
                  <a:lnTo>
                    <a:pt x="301569" y="157638"/>
                  </a:lnTo>
                  <a:lnTo>
                    <a:pt x="313657" y="96577"/>
                  </a:lnTo>
                  <a:lnTo>
                    <a:pt x="349172" y="96577"/>
                  </a:lnTo>
                  <a:lnTo>
                    <a:pt x="336960" y="157638"/>
                  </a:lnTo>
                  <a:lnTo>
                    <a:pt x="386308" y="157638"/>
                  </a:lnTo>
                  <a:lnTo>
                    <a:pt x="417960" y="0"/>
                  </a:lnTo>
                  <a:lnTo>
                    <a:pt x="368612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</p:grpSp>
    </p:spTree>
    <p:extLst>
      <p:ext uri="{BB962C8B-B14F-4D97-AF65-F5344CB8AC3E}">
        <p14:creationId xmlns:p14="http://schemas.microsoft.com/office/powerpoint/2010/main" val="3716835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C2547-0B26-4181-9958-0F74634B97A1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1412874"/>
            <a:ext cx="10728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943852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33879-9C0F-4F94-919F-30B833E8871A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260350"/>
            <a:ext cx="10728000" cy="6012524"/>
          </a:xfrm>
        </p:spPr>
        <p:txBody>
          <a:bodyPr tIns="21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8420483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163" y="1412875"/>
            <a:ext cx="5256000" cy="4860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F82BE-DF56-4719-B180-C3B0D509F71F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040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9963947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5121800"/>
            <a:ext cx="5255999" cy="115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B9425-7348-43E2-B0E9-6A2A48F5FA8A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9" name="Bildplatzhalter 10">
            <a:extLst>
              <a:ext uri="{FF2B5EF4-FFF2-40B4-BE49-F238E27FC236}">
                <a16:creationId xmlns:a16="http://schemas.microsoft.com/office/drawing/2014/main" id="{1AAB6914-2518-430D-BF4C-14EA51B6141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04162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092EEFB-079B-4C38-A665-E52B9837601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204162" y="5121800"/>
            <a:ext cx="5256001" cy="115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085750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3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4166439"/>
            <a:ext cx="10728327" cy="2124401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782B2-018B-4FD3-AD95-2F64EDE0E9D6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3" name="Bildplatzhalter 10">
            <a:extLst>
              <a:ext uri="{FF2B5EF4-FFF2-40B4-BE49-F238E27FC236}">
                <a16:creationId xmlns:a16="http://schemas.microsoft.com/office/drawing/2014/main" id="{36793346-BF6B-42A8-ADE0-3AA3DC3B239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40162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4" name="Bildplatzhalter 10">
            <a:extLst>
              <a:ext uri="{FF2B5EF4-FFF2-40B4-BE49-F238E27FC236}">
                <a16:creationId xmlns:a16="http://schemas.microsoft.com/office/drawing/2014/main" id="{FE637F68-618E-43EB-B240-4BFA26852FC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385999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252988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"/>
          </a:xfrm>
        </p:spPr>
        <p:txBody>
          <a:bodyPr/>
          <a:lstStyle>
            <a:lvl1pPr marL="0" indent="0">
              <a:buNone/>
              <a:defRPr b="1"/>
            </a:lvl1pPr>
            <a:lvl2pPr marL="266700" indent="0">
              <a:buNone/>
              <a:defRPr b="1"/>
            </a:lvl2pPr>
            <a:lvl3pPr marL="538163" indent="0">
              <a:buNone/>
              <a:defRPr b="1"/>
            </a:lvl3pPr>
            <a:lvl4pPr marL="804862" indent="0">
              <a:buNone/>
              <a:defRPr b="1"/>
            </a:lvl4pPr>
            <a:lvl5pPr marL="1076325" indent="0">
              <a:buNone/>
              <a:defRPr b="1"/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0FED0-443D-411A-B8E4-0668A8890EE3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9" name="Tabellenplatzhalter 8">
            <a:extLst>
              <a:ext uri="{FF2B5EF4-FFF2-40B4-BE49-F238E27FC236}">
                <a16:creationId xmlns:a16="http://schemas.microsoft.com/office/drawing/2014/main" id="{A1D947E6-CC00-458E-BDE1-B0877E30333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31838" y="2061398"/>
            <a:ext cx="10728325" cy="4212401"/>
          </a:xfrm>
        </p:spPr>
        <p:txBody>
          <a:bodyPr tIns="1260000"/>
          <a:lstStyle>
            <a:lvl1pPr marL="0" indent="0" algn="ctr">
              <a:spcBef>
                <a:spcPts val="0"/>
              </a:spcBef>
              <a:buNone/>
              <a:defRPr sz="1400"/>
            </a:lvl1pPr>
          </a:lstStyle>
          <a:p>
            <a:r>
              <a:rPr lang="de-DE" noProof="0"/>
              <a:t>Tabelle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92866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394B20FF-3667-40DF-92A1-C6CF3BBCA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2135492"/>
            <a:ext cx="10728325" cy="396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66700" indent="0">
              <a:buNone/>
              <a:defRPr>
                <a:solidFill>
                  <a:schemeClr val="bg1"/>
                </a:solidFill>
              </a:defRPr>
            </a:lvl2pPr>
            <a:lvl3pPr marL="540000" indent="0">
              <a:buNone/>
              <a:defRPr>
                <a:solidFill>
                  <a:schemeClr val="bg1"/>
                </a:solidFill>
              </a:defRPr>
            </a:lvl3pPr>
            <a:lvl4pPr marL="808537" indent="0">
              <a:buNone/>
              <a:defRPr>
                <a:solidFill>
                  <a:schemeClr val="bg1"/>
                </a:solidFill>
              </a:defRPr>
            </a:lvl4pPr>
            <a:lvl5pPr marL="1080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794484F1-3B7F-46CE-AD0B-2310A557A99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F900572E-A73E-42BE-96FA-38ADC4E79FD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670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9CEF804-E58C-481B-A606-7D35AF68F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60351"/>
            <a:ext cx="10728325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CH" noProof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C6EC0D-393C-42F2-B6A7-B19C9B098F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noProof="0"/>
              <a:t>Mastertextformat bearbeiten</a:t>
            </a:r>
          </a:p>
          <a:p>
            <a:pPr lvl="1"/>
            <a:r>
              <a:rPr lang="de-CH" noProof="0"/>
              <a:t>Zweite Ebene</a:t>
            </a:r>
          </a:p>
          <a:p>
            <a:pPr lvl="2"/>
            <a:r>
              <a:rPr lang="de-CH" noProof="0"/>
              <a:t>Dritte Ebene</a:t>
            </a:r>
          </a:p>
          <a:p>
            <a:pPr lvl="3"/>
            <a:r>
              <a:rPr lang="de-CH" noProof="0"/>
              <a:t>Vierte Ebene</a:t>
            </a:r>
          </a:p>
          <a:p>
            <a:pPr lvl="4"/>
            <a:r>
              <a:rPr lang="de-CH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C96E51-36C9-4BEE-A761-33378A0DF0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3692" y="6522444"/>
            <a:ext cx="612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4A358CF3-A22A-46C1-A4E5-5810212466EF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1EC403-6E63-4450-AFDD-66CA49D6CC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71700" y="6522444"/>
            <a:ext cx="540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DFCC57-7DDC-4B2C-A6BE-862DAF9C9F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37585" y="6522444"/>
            <a:ext cx="322577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‹Nr.›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409606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0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461" userDrawn="1">
          <p15:clr>
            <a:srgbClr val="F26B43"/>
          </p15:clr>
        </p15:guide>
        <p15:guide id="3" pos="7219" userDrawn="1">
          <p15:clr>
            <a:srgbClr val="F26B43"/>
          </p15:clr>
        </p15:guide>
        <p15:guide id="4" orient="horz" pos="164" userDrawn="1">
          <p15:clr>
            <a:srgbClr val="F26B43"/>
          </p15:clr>
        </p15:guide>
        <p15:guide id="5" orient="horz" pos="890" userDrawn="1">
          <p15:clr>
            <a:srgbClr val="F26B43"/>
          </p15:clr>
        </p15:guide>
        <p15:guide id="6" orient="horz" pos="4201" userDrawn="1">
          <p15:clr>
            <a:srgbClr val="F26B43"/>
          </p15:clr>
        </p15:guide>
        <p15:guide id="7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Bildplatzhalter 18" descr="Ein Bild, das Gebäude, Stadt, Schloss, Turm enthält.&#10;&#10;Automatisch generierte Beschreibung">
            <a:extLst>
              <a:ext uri="{FF2B5EF4-FFF2-40B4-BE49-F238E27FC236}">
                <a16:creationId xmlns:a16="http://schemas.microsoft.com/office/drawing/2014/main" id="{882FF669-564A-4497-A386-BA8B28F256B8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1" b="461"/>
          <a:stretch>
            <a:fillRect/>
          </a:stretch>
        </p:blipFill>
        <p:spPr/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AC1FB292-90C1-439C-8480-EB4116CF23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400" noProof="0" dirty="0">
                <a:ea typeface="+mj-lt"/>
                <a:cs typeface="+mj-lt"/>
              </a:rPr>
              <a:t>Assignment 2:</a:t>
            </a:r>
            <a:br>
              <a:rPr lang="en-US" sz="2400" noProof="0" dirty="0">
                <a:ea typeface="+mj-lt"/>
                <a:cs typeface="+mj-lt"/>
              </a:rPr>
            </a:br>
            <a:r>
              <a:rPr lang="en-US" sz="2400" noProof="0" dirty="0">
                <a:ea typeface="+mj-lt"/>
                <a:cs typeface="+mj-lt"/>
              </a:rPr>
              <a:t>Baseline Challenge</a:t>
            </a:r>
          </a:p>
        </p:txBody>
      </p:sp>
      <p:sp>
        <p:nvSpPr>
          <p:cNvPr id="2" name="Bildplatzhalter 1">
            <a:extLst>
              <a:ext uri="{FF2B5EF4-FFF2-40B4-BE49-F238E27FC236}">
                <a16:creationId xmlns:a16="http://schemas.microsoft.com/office/drawing/2014/main" id="{11ADABBC-2742-48DB-BA2B-E411F07CEE7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171C1F6-869F-40B1-8975-92FF2042F4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0" tIns="0" rIns="0" bIns="0" rtlCol="0" anchor="t">
            <a:noAutofit/>
          </a:bodyPr>
          <a:lstStyle/>
          <a:p>
            <a:r>
              <a:rPr lang="en-US" sz="1600" b="1" noProof="0" dirty="0">
                <a:cs typeface="+mn-lt"/>
              </a:rPr>
              <a:t>Constantin </a:t>
            </a:r>
            <a:r>
              <a:rPr lang="en-US" sz="1600" b="1" noProof="0">
                <a:cs typeface="+mn-lt"/>
              </a:rPr>
              <a:t>Cimpoes, Julius </a:t>
            </a:r>
            <a:r>
              <a:rPr lang="en-US" sz="1600" b="1" noProof="0" dirty="0">
                <a:cs typeface="+mn-lt"/>
              </a:rPr>
              <a:t>Voss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6B18E6F-BDD9-4B0B-9B9E-C25187E0E1F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536168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102"/>
    </mc:Choice>
    <mc:Fallback xmlns="">
      <p:transition spd="slow" advTm="14102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59CF38-73BF-14E6-D6D6-89219DE0D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60351"/>
            <a:ext cx="10728325" cy="900000"/>
          </a:xfrm>
        </p:spPr>
        <p:txBody>
          <a:bodyPr anchor="t">
            <a:normAutofit/>
          </a:bodyPr>
          <a:lstStyle/>
          <a:p>
            <a:r>
              <a:rPr lang="en-US" dirty="0"/>
              <a:t>Time-Based Validation Strategy for CLV Prediction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85806576-01BD-1368-3251-24A99FBA6D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283" b="2"/>
          <a:stretch>
            <a:fillRect/>
          </a:stretch>
        </p:blipFill>
        <p:spPr>
          <a:xfrm>
            <a:off x="731835" y="1303219"/>
            <a:ext cx="5017325" cy="2188699"/>
          </a:xfrm>
          <a:prstGeom prst="rect">
            <a:avLst/>
          </a:prstGeom>
          <a:noFill/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241F404-3525-32B2-7EDA-5192C37A5CE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3692" y="6522444"/>
            <a:ext cx="612000" cy="216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1B96697-4585-4368-989A-16003D150648}" type="datetime1">
              <a:rPr lang="de-CH" noProof="0" smtClean="0"/>
              <a:pPr>
                <a:spcAft>
                  <a:spcPts val="600"/>
                </a:spcAft>
              </a:pPr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4B1234-E164-FC6C-DAFC-6074E7974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71700" y="6522444"/>
            <a:ext cx="5400000" cy="216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A976B1-562C-68B6-998A-659638C4C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7585" y="6522444"/>
            <a:ext cx="322577" cy="216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ACA52AF-F19D-405C-AD5F-7D94B96A5CC3}" type="slidenum">
              <a:rPr lang="de-CH" noProof="0" smtClean="0"/>
              <a:pPr>
                <a:spcAft>
                  <a:spcPts val="600"/>
                </a:spcAft>
              </a:pPr>
              <a:t>2</a:t>
            </a:fld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A19BDA3-86A0-B299-B5FD-E9084E8C00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835" y="3535404"/>
            <a:ext cx="5017324" cy="2177330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11ADD9EB-ECBE-BFB4-5C5C-C1BF8FEC3DCC}"/>
              </a:ext>
            </a:extLst>
          </p:cNvPr>
          <p:cNvSpPr txBox="1"/>
          <p:nvPr/>
        </p:nvSpPr>
        <p:spPr>
          <a:xfrm>
            <a:off x="731836" y="837852"/>
            <a:ext cx="5017324" cy="369332"/>
          </a:xfrm>
          <a:prstGeom prst="rect">
            <a:avLst/>
          </a:prstGeom>
          <a:solidFill>
            <a:srgbClr val="215CAF"/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Data Analysis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B5D105C-3E82-A1E7-16F5-F1FF44791031}"/>
              </a:ext>
            </a:extLst>
          </p:cNvPr>
          <p:cNvSpPr txBox="1"/>
          <p:nvPr/>
        </p:nvSpPr>
        <p:spPr>
          <a:xfrm>
            <a:off x="6442838" y="837852"/>
            <a:ext cx="5017324" cy="369332"/>
          </a:xfrm>
          <a:prstGeom prst="rect">
            <a:avLst/>
          </a:prstGeom>
          <a:solidFill>
            <a:srgbClr val="215CAF"/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Train-test </a:t>
            </a:r>
            <a:r>
              <a:rPr lang="de-DE" dirty="0" err="1">
                <a:solidFill>
                  <a:schemeClr val="bg1"/>
                </a:solidFill>
              </a:rPr>
              <a:t>split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0C11ECE-32CA-9E14-57D2-2CBB7566D165}"/>
              </a:ext>
            </a:extLst>
          </p:cNvPr>
          <p:cNvSpPr txBox="1"/>
          <p:nvPr/>
        </p:nvSpPr>
        <p:spPr>
          <a:xfrm>
            <a:off x="767672" y="5792832"/>
            <a:ext cx="50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sz="1400" dirty="0"/>
              <a:t>Plots </a:t>
            </a:r>
            <a:r>
              <a:rPr lang="de-DE" sz="1400" dirty="0" err="1"/>
              <a:t>reveal</a:t>
            </a:r>
            <a:r>
              <a:rPr lang="de-DE" sz="1400" dirty="0"/>
              <a:t> a </a:t>
            </a:r>
            <a:r>
              <a:rPr lang="de-DE" sz="1400" b="1" dirty="0" err="1"/>
              <a:t>structural</a:t>
            </a:r>
            <a:r>
              <a:rPr lang="de-DE" sz="1400" b="1" dirty="0"/>
              <a:t> break</a:t>
            </a:r>
            <a:r>
              <a:rPr lang="de-DE" sz="1400" dirty="0"/>
              <a:t> in </a:t>
            </a:r>
            <a:r>
              <a:rPr lang="de-DE" sz="1400" dirty="0" err="1"/>
              <a:t>consumer</a:t>
            </a:r>
            <a:r>
              <a:rPr lang="de-DE" sz="1400" dirty="0"/>
              <a:t> </a:t>
            </a:r>
            <a:r>
              <a:rPr lang="de-DE" sz="1400" dirty="0" err="1"/>
              <a:t>behavior</a:t>
            </a:r>
            <a:r>
              <a:rPr lang="de-DE" sz="1400" dirty="0"/>
              <a:t> </a:t>
            </a:r>
            <a:r>
              <a:rPr lang="de-DE" sz="1400" dirty="0" err="1"/>
              <a:t>starting</a:t>
            </a:r>
            <a:r>
              <a:rPr lang="de-DE" sz="1400" dirty="0"/>
              <a:t> April 2020</a:t>
            </a:r>
            <a:endParaRPr lang="en-US" sz="1400" dirty="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5875D0B7-E59C-033E-8563-2C696D7C7B9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2607" b="25369"/>
          <a:stretch>
            <a:fillRect/>
          </a:stretch>
        </p:blipFill>
        <p:spPr>
          <a:xfrm>
            <a:off x="6575873" y="4526324"/>
            <a:ext cx="4751254" cy="1163312"/>
          </a:xfrm>
          <a:prstGeom prst="rect">
            <a:avLst/>
          </a:prstGeom>
        </p:spPr>
      </p:pic>
      <p:sp>
        <p:nvSpPr>
          <p:cNvPr id="55" name="Textfeld 54">
            <a:extLst>
              <a:ext uri="{FF2B5EF4-FFF2-40B4-BE49-F238E27FC236}">
                <a16:creationId xmlns:a16="http://schemas.microsoft.com/office/drawing/2014/main" id="{E3466438-2397-5171-233F-C2CFC72E4EA6}"/>
              </a:ext>
            </a:extLst>
          </p:cNvPr>
          <p:cNvSpPr txBox="1"/>
          <p:nvPr/>
        </p:nvSpPr>
        <p:spPr>
          <a:xfrm>
            <a:off x="6442838" y="1366743"/>
            <a:ext cx="5017324" cy="3062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de-DE" sz="1400" dirty="0"/>
              <a:t>F</a:t>
            </a:r>
            <a:r>
              <a:rPr lang="en-US" sz="1400" dirty="0" err="1"/>
              <a:t>ocus</a:t>
            </a:r>
            <a:r>
              <a:rPr lang="en-US" sz="1400" dirty="0"/>
              <a:t> on </a:t>
            </a:r>
            <a:r>
              <a:rPr lang="en-US" sz="1400" b="1" dirty="0"/>
              <a:t>post-behavioral shift period (Apr 2020 onward)</a:t>
            </a:r>
            <a:r>
              <a:rPr lang="en-US" sz="1400" dirty="0"/>
              <a:t> to ensure consistent customer dynamics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1" dirty="0"/>
              <a:t>Forward-chaining validation (2 folds)</a:t>
            </a:r>
            <a:r>
              <a:rPr lang="en-US" sz="1400" dirty="0"/>
              <a:t> tests model stability across time</a:t>
            </a:r>
          </a:p>
          <a:p>
            <a:pPr marL="742950" lvl="1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dirty="0"/>
              <a:t>Fold 1 (consistency check): </a:t>
            </a:r>
            <a:r>
              <a:rPr lang="en-US" sz="1400" i="1" dirty="0"/>
              <a:t>Can the model generalize to unseen data before the final period?</a:t>
            </a:r>
          </a:p>
          <a:p>
            <a:pPr marL="742950" lvl="1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dirty="0"/>
              <a:t>Fold 2 (main validation): </a:t>
            </a:r>
            <a:r>
              <a:rPr lang="en-US" sz="1400" i="1" dirty="0"/>
              <a:t>Does the model work in the most recent, most relevant period?</a:t>
            </a:r>
            <a:r>
              <a:rPr lang="en-US" sz="1400" dirty="0"/>
              <a:t> 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Consistent performance across folds → reliable generalization to unseen period</a:t>
            </a:r>
          </a:p>
          <a:p>
            <a:pPr marL="742950" lvl="1" indent="-28575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dirty="0"/>
              <a:t>With expanded historical data, Fold 2 is expected to match or exceed baseline performance</a:t>
            </a: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F64E5EFB-5C74-FDBA-3ED0-3F45AEF0D1F2}"/>
              </a:ext>
            </a:extLst>
          </p:cNvPr>
          <p:cNvSpPr txBox="1"/>
          <p:nvPr/>
        </p:nvSpPr>
        <p:spPr>
          <a:xfrm>
            <a:off x="6442838" y="5792832"/>
            <a:ext cx="50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400" dirty="0"/>
              <a:t>Final model predicts CLV for Sep 2023 – Sep 2024 using </a:t>
            </a:r>
            <a:r>
              <a:rPr lang="en-US" sz="1400" b="1" dirty="0"/>
              <a:t>all available stable data</a:t>
            </a:r>
          </a:p>
        </p:txBody>
      </p:sp>
    </p:spTree>
    <p:extLst>
      <p:ext uri="{BB962C8B-B14F-4D97-AF65-F5344CB8AC3E}">
        <p14:creationId xmlns:p14="http://schemas.microsoft.com/office/powerpoint/2010/main" val="280782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6D59B-742D-025E-BD09-3306E0296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FC37F3D-0401-4858-87A7-08303556E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F82BE-DF56-4719-B180-C3B0D509F71F}" type="datetime1">
              <a:rPr lang="de-CH" noProof="0" smtClean="0"/>
              <a:t>25.03.2026</a:t>
            </a:fld>
            <a:endParaRPr lang="de-CH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6668A99-D2EB-14F4-5468-6047A8B53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  <a:p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D6F0994-E2A0-79F8-2D29-F6E9657C8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3</a:t>
            </a:fld>
            <a:endParaRPr lang="de-CH" noProof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6AA545B-3B28-6803-1E27-2A196AFAE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230" y="119556"/>
            <a:ext cx="10728325" cy="900000"/>
          </a:xfrm>
        </p:spPr>
        <p:txBody>
          <a:bodyPr/>
          <a:lstStyle/>
          <a:p>
            <a:r>
              <a:rPr lang="en-US" dirty="0"/>
              <a:t>RFM Baseline for CLV Prediction</a:t>
            </a: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135BA3F6-0426-FEB2-7BB8-D575916FB625}"/>
              </a:ext>
            </a:extLst>
          </p:cNvPr>
          <p:cNvSpPr/>
          <p:nvPr/>
        </p:nvSpPr>
        <p:spPr>
          <a:xfrm>
            <a:off x="7741645" y="1788401"/>
            <a:ext cx="3886200" cy="171450"/>
          </a:xfrm>
          <a:custGeom>
            <a:avLst/>
            <a:gdLst>
              <a:gd name="csX0" fmla="*/ 3857625 w 3886200"/>
              <a:gd name="csY0" fmla="*/ 0 h 171450"/>
              <a:gd name="csX1" fmla="*/ 3886200 w 3886200"/>
              <a:gd name="csY1" fmla="*/ 0 h 171450"/>
              <a:gd name="csX2" fmla="*/ 3886200 w 3886200"/>
              <a:gd name="csY2" fmla="*/ 171450 h 171450"/>
              <a:gd name="csX3" fmla="*/ 3857625 w 3886200"/>
              <a:gd name="csY3" fmla="*/ 171450 h 171450"/>
              <a:gd name="csX4" fmla="*/ 28575 w 3886200"/>
              <a:gd name="csY4" fmla="*/ 171450 h 171450"/>
              <a:gd name="csX5" fmla="*/ 0 w 3886200"/>
              <a:gd name="csY5" fmla="*/ 171450 h 171450"/>
              <a:gd name="csX6" fmla="*/ 0 w 3886200"/>
              <a:gd name="csY6" fmla="*/ 0 h 171450"/>
              <a:gd name="csX7" fmla="*/ 28575 w 3886200"/>
              <a:gd name="csY7" fmla="*/ 0 h 171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886200" h="171450">
                <a:moveTo>
                  <a:pt x="3857625" y="0"/>
                </a:moveTo>
                <a:cubicBezTo>
                  <a:pt x="3873407" y="0"/>
                  <a:pt x="3886200" y="0"/>
                  <a:pt x="3886200" y="0"/>
                </a:cubicBezTo>
                <a:lnTo>
                  <a:pt x="3886200" y="171450"/>
                </a:lnTo>
                <a:cubicBezTo>
                  <a:pt x="3886200" y="171450"/>
                  <a:pt x="3873407" y="171450"/>
                  <a:pt x="3857625" y="171450"/>
                </a:cubicBezTo>
                <a:lnTo>
                  <a:pt x="28575" y="171450"/>
                </a:lnTo>
                <a:cubicBezTo>
                  <a:pt x="12793" y="171450"/>
                  <a:pt x="0" y="171450"/>
                  <a:pt x="0" y="171450"/>
                </a:cubicBezTo>
                <a:lnTo>
                  <a:pt x="0" y="0"/>
                </a:lnTo>
                <a:cubicBezTo>
                  <a:pt x="0" y="0"/>
                  <a:pt x="12793" y="0"/>
                  <a:pt x="28575" y="0"/>
                </a:cubicBez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78421C5-F679-3644-538B-90F9B5B6B24C}"/>
              </a:ext>
            </a:extLst>
          </p:cNvPr>
          <p:cNvGrpSpPr/>
          <p:nvPr/>
        </p:nvGrpSpPr>
        <p:grpSpPr>
          <a:xfrm>
            <a:off x="113136" y="587947"/>
            <a:ext cx="4453045" cy="862763"/>
            <a:chOff x="7745455" y="1754196"/>
            <a:chExt cx="3420143" cy="862763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F9584AC-FC0F-A15D-1464-6C151AF1793D}"/>
                </a:ext>
              </a:extLst>
            </p:cNvPr>
            <p:cNvSpPr txBox="1"/>
            <p:nvPr/>
          </p:nvSpPr>
          <p:spPr>
            <a:xfrm>
              <a:off x="7745455" y="1754196"/>
              <a:ext cx="636713" cy="246221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00" b="1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Feature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154143-8CA9-4D81-73B6-A8230C5FB453}"/>
                </a:ext>
              </a:extLst>
            </p:cNvPr>
            <p:cNvSpPr txBox="1"/>
            <p:nvPr/>
          </p:nvSpPr>
          <p:spPr>
            <a:xfrm>
              <a:off x="8831305" y="1754196"/>
              <a:ext cx="875561" cy="246221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00" b="1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Description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BDE8CB2-7605-C549-D244-BA69022AB87B}"/>
                </a:ext>
              </a:extLst>
            </p:cNvPr>
            <p:cNvSpPr txBox="1"/>
            <p:nvPr/>
          </p:nvSpPr>
          <p:spPr>
            <a:xfrm>
              <a:off x="7745455" y="1943943"/>
              <a:ext cx="699230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b="1" spc="0" baseline="0">
                  <a:ln/>
                  <a:latin typeface="Segoe UI"/>
                  <a:cs typeface="Segoe UI"/>
                  <a:sym typeface="Segoe UI"/>
                  <a:rtl val="0"/>
                </a:rPr>
                <a:t>Recency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ABD6587-E1DD-A2A9-6B1D-551E7D60EA5F}"/>
                </a:ext>
              </a:extLst>
            </p:cNvPr>
            <p:cNvSpPr txBox="1"/>
            <p:nvPr/>
          </p:nvSpPr>
          <p:spPr>
            <a:xfrm>
              <a:off x="8831305" y="1943943"/>
              <a:ext cx="2231701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Days since last rental before cutoff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C1FB57F0-A278-20CA-1DCE-BEFE42D2663A}"/>
                </a:ext>
              </a:extLst>
            </p:cNvPr>
            <p:cNvSpPr txBox="1"/>
            <p:nvPr/>
          </p:nvSpPr>
          <p:spPr>
            <a:xfrm>
              <a:off x="7745455" y="2153493"/>
              <a:ext cx="835485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b="1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Frequency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50814E2-2227-8A34-4056-3F7229DED91F}"/>
                </a:ext>
              </a:extLst>
            </p:cNvPr>
            <p:cNvSpPr txBox="1"/>
            <p:nvPr/>
          </p:nvSpPr>
          <p:spPr>
            <a:xfrm>
              <a:off x="8831305" y="2153493"/>
              <a:ext cx="2334293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Total rental count in feature window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2B973BDE-062B-4572-A928-E46072F388EF}"/>
                </a:ext>
              </a:extLst>
            </p:cNvPr>
            <p:cNvSpPr txBox="1"/>
            <p:nvPr/>
          </p:nvSpPr>
          <p:spPr>
            <a:xfrm>
              <a:off x="7745455" y="2363043"/>
              <a:ext cx="798617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b="1" spc="0" baseline="0">
                  <a:ln/>
                  <a:latin typeface="Segoe UI"/>
                  <a:cs typeface="Segoe UI"/>
                  <a:sym typeface="Segoe UI"/>
                  <a:rtl val="0"/>
                </a:rPr>
                <a:t>Monetary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79D079C-0D47-85B5-DBA9-0E35061D6826}"/>
                </a:ext>
              </a:extLst>
            </p:cNvPr>
            <p:cNvSpPr txBox="1"/>
            <p:nvPr/>
          </p:nvSpPr>
          <p:spPr>
            <a:xfrm>
              <a:off x="8831305" y="2363043"/>
              <a:ext cx="2032929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Total revenue generated (NOK)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E8C2E2E-BDEF-E0F0-0A29-F9FE32BFD08A}"/>
              </a:ext>
            </a:extLst>
          </p:cNvPr>
          <p:cNvSpPr txBox="1"/>
          <p:nvPr/>
        </p:nvSpPr>
        <p:spPr>
          <a:xfrm>
            <a:off x="9648151" y="4838530"/>
            <a:ext cx="238981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b="1" i="0" dirty="0">
                <a:effectLst/>
                <a:latin typeface="Consolas" panose="020B0609020204030204" pitchFamily="49" charset="0"/>
              </a:rPr>
              <a:t>Feature     Importance</a:t>
            </a:r>
            <a:br>
              <a:rPr lang="en-US" sz="1400" b="0" i="0" dirty="0">
                <a:effectLst/>
                <a:latin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</a:rPr>
              <a:t>M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onetary 	      556 </a:t>
            </a:r>
            <a:br>
              <a:rPr lang="en-US" sz="1400" b="0" i="0" dirty="0">
                <a:effectLst/>
                <a:latin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</a:rPr>
              <a:t>R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ecency 	      451 </a:t>
            </a:r>
            <a:br>
              <a:rPr lang="en-US" sz="1400" b="0" i="0" dirty="0">
                <a:effectLst/>
                <a:latin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</a:rPr>
              <a:t>F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requency      </a:t>
            </a:r>
            <a:r>
              <a:rPr lang="en-US" sz="400" b="0" i="0" dirty="0">
                <a:effectLst/>
                <a:latin typeface="Consolas" panose="020B0609020204030204" pitchFamily="49" charset="0"/>
              </a:rPr>
              <a:t> 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337</a:t>
            </a:r>
            <a:endParaRPr 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ED149C-09C2-3EEC-58DC-B9A96AE142B0}"/>
              </a:ext>
            </a:extLst>
          </p:cNvPr>
          <p:cNvSpPr txBox="1"/>
          <p:nvPr/>
        </p:nvSpPr>
        <p:spPr>
          <a:xfrm>
            <a:off x="11122753" y="5792637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i="1" dirty="0" err="1"/>
              <a:t>Splits</a:t>
            </a:r>
            <a:endParaRPr lang="en-US" i="1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7303FA8-A842-8B78-6F17-C7979BFF9A9C}"/>
              </a:ext>
            </a:extLst>
          </p:cNvPr>
          <p:cNvGrpSpPr/>
          <p:nvPr/>
        </p:nvGrpSpPr>
        <p:grpSpPr>
          <a:xfrm>
            <a:off x="113136" y="1579371"/>
            <a:ext cx="4955457" cy="3683560"/>
            <a:chOff x="304800" y="2482571"/>
            <a:chExt cx="5307509" cy="395711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D987225-2772-B115-2B3D-6C7910618B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4800" y="2482571"/>
              <a:ext cx="5307509" cy="3957118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0C8069D-901F-4AE7-3D95-774CDEF163D4}"/>
                </a:ext>
              </a:extLst>
            </p:cNvPr>
            <p:cNvSpPr txBox="1"/>
            <p:nvPr/>
          </p:nvSpPr>
          <p:spPr>
            <a:xfrm>
              <a:off x="2806499" y="3742189"/>
              <a:ext cx="765447" cy="3572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600" b="1" spc="0" baseline="0" dirty="0">
                  <a:ln/>
                  <a:solidFill>
                    <a:srgbClr val="1D9E75"/>
                  </a:solidFill>
                  <a:latin typeface="Segoe UI"/>
                  <a:cs typeface="Segoe UI"/>
                  <a:sym typeface="Segoe UI"/>
                  <a:rtl val="0"/>
                </a:rPr>
                <a:t>−31%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D124440-49AE-1463-88FD-CFF585FECD2D}"/>
                </a:ext>
              </a:extLst>
            </p:cNvPr>
            <p:cNvCxnSpPr>
              <a:cxnSpLocks/>
            </p:cNvCxnSpPr>
            <p:nvPr/>
          </p:nvCxnSpPr>
          <p:spPr>
            <a:xfrm>
              <a:off x="2547278" y="3817040"/>
              <a:ext cx="1299786" cy="975144"/>
            </a:xfrm>
            <a:prstGeom prst="straightConnector1">
              <a:avLst/>
            </a:prstGeom>
            <a:ln>
              <a:solidFill>
                <a:srgbClr val="1D9E7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D4210C51-698D-B115-CD92-15AA68E97334}"/>
              </a:ext>
            </a:extLst>
          </p:cNvPr>
          <p:cNvSpPr txBox="1"/>
          <p:nvPr/>
        </p:nvSpPr>
        <p:spPr>
          <a:xfrm>
            <a:off x="5176927" y="245551"/>
            <a:ext cx="701507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●"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Ridge Regression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simple linear ridge model cannot handle customers who spent a lot in 2021 but stopped completely in 2023. It hallucinates high revenue for dead accounts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90EA73-A785-385C-9D8A-9627A70360A8}"/>
              </a:ext>
            </a:extLst>
          </p:cNvPr>
          <p:cNvSpPr txBox="1"/>
          <p:nvPr/>
        </p:nvSpPr>
        <p:spPr>
          <a:xfrm>
            <a:off x="5176928" y="1223462"/>
            <a:ext cx="4318764" cy="2677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b="1" i="0" dirty="0">
                <a:effectLst/>
                <a:latin typeface="Consolas" panose="020B0609020204030204" pitchFamily="49" charset="0"/>
              </a:rPr>
              <a:t>--- LATENT ATTRITION EXAMPLES --- </a:t>
            </a:r>
          </a:p>
          <a:p>
            <a:r>
              <a:rPr lang="en-US" sz="1200" b="0" i="0" u="sng" dirty="0">
                <a:effectLst/>
                <a:latin typeface="Consolas" panose="020B0609020204030204" pitchFamily="49" charset="0"/>
              </a:rPr>
              <a:t>Customer ID: 3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sz="1200" b="0" i="0" dirty="0">
                <a:effectLst/>
                <a:latin typeface="Consolas" panose="020B0609020204030204" pitchFamily="49" charset="0"/>
              </a:rPr>
              <a:t>  - Recency: 245 days </a:t>
            </a:r>
          </a:p>
          <a:p>
            <a:r>
              <a:rPr lang="en-US" sz="1200" b="0" i="0" dirty="0">
                <a:effectLst/>
                <a:latin typeface="Consolas" panose="020B0609020204030204" pitchFamily="49" charset="0"/>
              </a:rPr>
              <a:t>  - Frequency: 33 rentals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- Monetary: 55,451.33 NOK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=&gt; </a:t>
            </a:r>
            <a:r>
              <a:rPr lang="en-US" sz="1200" b="0" i="0" dirty="0">
                <a:solidFill>
                  <a:srgbClr val="1D9E75"/>
                </a:solidFill>
                <a:effectLst/>
                <a:latin typeface="Consolas" panose="020B0609020204030204" pitchFamily="49" charset="0"/>
              </a:rPr>
              <a:t>ACTUAL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Future Revenue (Target): 0.00 NOK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=&gt; </a:t>
            </a:r>
            <a:r>
              <a:rPr lang="en-US" sz="1200" b="0" i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RIDGE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Predicted Revenue: 24,355.41 NOK 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b="0" i="0" u="sng" dirty="0">
                <a:effectLst/>
                <a:latin typeface="Consolas" panose="020B0609020204030204" pitchFamily="49" charset="0"/>
              </a:rPr>
              <a:t>Customer ID: 9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- Recency: 3 days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- Frequency: 3 rentals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- Monetary: 3,402.67 NOK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=&gt; </a:t>
            </a:r>
            <a:r>
              <a:rPr lang="en-US" sz="1200" b="0" i="0" dirty="0">
                <a:solidFill>
                  <a:srgbClr val="1D9E75"/>
                </a:solidFill>
                <a:effectLst/>
                <a:latin typeface="Consolas" panose="020B0609020204030204" pitchFamily="49" charset="0"/>
              </a:rPr>
              <a:t>ACTUAL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Future Revenue (Target): 6,700.00 NOK 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=&gt; </a:t>
            </a:r>
            <a:r>
              <a:rPr lang="en-US" sz="1200" b="0" i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RIDGE</a:t>
            </a:r>
            <a:r>
              <a:rPr lang="en-US" sz="1200" b="0" i="0" dirty="0">
                <a:effectLst/>
                <a:latin typeface="Consolas" panose="020B0609020204030204" pitchFamily="49" charset="0"/>
              </a:rPr>
              <a:t> Predicted Revenue: 14,653.23 NOK</a:t>
            </a:r>
            <a:endParaRPr 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766DCB-B959-67E8-F5B9-DF360F58D8BF}"/>
              </a:ext>
            </a:extLst>
          </p:cNvPr>
          <p:cNvSpPr txBox="1"/>
          <p:nvPr/>
        </p:nvSpPr>
        <p:spPr>
          <a:xfrm>
            <a:off x="9574505" y="1223462"/>
            <a:ext cx="2537109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b="1" i="0" dirty="0">
                <a:effectLst/>
                <a:latin typeface="Consolas" panose="020B0609020204030204" pitchFamily="49" charset="0"/>
              </a:rPr>
              <a:t>Feature </a:t>
            </a:r>
            <a:r>
              <a:rPr lang="en-US" sz="1400" b="1" dirty="0">
                <a:latin typeface="Consolas" panose="020B0609020204030204" pitchFamily="49" charset="0"/>
              </a:rPr>
              <a:t>     </a:t>
            </a:r>
            <a:r>
              <a:rPr lang="en-US" sz="1400" b="1" i="0" dirty="0">
                <a:effectLst/>
                <a:latin typeface="Consolas" panose="020B0609020204030204" pitchFamily="49" charset="0"/>
              </a:rPr>
              <a:t>Importance</a:t>
            </a:r>
            <a:endParaRPr lang="en-US" sz="1400" b="0" i="0" dirty="0">
              <a:effectLst/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R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ecency 	     </a:t>
            </a:r>
            <a:r>
              <a:rPr lang="en-US" sz="1100" b="0" i="0" dirty="0">
                <a:effectLst/>
                <a:latin typeface="Consolas" panose="020B0609020204030204" pitchFamily="49" charset="0"/>
              </a:rPr>
              <a:t> </a:t>
            </a:r>
            <a:r>
              <a:rPr lang="en-US" sz="1400" b="0" i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-7793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F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requency      </a:t>
            </a:r>
            <a:r>
              <a:rPr lang="en-US" sz="1400" b="0" i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-9150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M</a:t>
            </a:r>
            <a:r>
              <a:rPr lang="en-US" sz="1400" b="0" i="0" dirty="0">
                <a:effectLst/>
                <a:latin typeface="Consolas" panose="020B0609020204030204" pitchFamily="49" charset="0"/>
              </a:rPr>
              <a:t>onetary 	      </a:t>
            </a:r>
            <a:r>
              <a:rPr lang="en-US" sz="1400" b="0" i="0" dirty="0">
                <a:solidFill>
                  <a:srgbClr val="1D9E75"/>
                </a:solidFill>
                <a:effectLst/>
                <a:latin typeface="Consolas" panose="020B0609020204030204" pitchFamily="49" charset="0"/>
              </a:rPr>
              <a:t>21982</a:t>
            </a:r>
            <a:endParaRPr lang="en-US" sz="1400" dirty="0">
              <a:solidFill>
                <a:srgbClr val="1D9E75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8C2B7F-B398-AA94-D3A9-0E8FAD03B87D}"/>
              </a:ext>
            </a:extLst>
          </p:cNvPr>
          <p:cNvSpPr txBox="1"/>
          <p:nvPr/>
        </p:nvSpPr>
        <p:spPr>
          <a:xfrm>
            <a:off x="10909555" y="2197553"/>
            <a:ext cx="9861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i="1" dirty="0" err="1"/>
              <a:t>Coefficients</a:t>
            </a:r>
            <a:endParaRPr lang="en-US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BDEDB8-5A09-889B-1E17-255AA7019E77}"/>
              </a:ext>
            </a:extLst>
          </p:cNvPr>
          <p:cNvSpPr txBox="1"/>
          <p:nvPr/>
        </p:nvSpPr>
        <p:spPr>
          <a:xfrm>
            <a:off x="5176927" y="4073248"/>
            <a:ext cx="701507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3464" indent="-283464" algn="l" rtl="0" eaLnBrk="1" latinLnBrk="0" hangingPunct="1">
              <a:buClrTx/>
              <a:buSzPts val="1800"/>
              <a:buFont typeface="Arial" panose="020B0604020202020204" pitchFamily="34" charset="0"/>
              <a:buChar char="●"/>
            </a:pPr>
            <a:r>
              <a:rPr lang="en-US" sz="2000" b="1" kern="12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LightGBM</a:t>
            </a:r>
            <a:r>
              <a:rPr lang="en-US" sz="20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: </a:t>
            </a:r>
            <a:r>
              <a:rPr lang="en-US" sz="16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We implement a tree-based model that can implicitly learn to ignore these churned customers. Upgrading to a tree-based model cuts the MAE by ~30%:</a:t>
            </a:r>
            <a:endParaRPr lang="en-US" sz="2000" dirty="0">
              <a:effectLst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BFBCD7-0E3E-61C5-3D61-850507BAC495}"/>
              </a:ext>
            </a:extLst>
          </p:cNvPr>
          <p:cNvSpPr txBox="1"/>
          <p:nvPr/>
        </p:nvSpPr>
        <p:spPr>
          <a:xfrm>
            <a:off x="181231" y="5317243"/>
            <a:ext cx="9177374" cy="1077218"/>
          </a:xfrm>
          <a:prstGeom prst="rect">
            <a:avLst/>
          </a:prstGeom>
          <a:solidFill>
            <a:srgbClr val="000066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While this is a solid improvement, our conclusion is that pure RFM features are still not enough for a highly accurate prediction. Our next step for the final model is to enrich this </a:t>
            </a:r>
            <a:r>
              <a:rPr lang="en-US" sz="1600" b="1" dirty="0" err="1">
                <a:solidFill>
                  <a:schemeClr val="bg1"/>
                </a:solidFill>
              </a:rPr>
              <a:t>LightGBM</a:t>
            </a:r>
            <a:r>
              <a:rPr lang="en-US" sz="1600" b="1" dirty="0">
                <a:solidFill>
                  <a:schemeClr val="bg1"/>
                </a:solidFill>
              </a:rPr>
              <a:t> with behavioral features (e.g., Style Entropy and Cluster Affinity) to precisely predict who is churning and close the error gap even further</a:t>
            </a:r>
          </a:p>
        </p:txBody>
      </p:sp>
    </p:spTree>
    <p:extLst>
      <p:ext uri="{BB962C8B-B14F-4D97-AF65-F5344CB8AC3E}">
        <p14:creationId xmlns:p14="http://schemas.microsoft.com/office/powerpoint/2010/main" val="2995642186"/>
      </p:ext>
    </p:extLst>
  </p:cSld>
  <p:clrMapOvr>
    <a:masterClrMapping/>
  </p:clrMapOvr>
</p:sld>
</file>

<file path=ppt/theme/theme1.xml><?xml version="1.0" encoding="utf-8"?>
<a:theme xmlns:a="http://schemas.openxmlformats.org/drawingml/2006/main" name="ETH Zürich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Präsentation3" id="{9C84984C-18ED-5E49-A574-15FF8A3954B8}" vid="{0B390235-9264-874C-ABEB-5D2188FC234E}"/>
    </a:ext>
  </a:extLst>
</a:theme>
</file>

<file path=ppt/theme/theme2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0F59E03F3A02E49BD70E31348545014" ma:contentTypeVersion="7" ma:contentTypeDescription="Ein neues Dokument erstellen." ma:contentTypeScope="" ma:versionID="907cdc0f808be0b4bc1373a5a8f6a492">
  <xsd:schema xmlns:xsd="http://www.w3.org/2001/XMLSchema" xmlns:xs="http://www.w3.org/2001/XMLSchema" xmlns:p="http://schemas.microsoft.com/office/2006/metadata/properties" xmlns:ns2="7fd05bba-d45d-467f-a5a8-3f2970e80e4a" targetNamespace="http://schemas.microsoft.com/office/2006/metadata/properties" ma:root="true" ma:fieldsID="6eaf8534fcc486a778b01aa1a7a62fa4" ns2:_="">
    <xsd:import namespace="7fd05bba-d45d-467f-a5a8-3f2970e80e4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fd05bba-d45d-467f-a5a8-3f2970e80e4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C3B1C8D-BA84-44B8-B31F-BF26E7BAC85C}">
  <ds:schemaRefs>
    <ds:schemaRef ds:uri="http://purl.org/dc/elements/1.1/"/>
    <ds:schemaRef ds:uri="http://www.w3.org/XML/1998/namespace"/>
    <ds:schemaRef ds:uri="http://schemas.openxmlformats.org/package/2006/metadata/core-properties"/>
    <ds:schemaRef ds:uri="http://schemas.microsoft.com/office/2006/documentManagement/types"/>
    <ds:schemaRef ds:uri="http://purl.org/dc/terms/"/>
    <ds:schemaRef ds:uri="http://schemas.microsoft.com/office/infopath/2007/PartnerControls"/>
    <ds:schemaRef ds:uri="http://purl.org/dc/dcmitype/"/>
    <ds:schemaRef ds:uri="7fd05bba-d45d-467f-a5a8-3f2970e80e4a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E0CFCB78-2973-46E2-963D-C72C98C43B4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7B52BC-33EF-4C54-820C-9984D5F8AFB1}">
  <ds:schemaRefs>
    <ds:schemaRef ds:uri="7fd05bba-d45d-467f-a5a8-3f2970e80e4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eth_pp_praesentation_ohne_klassifizierung</Template>
  <TotalTime>0</TotalTime>
  <Words>866</Words>
  <Application>Microsoft Office PowerPoint</Application>
  <PresentationFormat>Breitbild</PresentationFormat>
  <Paragraphs>82</Paragraphs>
  <Slides>3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9" baseType="lpstr">
      <vt:lpstr>Arial</vt:lpstr>
      <vt:lpstr>Consolas</vt:lpstr>
      <vt:lpstr>Segoe UI</vt:lpstr>
      <vt:lpstr>Symbol</vt:lpstr>
      <vt:lpstr>Wingdings</vt:lpstr>
      <vt:lpstr>ETH Zürich</vt:lpstr>
      <vt:lpstr>Assignment 2: Baseline Challenge</vt:lpstr>
      <vt:lpstr>Time-Based Validation Strategy for CLV Prediction</vt:lpstr>
      <vt:lpstr>RFM Baseline for CLV Prediction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Voss  Julius</dc:creator>
  <cp:lastModifiedBy>Voss  Julius</cp:lastModifiedBy>
  <cp:revision>21</cp:revision>
  <dcterms:created xsi:type="dcterms:W3CDTF">2025-11-07T08:31:52Z</dcterms:created>
  <dcterms:modified xsi:type="dcterms:W3CDTF">2026-03-25T12:09:57Z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0x010100D0F59E03F3A02E49BD70E31348545014</vt:lpwstr>
  </property>
</Properties>
</file>
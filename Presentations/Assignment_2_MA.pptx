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8"/>
  </p:notesMasterIdLst>
  <p:handoutMasterIdLst>
    <p:handoutMasterId r:id="rId9"/>
  </p:handoutMasterIdLst>
  <p:sldIdLst>
    <p:sldId id="256" r:id="rId5"/>
    <p:sldId id="1190" r:id="rId6"/>
    <p:sldId id="1188" r:id="rId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3"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66"/>
    <a:srgbClr val="FF9900"/>
    <a:srgbClr val="1D9E75"/>
    <a:srgbClr val="286DD2"/>
    <a:srgbClr val="6899E2"/>
    <a:srgbClr val="78ADD2"/>
    <a:srgbClr val="B8CFF2"/>
    <a:srgbClr val="266CCC"/>
    <a:srgbClr val="215EB3"/>
    <a:srgbClr val="1D51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159" autoAdjust="0"/>
    <p:restoredTop sz="95033" autoAdjust="0"/>
  </p:normalViewPr>
  <p:slideViewPr>
    <p:cSldViewPr snapToGrid="0">
      <p:cViewPr varScale="1">
        <p:scale>
          <a:sx n="82" d="100"/>
          <a:sy n="82" d="100"/>
        </p:scale>
        <p:origin x="758" y="72"/>
      </p:cViewPr>
      <p:guideLst>
        <p:guide orient="horz" pos="2183"/>
        <p:guide pos="3840"/>
      </p:guideLst>
    </p:cSldViewPr>
  </p:slideViewPr>
  <p:notesTextViewPr>
    <p:cViewPr>
      <p:scale>
        <a:sx n="1" d="1"/>
        <a:sy n="1" d="1"/>
      </p:scale>
      <p:origin x="0" y="-941"/>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8AF70A90-CA7E-49EB-AB17-C37FEDD0759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a:extLst>
              <a:ext uri="{FF2B5EF4-FFF2-40B4-BE49-F238E27FC236}">
                <a16:creationId xmlns:a16="http://schemas.microsoft.com/office/drawing/2014/main" id="{5A7711EA-1FBE-4E98-9D43-C2D65C45D0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68ABEA4-9216-4FDF-AAE1-D8632908A8EC}" type="datetimeFigureOut">
              <a:rPr lang="de-CH" smtClean="0"/>
              <a:t>25.03.2026</a:t>
            </a:fld>
            <a:endParaRPr lang="de-CH"/>
          </a:p>
        </p:txBody>
      </p:sp>
      <p:sp>
        <p:nvSpPr>
          <p:cNvPr id="4" name="Fußzeilenplatzhalter 3">
            <a:extLst>
              <a:ext uri="{FF2B5EF4-FFF2-40B4-BE49-F238E27FC236}">
                <a16:creationId xmlns:a16="http://schemas.microsoft.com/office/drawing/2014/main" id="{82CCD3C8-8930-4E0E-A891-B770724F2B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Foliennummernplatzhalter 4">
            <a:extLst>
              <a:ext uri="{FF2B5EF4-FFF2-40B4-BE49-F238E27FC236}">
                <a16:creationId xmlns:a16="http://schemas.microsoft.com/office/drawing/2014/main" id="{A7798FB5-86BC-42DA-9D05-F96D484814F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685DCD-866D-47AE-A236-118539F53379}" type="slidenum">
              <a:rPr lang="de-CH" smtClean="0"/>
              <a:t>‹#›</a:t>
            </a:fld>
            <a:endParaRPr lang="de-CH"/>
          </a:p>
        </p:txBody>
      </p:sp>
    </p:spTree>
    <p:extLst>
      <p:ext uri="{BB962C8B-B14F-4D97-AF65-F5344CB8AC3E}">
        <p14:creationId xmlns:p14="http://schemas.microsoft.com/office/powerpoint/2010/main" val="14232272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78A90D-FE7E-41AF-B03D-808D82937CB9}" type="datetimeFigureOut">
              <a:rPr lang="de-CH" smtClean="0"/>
              <a:t>25.03.2026</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5DDFD-030C-4D5A-B33E-3A7E7538D2BE}" type="slidenum">
              <a:rPr lang="de-CH" smtClean="0"/>
              <a:t>‹#›</a:t>
            </a:fld>
            <a:endParaRPr lang="de-CH"/>
          </a:p>
        </p:txBody>
      </p:sp>
    </p:spTree>
    <p:extLst>
      <p:ext uri="{BB962C8B-B14F-4D97-AF65-F5344CB8AC3E}">
        <p14:creationId xmlns:p14="http://schemas.microsoft.com/office/powerpoint/2010/main" val="441496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b="1" dirty="0"/>
              <a:t>(Wait for your colleague to finish explaining the temporal split, then take over).</a:t>
            </a:r>
            <a:endParaRPr lang="en-US" dirty="0"/>
          </a:p>
          <a:p>
            <a:r>
              <a:rPr lang="en-US" dirty="0"/>
              <a:t>"Following up on the temporal split my colleague just explained, I’ll walk you through our baseline models"</a:t>
            </a:r>
          </a:p>
          <a:p>
            <a:r>
              <a:rPr lang="en-US" b="1" dirty="0"/>
              <a:t>(Point to the Bar Chart on your slide)</a:t>
            </a:r>
            <a:r>
              <a:rPr lang="en-US" dirty="0"/>
              <a:t> "We started with a standard RFM approach—using Recency, Frequency, and Monetary value—and trained a simple Ridge Regression. As you can see, this resulted in a massive Mean Absolute Error of nearly 14,700 NOK."</a:t>
            </a:r>
          </a:p>
          <a:p>
            <a:r>
              <a:rPr lang="en-US" b="1" dirty="0"/>
              <a:t>(Point to the micro-table or simply emphasize the data)</a:t>
            </a:r>
            <a:r>
              <a:rPr lang="en-US" dirty="0"/>
              <a:t> "The reason it failed is that linear models cannot handle customers who silently churn. For example, in our dataset, Customer Number 3 spent over 55,000 NOK historically, but hasn't rented anything in 245 days. Their actual future revenue is zero. But because the linear model heavily weights historical spend, it hallucinates high future revenue for these dead accounts.</a:t>
            </a:r>
          </a:p>
          <a:p>
            <a:r>
              <a:rPr lang="en-US" b="1" dirty="0"/>
              <a:t>(Gesture back to the </a:t>
            </a:r>
            <a:r>
              <a:rPr lang="en-US" b="1" dirty="0" err="1"/>
              <a:t>LightGBM</a:t>
            </a:r>
            <a:r>
              <a:rPr lang="en-US" b="1" dirty="0"/>
              <a:t> bar on the chart)</a:t>
            </a:r>
            <a:r>
              <a:rPr lang="en-US" dirty="0"/>
              <a:t> "To fix this, we upgraded our baseline to a tree-based model: </a:t>
            </a:r>
            <a:r>
              <a:rPr lang="en-US" dirty="0" err="1"/>
              <a:t>LightGBM</a:t>
            </a:r>
            <a:r>
              <a:rPr lang="en-US" dirty="0"/>
              <a:t>. Because it can learn non-linear rules, it implicitly learned that once 'Recency' crosses a certain threshold of inactivity, the predicted revenue must drop to zero. This cut our error by 30%, down to roughly 10,150 NOK."</a:t>
            </a:r>
          </a:p>
          <a:p>
            <a:r>
              <a:rPr lang="en-US" b="1" dirty="0"/>
              <a:t>(Deliver the final punchline / Next Steps)</a:t>
            </a:r>
            <a:r>
              <a:rPr lang="en-US" dirty="0"/>
              <a:t> "While this is a solid improvement, our conclusion is that pure RFM features are still not enough for a highly accurate prediction. Our next step for the final model is to enrich this </a:t>
            </a:r>
            <a:r>
              <a:rPr lang="en-US" dirty="0" err="1"/>
              <a:t>LightGBM</a:t>
            </a:r>
            <a:r>
              <a:rPr lang="en-US" dirty="0"/>
              <a:t> with the behavioral features we engineered earlier—like </a:t>
            </a:r>
            <a:r>
              <a:rPr lang="en-US" i="1" dirty="0"/>
              <a:t>Style Entropy</a:t>
            </a:r>
            <a:r>
              <a:rPr lang="en-US" dirty="0"/>
              <a:t> and </a:t>
            </a:r>
            <a:r>
              <a:rPr lang="en-US" i="1" dirty="0"/>
              <a:t>Cluster Affinity</a:t>
            </a:r>
            <a:r>
              <a:rPr lang="en-US" dirty="0"/>
              <a:t>—to precisely predict </a:t>
            </a:r>
            <a:r>
              <a:rPr lang="en-US" i="1" dirty="0"/>
              <a:t>who</a:t>
            </a:r>
            <a:r>
              <a:rPr lang="en-US" dirty="0"/>
              <a:t> is churning and close the error gap even further. Thank you."</a:t>
            </a:r>
          </a:p>
          <a:p>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2</a:t>
            </a:fld>
            <a:endParaRPr lang="de-CH"/>
          </a:p>
        </p:txBody>
      </p:sp>
    </p:spTree>
    <p:extLst>
      <p:ext uri="{BB962C8B-B14F-4D97-AF65-F5344CB8AC3E}">
        <p14:creationId xmlns:p14="http://schemas.microsoft.com/office/powerpoint/2010/main" val="28592363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15DDFD-030C-4D5A-B33E-3A7E7538D2BE}" type="slidenum">
              <a:rPr lang="de-CH" smtClean="0"/>
              <a:t>3</a:t>
            </a:fld>
            <a:endParaRPr lang="de-CH"/>
          </a:p>
        </p:txBody>
      </p:sp>
    </p:spTree>
    <p:extLst>
      <p:ext uri="{BB962C8B-B14F-4D97-AF65-F5344CB8AC3E}">
        <p14:creationId xmlns:p14="http://schemas.microsoft.com/office/powerpoint/2010/main" val="285400784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01">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1"/>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31838" y="360538"/>
            <a:ext cx="1765565" cy="288000"/>
          </a:xfrm>
          <a:prstGeom prst="rect">
            <a:avLst/>
          </a:prstGeom>
        </p:spPr>
      </p:pic>
      <p:sp>
        <p:nvSpPr>
          <p:cNvPr id="9" name="Bildplatzhalter 8">
            <a:extLst>
              <a:ext uri="{FF2B5EF4-FFF2-40B4-BE49-F238E27FC236}">
                <a16:creationId xmlns:a16="http://schemas.microsoft.com/office/drawing/2014/main" id="{C3C296D1-2CD0-479F-A866-6EC741D2293B}"/>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4" name="Textplatzhalter 3">
            <a:extLst>
              <a:ext uri="{FF2B5EF4-FFF2-40B4-BE49-F238E27FC236}">
                <a16:creationId xmlns:a16="http://schemas.microsoft.com/office/drawing/2014/main" id="{EE41BE31-9613-4103-99FF-7DCFF643B329}"/>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6" name="Textplatzhalter 5">
            <a:extLst>
              <a:ext uri="{FF2B5EF4-FFF2-40B4-BE49-F238E27FC236}">
                <a16:creationId xmlns:a16="http://schemas.microsoft.com/office/drawing/2014/main" id="{EDEB298C-798E-4D73-9DD6-F896C06530C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4293381049"/>
      </p:ext>
    </p:extLst>
  </p:cSld>
  <p:clrMapOvr>
    <a:masterClrMapping/>
  </p:clrMapOvr>
  <p:extLst>
    <p:ext uri="{DCECCB84-F9BA-43D5-87BE-67443E8EF086}">
      <p15:sldGuideLst xmlns:p15="http://schemas.microsoft.com/office/powerpoint/2012/main">
        <p15:guide id="2" pos="3840" userDrawn="1">
          <p15:clr>
            <a:srgbClr val="FBAE40"/>
          </p15:clr>
        </p15:guide>
        <p15:guide id="3" orient="horz" pos="640" userDrawn="1">
          <p15:clr>
            <a:srgbClr val="FBAE40"/>
          </p15:clr>
        </p15:guide>
        <p15:guide id="4" orient="horz" pos="3952" userDrawn="1">
          <p15:clr>
            <a:srgbClr val="FBAE40"/>
          </p15:clr>
        </p15:guide>
        <p15:guide id="5" pos="610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02">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8A01615F-450E-43D0-B554-DA3FBD48DF34}"/>
              </a:ext>
            </a:extLst>
          </p:cNvPr>
          <p:cNvSpPr>
            <a:spLocks noGrp="1"/>
          </p:cNvSpPr>
          <p:nvPr>
            <p:ph type="pic" sz="quarter" idx="11"/>
          </p:nvPr>
        </p:nvSpPr>
        <p:spPr>
          <a:xfrm>
            <a:off x="731838" y="1016000"/>
            <a:ext cx="10728325" cy="5256000"/>
          </a:xfrm>
        </p:spPr>
        <p:txBody>
          <a:bodyPr lIns="0" tIns="0" rIns="558000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6504000" y="2957494"/>
            <a:ext cx="5688000" cy="2268000"/>
          </a:xfrm>
          <a:solidFill>
            <a:schemeClr val="accent6"/>
          </a:solidFill>
        </p:spPr>
        <p:txBody>
          <a:bodyPr lIns="324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31838" y="360538"/>
            <a:ext cx="1765565" cy="288000"/>
          </a:xfrm>
          <a:prstGeom prst="rect">
            <a:avLst/>
          </a:prstGeom>
        </p:spPr>
      </p:pic>
      <p:sp>
        <p:nvSpPr>
          <p:cNvPr id="9" name="Textplatzhalter 3">
            <a:extLst>
              <a:ext uri="{FF2B5EF4-FFF2-40B4-BE49-F238E27FC236}">
                <a16:creationId xmlns:a16="http://schemas.microsoft.com/office/drawing/2014/main" id="{003A487C-8977-4264-A8A1-D6C1DB604682}"/>
              </a:ext>
            </a:extLst>
          </p:cNvPr>
          <p:cNvSpPr>
            <a:spLocks noGrp="1"/>
          </p:cNvSpPr>
          <p:nvPr>
            <p:ph type="body" sz="quarter" idx="13"/>
          </p:nvPr>
        </p:nvSpPr>
        <p:spPr>
          <a:xfrm>
            <a:off x="6845210" y="4639666"/>
            <a:ext cx="4320000" cy="46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3" name="Bildplatzhalter 8">
            <a:extLst>
              <a:ext uri="{FF2B5EF4-FFF2-40B4-BE49-F238E27FC236}">
                <a16:creationId xmlns:a16="http://schemas.microsoft.com/office/drawing/2014/main" id="{E91D3734-CD8F-4F94-A813-570EF31C4732}"/>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547D2927-4A99-4714-8EBA-F773EAA26308}"/>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10024114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03">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62D94F76-218E-49F2-87F8-05982912ED18}"/>
              </a:ext>
            </a:extLst>
          </p:cNvPr>
          <p:cNvSpPr/>
          <p:nvPr userDrawn="1"/>
        </p:nvSpPr>
        <p:spPr>
          <a:xfrm>
            <a:off x="731838" y="1016000"/>
            <a:ext cx="10728325" cy="5257800"/>
          </a:xfrm>
          <a:prstGeom prst="rect">
            <a:avLst/>
          </a:prstGeom>
          <a:solidFill>
            <a:srgbClr val="8E67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1" y="1940405"/>
            <a:ext cx="10188000" cy="3420000"/>
          </a:xfrm>
          <a:solidFill>
            <a:schemeClr val="accent3"/>
          </a:solidFill>
          <a:ln>
            <a:noFill/>
          </a:ln>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31838" y="360538"/>
            <a:ext cx="1765565" cy="288000"/>
          </a:xfrm>
          <a:prstGeom prst="rect">
            <a:avLst/>
          </a:prstGeom>
        </p:spPr>
      </p:pic>
      <p:sp>
        <p:nvSpPr>
          <p:cNvPr id="7" name="Textplatzhalter 3">
            <a:extLst>
              <a:ext uri="{FF2B5EF4-FFF2-40B4-BE49-F238E27FC236}">
                <a16:creationId xmlns:a16="http://schemas.microsoft.com/office/drawing/2014/main" id="{0503E57F-F89F-431B-8D38-7CC97B7C201A}"/>
              </a:ext>
            </a:extLst>
          </p:cNvPr>
          <p:cNvSpPr>
            <a:spLocks noGrp="1"/>
          </p:cNvSpPr>
          <p:nvPr>
            <p:ph type="body" sz="quarter" idx="13"/>
          </p:nvPr>
        </p:nvSpPr>
        <p:spPr>
          <a:xfrm>
            <a:off x="1078516" y="4217884"/>
            <a:ext cx="864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2" name="Bildplatzhalter 8">
            <a:extLst>
              <a:ext uri="{FF2B5EF4-FFF2-40B4-BE49-F238E27FC236}">
                <a16:creationId xmlns:a16="http://schemas.microsoft.com/office/drawing/2014/main" id="{1BEB6197-C509-4752-B57E-CEE955F5D926}"/>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4ADF7DEC-21BD-45CA-9E91-B9F58A69F62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3924069494"/>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04">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731837" y="1016000"/>
            <a:ext cx="10728326" cy="5256000"/>
          </a:xfrm>
          <a:solidFill>
            <a:schemeClr val="accent6"/>
          </a:solidFill>
          <a:ln>
            <a:noFill/>
          </a:ln>
        </p:spPr>
        <p:txBody>
          <a:bodyPr lIns="324000" tIns="11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31838" y="360538"/>
            <a:ext cx="1765565" cy="288000"/>
          </a:xfrm>
          <a:prstGeom prst="rect">
            <a:avLst/>
          </a:prstGeom>
        </p:spPr>
      </p:pic>
      <p:sp>
        <p:nvSpPr>
          <p:cNvPr id="6" name="Textplatzhalter 3">
            <a:extLst>
              <a:ext uri="{FF2B5EF4-FFF2-40B4-BE49-F238E27FC236}">
                <a16:creationId xmlns:a16="http://schemas.microsoft.com/office/drawing/2014/main" id="{5FCAD79B-EF47-46A0-9575-229F3DAA72F5}"/>
              </a:ext>
            </a:extLst>
          </p:cNvPr>
          <p:cNvSpPr>
            <a:spLocks noGrp="1"/>
          </p:cNvSpPr>
          <p:nvPr>
            <p:ph type="body" sz="quarter" idx="13"/>
          </p:nvPr>
        </p:nvSpPr>
        <p:spPr>
          <a:xfrm>
            <a:off x="1078515" y="5122625"/>
            <a:ext cx="10044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8" name="Bildplatzhalter 8">
            <a:extLst>
              <a:ext uri="{FF2B5EF4-FFF2-40B4-BE49-F238E27FC236}">
                <a16:creationId xmlns:a16="http://schemas.microsoft.com/office/drawing/2014/main" id="{72236FC6-C8FF-43C1-86B9-BF112345926F}"/>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7" name="Textplatzhalter 5">
            <a:extLst>
              <a:ext uri="{FF2B5EF4-FFF2-40B4-BE49-F238E27FC236}">
                <a16:creationId xmlns:a16="http://schemas.microsoft.com/office/drawing/2014/main" id="{789A3267-E086-4EC3-A0BB-F8ECD01A5C7E}"/>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732532068"/>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folie 04 – Uni Zürich">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2"/>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4" name="Grafik 3">
            <a:extLst>
              <a:ext uri="{FF2B5EF4-FFF2-40B4-BE49-F238E27FC236}">
                <a16:creationId xmlns:a16="http://schemas.microsoft.com/office/drawing/2014/main" id="{793E2EDD-B19F-478D-BB03-AD55EC1E86BD}"/>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27672" y="228020"/>
            <a:ext cx="3679200" cy="552508"/>
          </a:xfrm>
          <a:prstGeom prst="rect">
            <a:avLst/>
          </a:prstGeom>
        </p:spPr>
      </p:pic>
      <p:sp>
        <p:nvSpPr>
          <p:cNvPr id="7" name="Textplatzhalter 3">
            <a:extLst>
              <a:ext uri="{FF2B5EF4-FFF2-40B4-BE49-F238E27FC236}">
                <a16:creationId xmlns:a16="http://schemas.microsoft.com/office/drawing/2014/main" id="{D364BCB8-820F-4C3A-BA37-7048A4C8D4C3}"/>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1" name="Bildplatzhalter 8">
            <a:extLst>
              <a:ext uri="{FF2B5EF4-FFF2-40B4-BE49-F238E27FC236}">
                <a16:creationId xmlns:a16="http://schemas.microsoft.com/office/drawing/2014/main" id="{A73913C2-8DFE-4F15-B2DB-2A6D5C267009}"/>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9" name="Textplatzhalter 5">
            <a:extLst>
              <a:ext uri="{FF2B5EF4-FFF2-40B4-BE49-F238E27FC236}">
                <a16:creationId xmlns:a16="http://schemas.microsoft.com/office/drawing/2014/main" id="{791A1AD7-DB7D-4C75-BEFB-EB6D34D3B2AB}"/>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278925752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lvl1pPr marL="539750" indent="-539750">
              <a:buFont typeface="+mj-lt"/>
              <a:buAutoNum type="arabicPeriod"/>
              <a:defRPr/>
            </a:lvl1pPr>
            <a:lvl2pPr marL="1079500" indent="-539750">
              <a:buFont typeface="+mj-lt"/>
              <a:buAutoNum type="arabicPeriod"/>
              <a:defRPr/>
            </a:lvl2pPr>
            <a:lvl3pPr marL="1612900" indent="-533400">
              <a:buFont typeface="+mj-lt"/>
              <a:buAutoNum type="arabicPeriod"/>
              <a:defRPr/>
            </a:lvl3pPr>
            <a:lvl4pPr marL="2152650" indent="-539750">
              <a:buFont typeface="+mj-lt"/>
              <a:buAutoNum type="arabicPeriod"/>
              <a:defRPr/>
            </a:lvl4pPr>
            <a:lvl5pPr marL="2692400" indent="-539750">
              <a:buFont typeface="+mj-lt"/>
              <a:buAutoNum type="arabicPeriod"/>
              <a:defRPr/>
            </a:lvl5p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332D50A-E6CC-4D88-8908-F2129032F4C7}" type="datetime1">
              <a:rPr lang="de-CH" noProof="0" smtClean="0"/>
              <a:t>25.03.2026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222159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1B96697-4585-4368-989A-16003D150648}" type="datetime1">
              <a:rPr lang="de-CH" noProof="0" smtClean="0"/>
              <a:t>25.03.2026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1888753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 mit Fussno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A01E762-278A-4155-9BEB-7C2CB2386E92}" type="datetime1">
              <a:rPr lang="de-CH" noProof="0" smtClean="0"/>
              <a:t>25.03.2026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31837" y="6507088"/>
            <a:ext cx="984462" cy="162000"/>
          </a:xfrm>
          <a:prstGeom prst="rect">
            <a:avLst/>
          </a:prstGeom>
        </p:spPr>
      </p:pic>
      <p:sp>
        <p:nvSpPr>
          <p:cNvPr id="11" name="Textplatzhalter 10">
            <a:extLst>
              <a:ext uri="{FF2B5EF4-FFF2-40B4-BE49-F238E27FC236}">
                <a16:creationId xmlns:a16="http://schemas.microsoft.com/office/drawing/2014/main" id="{2F6D94FA-21C6-4AE0-AA4F-3A077810ED93}"/>
              </a:ext>
            </a:extLst>
          </p:cNvPr>
          <p:cNvSpPr>
            <a:spLocks noGrp="1"/>
          </p:cNvSpPr>
          <p:nvPr>
            <p:ph type="body" sz="quarter" idx="13"/>
          </p:nvPr>
        </p:nvSpPr>
        <p:spPr>
          <a:xfrm>
            <a:off x="731836" y="5570135"/>
            <a:ext cx="5364164" cy="721233"/>
          </a:xfrm>
        </p:spPr>
        <p:txBody>
          <a:bodyPr anchor="b" anchorCtr="0"/>
          <a:lstStyle>
            <a:lvl1pPr marL="179388" indent="-179388">
              <a:spcBef>
                <a:spcPts val="0"/>
              </a:spcBef>
              <a:buFont typeface="+mj-lt"/>
              <a:buAutoNum type="arabicPeriod"/>
              <a:defRPr sz="800"/>
            </a:lvl1pPr>
            <a:lvl2pPr marL="266700" indent="0">
              <a:buNone/>
              <a:defRPr sz="800"/>
            </a:lvl2pPr>
            <a:lvl3pPr marL="538163" indent="0">
              <a:buNone/>
              <a:defRPr sz="800"/>
            </a:lvl3pPr>
            <a:lvl4pPr marL="804862" indent="0">
              <a:buNone/>
              <a:defRPr sz="800"/>
            </a:lvl4pPr>
            <a:lvl5pPr marL="1076325" indent="0">
              <a:buNone/>
              <a:defRPr sz="800"/>
            </a:lvl5pPr>
          </a:lstStyle>
          <a:p>
            <a:pPr lvl="0"/>
            <a:r>
              <a:rPr lang="de-DE" noProof="0"/>
              <a:t>Mastertextformat bearbeiten</a:t>
            </a:r>
          </a:p>
        </p:txBody>
      </p:sp>
    </p:spTree>
    <p:extLst>
      <p:ext uri="{BB962C8B-B14F-4D97-AF65-F5344CB8AC3E}">
        <p14:creationId xmlns:p14="http://schemas.microsoft.com/office/powerpoint/2010/main" val="4260017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ischenslide">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a:xfrm>
            <a:off x="731837" y="2224781"/>
            <a:ext cx="10728325" cy="1260000"/>
          </a:xfrm>
        </p:spPr>
        <p:txBody>
          <a:bodyPr/>
          <a:lstStyle>
            <a:lvl1pPr>
              <a:lnSpc>
                <a:spcPct val="100000"/>
              </a:lnSpc>
              <a:defRPr sz="3600">
                <a:solidFill>
                  <a:schemeClr val="bg1"/>
                </a:solidFill>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lvl1pPr>
              <a:defRPr>
                <a:solidFill>
                  <a:schemeClr val="bg1"/>
                </a:solidFill>
              </a:defRPr>
            </a:lvl1pPr>
          </a:lstStyle>
          <a:p>
            <a:fld id="{6C4EAFE7-317E-4912-B75C-DD6945F82242}" type="datetime1">
              <a:rPr lang="de-CH" noProof="0" smtClean="0"/>
              <a:t>25.03.2026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lvl1pPr>
              <a:defRPr>
                <a:solidFill>
                  <a:schemeClr val="bg1"/>
                </a:solidFill>
              </a:defRPr>
            </a:lvl1p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lvl1pPr>
              <a:defRPr>
                <a:solidFill>
                  <a:schemeClr val="bg1"/>
                </a:solidFill>
              </a:defRPr>
            </a:lvl1pPr>
          </a:lstStyle>
          <a:p>
            <a:fld id="{5ACA52AF-F19D-405C-AD5F-7D94B96A5CC3}" type="slidenum">
              <a:rPr lang="de-CH" noProof="0" smtClean="0"/>
              <a:pPr/>
              <a:t>‹#›</a:t>
            </a:fld>
            <a:endParaRPr lang="de-CH" noProof="0"/>
          </a:p>
        </p:txBody>
      </p:sp>
      <p:grpSp>
        <p:nvGrpSpPr>
          <p:cNvPr id="10" name="Grafik 6">
            <a:extLst>
              <a:ext uri="{FF2B5EF4-FFF2-40B4-BE49-F238E27FC236}">
                <a16:creationId xmlns:a16="http://schemas.microsoft.com/office/drawing/2014/main" id="{7F7C476A-2849-4D68-9FA2-3A5CFC13C833}"/>
              </a:ext>
            </a:extLst>
          </p:cNvPr>
          <p:cNvGrpSpPr/>
          <p:nvPr/>
        </p:nvGrpSpPr>
        <p:grpSpPr>
          <a:xfrm>
            <a:off x="731837" y="6507088"/>
            <a:ext cx="984462" cy="162000"/>
            <a:chOff x="731837" y="6507088"/>
            <a:chExt cx="984462" cy="162000"/>
          </a:xfrm>
          <a:solidFill>
            <a:schemeClr val="bg1"/>
          </a:solidFill>
        </p:grpSpPr>
        <p:grpSp>
          <p:nvGrpSpPr>
            <p:cNvPr id="12" name="Grafik 6">
              <a:extLst>
                <a:ext uri="{FF2B5EF4-FFF2-40B4-BE49-F238E27FC236}">
                  <a16:creationId xmlns:a16="http://schemas.microsoft.com/office/drawing/2014/main" id="{7F7C476A-2849-4D68-9FA2-3A5CFC13C833}"/>
                </a:ext>
              </a:extLst>
            </p:cNvPr>
            <p:cNvGrpSpPr/>
            <p:nvPr/>
          </p:nvGrpSpPr>
          <p:grpSpPr>
            <a:xfrm>
              <a:off x="1266489" y="6555186"/>
              <a:ext cx="197463" cy="110963"/>
              <a:chOff x="1266489" y="6555186"/>
              <a:chExt cx="197463" cy="110963"/>
            </a:xfrm>
            <a:grpFill/>
          </p:grpSpPr>
          <p:sp>
            <p:nvSpPr>
              <p:cNvPr id="13" name="Freihandform: Form 12">
                <a:extLst>
                  <a:ext uri="{FF2B5EF4-FFF2-40B4-BE49-F238E27FC236}">
                    <a16:creationId xmlns:a16="http://schemas.microsoft.com/office/drawing/2014/main" id="{18BB0752-F87C-44D9-A9A5-97AF1DEDA1AE}"/>
                  </a:ext>
                </a:extLst>
              </p:cNvPr>
              <p:cNvSpPr/>
              <p:nvPr/>
            </p:nvSpPr>
            <p:spPr>
              <a:xfrm>
                <a:off x="1266489" y="6556934"/>
                <a:ext cx="95902" cy="109216"/>
              </a:xfrm>
              <a:custGeom>
                <a:avLst/>
                <a:gdLst>
                  <a:gd name="connsiteX0" fmla="*/ 66742 w 95902"/>
                  <a:gd name="connsiteY0" fmla="*/ 65797 h 109216"/>
                  <a:gd name="connsiteX1" fmla="*/ 35339 w 95902"/>
                  <a:gd name="connsiteY1" fmla="*/ 95082 h 109216"/>
                  <a:gd name="connsiteX2" fmla="*/ 15953 w 95902"/>
                  <a:gd name="connsiteY2" fmla="*/ 79537 h 109216"/>
                  <a:gd name="connsiteX3" fmla="*/ 15899 w 95902"/>
                  <a:gd name="connsiteY3" fmla="*/ 76265 h 109216"/>
                  <a:gd name="connsiteX4" fmla="*/ 16896 w 95902"/>
                  <a:gd name="connsiteY4" fmla="*/ 66295 h 109216"/>
                  <a:gd name="connsiteX5" fmla="*/ 30230 w 95902"/>
                  <a:gd name="connsiteY5" fmla="*/ 0 h 109216"/>
                  <a:gd name="connsiteX6" fmla="*/ 30230 w 95902"/>
                  <a:gd name="connsiteY6" fmla="*/ 0 h 109216"/>
                  <a:gd name="connsiteX7" fmla="*/ 14528 w 95902"/>
                  <a:gd name="connsiteY7" fmla="*/ 0 h 109216"/>
                  <a:gd name="connsiteX8" fmla="*/ 1194 w 95902"/>
                  <a:gd name="connsiteY8" fmla="*/ 67791 h 109216"/>
                  <a:gd name="connsiteX9" fmla="*/ 1194 w 95902"/>
                  <a:gd name="connsiteY9" fmla="*/ 68788 h 109216"/>
                  <a:gd name="connsiteX10" fmla="*/ 73 w 95902"/>
                  <a:gd name="connsiteY10" fmla="*/ 78508 h 109216"/>
                  <a:gd name="connsiteX11" fmla="*/ 26638 w 95902"/>
                  <a:gd name="connsiteY11" fmla="*/ 109122 h 109216"/>
                  <a:gd name="connsiteX12" fmla="*/ 29980 w 95902"/>
                  <a:gd name="connsiteY12" fmla="*/ 109163 h 109216"/>
                  <a:gd name="connsiteX13" fmla="*/ 61384 w 95902"/>
                  <a:gd name="connsiteY13" fmla="*/ 96702 h 109216"/>
                  <a:gd name="connsiteX14" fmla="*/ 59265 w 95902"/>
                  <a:gd name="connsiteY14" fmla="*/ 107917 h 109216"/>
                  <a:gd name="connsiteX15" fmla="*/ 59265 w 95902"/>
                  <a:gd name="connsiteY15" fmla="*/ 107917 h 109216"/>
                  <a:gd name="connsiteX16" fmla="*/ 74842 w 95902"/>
                  <a:gd name="connsiteY16" fmla="*/ 107917 h 109216"/>
                  <a:gd name="connsiteX17" fmla="*/ 95902 w 95902"/>
                  <a:gd name="connsiteY17" fmla="*/ 0 h 109216"/>
                  <a:gd name="connsiteX18" fmla="*/ 95902 w 95902"/>
                  <a:gd name="connsiteY18" fmla="*/ 0 h 109216"/>
                  <a:gd name="connsiteX19" fmla="*/ 79951 w 95902"/>
                  <a:gd name="connsiteY19" fmla="*/ 0 h 1092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95902" h="109216">
                    <a:moveTo>
                      <a:pt x="66742" y="65797"/>
                    </a:moveTo>
                    <a:cubicBezTo>
                      <a:pt x="65228" y="82115"/>
                      <a:pt x="51723" y="94709"/>
                      <a:pt x="35339" y="95082"/>
                    </a:cubicBezTo>
                    <a:cubicBezTo>
                      <a:pt x="25692" y="96142"/>
                      <a:pt x="17013" y="89183"/>
                      <a:pt x="15953" y="79537"/>
                    </a:cubicBezTo>
                    <a:cubicBezTo>
                      <a:pt x="15833" y="78450"/>
                      <a:pt x="15814" y="77355"/>
                      <a:pt x="15899" y="76265"/>
                    </a:cubicBezTo>
                    <a:cubicBezTo>
                      <a:pt x="15976" y="72921"/>
                      <a:pt x="16309" y="69588"/>
                      <a:pt x="16896" y="66295"/>
                    </a:cubicBezTo>
                    <a:lnTo>
                      <a:pt x="30230" y="0"/>
                    </a:lnTo>
                    <a:lnTo>
                      <a:pt x="30230" y="0"/>
                    </a:lnTo>
                    <a:lnTo>
                      <a:pt x="14528" y="0"/>
                    </a:lnTo>
                    <a:lnTo>
                      <a:pt x="1194" y="67791"/>
                    </a:lnTo>
                    <a:lnTo>
                      <a:pt x="1194" y="68788"/>
                    </a:lnTo>
                    <a:cubicBezTo>
                      <a:pt x="472" y="71978"/>
                      <a:pt x="95" y="75237"/>
                      <a:pt x="73" y="78508"/>
                    </a:cubicBezTo>
                    <a:cubicBezTo>
                      <a:pt x="-1045" y="94298"/>
                      <a:pt x="10848" y="108004"/>
                      <a:pt x="26638" y="109122"/>
                    </a:cubicBezTo>
                    <a:cubicBezTo>
                      <a:pt x="27751" y="109200"/>
                      <a:pt x="28866" y="109214"/>
                      <a:pt x="29980" y="109163"/>
                    </a:cubicBezTo>
                    <a:cubicBezTo>
                      <a:pt x="41760" y="109765"/>
                      <a:pt x="53221" y="105218"/>
                      <a:pt x="61384" y="96702"/>
                    </a:cubicBezTo>
                    <a:lnTo>
                      <a:pt x="59265" y="107917"/>
                    </a:lnTo>
                    <a:lnTo>
                      <a:pt x="59265" y="107917"/>
                    </a:lnTo>
                    <a:lnTo>
                      <a:pt x="74842" y="107917"/>
                    </a:lnTo>
                    <a:lnTo>
                      <a:pt x="95902" y="0"/>
                    </a:lnTo>
                    <a:lnTo>
                      <a:pt x="95902" y="0"/>
                    </a:lnTo>
                    <a:lnTo>
                      <a:pt x="79951" y="0"/>
                    </a:lnTo>
                    <a:close/>
                  </a:path>
                </a:pathLst>
              </a:custGeom>
              <a:grpFill/>
              <a:ln w="12419" cap="flat">
                <a:noFill/>
                <a:prstDash val="solid"/>
                <a:miter/>
              </a:ln>
            </p:spPr>
            <p:txBody>
              <a:bodyPr rtlCol="0" anchor="ctr"/>
              <a:lstStyle/>
              <a:p>
                <a:endParaRPr lang="de-CH" noProof="0"/>
              </a:p>
            </p:txBody>
          </p:sp>
          <p:sp>
            <p:nvSpPr>
              <p:cNvPr id="14" name="Freihandform: Form 13">
                <a:extLst>
                  <a:ext uri="{FF2B5EF4-FFF2-40B4-BE49-F238E27FC236}">
                    <a16:creationId xmlns:a16="http://schemas.microsoft.com/office/drawing/2014/main" id="{ED44DE23-7081-4AC9-BF06-502BEC71C004}"/>
                  </a:ext>
                </a:extLst>
              </p:cNvPr>
              <p:cNvSpPr/>
              <p:nvPr/>
            </p:nvSpPr>
            <p:spPr>
              <a:xfrm>
                <a:off x="1376472" y="6555186"/>
                <a:ext cx="87480" cy="109664"/>
              </a:xfrm>
              <a:custGeom>
                <a:avLst/>
                <a:gdLst>
                  <a:gd name="connsiteX0" fmla="*/ 64302 w 87480"/>
                  <a:gd name="connsiteY0" fmla="*/ 3 h 109664"/>
                  <a:gd name="connsiteX1" fmla="*/ 34518 w 87480"/>
                  <a:gd name="connsiteY1" fmla="*/ 14209 h 109664"/>
                  <a:gd name="connsiteX2" fmla="*/ 36886 w 87480"/>
                  <a:gd name="connsiteY2" fmla="*/ 1747 h 109664"/>
                  <a:gd name="connsiteX3" fmla="*/ 36886 w 87480"/>
                  <a:gd name="connsiteY3" fmla="*/ 1747 h 109664"/>
                  <a:gd name="connsiteX4" fmla="*/ 21434 w 87480"/>
                  <a:gd name="connsiteY4" fmla="*/ 1747 h 109664"/>
                  <a:gd name="connsiteX5" fmla="*/ 0 w 87480"/>
                  <a:gd name="connsiteY5" fmla="*/ 109664 h 109664"/>
                  <a:gd name="connsiteX6" fmla="*/ 0 w 87480"/>
                  <a:gd name="connsiteY6" fmla="*/ 109664 h 109664"/>
                  <a:gd name="connsiteX7" fmla="*/ 15826 w 87480"/>
                  <a:gd name="connsiteY7" fmla="*/ 109664 h 109664"/>
                  <a:gd name="connsiteX8" fmla="*/ 28288 w 87480"/>
                  <a:gd name="connsiteY8" fmla="*/ 43493 h 109664"/>
                  <a:gd name="connsiteX9" fmla="*/ 59940 w 87480"/>
                  <a:gd name="connsiteY9" fmla="*/ 14209 h 109664"/>
                  <a:gd name="connsiteX10" fmla="*/ 75019 w 87480"/>
                  <a:gd name="connsiteY10" fmla="*/ 21810 h 109664"/>
                  <a:gd name="connsiteX11" fmla="*/ 75019 w 87480"/>
                  <a:gd name="connsiteY11" fmla="*/ 21810 h 109664"/>
                  <a:gd name="connsiteX12" fmla="*/ 87480 w 87480"/>
                  <a:gd name="connsiteY12" fmla="*/ 10346 h 109664"/>
                  <a:gd name="connsiteX13" fmla="*/ 87480 w 87480"/>
                  <a:gd name="connsiteY13" fmla="*/ 10346 h 109664"/>
                  <a:gd name="connsiteX14" fmla="*/ 63928 w 87480"/>
                  <a:gd name="connsiteY14" fmla="*/ 252 h 1096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480" h="109664">
                    <a:moveTo>
                      <a:pt x="64302" y="3"/>
                    </a:moveTo>
                    <a:cubicBezTo>
                      <a:pt x="52709" y="-136"/>
                      <a:pt x="41706" y="5111"/>
                      <a:pt x="34518" y="14209"/>
                    </a:cubicBezTo>
                    <a:lnTo>
                      <a:pt x="36886" y="1747"/>
                    </a:lnTo>
                    <a:lnTo>
                      <a:pt x="36886" y="1747"/>
                    </a:lnTo>
                    <a:lnTo>
                      <a:pt x="21434" y="1747"/>
                    </a:lnTo>
                    <a:lnTo>
                      <a:pt x="0" y="109664"/>
                    </a:lnTo>
                    <a:lnTo>
                      <a:pt x="0" y="109664"/>
                    </a:lnTo>
                    <a:lnTo>
                      <a:pt x="15826" y="109664"/>
                    </a:lnTo>
                    <a:lnTo>
                      <a:pt x="28288" y="43493"/>
                    </a:lnTo>
                    <a:cubicBezTo>
                      <a:pt x="30515" y="27438"/>
                      <a:pt x="43760" y="15183"/>
                      <a:pt x="59940" y="14209"/>
                    </a:cubicBezTo>
                    <a:cubicBezTo>
                      <a:pt x="65919" y="14072"/>
                      <a:pt x="71573" y="16922"/>
                      <a:pt x="75019" y="21810"/>
                    </a:cubicBezTo>
                    <a:lnTo>
                      <a:pt x="75019" y="21810"/>
                    </a:lnTo>
                    <a:lnTo>
                      <a:pt x="87480" y="10346"/>
                    </a:lnTo>
                    <a:lnTo>
                      <a:pt x="87480" y="10346"/>
                    </a:lnTo>
                    <a:cubicBezTo>
                      <a:pt x="81552" y="3603"/>
                      <a:pt x="72899" y="-105"/>
                      <a:pt x="63928" y="252"/>
                    </a:cubicBezTo>
                  </a:path>
                </a:pathLst>
              </a:custGeom>
              <a:grpFill/>
              <a:ln w="12419" cap="flat">
                <a:noFill/>
                <a:prstDash val="solid"/>
                <a:miter/>
              </a:ln>
            </p:spPr>
            <p:txBody>
              <a:bodyPr rtlCol="0" anchor="ctr"/>
              <a:lstStyle/>
              <a:p>
                <a:endParaRPr lang="de-CH" noProof="0"/>
              </a:p>
            </p:txBody>
          </p:sp>
        </p:grpSp>
        <p:sp>
          <p:nvSpPr>
            <p:cNvPr id="15" name="Freihandform: Form 14">
              <a:extLst>
                <a:ext uri="{FF2B5EF4-FFF2-40B4-BE49-F238E27FC236}">
                  <a16:creationId xmlns:a16="http://schemas.microsoft.com/office/drawing/2014/main" id="{18C24FD2-AEE2-43CA-8EB3-8E646C2E5E46}"/>
                </a:ext>
              </a:extLst>
            </p:cNvPr>
            <p:cNvSpPr/>
            <p:nvPr/>
          </p:nvSpPr>
          <p:spPr>
            <a:xfrm>
              <a:off x="1159517" y="6556560"/>
              <a:ext cx="96452" cy="108166"/>
            </a:xfrm>
            <a:custGeom>
              <a:avLst/>
              <a:gdLst>
                <a:gd name="connsiteX0" fmla="*/ 23303 w 96452"/>
                <a:gd name="connsiteY0" fmla="*/ 0 h 108166"/>
                <a:gd name="connsiteX1" fmla="*/ 20562 w 96452"/>
                <a:gd name="connsiteY1" fmla="*/ 13708 h 108166"/>
                <a:gd name="connsiteX2" fmla="*/ 20562 w 96452"/>
                <a:gd name="connsiteY2" fmla="*/ 13957 h 108166"/>
                <a:gd name="connsiteX3" fmla="*/ 74271 w 96452"/>
                <a:gd name="connsiteY3" fmla="*/ 13957 h 108166"/>
                <a:gd name="connsiteX4" fmla="*/ 2742 w 96452"/>
                <a:gd name="connsiteY4" fmla="*/ 94957 h 108166"/>
                <a:gd name="connsiteX5" fmla="*/ 2617 w 96452"/>
                <a:gd name="connsiteY5" fmla="*/ 94957 h 108166"/>
                <a:gd name="connsiteX6" fmla="*/ 0 w 96452"/>
                <a:gd name="connsiteY6" fmla="*/ 108166 h 108166"/>
                <a:gd name="connsiteX7" fmla="*/ 76265 w 96452"/>
                <a:gd name="connsiteY7" fmla="*/ 108166 h 108166"/>
                <a:gd name="connsiteX8" fmla="*/ 79006 w 96452"/>
                <a:gd name="connsiteY8" fmla="*/ 94209 h 108166"/>
                <a:gd name="connsiteX9" fmla="*/ 21932 w 96452"/>
                <a:gd name="connsiteY9" fmla="*/ 94209 h 108166"/>
                <a:gd name="connsiteX10" fmla="*/ 93835 w 96452"/>
                <a:gd name="connsiteY10" fmla="*/ 13209 h 108166"/>
                <a:gd name="connsiteX11" fmla="*/ 93835 w 96452"/>
                <a:gd name="connsiteY11" fmla="*/ 13209 h 108166"/>
                <a:gd name="connsiteX12" fmla="*/ 96452 w 96452"/>
                <a:gd name="connsiteY12" fmla="*/ 0 h 108166"/>
                <a:gd name="connsiteX13" fmla="*/ 23303 w 96452"/>
                <a:gd name="connsiteY13"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6452" h="108166">
                  <a:moveTo>
                    <a:pt x="23303" y="0"/>
                  </a:moveTo>
                  <a:lnTo>
                    <a:pt x="20562" y="13708"/>
                  </a:lnTo>
                  <a:lnTo>
                    <a:pt x="20562" y="13957"/>
                  </a:lnTo>
                  <a:lnTo>
                    <a:pt x="74271" y="13957"/>
                  </a:lnTo>
                  <a:lnTo>
                    <a:pt x="2742" y="94957"/>
                  </a:lnTo>
                  <a:lnTo>
                    <a:pt x="2617" y="94957"/>
                  </a:lnTo>
                  <a:lnTo>
                    <a:pt x="0" y="108166"/>
                  </a:lnTo>
                  <a:lnTo>
                    <a:pt x="76265" y="108166"/>
                  </a:lnTo>
                  <a:lnTo>
                    <a:pt x="79006" y="94209"/>
                  </a:lnTo>
                  <a:lnTo>
                    <a:pt x="21932" y="94209"/>
                  </a:lnTo>
                  <a:lnTo>
                    <a:pt x="93835" y="13209"/>
                  </a:lnTo>
                  <a:lnTo>
                    <a:pt x="93835" y="13209"/>
                  </a:lnTo>
                  <a:lnTo>
                    <a:pt x="96452" y="0"/>
                  </a:lnTo>
                  <a:lnTo>
                    <a:pt x="23303" y="0"/>
                  </a:lnTo>
                  <a:close/>
                </a:path>
              </a:pathLst>
            </a:custGeom>
            <a:grpFill/>
            <a:ln w="12419" cap="flat">
              <a:noFill/>
              <a:prstDash val="solid"/>
              <a:miter/>
            </a:ln>
          </p:spPr>
          <p:txBody>
            <a:bodyPr rtlCol="0" anchor="ctr"/>
            <a:lstStyle/>
            <a:p>
              <a:endParaRPr lang="de-CH" noProof="0"/>
            </a:p>
          </p:txBody>
        </p:sp>
        <p:sp>
          <p:nvSpPr>
            <p:cNvPr id="16" name="Freihandform: Form 15">
              <a:extLst>
                <a:ext uri="{FF2B5EF4-FFF2-40B4-BE49-F238E27FC236}">
                  <a16:creationId xmlns:a16="http://schemas.microsoft.com/office/drawing/2014/main" id="{AEE7F6F4-4D2C-45B3-A061-9606B2BD36A7}"/>
                </a:ext>
              </a:extLst>
            </p:cNvPr>
            <p:cNvSpPr/>
            <p:nvPr/>
          </p:nvSpPr>
          <p:spPr>
            <a:xfrm>
              <a:off x="1466445" y="6556560"/>
              <a:ext cx="37259" cy="108166"/>
            </a:xfrm>
            <a:custGeom>
              <a:avLst/>
              <a:gdLst>
                <a:gd name="connsiteX0" fmla="*/ 21683 w 37259"/>
                <a:gd name="connsiteY0" fmla="*/ 0 h 108166"/>
                <a:gd name="connsiteX1" fmla="*/ 0 w 37259"/>
                <a:gd name="connsiteY1" fmla="*/ 107917 h 108166"/>
                <a:gd name="connsiteX2" fmla="*/ 0 w 37259"/>
                <a:gd name="connsiteY2" fmla="*/ 108166 h 108166"/>
                <a:gd name="connsiteX3" fmla="*/ 15702 w 37259"/>
                <a:gd name="connsiteY3" fmla="*/ 108166 h 108166"/>
                <a:gd name="connsiteX4" fmla="*/ 37260 w 37259"/>
                <a:gd name="connsiteY4" fmla="*/ 0 h 108166"/>
                <a:gd name="connsiteX5" fmla="*/ 21683 w 37259"/>
                <a:gd name="connsiteY5"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259" h="108166">
                  <a:moveTo>
                    <a:pt x="21683" y="0"/>
                  </a:moveTo>
                  <a:lnTo>
                    <a:pt x="0" y="107917"/>
                  </a:lnTo>
                  <a:lnTo>
                    <a:pt x="0" y="108166"/>
                  </a:lnTo>
                  <a:lnTo>
                    <a:pt x="15702" y="108166"/>
                  </a:lnTo>
                  <a:lnTo>
                    <a:pt x="37260" y="0"/>
                  </a:lnTo>
                  <a:lnTo>
                    <a:pt x="21683" y="0"/>
                  </a:lnTo>
                  <a:close/>
                </a:path>
              </a:pathLst>
            </a:custGeom>
            <a:grpFill/>
            <a:ln w="12419" cap="flat">
              <a:noFill/>
              <a:prstDash val="solid"/>
              <a:miter/>
            </a:ln>
          </p:spPr>
          <p:txBody>
            <a:bodyPr rtlCol="0" anchor="ctr"/>
            <a:lstStyle/>
            <a:p>
              <a:endParaRPr lang="de-CH" noProof="0"/>
            </a:p>
          </p:txBody>
        </p:sp>
        <p:grpSp>
          <p:nvGrpSpPr>
            <p:cNvPr id="17" name="Grafik 6">
              <a:extLst>
                <a:ext uri="{FF2B5EF4-FFF2-40B4-BE49-F238E27FC236}">
                  <a16:creationId xmlns:a16="http://schemas.microsoft.com/office/drawing/2014/main" id="{7F7C476A-2849-4D68-9FA2-3A5CFC13C833}"/>
                </a:ext>
              </a:extLst>
            </p:cNvPr>
            <p:cNvGrpSpPr/>
            <p:nvPr/>
          </p:nvGrpSpPr>
          <p:grpSpPr>
            <a:xfrm>
              <a:off x="1518879" y="6507337"/>
              <a:ext cx="191395" cy="158803"/>
              <a:chOff x="1518879" y="6507337"/>
              <a:chExt cx="191395" cy="158803"/>
            </a:xfrm>
            <a:grpFill/>
          </p:grpSpPr>
          <p:sp>
            <p:nvSpPr>
              <p:cNvPr id="18" name="Freihandform: Form 17">
                <a:extLst>
                  <a:ext uri="{FF2B5EF4-FFF2-40B4-BE49-F238E27FC236}">
                    <a16:creationId xmlns:a16="http://schemas.microsoft.com/office/drawing/2014/main" id="{B2186F78-5D28-4695-8B1C-5A3F1A53AAB3}"/>
                  </a:ext>
                </a:extLst>
              </p:cNvPr>
              <p:cNvSpPr/>
              <p:nvPr/>
            </p:nvSpPr>
            <p:spPr>
              <a:xfrm>
                <a:off x="1614114" y="6507337"/>
                <a:ext cx="96160" cy="157638"/>
              </a:xfrm>
              <a:custGeom>
                <a:avLst/>
                <a:gdLst>
                  <a:gd name="connsiteX0" fmla="*/ 66046 w 96160"/>
                  <a:gd name="connsiteY0" fmla="*/ 47852 h 157638"/>
                  <a:gd name="connsiteX1" fmla="*/ 35142 w 96160"/>
                  <a:gd name="connsiteY1" fmla="*/ 60314 h 157638"/>
                  <a:gd name="connsiteX2" fmla="*/ 47603 w 96160"/>
                  <a:gd name="connsiteY2" fmla="*/ 0 h 157638"/>
                  <a:gd name="connsiteX3" fmla="*/ 31652 w 96160"/>
                  <a:gd name="connsiteY3" fmla="*/ 0 h 157638"/>
                  <a:gd name="connsiteX4" fmla="*/ 0 w 96160"/>
                  <a:gd name="connsiteY4" fmla="*/ 157389 h 157638"/>
                  <a:gd name="connsiteX5" fmla="*/ 15701 w 96160"/>
                  <a:gd name="connsiteY5" fmla="*/ 157389 h 157638"/>
                  <a:gd name="connsiteX6" fmla="*/ 28911 w 96160"/>
                  <a:gd name="connsiteY6" fmla="*/ 91218 h 157638"/>
                  <a:gd name="connsiteX7" fmla="*/ 60563 w 96160"/>
                  <a:gd name="connsiteY7" fmla="*/ 62058 h 157638"/>
                  <a:gd name="connsiteX8" fmla="*/ 79837 w 96160"/>
                  <a:gd name="connsiteY8" fmla="*/ 77742 h 157638"/>
                  <a:gd name="connsiteX9" fmla="*/ 79878 w 96160"/>
                  <a:gd name="connsiteY9" fmla="*/ 80875 h 157638"/>
                  <a:gd name="connsiteX10" fmla="*/ 78757 w 96160"/>
                  <a:gd name="connsiteY10" fmla="*/ 90969 h 157638"/>
                  <a:gd name="connsiteX11" fmla="*/ 65423 w 96160"/>
                  <a:gd name="connsiteY11" fmla="*/ 157638 h 157638"/>
                  <a:gd name="connsiteX12" fmla="*/ 81125 w 96160"/>
                  <a:gd name="connsiteY12" fmla="*/ 157638 h 157638"/>
                  <a:gd name="connsiteX13" fmla="*/ 94957 w 96160"/>
                  <a:gd name="connsiteY13" fmla="*/ 89474 h 157638"/>
                  <a:gd name="connsiteX14" fmla="*/ 96078 w 96160"/>
                  <a:gd name="connsiteY14" fmla="*/ 78757 h 157638"/>
                  <a:gd name="connsiteX15" fmla="*/ 69522 w 96160"/>
                  <a:gd name="connsiteY15" fmla="*/ 47902 h 157638"/>
                  <a:gd name="connsiteX16" fmla="*/ 66046 w 96160"/>
                  <a:gd name="connsiteY16" fmla="*/ 47852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6160" h="157638">
                    <a:moveTo>
                      <a:pt x="66046" y="47852"/>
                    </a:moveTo>
                    <a:cubicBezTo>
                      <a:pt x="54431" y="47363"/>
                      <a:pt x="43168" y="51904"/>
                      <a:pt x="35142" y="60314"/>
                    </a:cubicBezTo>
                    <a:lnTo>
                      <a:pt x="47603" y="0"/>
                    </a:lnTo>
                    <a:lnTo>
                      <a:pt x="31652" y="0"/>
                    </a:lnTo>
                    <a:lnTo>
                      <a:pt x="0" y="157389"/>
                    </a:lnTo>
                    <a:lnTo>
                      <a:pt x="15701" y="157389"/>
                    </a:lnTo>
                    <a:lnTo>
                      <a:pt x="28911" y="91218"/>
                    </a:lnTo>
                    <a:cubicBezTo>
                      <a:pt x="30603" y="74910"/>
                      <a:pt x="44170" y="62411"/>
                      <a:pt x="60563" y="62058"/>
                    </a:cubicBezTo>
                    <a:cubicBezTo>
                      <a:pt x="70216" y="61067"/>
                      <a:pt x="78845" y="68088"/>
                      <a:pt x="79837" y="77742"/>
                    </a:cubicBezTo>
                    <a:cubicBezTo>
                      <a:pt x="79945" y="78783"/>
                      <a:pt x="79958" y="79832"/>
                      <a:pt x="79878" y="80875"/>
                    </a:cubicBezTo>
                    <a:cubicBezTo>
                      <a:pt x="79822" y="84268"/>
                      <a:pt x="79446" y="87647"/>
                      <a:pt x="78757" y="90969"/>
                    </a:cubicBezTo>
                    <a:lnTo>
                      <a:pt x="65423" y="157638"/>
                    </a:lnTo>
                    <a:lnTo>
                      <a:pt x="81125" y="157638"/>
                    </a:lnTo>
                    <a:lnTo>
                      <a:pt x="94957" y="89474"/>
                    </a:lnTo>
                    <a:cubicBezTo>
                      <a:pt x="95657" y="85943"/>
                      <a:pt x="96034" y="82356"/>
                      <a:pt x="96078" y="78757"/>
                    </a:cubicBezTo>
                    <a:cubicBezTo>
                      <a:pt x="97265" y="62903"/>
                      <a:pt x="85375" y="49089"/>
                      <a:pt x="69522" y="47902"/>
                    </a:cubicBezTo>
                    <a:cubicBezTo>
                      <a:pt x="68365" y="47815"/>
                      <a:pt x="67205" y="47799"/>
                      <a:pt x="66046" y="47852"/>
                    </a:cubicBezTo>
                  </a:path>
                </a:pathLst>
              </a:custGeom>
              <a:grpFill/>
              <a:ln w="12419" cap="flat">
                <a:noFill/>
                <a:prstDash val="solid"/>
                <a:miter/>
              </a:ln>
            </p:spPr>
            <p:txBody>
              <a:bodyPr rtlCol="0" anchor="ctr"/>
              <a:lstStyle/>
              <a:p>
                <a:endParaRPr lang="de-CH" noProof="0"/>
              </a:p>
            </p:txBody>
          </p:sp>
          <p:sp>
            <p:nvSpPr>
              <p:cNvPr id="19" name="Freihandform: Form 18">
                <a:extLst>
                  <a:ext uri="{FF2B5EF4-FFF2-40B4-BE49-F238E27FC236}">
                    <a16:creationId xmlns:a16="http://schemas.microsoft.com/office/drawing/2014/main" id="{1FE5475E-83C3-4BE3-BBF1-FAE9A6986B3F}"/>
                  </a:ext>
                </a:extLst>
              </p:cNvPr>
              <p:cNvSpPr/>
              <p:nvPr/>
            </p:nvSpPr>
            <p:spPr>
              <a:xfrm>
                <a:off x="1518879" y="6555189"/>
                <a:ext cx="87882" cy="110951"/>
              </a:xfrm>
              <a:custGeom>
                <a:avLst/>
                <a:gdLst>
                  <a:gd name="connsiteX0" fmla="*/ 56853 w 87882"/>
                  <a:gd name="connsiteY0" fmla="*/ 0 h 110951"/>
                  <a:gd name="connsiteX1" fmla="*/ 1649 w 87882"/>
                  <a:gd name="connsiteY1" fmla="*/ 55329 h 110951"/>
                  <a:gd name="connsiteX2" fmla="*/ 153 w 87882"/>
                  <a:gd name="connsiteY2" fmla="*/ 71903 h 110951"/>
                  <a:gd name="connsiteX3" fmla="*/ 32484 w 87882"/>
                  <a:gd name="connsiteY3" fmla="*/ 110801 h 110951"/>
                  <a:gd name="connsiteX4" fmla="*/ 37538 w 87882"/>
                  <a:gd name="connsiteY4" fmla="*/ 110908 h 110951"/>
                  <a:gd name="connsiteX5" fmla="*/ 73552 w 87882"/>
                  <a:gd name="connsiteY5" fmla="*/ 95705 h 110951"/>
                  <a:gd name="connsiteX6" fmla="*/ 73552 w 87882"/>
                  <a:gd name="connsiteY6" fmla="*/ 95705 h 110951"/>
                  <a:gd name="connsiteX7" fmla="*/ 64455 w 87882"/>
                  <a:gd name="connsiteY7" fmla="*/ 84614 h 110951"/>
                  <a:gd name="connsiteX8" fmla="*/ 64455 w 87882"/>
                  <a:gd name="connsiteY8" fmla="*/ 84614 h 110951"/>
                  <a:gd name="connsiteX9" fmla="*/ 64455 w 87882"/>
                  <a:gd name="connsiteY9" fmla="*/ 84614 h 110951"/>
                  <a:gd name="connsiteX10" fmla="*/ 38535 w 87882"/>
                  <a:gd name="connsiteY10" fmla="*/ 97075 h 110951"/>
                  <a:gd name="connsiteX11" fmla="*/ 15233 w 87882"/>
                  <a:gd name="connsiteY11" fmla="*/ 75551 h 110951"/>
                  <a:gd name="connsiteX12" fmla="*/ 15356 w 87882"/>
                  <a:gd name="connsiteY12" fmla="*/ 72152 h 110951"/>
                  <a:gd name="connsiteX13" fmla="*/ 17101 w 87882"/>
                  <a:gd name="connsiteY13" fmla="*/ 55952 h 110951"/>
                  <a:gd name="connsiteX14" fmla="*/ 31058 w 87882"/>
                  <a:gd name="connsiteY14" fmla="*/ 25048 h 110951"/>
                  <a:gd name="connsiteX15" fmla="*/ 55233 w 87882"/>
                  <a:gd name="connsiteY15" fmla="*/ 14206 h 110951"/>
                  <a:gd name="connsiteX16" fmla="*/ 76293 w 87882"/>
                  <a:gd name="connsiteY16" fmla="*/ 26668 h 110951"/>
                  <a:gd name="connsiteX17" fmla="*/ 76293 w 87882"/>
                  <a:gd name="connsiteY17" fmla="*/ 26668 h 110951"/>
                  <a:gd name="connsiteX18" fmla="*/ 87883 w 87882"/>
                  <a:gd name="connsiteY18" fmla="*/ 16823 h 110951"/>
                  <a:gd name="connsiteX19" fmla="*/ 87883 w 87882"/>
                  <a:gd name="connsiteY19" fmla="*/ 16823 h 110951"/>
                  <a:gd name="connsiteX20" fmla="*/ 56729 w 87882"/>
                  <a:gd name="connsiteY20" fmla="*/ 748 h 110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7882" h="110951">
                    <a:moveTo>
                      <a:pt x="56853" y="0"/>
                    </a:moveTo>
                    <a:cubicBezTo>
                      <a:pt x="28192" y="0"/>
                      <a:pt x="8129" y="20188"/>
                      <a:pt x="1649" y="55329"/>
                    </a:cubicBezTo>
                    <a:cubicBezTo>
                      <a:pt x="671" y="60800"/>
                      <a:pt x="170" y="66345"/>
                      <a:pt x="153" y="71903"/>
                    </a:cubicBezTo>
                    <a:cubicBezTo>
                      <a:pt x="-1660" y="91572"/>
                      <a:pt x="12814" y="108987"/>
                      <a:pt x="32484" y="110801"/>
                    </a:cubicBezTo>
                    <a:cubicBezTo>
                      <a:pt x="34163" y="110955"/>
                      <a:pt x="35853" y="110991"/>
                      <a:pt x="37538" y="110908"/>
                    </a:cubicBezTo>
                    <a:cubicBezTo>
                      <a:pt x="51112" y="110955"/>
                      <a:pt x="64118" y="105465"/>
                      <a:pt x="73552" y="95705"/>
                    </a:cubicBezTo>
                    <a:lnTo>
                      <a:pt x="73552" y="95705"/>
                    </a:lnTo>
                    <a:lnTo>
                      <a:pt x="64455" y="84614"/>
                    </a:lnTo>
                    <a:lnTo>
                      <a:pt x="64455" y="84614"/>
                    </a:lnTo>
                    <a:lnTo>
                      <a:pt x="64455" y="84614"/>
                    </a:lnTo>
                    <a:cubicBezTo>
                      <a:pt x="58138" y="92466"/>
                      <a:pt x="48613" y="97045"/>
                      <a:pt x="38535" y="97075"/>
                    </a:cubicBezTo>
                    <a:cubicBezTo>
                      <a:pt x="26157" y="97566"/>
                      <a:pt x="15724" y="87929"/>
                      <a:pt x="15233" y="75551"/>
                    </a:cubicBezTo>
                    <a:cubicBezTo>
                      <a:pt x="15188" y="74416"/>
                      <a:pt x="15229" y="73280"/>
                      <a:pt x="15356" y="72152"/>
                    </a:cubicBezTo>
                    <a:cubicBezTo>
                      <a:pt x="15424" y="66709"/>
                      <a:pt x="16008" y="61285"/>
                      <a:pt x="17101" y="55952"/>
                    </a:cubicBezTo>
                    <a:cubicBezTo>
                      <a:pt x="18838" y="44568"/>
                      <a:pt x="23666" y="33878"/>
                      <a:pt x="31058" y="25048"/>
                    </a:cubicBezTo>
                    <a:cubicBezTo>
                      <a:pt x="37213" y="18167"/>
                      <a:pt x="46002" y="14225"/>
                      <a:pt x="55233" y="14206"/>
                    </a:cubicBezTo>
                    <a:cubicBezTo>
                      <a:pt x="64085" y="13892"/>
                      <a:pt x="72308" y="18758"/>
                      <a:pt x="76293" y="26668"/>
                    </a:cubicBezTo>
                    <a:lnTo>
                      <a:pt x="76293" y="26668"/>
                    </a:lnTo>
                    <a:lnTo>
                      <a:pt x="87883" y="16823"/>
                    </a:lnTo>
                    <a:lnTo>
                      <a:pt x="87883" y="16823"/>
                    </a:lnTo>
                    <a:cubicBezTo>
                      <a:pt x="81104" y="6298"/>
                      <a:pt x="69235" y="174"/>
                      <a:pt x="56729" y="748"/>
                    </a:cubicBezTo>
                  </a:path>
                </a:pathLst>
              </a:custGeom>
              <a:grpFill/>
              <a:ln w="12419" cap="flat">
                <a:noFill/>
                <a:prstDash val="solid"/>
                <a:miter/>
              </a:ln>
            </p:spPr>
            <p:txBody>
              <a:bodyPr rtlCol="0" anchor="ctr"/>
              <a:lstStyle/>
              <a:p>
                <a:endParaRPr lang="de-CH" noProof="0"/>
              </a:p>
            </p:txBody>
          </p:sp>
        </p:grpSp>
        <p:sp>
          <p:nvSpPr>
            <p:cNvPr id="20" name="Freihandform: Form 19">
              <a:extLst>
                <a:ext uri="{FF2B5EF4-FFF2-40B4-BE49-F238E27FC236}">
                  <a16:creationId xmlns:a16="http://schemas.microsoft.com/office/drawing/2014/main" id="{41B77B6E-E7CB-412B-95AC-A9322C6799BB}"/>
                </a:ext>
              </a:extLst>
            </p:cNvPr>
            <p:cNvSpPr/>
            <p:nvPr/>
          </p:nvSpPr>
          <p:spPr>
            <a:xfrm>
              <a:off x="1493985"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1" name="Freihandform: Form 20">
              <a:extLst>
                <a:ext uri="{FF2B5EF4-FFF2-40B4-BE49-F238E27FC236}">
                  <a16:creationId xmlns:a16="http://schemas.microsoft.com/office/drawing/2014/main" id="{832E5C1A-13CE-49A6-B590-B6EAA5F9E1AD}"/>
                </a:ext>
              </a:extLst>
            </p:cNvPr>
            <p:cNvSpPr/>
            <p:nvPr/>
          </p:nvSpPr>
          <p:spPr>
            <a:xfrm>
              <a:off x="1340708"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2" name="Freihandform: Form 21">
              <a:extLst>
                <a:ext uri="{FF2B5EF4-FFF2-40B4-BE49-F238E27FC236}">
                  <a16:creationId xmlns:a16="http://schemas.microsoft.com/office/drawing/2014/main" id="{63AE00B0-780F-4053-8FE9-B7D321217AFF}"/>
                </a:ext>
              </a:extLst>
            </p:cNvPr>
            <p:cNvSpPr/>
            <p:nvPr/>
          </p:nvSpPr>
          <p:spPr>
            <a:xfrm>
              <a:off x="1298712" y="6507088"/>
              <a:ext cx="19689" cy="19689"/>
            </a:xfrm>
            <a:custGeom>
              <a:avLst/>
              <a:gdLst>
                <a:gd name="connsiteX0" fmla="*/ 3988 w 19689"/>
                <a:gd name="connsiteY0" fmla="*/ 0 h 19689"/>
                <a:gd name="connsiteX1" fmla="*/ 0 w 19689"/>
                <a:gd name="connsiteY1" fmla="*/ 19689 h 19689"/>
                <a:gd name="connsiteX2" fmla="*/ 15702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702"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3" name="Freihandform: Form 22">
              <a:extLst>
                <a:ext uri="{FF2B5EF4-FFF2-40B4-BE49-F238E27FC236}">
                  <a16:creationId xmlns:a16="http://schemas.microsoft.com/office/drawing/2014/main" id="{2406CEAF-7399-4CCB-A322-03F0BA2532F5}"/>
                </a:ext>
              </a:extLst>
            </p:cNvPr>
            <p:cNvSpPr/>
            <p:nvPr/>
          </p:nvSpPr>
          <p:spPr>
            <a:xfrm>
              <a:off x="731837" y="6507088"/>
              <a:ext cx="417960" cy="157638"/>
            </a:xfrm>
            <a:custGeom>
              <a:avLst/>
              <a:gdLst>
                <a:gd name="connsiteX0" fmla="*/ 368612 w 417960"/>
                <a:gd name="connsiteY0" fmla="*/ 0 h 157638"/>
                <a:gd name="connsiteX1" fmla="*/ 356151 w 417960"/>
                <a:gd name="connsiteY1" fmla="*/ 61062 h 157638"/>
                <a:gd name="connsiteX2" fmla="*/ 320760 w 417960"/>
                <a:gd name="connsiteY2" fmla="*/ 61062 h 157638"/>
                <a:gd name="connsiteX3" fmla="*/ 333222 w 417960"/>
                <a:gd name="connsiteY3" fmla="*/ 0 h 157638"/>
                <a:gd name="connsiteX4" fmla="*/ 31652 w 417960"/>
                <a:gd name="connsiteY4" fmla="*/ 0 h 157638"/>
                <a:gd name="connsiteX5" fmla="*/ 0 w 417960"/>
                <a:gd name="connsiteY5" fmla="*/ 157638 h 157638"/>
                <a:gd name="connsiteX6" fmla="*/ 120254 w 417960"/>
                <a:gd name="connsiteY6" fmla="*/ 157638 h 157638"/>
                <a:gd name="connsiteX7" fmla="*/ 128105 w 417960"/>
                <a:gd name="connsiteY7" fmla="*/ 118260 h 157638"/>
                <a:gd name="connsiteX8" fmla="*/ 57074 w 417960"/>
                <a:gd name="connsiteY8" fmla="*/ 118260 h 157638"/>
                <a:gd name="connsiteX9" fmla="*/ 61435 w 417960"/>
                <a:gd name="connsiteY9" fmla="*/ 96577 h 157638"/>
                <a:gd name="connsiteX10" fmla="*/ 132342 w 417960"/>
                <a:gd name="connsiteY10" fmla="*/ 96577 h 157638"/>
                <a:gd name="connsiteX11" fmla="*/ 139569 w 417960"/>
                <a:gd name="connsiteY11" fmla="*/ 61062 h 157638"/>
                <a:gd name="connsiteX12" fmla="*/ 68538 w 417960"/>
                <a:gd name="connsiteY12" fmla="*/ 61062 h 157638"/>
                <a:gd name="connsiteX13" fmla="*/ 72900 w 417960"/>
                <a:gd name="connsiteY13" fmla="*/ 39378 h 157638"/>
                <a:gd name="connsiteX14" fmla="*/ 185303 w 417960"/>
                <a:gd name="connsiteY14" fmla="*/ 39378 h 157638"/>
                <a:gd name="connsiteX15" fmla="*/ 161626 w 417960"/>
                <a:gd name="connsiteY15" fmla="*/ 157638 h 157638"/>
                <a:gd name="connsiteX16" fmla="*/ 210849 w 417960"/>
                <a:gd name="connsiteY16" fmla="*/ 157638 h 157638"/>
                <a:gd name="connsiteX17" fmla="*/ 234651 w 417960"/>
                <a:gd name="connsiteY17" fmla="*/ 39378 h 157638"/>
                <a:gd name="connsiteX18" fmla="*/ 276023 w 417960"/>
                <a:gd name="connsiteY18" fmla="*/ 39378 h 157638"/>
                <a:gd name="connsiteX19" fmla="*/ 252222 w 417960"/>
                <a:gd name="connsiteY19" fmla="*/ 157638 h 157638"/>
                <a:gd name="connsiteX20" fmla="*/ 301569 w 417960"/>
                <a:gd name="connsiteY20" fmla="*/ 157638 h 157638"/>
                <a:gd name="connsiteX21" fmla="*/ 313657 w 417960"/>
                <a:gd name="connsiteY21" fmla="*/ 96577 h 157638"/>
                <a:gd name="connsiteX22" fmla="*/ 349172 w 417960"/>
                <a:gd name="connsiteY22" fmla="*/ 96577 h 157638"/>
                <a:gd name="connsiteX23" fmla="*/ 336960 w 417960"/>
                <a:gd name="connsiteY23" fmla="*/ 157638 h 157638"/>
                <a:gd name="connsiteX24" fmla="*/ 386308 w 417960"/>
                <a:gd name="connsiteY24" fmla="*/ 157638 h 157638"/>
                <a:gd name="connsiteX25" fmla="*/ 417960 w 417960"/>
                <a:gd name="connsiteY25" fmla="*/ 0 h 157638"/>
                <a:gd name="connsiteX26" fmla="*/ 368612 w 417960"/>
                <a:gd name="connsiteY26" fmla="*/ 0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17960" h="157638">
                  <a:moveTo>
                    <a:pt x="368612" y="0"/>
                  </a:moveTo>
                  <a:lnTo>
                    <a:pt x="356151" y="61062"/>
                  </a:lnTo>
                  <a:lnTo>
                    <a:pt x="320760" y="61062"/>
                  </a:lnTo>
                  <a:lnTo>
                    <a:pt x="333222" y="0"/>
                  </a:lnTo>
                  <a:lnTo>
                    <a:pt x="31652" y="0"/>
                  </a:lnTo>
                  <a:lnTo>
                    <a:pt x="0" y="157638"/>
                  </a:lnTo>
                  <a:lnTo>
                    <a:pt x="120254" y="157638"/>
                  </a:lnTo>
                  <a:lnTo>
                    <a:pt x="128105" y="118260"/>
                  </a:lnTo>
                  <a:lnTo>
                    <a:pt x="57074" y="118260"/>
                  </a:lnTo>
                  <a:lnTo>
                    <a:pt x="61435" y="96577"/>
                  </a:lnTo>
                  <a:lnTo>
                    <a:pt x="132342" y="96577"/>
                  </a:lnTo>
                  <a:lnTo>
                    <a:pt x="139569" y="61062"/>
                  </a:lnTo>
                  <a:lnTo>
                    <a:pt x="68538" y="61062"/>
                  </a:lnTo>
                  <a:lnTo>
                    <a:pt x="72900" y="39378"/>
                  </a:lnTo>
                  <a:lnTo>
                    <a:pt x="185303" y="39378"/>
                  </a:lnTo>
                  <a:lnTo>
                    <a:pt x="161626" y="157638"/>
                  </a:lnTo>
                  <a:lnTo>
                    <a:pt x="210849" y="157638"/>
                  </a:lnTo>
                  <a:lnTo>
                    <a:pt x="234651" y="39378"/>
                  </a:lnTo>
                  <a:lnTo>
                    <a:pt x="276023" y="39378"/>
                  </a:lnTo>
                  <a:lnTo>
                    <a:pt x="252222" y="157638"/>
                  </a:lnTo>
                  <a:lnTo>
                    <a:pt x="301569" y="157638"/>
                  </a:lnTo>
                  <a:lnTo>
                    <a:pt x="313657" y="96577"/>
                  </a:lnTo>
                  <a:lnTo>
                    <a:pt x="349172" y="96577"/>
                  </a:lnTo>
                  <a:lnTo>
                    <a:pt x="336960" y="157638"/>
                  </a:lnTo>
                  <a:lnTo>
                    <a:pt x="386308" y="157638"/>
                  </a:lnTo>
                  <a:lnTo>
                    <a:pt x="417960" y="0"/>
                  </a:lnTo>
                  <a:lnTo>
                    <a:pt x="368612" y="0"/>
                  </a:lnTo>
                  <a:close/>
                </a:path>
              </a:pathLst>
            </a:custGeom>
            <a:grpFill/>
            <a:ln w="12419" cap="flat">
              <a:noFill/>
              <a:prstDash val="solid"/>
              <a:miter/>
            </a:ln>
          </p:spPr>
          <p:txBody>
            <a:bodyPr rtlCol="0" anchor="ctr"/>
            <a:lstStyle/>
            <a:p>
              <a:endParaRPr lang="de-CH" noProof="0"/>
            </a:p>
          </p:txBody>
        </p:sp>
      </p:grpSp>
    </p:spTree>
    <p:extLst>
      <p:ext uri="{BB962C8B-B14F-4D97-AF65-F5344CB8AC3E}">
        <p14:creationId xmlns:p14="http://schemas.microsoft.com/office/powerpoint/2010/main" val="37168353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 Bi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lvl1pPr>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C47C2547-0B26-4181-9958-0F74634B97A1}" type="datetime1">
              <a:rPr lang="de-CH" noProof="0" smtClean="0"/>
              <a:t>25.03.2026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1412874"/>
            <a:ext cx="10728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9438521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ild full page">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4A533879-9C0F-4F94-919F-30B833E8871A}" type="datetime1">
              <a:rPr lang="de-CH" noProof="0" smtClean="0"/>
              <a:t>25.03.2026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260350"/>
            <a:ext cx="10728000" cy="6012524"/>
          </a:xfrm>
        </p:spPr>
        <p:txBody>
          <a:bodyPr tIns="21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8420483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halt zwei Spalt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6204163" y="1412875"/>
            <a:ext cx="5256000" cy="48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68EF82BE-DF56-4719-B180-C3B0D509F71F}" type="datetime1">
              <a:rPr lang="de-CH" noProof="0" smtClean="0"/>
              <a:t>25.03.2026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040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3996394784"/>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halt 2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5121800"/>
            <a:ext cx="5255999"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E1B9425-7348-43E2-B0E9-6A2A48F5FA8A}" type="datetime1">
              <a:rPr lang="de-CH" noProof="0" smtClean="0"/>
              <a:t>25.03.2026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9" name="Bildplatzhalter 10">
            <a:extLst>
              <a:ext uri="{FF2B5EF4-FFF2-40B4-BE49-F238E27FC236}">
                <a16:creationId xmlns:a16="http://schemas.microsoft.com/office/drawing/2014/main" id="{1AAB6914-2518-430D-BF4C-14EA51B61410}"/>
              </a:ext>
            </a:extLst>
          </p:cNvPr>
          <p:cNvSpPr>
            <a:spLocks noGrp="1"/>
          </p:cNvSpPr>
          <p:nvPr>
            <p:ph type="pic" sz="quarter" idx="14"/>
          </p:nvPr>
        </p:nvSpPr>
        <p:spPr>
          <a:xfrm>
            <a:off x="6204162"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12" name="Inhaltsplatzhalter 2">
            <a:extLst>
              <a:ext uri="{FF2B5EF4-FFF2-40B4-BE49-F238E27FC236}">
                <a16:creationId xmlns:a16="http://schemas.microsoft.com/office/drawing/2014/main" id="{5092EEFB-079B-4C38-A665-E52B9837601B}"/>
              </a:ext>
            </a:extLst>
          </p:cNvPr>
          <p:cNvSpPr>
            <a:spLocks noGrp="1"/>
          </p:cNvSpPr>
          <p:nvPr>
            <p:ph idx="15"/>
          </p:nvPr>
        </p:nvSpPr>
        <p:spPr>
          <a:xfrm>
            <a:off x="6204162" y="5121800"/>
            <a:ext cx="5256001"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Tree>
    <p:extLst>
      <p:ext uri="{BB962C8B-B14F-4D97-AF65-F5344CB8AC3E}">
        <p14:creationId xmlns:p14="http://schemas.microsoft.com/office/powerpoint/2010/main" val="1085750778"/>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halt 3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4166439"/>
            <a:ext cx="10728327" cy="2124401"/>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0F7782B2-018B-4FD3-AD95-2F64EDE0E9D6}" type="datetime1">
              <a:rPr lang="de-CH" noProof="0" smtClean="0"/>
              <a:t>25.03.2026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3" name="Bildplatzhalter 10">
            <a:extLst>
              <a:ext uri="{FF2B5EF4-FFF2-40B4-BE49-F238E27FC236}">
                <a16:creationId xmlns:a16="http://schemas.microsoft.com/office/drawing/2014/main" id="{36793346-BF6B-42A8-ADE0-3AA3DC3B239A}"/>
              </a:ext>
            </a:extLst>
          </p:cNvPr>
          <p:cNvSpPr>
            <a:spLocks noGrp="1"/>
          </p:cNvSpPr>
          <p:nvPr>
            <p:ph type="pic" sz="quarter" idx="16"/>
          </p:nvPr>
        </p:nvSpPr>
        <p:spPr>
          <a:xfrm>
            <a:off x="8040162" y="1414800"/>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4" name="Bildplatzhalter 10">
            <a:extLst>
              <a:ext uri="{FF2B5EF4-FFF2-40B4-BE49-F238E27FC236}">
                <a16:creationId xmlns:a16="http://schemas.microsoft.com/office/drawing/2014/main" id="{FE637F68-618E-43EB-B240-4BFA26852FC5}"/>
              </a:ext>
            </a:extLst>
          </p:cNvPr>
          <p:cNvSpPr>
            <a:spLocks noGrp="1"/>
          </p:cNvSpPr>
          <p:nvPr>
            <p:ph type="pic" sz="quarter" idx="17"/>
          </p:nvPr>
        </p:nvSpPr>
        <p:spPr>
          <a:xfrm>
            <a:off x="4385999" y="1414800"/>
            <a:ext cx="3420000" cy="2484000"/>
          </a:xfrm>
        </p:spPr>
        <p:txBody>
          <a:bodyPr tIns="3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252988954"/>
      </p:ext>
    </p:extLst>
  </p:cSld>
  <p:clrMapOvr>
    <a:masterClrMapping/>
  </p:clrMapOvr>
  <p:extLst>
    <p:ext uri="{DCECCB84-F9BA-43D5-87BE-67443E8EF086}">
      <p15:sldGuideLst xmlns:p15="http://schemas.microsoft.com/office/powerpoint/2012/main">
        <p15:guide id="1" orient="horz" pos="39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alt Tabell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
          </a:xfrm>
        </p:spPr>
        <p:txBody>
          <a:bodyPr/>
          <a:lstStyle>
            <a:lvl1pPr marL="0" indent="0">
              <a:buNone/>
              <a:defRPr b="1"/>
            </a:lvl1pPr>
            <a:lvl2pPr marL="266700" indent="0">
              <a:buNone/>
              <a:defRPr b="1"/>
            </a:lvl2pPr>
            <a:lvl3pPr marL="538163" indent="0">
              <a:buNone/>
              <a:defRPr b="1"/>
            </a:lvl3pPr>
            <a:lvl4pPr marL="804862" indent="0">
              <a:buNone/>
              <a:defRPr b="1"/>
            </a:lvl4pPr>
            <a:lvl5pPr marL="1076325" indent="0">
              <a:buNone/>
              <a:defRPr b="1"/>
            </a:lvl5pPr>
          </a:lstStyle>
          <a:p>
            <a:pPr lvl="0"/>
            <a:r>
              <a:rPr lang="de-DE" noProof="0"/>
              <a:t>Mastertextformat bearbeiten</a:t>
            </a:r>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D0A0FED0-443D-411A-B8E4-0668A8890EE3}" type="datetime1">
              <a:rPr lang="de-CH" noProof="0" smtClean="0"/>
              <a:t>25.03.2026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31837" y="6507088"/>
            <a:ext cx="984462" cy="162000"/>
          </a:xfrm>
          <a:prstGeom prst="rect">
            <a:avLst/>
          </a:prstGeom>
        </p:spPr>
      </p:pic>
      <p:sp>
        <p:nvSpPr>
          <p:cNvPr id="9" name="Tabellenplatzhalter 8">
            <a:extLst>
              <a:ext uri="{FF2B5EF4-FFF2-40B4-BE49-F238E27FC236}">
                <a16:creationId xmlns:a16="http://schemas.microsoft.com/office/drawing/2014/main" id="{A1D947E6-CC00-458E-BDE1-B0877E30333C}"/>
              </a:ext>
            </a:extLst>
          </p:cNvPr>
          <p:cNvSpPr>
            <a:spLocks noGrp="1"/>
          </p:cNvSpPr>
          <p:nvPr>
            <p:ph type="tbl" sz="quarter" idx="13"/>
          </p:nvPr>
        </p:nvSpPr>
        <p:spPr>
          <a:xfrm>
            <a:off x="731838" y="2061398"/>
            <a:ext cx="10728325" cy="4212401"/>
          </a:xfrm>
        </p:spPr>
        <p:txBody>
          <a:bodyPr tIns="1260000"/>
          <a:lstStyle>
            <a:lvl1pPr marL="0" indent="0" algn="ctr">
              <a:spcBef>
                <a:spcPts val="0"/>
              </a:spcBef>
              <a:buNone/>
              <a:defRPr sz="1400"/>
            </a:lvl1pPr>
          </a:lstStyle>
          <a:p>
            <a:r>
              <a:rPr lang="de-DE" noProof="0"/>
              <a:t>Tabelle durch Klicken auf Symbol hinzufügen</a:t>
            </a:r>
            <a:endParaRPr lang="de-CH" noProof="0"/>
          </a:p>
        </p:txBody>
      </p:sp>
    </p:spTree>
    <p:extLst>
      <p:ext uri="{BB962C8B-B14F-4D97-AF65-F5344CB8AC3E}">
        <p14:creationId xmlns:p14="http://schemas.microsoft.com/office/powerpoint/2010/main" val="2928661315"/>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chlussfolie">
    <p:bg>
      <p:bgPr>
        <a:solidFill>
          <a:schemeClr val="bg1"/>
        </a:solidFill>
        <a:effectLst/>
      </p:bgPr>
    </p:bg>
    <p:spTree>
      <p:nvGrpSpPr>
        <p:cNvPr id="1" name=""/>
        <p:cNvGrpSpPr/>
        <p:nvPr/>
      </p:nvGrpSpPr>
      <p:grpSpPr>
        <a:xfrm>
          <a:off x="0" y="0"/>
          <a:ext cx="0" cy="0"/>
          <a:chOff x="0" y="0"/>
          <a:chExt cx="0" cy="0"/>
        </a:xfrm>
      </p:grpSpPr>
      <p:sp>
        <p:nvSpPr>
          <p:cNvPr id="20" name="Inhaltsplatzhalter 2">
            <a:extLst>
              <a:ext uri="{FF2B5EF4-FFF2-40B4-BE49-F238E27FC236}">
                <a16:creationId xmlns:a16="http://schemas.microsoft.com/office/drawing/2014/main" id="{394B20FF-3667-40DF-92A1-C6CF3BBCA26D}"/>
              </a:ext>
            </a:extLst>
          </p:cNvPr>
          <p:cNvSpPr>
            <a:spLocks noGrp="1"/>
          </p:cNvSpPr>
          <p:nvPr>
            <p:ph idx="1"/>
          </p:nvPr>
        </p:nvSpPr>
        <p:spPr>
          <a:xfrm>
            <a:off x="731837" y="2135492"/>
            <a:ext cx="10728325" cy="3960000"/>
          </a:xfrm>
        </p:spPr>
        <p:txBody>
          <a:bodyPr/>
          <a:lstStyle>
            <a:lvl1pPr marL="0" indent="0">
              <a:spcBef>
                <a:spcPts val="0"/>
              </a:spcBef>
              <a:buNone/>
              <a:defRPr>
                <a:solidFill>
                  <a:schemeClr val="tx1"/>
                </a:solidFill>
              </a:defRPr>
            </a:lvl1pPr>
            <a:lvl2pPr marL="266700" indent="0">
              <a:buNone/>
              <a:defRPr>
                <a:solidFill>
                  <a:schemeClr val="bg1"/>
                </a:solidFill>
              </a:defRPr>
            </a:lvl2pPr>
            <a:lvl3pPr marL="540000" indent="0">
              <a:buNone/>
              <a:defRPr>
                <a:solidFill>
                  <a:schemeClr val="bg1"/>
                </a:solidFill>
              </a:defRPr>
            </a:lvl3pPr>
            <a:lvl4pPr marL="808537" indent="0">
              <a:buNone/>
              <a:defRPr>
                <a:solidFill>
                  <a:schemeClr val="bg1"/>
                </a:solidFill>
              </a:defRPr>
            </a:lvl4pPr>
            <a:lvl5pPr marL="1080000" indent="0">
              <a:buNone/>
              <a:defRPr>
                <a:solidFill>
                  <a:schemeClr val="bg1"/>
                </a:solidFill>
              </a:defRPr>
            </a:lvl5pPr>
          </a:lstStyle>
          <a:p>
            <a:pPr lvl="0"/>
            <a:r>
              <a:rPr lang="de-DE" noProof="0"/>
              <a:t>Mastertextformat bearbeiten</a:t>
            </a:r>
          </a:p>
        </p:txBody>
      </p:sp>
      <p:sp>
        <p:nvSpPr>
          <p:cNvPr id="21" name="Bildplatzhalter 8">
            <a:extLst>
              <a:ext uri="{FF2B5EF4-FFF2-40B4-BE49-F238E27FC236}">
                <a16:creationId xmlns:a16="http://schemas.microsoft.com/office/drawing/2014/main" id="{794484F1-3B7F-46CE-AD0B-2310A557A990}"/>
              </a:ext>
            </a:extLst>
          </p:cNvPr>
          <p:cNvSpPr>
            <a:spLocks noGrp="1"/>
          </p:cNvSpPr>
          <p:nvPr>
            <p:ph type="pic" sz="quarter" idx="12"/>
          </p:nvPr>
        </p:nvSpPr>
        <p:spPr>
          <a:xfrm>
            <a:off x="10200163" y="6489088"/>
            <a:ext cx="1260000" cy="180000"/>
          </a:xfrm>
        </p:spPr>
        <p:txBody>
          <a:bodyPr/>
          <a:lstStyle>
            <a:lvl1pPr marL="0" indent="0" algn="l">
              <a:buNone/>
              <a:defRPr sz="700">
                <a:solidFill>
                  <a:schemeClr val="tx1"/>
                </a:solidFill>
              </a:defRPr>
            </a:lvl1pPr>
          </a:lstStyle>
          <a:p>
            <a:r>
              <a:rPr lang="de-DE" noProof="0"/>
              <a:t>Bild durch Klicken auf Symbol hinzufügen</a:t>
            </a:r>
            <a:endParaRPr lang="de-CH" noProof="0"/>
          </a:p>
        </p:txBody>
      </p:sp>
      <p:pic>
        <p:nvPicPr>
          <p:cNvPr id="22" name="Grafik 21">
            <a:extLst>
              <a:ext uri="{FF2B5EF4-FFF2-40B4-BE49-F238E27FC236}">
                <a16:creationId xmlns:a16="http://schemas.microsoft.com/office/drawing/2014/main" id="{F900572E-A73E-42BE-96FA-38ADC4E79FD6}"/>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31838" y="360538"/>
            <a:ext cx="1765565" cy="288000"/>
          </a:xfrm>
          <a:prstGeom prst="rect">
            <a:avLst/>
          </a:prstGeom>
        </p:spPr>
      </p:pic>
    </p:spTree>
    <p:extLst>
      <p:ext uri="{BB962C8B-B14F-4D97-AF65-F5344CB8AC3E}">
        <p14:creationId xmlns:p14="http://schemas.microsoft.com/office/powerpoint/2010/main" val="1752670339"/>
      </p:ext>
    </p:extLst>
  </p:cSld>
  <p:clrMapOvr>
    <a:masterClrMapping/>
  </p:clrMapOvr>
  <p:extLst>
    <p:ext uri="{DCECCB84-F9BA-43D5-87BE-67443E8EF086}">
      <p15:sldGuideLst xmlns:p15="http://schemas.microsoft.com/office/powerpoint/2012/main">
        <p15:guide id="1" pos="6698">
          <p15:clr>
            <a:srgbClr val="FBAE40"/>
          </p15:clr>
        </p15:guide>
        <p15:guide id="3" orient="horz" pos="640">
          <p15:clr>
            <a:srgbClr val="FBAE40"/>
          </p15:clr>
        </p15:guide>
        <p15:guide id="4" orient="horz" pos="3952">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29CEF804-E58C-481B-A606-7D35AF68FF55}"/>
              </a:ext>
            </a:extLst>
          </p:cNvPr>
          <p:cNvSpPr>
            <a:spLocks noGrp="1"/>
          </p:cNvSpPr>
          <p:nvPr>
            <p:ph type="title"/>
          </p:nvPr>
        </p:nvSpPr>
        <p:spPr>
          <a:xfrm>
            <a:off x="731837" y="260351"/>
            <a:ext cx="10728325" cy="900000"/>
          </a:xfrm>
          <a:prstGeom prst="rect">
            <a:avLst/>
          </a:prstGeom>
        </p:spPr>
        <p:txBody>
          <a:bodyPr vert="horz" lIns="0" tIns="0" rIns="0" bIns="0" rtlCol="0" anchor="t" anchorCtr="0">
            <a:noAutofit/>
          </a:bodyPr>
          <a:lstStyle/>
          <a:p>
            <a:r>
              <a:rPr lang="de-CH" noProof="0"/>
              <a:t>Mastertitelformat bearbeiten</a:t>
            </a:r>
          </a:p>
        </p:txBody>
      </p:sp>
      <p:sp>
        <p:nvSpPr>
          <p:cNvPr id="3" name="Textplatzhalter 2">
            <a:extLst>
              <a:ext uri="{FF2B5EF4-FFF2-40B4-BE49-F238E27FC236}">
                <a16:creationId xmlns:a16="http://schemas.microsoft.com/office/drawing/2014/main" id="{65C6EC0D-393C-42F2-B6A7-B19C9B098F2D}"/>
              </a:ext>
            </a:extLst>
          </p:cNvPr>
          <p:cNvSpPr>
            <a:spLocks noGrp="1"/>
          </p:cNvSpPr>
          <p:nvPr>
            <p:ph type="body" idx="1"/>
          </p:nvPr>
        </p:nvSpPr>
        <p:spPr>
          <a:xfrm>
            <a:off x="731837" y="1412875"/>
            <a:ext cx="10728325" cy="4680000"/>
          </a:xfrm>
          <a:prstGeom prst="rect">
            <a:avLst/>
          </a:prstGeom>
        </p:spPr>
        <p:txBody>
          <a:bodyPr vert="horz" lIns="0" tIns="0" rIns="0" bIns="0" rtlCol="0">
            <a:noAutofit/>
          </a:bodyPr>
          <a:lstStyle/>
          <a:p>
            <a:pPr lvl="0"/>
            <a:r>
              <a:rPr lang="de-CH" noProof="0"/>
              <a:t>Mastertextformat bearbeiten</a:t>
            </a:r>
          </a:p>
          <a:p>
            <a:pPr lvl="1"/>
            <a:r>
              <a:rPr lang="de-CH" noProof="0"/>
              <a:t>Zweite Ebene</a:t>
            </a:r>
          </a:p>
          <a:p>
            <a:pPr lvl="2"/>
            <a:r>
              <a:rPr lang="de-CH" noProof="0"/>
              <a:t>Dritte Ebene</a:t>
            </a:r>
          </a:p>
          <a:p>
            <a:pPr lvl="3"/>
            <a:r>
              <a:rPr lang="de-CH" noProof="0"/>
              <a:t>Vierte Ebene</a:t>
            </a:r>
          </a:p>
          <a:p>
            <a:pPr lvl="4"/>
            <a:r>
              <a:rPr lang="de-CH" noProof="0"/>
              <a:t>Fünfte Ebene</a:t>
            </a:r>
          </a:p>
        </p:txBody>
      </p:sp>
      <p:sp>
        <p:nvSpPr>
          <p:cNvPr id="4" name="Datumsplatzhalter 3">
            <a:extLst>
              <a:ext uri="{FF2B5EF4-FFF2-40B4-BE49-F238E27FC236}">
                <a16:creationId xmlns:a16="http://schemas.microsoft.com/office/drawing/2014/main" id="{37C96E51-36C9-4BEE-A761-33378A0DF03D}"/>
              </a:ext>
            </a:extLst>
          </p:cNvPr>
          <p:cNvSpPr>
            <a:spLocks noGrp="1"/>
          </p:cNvSpPr>
          <p:nvPr>
            <p:ph type="dt" sz="half" idx="2"/>
          </p:nvPr>
        </p:nvSpPr>
        <p:spPr>
          <a:xfrm>
            <a:off x="10473692" y="6522444"/>
            <a:ext cx="612000" cy="216000"/>
          </a:xfrm>
          <a:prstGeom prst="rect">
            <a:avLst/>
          </a:prstGeom>
        </p:spPr>
        <p:txBody>
          <a:bodyPr vert="horz" lIns="0" tIns="0" rIns="0" bIns="0" rtlCol="0" anchor="ctr"/>
          <a:lstStyle>
            <a:lvl1pPr algn="l">
              <a:defRPr sz="800">
                <a:solidFill>
                  <a:schemeClr val="tx1"/>
                </a:solidFill>
              </a:defRPr>
            </a:lvl1pPr>
          </a:lstStyle>
          <a:p>
            <a:fld id="{4A358CF3-A22A-46C1-A4E5-5810212466EF}" type="datetime1">
              <a:rPr lang="de-CH" noProof="0" smtClean="0"/>
              <a:t>25.03.2026</a:t>
            </a:fld>
            <a:endParaRPr lang="de-CH" noProof="0"/>
          </a:p>
        </p:txBody>
      </p:sp>
      <p:sp>
        <p:nvSpPr>
          <p:cNvPr id="5" name="Fußzeilenplatzhalter 4">
            <a:extLst>
              <a:ext uri="{FF2B5EF4-FFF2-40B4-BE49-F238E27FC236}">
                <a16:creationId xmlns:a16="http://schemas.microsoft.com/office/drawing/2014/main" id="{411EC403-6E63-4450-AFDD-66CA49D6CCBE}"/>
              </a:ext>
            </a:extLst>
          </p:cNvPr>
          <p:cNvSpPr>
            <a:spLocks noGrp="1"/>
          </p:cNvSpPr>
          <p:nvPr>
            <p:ph type="ftr" sz="quarter" idx="3"/>
          </p:nvPr>
        </p:nvSpPr>
        <p:spPr>
          <a:xfrm>
            <a:off x="2171700" y="6522444"/>
            <a:ext cx="5400000" cy="216000"/>
          </a:xfrm>
          <a:prstGeom prst="rect">
            <a:avLst/>
          </a:prstGeom>
        </p:spPr>
        <p:txBody>
          <a:bodyPr vert="horz" lIns="0" tIns="0" rIns="0" bIns="0" rtlCol="0" anchor="ctr"/>
          <a:lstStyle>
            <a:lvl1pPr algn="l">
              <a:defRPr sz="800">
                <a:solidFill>
                  <a:schemeClr val="tx1"/>
                </a:solidFill>
              </a:defRPr>
            </a:lvl1pPr>
          </a:lstStyle>
          <a:p>
            <a:endParaRPr lang="de-CH" noProof="0"/>
          </a:p>
        </p:txBody>
      </p:sp>
      <p:sp>
        <p:nvSpPr>
          <p:cNvPr id="6" name="Foliennummernplatzhalter 5">
            <a:extLst>
              <a:ext uri="{FF2B5EF4-FFF2-40B4-BE49-F238E27FC236}">
                <a16:creationId xmlns:a16="http://schemas.microsoft.com/office/drawing/2014/main" id="{7FDFCC57-7DDC-4B2C-A6BE-862DAF9C9F11}"/>
              </a:ext>
            </a:extLst>
          </p:cNvPr>
          <p:cNvSpPr>
            <a:spLocks noGrp="1"/>
          </p:cNvSpPr>
          <p:nvPr>
            <p:ph type="sldNum" sz="quarter" idx="4"/>
          </p:nvPr>
        </p:nvSpPr>
        <p:spPr>
          <a:xfrm>
            <a:off x="11137585" y="6522444"/>
            <a:ext cx="322577" cy="216000"/>
          </a:xfrm>
          <a:prstGeom prst="rect">
            <a:avLst/>
          </a:prstGeom>
        </p:spPr>
        <p:txBody>
          <a:bodyPr vert="horz" lIns="0" tIns="0" rIns="0" bIns="0" rtlCol="0" anchor="ctr"/>
          <a:lstStyle>
            <a:lvl1pPr algn="r">
              <a:defRPr sz="800">
                <a:solidFill>
                  <a:schemeClr val="tx1"/>
                </a:solidFill>
              </a:defRPr>
            </a:lvl1pPr>
          </a:lstStyle>
          <a:p>
            <a:fld id="{5ACA52AF-F19D-405C-AD5F-7D94B96A5CC3}" type="slidenum">
              <a:rPr lang="de-CH" noProof="0" smtClean="0"/>
              <a:pPr/>
              <a:t>‹#›</a:t>
            </a:fld>
            <a:endParaRPr lang="de-CH" noProof="0"/>
          </a:p>
        </p:txBody>
      </p:sp>
    </p:spTree>
    <p:extLst>
      <p:ext uri="{BB962C8B-B14F-4D97-AF65-F5344CB8AC3E}">
        <p14:creationId xmlns:p14="http://schemas.microsoft.com/office/powerpoint/2010/main" val="409606273"/>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0"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p:txStyles>
    <p:titleStyle>
      <a:lvl1pPr algn="l" defTabSz="914400" rtl="0" eaLnBrk="1" latinLnBrk="0" hangingPunct="1">
        <a:lnSpc>
          <a:spcPct val="90000"/>
        </a:lnSpc>
        <a:spcBef>
          <a:spcPct val="0"/>
        </a:spcBef>
        <a:buNone/>
        <a:defRPr sz="2600" kern="1200">
          <a:solidFill>
            <a:schemeClr val="tx1"/>
          </a:solidFill>
          <a:latin typeface="+mj-lt"/>
          <a:ea typeface="+mj-ea"/>
          <a:cs typeface="+mj-cs"/>
        </a:defRPr>
      </a:lvl1pPr>
    </p:titleStyle>
    <p:body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461" userDrawn="1">
          <p15:clr>
            <a:srgbClr val="F26B43"/>
          </p15:clr>
        </p15:guide>
        <p15:guide id="3" pos="7219" userDrawn="1">
          <p15:clr>
            <a:srgbClr val="F26B43"/>
          </p15:clr>
        </p15:guide>
        <p15:guide id="4" orient="horz" pos="164" userDrawn="1">
          <p15:clr>
            <a:srgbClr val="F26B43"/>
          </p15:clr>
        </p15:guide>
        <p15:guide id="5" orient="horz" pos="890" userDrawn="1">
          <p15:clr>
            <a:srgbClr val="F26B43"/>
          </p15:clr>
        </p15:guide>
        <p15:guide id="6" orient="horz" pos="4201" userDrawn="1">
          <p15:clr>
            <a:srgbClr val="F26B43"/>
          </p15:clr>
        </p15:guide>
        <p15:guide id="7"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Bildplatzhalter 18" descr="Ein Bild, das Gebäude, Stadt, Schloss, Turm enthält.&#10;&#10;Automatisch generierte Beschreibung">
            <a:extLst>
              <a:ext uri="{FF2B5EF4-FFF2-40B4-BE49-F238E27FC236}">
                <a16:creationId xmlns:a16="http://schemas.microsoft.com/office/drawing/2014/main" id="{882FF669-564A-4497-A386-BA8B28F256B8}"/>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461" b="461"/>
          <a:stretch>
            <a:fillRect/>
          </a:stretch>
        </p:blipFill>
        <p:spPr/>
      </p:pic>
      <p:sp>
        <p:nvSpPr>
          <p:cNvPr id="3" name="Titel 2">
            <a:extLst>
              <a:ext uri="{FF2B5EF4-FFF2-40B4-BE49-F238E27FC236}">
                <a16:creationId xmlns:a16="http://schemas.microsoft.com/office/drawing/2014/main" id="{AC1FB292-90C1-439C-8480-EB4116CF2374}"/>
              </a:ext>
            </a:extLst>
          </p:cNvPr>
          <p:cNvSpPr>
            <a:spLocks noGrp="1"/>
          </p:cNvSpPr>
          <p:nvPr>
            <p:ph type="ctrTitle"/>
          </p:nvPr>
        </p:nvSpPr>
        <p:spPr/>
        <p:txBody>
          <a:bodyPr/>
          <a:lstStyle/>
          <a:p>
            <a:r>
              <a:rPr lang="en-US" sz="2400" noProof="0" dirty="0">
                <a:ea typeface="+mj-lt"/>
                <a:cs typeface="+mj-lt"/>
              </a:rPr>
              <a:t>Assignment 2:</a:t>
            </a:r>
            <a:br>
              <a:rPr lang="en-US" sz="2400" noProof="0" dirty="0">
                <a:ea typeface="+mj-lt"/>
                <a:cs typeface="+mj-lt"/>
              </a:rPr>
            </a:br>
            <a:r>
              <a:rPr lang="en-US" sz="2400" noProof="0" dirty="0">
                <a:ea typeface="+mj-lt"/>
                <a:cs typeface="+mj-lt"/>
              </a:rPr>
              <a:t>Baseline Challenge</a:t>
            </a:r>
          </a:p>
        </p:txBody>
      </p:sp>
      <p:sp>
        <p:nvSpPr>
          <p:cNvPr id="2" name="Bildplatzhalter 1">
            <a:extLst>
              <a:ext uri="{FF2B5EF4-FFF2-40B4-BE49-F238E27FC236}">
                <a16:creationId xmlns:a16="http://schemas.microsoft.com/office/drawing/2014/main" id="{11ADABBC-2742-48DB-BA2B-E411F07CEE7C}"/>
              </a:ext>
            </a:extLst>
          </p:cNvPr>
          <p:cNvSpPr>
            <a:spLocks noGrp="1"/>
          </p:cNvSpPr>
          <p:nvPr>
            <p:ph type="pic" sz="quarter" idx="12"/>
          </p:nvPr>
        </p:nvSpPr>
        <p:spPr/>
        <p:txBody>
          <a:bodyPr/>
          <a:lstStyle/>
          <a:p>
            <a:endParaRPr lang="en-US" noProof="0"/>
          </a:p>
        </p:txBody>
      </p:sp>
      <p:sp>
        <p:nvSpPr>
          <p:cNvPr id="6" name="Textplatzhalter 5">
            <a:extLst>
              <a:ext uri="{FF2B5EF4-FFF2-40B4-BE49-F238E27FC236}">
                <a16:creationId xmlns:a16="http://schemas.microsoft.com/office/drawing/2014/main" id="{4171C1F6-869F-40B1-8975-92FF2042F4CD}"/>
              </a:ext>
            </a:extLst>
          </p:cNvPr>
          <p:cNvSpPr>
            <a:spLocks noGrp="1"/>
          </p:cNvSpPr>
          <p:nvPr>
            <p:ph type="body" sz="quarter" idx="13"/>
          </p:nvPr>
        </p:nvSpPr>
        <p:spPr/>
        <p:txBody>
          <a:bodyPr vert="horz" lIns="0" tIns="0" rIns="0" bIns="0" rtlCol="0" anchor="t">
            <a:noAutofit/>
          </a:bodyPr>
          <a:lstStyle/>
          <a:p>
            <a:r>
              <a:rPr lang="en-US" sz="1600" b="1" noProof="0" dirty="0">
                <a:cs typeface="+mn-lt"/>
              </a:rPr>
              <a:t>Constantin </a:t>
            </a:r>
            <a:r>
              <a:rPr lang="en-US" sz="1600" b="1" noProof="0">
                <a:cs typeface="+mn-lt"/>
              </a:rPr>
              <a:t>Cimpoes, Julius </a:t>
            </a:r>
            <a:r>
              <a:rPr lang="en-US" sz="1600" b="1" noProof="0" dirty="0">
                <a:cs typeface="+mn-lt"/>
              </a:rPr>
              <a:t>Voss</a:t>
            </a:r>
          </a:p>
        </p:txBody>
      </p:sp>
      <p:sp>
        <p:nvSpPr>
          <p:cNvPr id="9" name="Textplatzhalter 8">
            <a:extLst>
              <a:ext uri="{FF2B5EF4-FFF2-40B4-BE49-F238E27FC236}">
                <a16:creationId xmlns:a16="http://schemas.microsoft.com/office/drawing/2014/main" id="{C6B18E6F-BDD9-4B0B-9B9E-C25187E0E1F2}"/>
              </a:ext>
            </a:extLst>
          </p:cNvPr>
          <p:cNvSpPr>
            <a:spLocks noGrp="1"/>
          </p:cNvSpPr>
          <p:nvPr>
            <p:ph type="body" sz="quarter" idx="16"/>
          </p:nvPr>
        </p:nvSpPr>
        <p:spPr/>
        <p:txBody>
          <a:bodyPr/>
          <a:lstStyle/>
          <a:p>
            <a:endParaRPr lang="en-US" noProof="0"/>
          </a:p>
        </p:txBody>
      </p:sp>
    </p:spTree>
    <p:extLst>
      <p:ext uri="{BB962C8B-B14F-4D97-AF65-F5344CB8AC3E}">
        <p14:creationId xmlns:p14="http://schemas.microsoft.com/office/powerpoint/2010/main" val="3536168811"/>
      </p:ext>
    </p:extLst>
  </p:cSld>
  <p:clrMapOvr>
    <a:masterClrMapping/>
  </p:clrMapOvr>
  <mc:AlternateContent xmlns:mc="http://schemas.openxmlformats.org/markup-compatibility/2006" xmlns:p14="http://schemas.microsoft.com/office/powerpoint/2010/main">
    <mc:Choice Requires="p14">
      <p:transition spd="slow" p14:dur="2000" advTm="14102"/>
    </mc:Choice>
    <mc:Fallback xmlns="">
      <p:transition spd="slow" advTm="14102"/>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6D59B-742D-025E-BD09-3306E0296834}"/>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8FC37F3D-0401-4858-87A7-08303556E0E3}"/>
              </a:ext>
            </a:extLst>
          </p:cNvPr>
          <p:cNvSpPr>
            <a:spLocks noGrp="1"/>
          </p:cNvSpPr>
          <p:nvPr>
            <p:ph type="dt" sz="half" idx="10"/>
          </p:nvPr>
        </p:nvSpPr>
        <p:spPr/>
        <p:txBody>
          <a:bodyPr/>
          <a:lstStyle/>
          <a:p>
            <a:fld id="{68EF82BE-DF56-4719-B180-C3B0D509F71F}" type="datetime1">
              <a:rPr lang="de-CH" noProof="0" smtClean="0"/>
              <a:t>25.03.2026</a:t>
            </a:fld>
            <a:endParaRPr lang="de-CH" noProof="0" dirty="0"/>
          </a:p>
        </p:txBody>
      </p:sp>
      <p:sp>
        <p:nvSpPr>
          <p:cNvPr id="5" name="Fußzeilenplatzhalter 4">
            <a:extLst>
              <a:ext uri="{FF2B5EF4-FFF2-40B4-BE49-F238E27FC236}">
                <a16:creationId xmlns:a16="http://schemas.microsoft.com/office/drawing/2014/main" id="{F6668A99-D2EB-14F4-5468-6047A8B53C44}"/>
              </a:ext>
            </a:extLst>
          </p:cNvPr>
          <p:cNvSpPr>
            <a:spLocks noGrp="1"/>
          </p:cNvSpPr>
          <p:nvPr>
            <p:ph type="ftr" sz="quarter" idx="11"/>
          </p:nvPr>
        </p:nvSpPr>
        <p:spPr/>
        <p:txBody>
          <a:bodyPr/>
          <a:lstStyle/>
          <a:p>
            <a:endParaRPr lang="de-DE" dirty="0"/>
          </a:p>
          <a:p>
            <a:endParaRPr lang="de-CH" noProof="0" dirty="0"/>
          </a:p>
        </p:txBody>
      </p:sp>
      <p:sp>
        <p:nvSpPr>
          <p:cNvPr id="6" name="Foliennummernplatzhalter 5">
            <a:extLst>
              <a:ext uri="{FF2B5EF4-FFF2-40B4-BE49-F238E27FC236}">
                <a16:creationId xmlns:a16="http://schemas.microsoft.com/office/drawing/2014/main" id="{0D6F0994-E2A0-79F8-2D29-F6E9657C81AF}"/>
              </a:ext>
            </a:extLst>
          </p:cNvPr>
          <p:cNvSpPr>
            <a:spLocks noGrp="1"/>
          </p:cNvSpPr>
          <p:nvPr>
            <p:ph type="sldNum" sz="quarter" idx="12"/>
          </p:nvPr>
        </p:nvSpPr>
        <p:spPr/>
        <p:txBody>
          <a:bodyPr/>
          <a:lstStyle/>
          <a:p>
            <a:fld id="{5ACA52AF-F19D-405C-AD5F-7D94B96A5CC3}" type="slidenum">
              <a:rPr lang="de-CH" noProof="0" smtClean="0"/>
              <a:t>2</a:t>
            </a:fld>
            <a:endParaRPr lang="de-CH" noProof="0"/>
          </a:p>
        </p:txBody>
      </p:sp>
      <p:sp>
        <p:nvSpPr>
          <p:cNvPr id="3" name="Title 2">
            <a:extLst>
              <a:ext uri="{FF2B5EF4-FFF2-40B4-BE49-F238E27FC236}">
                <a16:creationId xmlns:a16="http://schemas.microsoft.com/office/drawing/2014/main" id="{16AA545B-3B28-6803-1E27-2A196AFAE896}"/>
              </a:ext>
            </a:extLst>
          </p:cNvPr>
          <p:cNvSpPr>
            <a:spLocks noGrp="1"/>
          </p:cNvSpPr>
          <p:nvPr>
            <p:ph type="title"/>
          </p:nvPr>
        </p:nvSpPr>
        <p:spPr>
          <a:xfrm>
            <a:off x="181230" y="119556"/>
            <a:ext cx="10728325" cy="900000"/>
          </a:xfrm>
        </p:spPr>
        <p:txBody>
          <a:bodyPr/>
          <a:lstStyle/>
          <a:p>
            <a:r>
              <a:rPr lang="en-US" dirty="0"/>
              <a:t>RFM Baseline for CLV Prediction</a:t>
            </a:r>
          </a:p>
        </p:txBody>
      </p:sp>
      <p:sp>
        <p:nvSpPr>
          <p:cNvPr id="45" name="Freeform: Shape 44">
            <a:extLst>
              <a:ext uri="{FF2B5EF4-FFF2-40B4-BE49-F238E27FC236}">
                <a16:creationId xmlns:a16="http://schemas.microsoft.com/office/drawing/2014/main" id="{135BA3F6-0426-FEB2-7BB8-D575916FB625}"/>
              </a:ext>
            </a:extLst>
          </p:cNvPr>
          <p:cNvSpPr/>
          <p:nvPr/>
        </p:nvSpPr>
        <p:spPr>
          <a:xfrm>
            <a:off x="7741645" y="1788401"/>
            <a:ext cx="3886200" cy="171450"/>
          </a:xfrm>
          <a:custGeom>
            <a:avLst/>
            <a:gdLst>
              <a:gd name="csX0" fmla="*/ 3857625 w 3886200"/>
              <a:gd name="csY0" fmla="*/ 0 h 171450"/>
              <a:gd name="csX1" fmla="*/ 3886200 w 3886200"/>
              <a:gd name="csY1" fmla="*/ 0 h 171450"/>
              <a:gd name="csX2" fmla="*/ 3886200 w 3886200"/>
              <a:gd name="csY2" fmla="*/ 171450 h 171450"/>
              <a:gd name="csX3" fmla="*/ 3857625 w 3886200"/>
              <a:gd name="csY3" fmla="*/ 171450 h 171450"/>
              <a:gd name="csX4" fmla="*/ 28575 w 3886200"/>
              <a:gd name="csY4" fmla="*/ 171450 h 171450"/>
              <a:gd name="csX5" fmla="*/ 0 w 3886200"/>
              <a:gd name="csY5" fmla="*/ 171450 h 171450"/>
              <a:gd name="csX6" fmla="*/ 0 w 3886200"/>
              <a:gd name="csY6" fmla="*/ 0 h 171450"/>
              <a:gd name="csX7" fmla="*/ 28575 w 3886200"/>
              <a:gd name="csY7" fmla="*/ 0 h 1714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86200" h="171450">
                <a:moveTo>
                  <a:pt x="3857625" y="0"/>
                </a:moveTo>
                <a:cubicBezTo>
                  <a:pt x="3873407" y="0"/>
                  <a:pt x="3886200" y="0"/>
                  <a:pt x="3886200" y="0"/>
                </a:cubicBezTo>
                <a:lnTo>
                  <a:pt x="3886200" y="171450"/>
                </a:lnTo>
                <a:cubicBezTo>
                  <a:pt x="3886200" y="171450"/>
                  <a:pt x="3873407" y="171450"/>
                  <a:pt x="3857625" y="171450"/>
                </a:cubicBezTo>
                <a:lnTo>
                  <a:pt x="28575" y="171450"/>
                </a:lnTo>
                <a:cubicBezTo>
                  <a:pt x="12793" y="171450"/>
                  <a:pt x="0" y="171450"/>
                  <a:pt x="0" y="171450"/>
                </a:cubicBezTo>
                <a:lnTo>
                  <a:pt x="0" y="0"/>
                </a:lnTo>
                <a:cubicBezTo>
                  <a:pt x="0" y="0"/>
                  <a:pt x="12793" y="0"/>
                  <a:pt x="28575" y="0"/>
                </a:cubicBezTo>
                <a:close/>
              </a:path>
            </a:pathLst>
          </a:custGeom>
          <a:solidFill>
            <a:schemeClr val="bg2"/>
          </a:solidFill>
          <a:ln w="9525" cap="flat">
            <a:noFill/>
            <a:prstDash val="solid"/>
            <a:miter/>
          </a:ln>
        </p:spPr>
        <p:txBody>
          <a:bodyPr/>
          <a:lstStyle/>
          <a:p>
            <a:endParaRPr lang="en-US"/>
          </a:p>
        </p:txBody>
      </p:sp>
      <p:grpSp>
        <p:nvGrpSpPr>
          <p:cNvPr id="57" name="Group 56">
            <a:extLst>
              <a:ext uri="{FF2B5EF4-FFF2-40B4-BE49-F238E27FC236}">
                <a16:creationId xmlns:a16="http://schemas.microsoft.com/office/drawing/2014/main" id="{378421C5-F679-3644-538B-90F9B5B6B24C}"/>
              </a:ext>
            </a:extLst>
          </p:cNvPr>
          <p:cNvGrpSpPr/>
          <p:nvPr/>
        </p:nvGrpSpPr>
        <p:grpSpPr>
          <a:xfrm>
            <a:off x="113136" y="587947"/>
            <a:ext cx="4453045" cy="862763"/>
            <a:chOff x="7745455" y="1754196"/>
            <a:chExt cx="3420143" cy="862763"/>
          </a:xfrm>
        </p:grpSpPr>
        <p:sp>
          <p:nvSpPr>
            <p:cNvPr id="46" name="TextBox 45">
              <a:extLst>
                <a:ext uri="{FF2B5EF4-FFF2-40B4-BE49-F238E27FC236}">
                  <a16:creationId xmlns:a16="http://schemas.microsoft.com/office/drawing/2014/main" id="{BF9584AC-FC0F-A15D-1464-6C151AF1793D}"/>
                </a:ext>
              </a:extLst>
            </p:cNvPr>
            <p:cNvSpPr txBox="1"/>
            <p:nvPr/>
          </p:nvSpPr>
          <p:spPr>
            <a:xfrm>
              <a:off x="7745455" y="1754196"/>
              <a:ext cx="636713" cy="246221"/>
            </a:xfrm>
            <a:prstGeom prst="rect">
              <a:avLst/>
            </a:prstGeom>
            <a:solidFill>
              <a:schemeClr val="bg2"/>
            </a:solidFill>
          </p:spPr>
          <p:txBody>
            <a:bodyPr wrap="none" rtlCol="0">
              <a:spAutoFit/>
            </a:bodyPr>
            <a:lstStyle/>
            <a:p>
              <a:pPr algn="l"/>
              <a:r>
                <a:rPr lang="en-US" sz="1000" b="1" spc="0" baseline="0" dirty="0">
                  <a:ln/>
                  <a:latin typeface="Segoe UI"/>
                  <a:cs typeface="Segoe UI"/>
                  <a:sym typeface="Segoe UI"/>
                  <a:rtl val="0"/>
                </a:rPr>
                <a:t>Feature</a:t>
              </a:r>
            </a:p>
          </p:txBody>
        </p:sp>
        <p:sp>
          <p:nvSpPr>
            <p:cNvPr id="47" name="TextBox 46">
              <a:extLst>
                <a:ext uri="{FF2B5EF4-FFF2-40B4-BE49-F238E27FC236}">
                  <a16:creationId xmlns:a16="http://schemas.microsoft.com/office/drawing/2014/main" id="{51154143-8CA9-4D81-73B6-A8230C5FB453}"/>
                </a:ext>
              </a:extLst>
            </p:cNvPr>
            <p:cNvSpPr txBox="1"/>
            <p:nvPr/>
          </p:nvSpPr>
          <p:spPr>
            <a:xfrm>
              <a:off x="8831305" y="1754196"/>
              <a:ext cx="875561" cy="246221"/>
            </a:xfrm>
            <a:prstGeom prst="rect">
              <a:avLst/>
            </a:prstGeom>
            <a:solidFill>
              <a:schemeClr val="bg2"/>
            </a:solidFill>
          </p:spPr>
          <p:txBody>
            <a:bodyPr wrap="none" rtlCol="0">
              <a:spAutoFit/>
            </a:bodyPr>
            <a:lstStyle/>
            <a:p>
              <a:pPr algn="l"/>
              <a:r>
                <a:rPr lang="en-US" sz="1000" b="1" spc="0" baseline="0" dirty="0">
                  <a:ln/>
                  <a:latin typeface="Segoe UI"/>
                  <a:cs typeface="Segoe UI"/>
                  <a:sym typeface="Segoe UI"/>
                  <a:rtl val="0"/>
                </a:rPr>
                <a:t>Description</a:t>
              </a:r>
            </a:p>
          </p:txBody>
        </p:sp>
        <p:sp>
          <p:nvSpPr>
            <p:cNvPr id="49" name="TextBox 48">
              <a:extLst>
                <a:ext uri="{FF2B5EF4-FFF2-40B4-BE49-F238E27FC236}">
                  <a16:creationId xmlns:a16="http://schemas.microsoft.com/office/drawing/2014/main" id="{ABDE8CB2-7605-C549-D244-BA69022AB87B}"/>
                </a:ext>
              </a:extLst>
            </p:cNvPr>
            <p:cNvSpPr txBox="1"/>
            <p:nvPr/>
          </p:nvSpPr>
          <p:spPr>
            <a:xfrm>
              <a:off x="7745455" y="1943943"/>
              <a:ext cx="699230" cy="253916"/>
            </a:xfrm>
            <a:prstGeom prst="rect">
              <a:avLst/>
            </a:prstGeom>
            <a:solidFill>
              <a:schemeClr val="bg2"/>
            </a:solidFill>
          </p:spPr>
          <p:txBody>
            <a:bodyPr wrap="none" rtlCol="0">
              <a:spAutoFit/>
            </a:bodyPr>
            <a:lstStyle/>
            <a:p>
              <a:pPr algn="l"/>
              <a:r>
                <a:rPr lang="en-US" sz="1050" b="1" spc="0" baseline="0">
                  <a:ln/>
                  <a:latin typeface="Segoe UI"/>
                  <a:cs typeface="Segoe UI"/>
                  <a:sym typeface="Segoe UI"/>
                  <a:rtl val="0"/>
                </a:rPr>
                <a:t>Recency</a:t>
              </a:r>
            </a:p>
          </p:txBody>
        </p:sp>
        <p:sp>
          <p:nvSpPr>
            <p:cNvPr id="50" name="TextBox 49">
              <a:extLst>
                <a:ext uri="{FF2B5EF4-FFF2-40B4-BE49-F238E27FC236}">
                  <a16:creationId xmlns:a16="http://schemas.microsoft.com/office/drawing/2014/main" id="{BABD6587-E1DD-A2A9-6B1D-551E7D60EA5F}"/>
                </a:ext>
              </a:extLst>
            </p:cNvPr>
            <p:cNvSpPr txBox="1"/>
            <p:nvPr/>
          </p:nvSpPr>
          <p:spPr>
            <a:xfrm>
              <a:off x="8831305" y="1943943"/>
              <a:ext cx="2231701" cy="253916"/>
            </a:xfrm>
            <a:prstGeom prst="rect">
              <a:avLst/>
            </a:prstGeom>
            <a:solidFill>
              <a:schemeClr val="bg2"/>
            </a:solidFill>
          </p:spPr>
          <p:txBody>
            <a:bodyPr wrap="none" rtlCol="0">
              <a:spAutoFit/>
            </a:bodyPr>
            <a:lstStyle/>
            <a:p>
              <a:pPr algn="l"/>
              <a:r>
                <a:rPr lang="en-US" sz="1050" spc="0" baseline="0" dirty="0">
                  <a:ln/>
                  <a:latin typeface="Segoe UI"/>
                  <a:cs typeface="Segoe UI"/>
                  <a:sym typeface="Segoe UI"/>
                  <a:rtl val="0"/>
                </a:rPr>
                <a:t>Days since last rental before cutoff</a:t>
              </a:r>
            </a:p>
          </p:txBody>
        </p:sp>
        <p:sp>
          <p:nvSpPr>
            <p:cNvPr id="52" name="TextBox 51">
              <a:extLst>
                <a:ext uri="{FF2B5EF4-FFF2-40B4-BE49-F238E27FC236}">
                  <a16:creationId xmlns:a16="http://schemas.microsoft.com/office/drawing/2014/main" id="{C1FB57F0-A278-20CA-1DCE-BEFE42D2663A}"/>
                </a:ext>
              </a:extLst>
            </p:cNvPr>
            <p:cNvSpPr txBox="1"/>
            <p:nvPr/>
          </p:nvSpPr>
          <p:spPr>
            <a:xfrm>
              <a:off x="7745455" y="2153493"/>
              <a:ext cx="835485" cy="253916"/>
            </a:xfrm>
            <a:prstGeom prst="rect">
              <a:avLst/>
            </a:prstGeom>
            <a:solidFill>
              <a:schemeClr val="bg2"/>
            </a:solidFill>
          </p:spPr>
          <p:txBody>
            <a:bodyPr wrap="none" rtlCol="0">
              <a:spAutoFit/>
            </a:bodyPr>
            <a:lstStyle/>
            <a:p>
              <a:pPr algn="l"/>
              <a:r>
                <a:rPr lang="en-US" sz="1050" b="1" spc="0" baseline="0" dirty="0">
                  <a:ln/>
                  <a:latin typeface="Segoe UI"/>
                  <a:cs typeface="Segoe UI"/>
                  <a:sym typeface="Segoe UI"/>
                  <a:rtl val="0"/>
                </a:rPr>
                <a:t>Frequency</a:t>
              </a:r>
            </a:p>
          </p:txBody>
        </p:sp>
        <p:sp>
          <p:nvSpPr>
            <p:cNvPr id="53" name="TextBox 52">
              <a:extLst>
                <a:ext uri="{FF2B5EF4-FFF2-40B4-BE49-F238E27FC236}">
                  <a16:creationId xmlns:a16="http://schemas.microsoft.com/office/drawing/2014/main" id="{450814E2-2227-8A34-4056-3F7229DED91F}"/>
                </a:ext>
              </a:extLst>
            </p:cNvPr>
            <p:cNvSpPr txBox="1"/>
            <p:nvPr/>
          </p:nvSpPr>
          <p:spPr>
            <a:xfrm>
              <a:off x="8831305" y="2153493"/>
              <a:ext cx="2334293" cy="253916"/>
            </a:xfrm>
            <a:prstGeom prst="rect">
              <a:avLst/>
            </a:prstGeom>
            <a:solidFill>
              <a:schemeClr val="bg2"/>
            </a:solidFill>
          </p:spPr>
          <p:txBody>
            <a:bodyPr wrap="none" rtlCol="0">
              <a:spAutoFit/>
            </a:bodyPr>
            <a:lstStyle/>
            <a:p>
              <a:pPr algn="l"/>
              <a:r>
                <a:rPr lang="en-US" sz="1050" spc="0" baseline="0" dirty="0">
                  <a:ln/>
                  <a:latin typeface="Segoe UI"/>
                  <a:cs typeface="Segoe UI"/>
                  <a:sym typeface="Segoe UI"/>
                  <a:rtl val="0"/>
                </a:rPr>
                <a:t>Total rental count in feature window</a:t>
              </a:r>
            </a:p>
          </p:txBody>
        </p:sp>
        <p:sp>
          <p:nvSpPr>
            <p:cNvPr id="55" name="TextBox 54">
              <a:extLst>
                <a:ext uri="{FF2B5EF4-FFF2-40B4-BE49-F238E27FC236}">
                  <a16:creationId xmlns:a16="http://schemas.microsoft.com/office/drawing/2014/main" id="{2B973BDE-062B-4572-A928-E46072F388EF}"/>
                </a:ext>
              </a:extLst>
            </p:cNvPr>
            <p:cNvSpPr txBox="1"/>
            <p:nvPr/>
          </p:nvSpPr>
          <p:spPr>
            <a:xfrm>
              <a:off x="7745455" y="2363043"/>
              <a:ext cx="798617" cy="253916"/>
            </a:xfrm>
            <a:prstGeom prst="rect">
              <a:avLst/>
            </a:prstGeom>
            <a:solidFill>
              <a:schemeClr val="bg2"/>
            </a:solidFill>
          </p:spPr>
          <p:txBody>
            <a:bodyPr wrap="none" rtlCol="0">
              <a:spAutoFit/>
            </a:bodyPr>
            <a:lstStyle/>
            <a:p>
              <a:pPr algn="l"/>
              <a:r>
                <a:rPr lang="en-US" sz="1050" b="1" spc="0" baseline="0">
                  <a:ln/>
                  <a:latin typeface="Segoe UI"/>
                  <a:cs typeface="Segoe UI"/>
                  <a:sym typeface="Segoe UI"/>
                  <a:rtl val="0"/>
                </a:rPr>
                <a:t>Monetary</a:t>
              </a:r>
            </a:p>
          </p:txBody>
        </p:sp>
        <p:sp>
          <p:nvSpPr>
            <p:cNvPr id="56" name="TextBox 55">
              <a:extLst>
                <a:ext uri="{FF2B5EF4-FFF2-40B4-BE49-F238E27FC236}">
                  <a16:creationId xmlns:a16="http://schemas.microsoft.com/office/drawing/2014/main" id="{B79D079C-0D47-85B5-DBA9-0E35061D6826}"/>
                </a:ext>
              </a:extLst>
            </p:cNvPr>
            <p:cNvSpPr txBox="1"/>
            <p:nvPr/>
          </p:nvSpPr>
          <p:spPr>
            <a:xfrm>
              <a:off x="8831305" y="2363043"/>
              <a:ext cx="2032929" cy="253916"/>
            </a:xfrm>
            <a:prstGeom prst="rect">
              <a:avLst/>
            </a:prstGeom>
            <a:solidFill>
              <a:schemeClr val="bg2"/>
            </a:solidFill>
          </p:spPr>
          <p:txBody>
            <a:bodyPr wrap="none" rtlCol="0">
              <a:spAutoFit/>
            </a:bodyPr>
            <a:lstStyle/>
            <a:p>
              <a:pPr algn="l"/>
              <a:r>
                <a:rPr lang="en-US" sz="1050" spc="0" baseline="0" dirty="0">
                  <a:ln/>
                  <a:latin typeface="Segoe UI"/>
                  <a:cs typeface="Segoe UI"/>
                  <a:sym typeface="Segoe UI"/>
                  <a:rtl val="0"/>
                </a:rPr>
                <a:t>Total revenue generated (NOK)</a:t>
              </a:r>
            </a:p>
          </p:txBody>
        </p:sp>
      </p:grpSp>
      <p:sp>
        <p:nvSpPr>
          <p:cNvPr id="12" name="TextBox 11">
            <a:extLst>
              <a:ext uri="{FF2B5EF4-FFF2-40B4-BE49-F238E27FC236}">
                <a16:creationId xmlns:a16="http://schemas.microsoft.com/office/drawing/2014/main" id="{1E8C2E2E-BDEF-E0F0-0A29-F9FE32BFD08A}"/>
              </a:ext>
            </a:extLst>
          </p:cNvPr>
          <p:cNvSpPr txBox="1"/>
          <p:nvPr/>
        </p:nvSpPr>
        <p:spPr>
          <a:xfrm>
            <a:off x="9648151" y="4838530"/>
            <a:ext cx="2389816" cy="954107"/>
          </a:xfrm>
          <a:prstGeom prst="rect">
            <a:avLst/>
          </a:prstGeom>
          <a:noFill/>
          <a:ln>
            <a:solidFill>
              <a:schemeClr val="tx1"/>
            </a:solidFill>
          </a:ln>
        </p:spPr>
        <p:txBody>
          <a:bodyPr wrap="square">
            <a:spAutoFit/>
          </a:bodyPr>
          <a:lstStyle/>
          <a:p>
            <a:r>
              <a:rPr lang="en-US" sz="1400" b="1" i="0" dirty="0">
                <a:effectLst/>
                <a:latin typeface="Consolas" panose="020B0609020204030204" pitchFamily="49" charset="0"/>
              </a:rPr>
              <a:t>Feature     Importance</a:t>
            </a:r>
            <a:br>
              <a:rPr lang="en-US" sz="1400" b="0" i="0" dirty="0">
                <a:effectLst/>
                <a:latin typeface="Consolas" panose="020B0609020204030204" pitchFamily="49" charset="0"/>
              </a:rPr>
            </a:br>
            <a:r>
              <a:rPr lang="en-US" sz="1400" dirty="0">
                <a:latin typeface="Consolas" panose="020B0609020204030204" pitchFamily="49" charset="0"/>
              </a:rPr>
              <a:t>M</a:t>
            </a:r>
            <a:r>
              <a:rPr lang="en-US" sz="1400" b="0" i="0" dirty="0">
                <a:effectLst/>
                <a:latin typeface="Consolas" panose="020B0609020204030204" pitchFamily="49" charset="0"/>
              </a:rPr>
              <a:t>onetary 	      556 </a:t>
            </a:r>
            <a:br>
              <a:rPr lang="en-US" sz="1400" b="0" i="0" dirty="0">
                <a:effectLst/>
                <a:latin typeface="Consolas" panose="020B0609020204030204" pitchFamily="49" charset="0"/>
              </a:rPr>
            </a:br>
            <a:r>
              <a:rPr lang="en-US" sz="1400" dirty="0">
                <a:latin typeface="Consolas" panose="020B0609020204030204" pitchFamily="49" charset="0"/>
              </a:rPr>
              <a:t>R</a:t>
            </a:r>
            <a:r>
              <a:rPr lang="en-US" sz="1400" b="0" i="0" dirty="0">
                <a:effectLst/>
                <a:latin typeface="Consolas" panose="020B0609020204030204" pitchFamily="49" charset="0"/>
              </a:rPr>
              <a:t>ecency 	      451 </a:t>
            </a:r>
            <a:br>
              <a:rPr lang="en-US" sz="1400" b="0" i="0" dirty="0">
                <a:effectLst/>
                <a:latin typeface="Consolas" panose="020B0609020204030204" pitchFamily="49" charset="0"/>
              </a:rPr>
            </a:br>
            <a:r>
              <a:rPr lang="en-US" sz="1400" dirty="0">
                <a:latin typeface="Consolas" panose="020B0609020204030204" pitchFamily="49" charset="0"/>
              </a:rPr>
              <a:t>F</a:t>
            </a:r>
            <a:r>
              <a:rPr lang="en-US" sz="1400" b="0" i="0" dirty="0">
                <a:effectLst/>
                <a:latin typeface="Consolas" panose="020B0609020204030204" pitchFamily="49" charset="0"/>
              </a:rPr>
              <a:t>requency      </a:t>
            </a:r>
            <a:r>
              <a:rPr lang="en-US" sz="400" b="0" i="0" dirty="0">
                <a:effectLst/>
                <a:latin typeface="Consolas" panose="020B0609020204030204" pitchFamily="49" charset="0"/>
              </a:rPr>
              <a:t> </a:t>
            </a:r>
            <a:r>
              <a:rPr lang="en-US" sz="1400" b="0" i="0" dirty="0">
                <a:effectLst/>
                <a:latin typeface="Consolas" panose="020B0609020204030204" pitchFamily="49" charset="0"/>
              </a:rPr>
              <a:t>337</a:t>
            </a:r>
            <a:endParaRPr lang="en-US" sz="1400" dirty="0"/>
          </a:p>
        </p:txBody>
      </p:sp>
      <p:sp>
        <p:nvSpPr>
          <p:cNvPr id="7" name="TextBox 6">
            <a:extLst>
              <a:ext uri="{FF2B5EF4-FFF2-40B4-BE49-F238E27FC236}">
                <a16:creationId xmlns:a16="http://schemas.microsoft.com/office/drawing/2014/main" id="{46ED149C-09C2-3EEC-58DC-B9A96AE142B0}"/>
              </a:ext>
            </a:extLst>
          </p:cNvPr>
          <p:cNvSpPr txBox="1"/>
          <p:nvPr/>
        </p:nvSpPr>
        <p:spPr>
          <a:xfrm>
            <a:off x="11122753" y="5792637"/>
            <a:ext cx="559769" cy="276999"/>
          </a:xfrm>
          <a:prstGeom prst="rect">
            <a:avLst/>
          </a:prstGeom>
          <a:noFill/>
        </p:spPr>
        <p:txBody>
          <a:bodyPr wrap="none" rtlCol="0">
            <a:spAutoFit/>
          </a:bodyPr>
          <a:lstStyle/>
          <a:p>
            <a:r>
              <a:rPr lang="it-IT" sz="1200" i="1" dirty="0" err="1"/>
              <a:t>Splits</a:t>
            </a:r>
            <a:endParaRPr lang="en-US" i="1" dirty="0"/>
          </a:p>
        </p:txBody>
      </p:sp>
      <p:grpSp>
        <p:nvGrpSpPr>
          <p:cNvPr id="18" name="Group 17">
            <a:extLst>
              <a:ext uri="{FF2B5EF4-FFF2-40B4-BE49-F238E27FC236}">
                <a16:creationId xmlns:a16="http://schemas.microsoft.com/office/drawing/2014/main" id="{97303FA8-A842-8B78-6F17-C7979BFF9A9C}"/>
              </a:ext>
            </a:extLst>
          </p:cNvPr>
          <p:cNvGrpSpPr/>
          <p:nvPr/>
        </p:nvGrpSpPr>
        <p:grpSpPr>
          <a:xfrm>
            <a:off x="113136" y="1579371"/>
            <a:ext cx="4955457" cy="3683560"/>
            <a:chOff x="304800" y="2482571"/>
            <a:chExt cx="5307509" cy="3957118"/>
          </a:xfrm>
        </p:grpSpPr>
        <p:pic>
          <p:nvPicPr>
            <p:cNvPr id="16" name="Picture 15">
              <a:extLst>
                <a:ext uri="{FF2B5EF4-FFF2-40B4-BE49-F238E27FC236}">
                  <a16:creationId xmlns:a16="http://schemas.microsoft.com/office/drawing/2014/main" id="{2D987225-2772-B115-2B3D-6C7910618B4C}"/>
                </a:ext>
              </a:extLst>
            </p:cNvPr>
            <p:cNvPicPr>
              <a:picLocks noChangeAspect="1"/>
            </p:cNvPicPr>
            <p:nvPr/>
          </p:nvPicPr>
          <p:blipFill>
            <a:blip r:embed="rId3"/>
            <a:stretch>
              <a:fillRect/>
            </a:stretch>
          </p:blipFill>
          <p:spPr>
            <a:xfrm>
              <a:off x="304800" y="2482571"/>
              <a:ext cx="5307509" cy="3957118"/>
            </a:xfrm>
            <a:prstGeom prst="rect">
              <a:avLst/>
            </a:prstGeom>
          </p:spPr>
        </p:pic>
        <p:sp>
          <p:nvSpPr>
            <p:cNvPr id="10" name="TextBox 9">
              <a:extLst>
                <a:ext uri="{FF2B5EF4-FFF2-40B4-BE49-F238E27FC236}">
                  <a16:creationId xmlns:a16="http://schemas.microsoft.com/office/drawing/2014/main" id="{10C8069D-901F-4AE7-3D95-774CDEF163D4}"/>
                </a:ext>
              </a:extLst>
            </p:cNvPr>
            <p:cNvSpPr txBox="1"/>
            <p:nvPr/>
          </p:nvSpPr>
          <p:spPr>
            <a:xfrm>
              <a:off x="2806499" y="3742189"/>
              <a:ext cx="765447" cy="357262"/>
            </a:xfrm>
            <a:prstGeom prst="rect">
              <a:avLst/>
            </a:prstGeom>
            <a:noFill/>
          </p:spPr>
          <p:txBody>
            <a:bodyPr wrap="none" rtlCol="0">
              <a:spAutoFit/>
            </a:bodyPr>
            <a:lstStyle/>
            <a:p>
              <a:pPr algn="l"/>
              <a:r>
                <a:rPr lang="en-US" sz="1600" b="1" spc="0" baseline="0" dirty="0">
                  <a:ln/>
                  <a:solidFill>
                    <a:srgbClr val="1D9E75"/>
                  </a:solidFill>
                  <a:latin typeface="Segoe UI"/>
                  <a:cs typeface="Segoe UI"/>
                  <a:sym typeface="Segoe UI"/>
                  <a:rtl val="0"/>
                </a:rPr>
                <a:t>−31%</a:t>
              </a:r>
            </a:p>
          </p:txBody>
        </p:sp>
        <p:cxnSp>
          <p:nvCxnSpPr>
            <p:cNvPr id="13" name="Straight Arrow Connector 12">
              <a:extLst>
                <a:ext uri="{FF2B5EF4-FFF2-40B4-BE49-F238E27FC236}">
                  <a16:creationId xmlns:a16="http://schemas.microsoft.com/office/drawing/2014/main" id="{9D124440-49AE-1463-88FD-CFF585FECD2D}"/>
                </a:ext>
              </a:extLst>
            </p:cNvPr>
            <p:cNvCxnSpPr>
              <a:cxnSpLocks/>
            </p:cNvCxnSpPr>
            <p:nvPr/>
          </p:nvCxnSpPr>
          <p:spPr>
            <a:xfrm>
              <a:off x="2547278" y="3817040"/>
              <a:ext cx="1299786" cy="975144"/>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grpSp>
      <p:sp>
        <p:nvSpPr>
          <p:cNvPr id="19" name="TextBox 18">
            <a:extLst>
              <a:ext uri="{FF2B5EF4-FFF2-40B4-BE49-F238E27FC236}">
                <a16:creationId xmlns:a16="http://schemas.microsoft.com/office/drawing/2014/main" id="{D4210C51-698D-B115-CD92-15AA68E97334}"/>
              </a:ext>
            </a:extLst>
          </p:cNvPr>
          <p:cNvSpPr txBox="1"/>
          <p:nvPr/>
        </p:nvSpPr>
        <p:spPr>
          <a:xfrm>
            <a:off x="5176927" y="245551"/>
            <a:ext cx="7015073" cy="861774"/>
          </a:xfrm>
          <a:prstGeom prst="rect">
            <a:avLst/>
          </a:prstGeom>
          <a:noFill/>
        </p:spPr>
        <p:txBody>
          <a:bodyPr wrap="square" rtlCol="0">
            <a:spAutoFit/>
          </a:bodyPr>
          <a:lstStyle/>
          <a:p>
            <a:pPr marL="285750" indent="-285750">
              <a:buFont typeface="Arial" panose="020B0604020202020204" pitchFamily="34" charset="0"/>
              <a:buChar char="●"/>
            </a:pPr>
            <a:r>
              <a:rPr kumimoji="0" lang="en-US" sz="1800" b="1" i="0" u="none" strike="noStrike" kern="1200" cap="none" spc="0" normalizeH="0" baseline="0" noProof="0" dirty="0">
                <a:ln>
                  <a:noFill/>
                </a:ln>
                <a:solidFill>
                  <a:prstClr val="black"/>
                </a:solidFill>
                <a:effectLst/>
                <a:uLnTx/>
                <a:uFillTx/>
                <a:latin typeface="Arial"/>
                <a:ea typeface="+mn-ea"/>
                <a:cs typeface="+mn-cs"/>
              </a:rPr>
              <a:t>Ridge Regression</a:t>
            </a:r>
            <a:r>
              <a:rPr kumimoji="0" lang="en-US" sz="1800" b="0" i="0" u="none" strike="noStrike" kern="1200" cap="none" spc="0" normalizeH="0" baseline="0" noProof="0" dirty="0">
                <a:ln>
                  <a:noFill/>
                </a:ln>
                <a:solidFill>
                  <a:prstClr val="black"/>
                </a:solidFill>
                <a:effectLst/>
                <a:uLnTx/>
                <a:uFillTx/>
                <a:latin typeface="Arial"/>
                <a:ea typeface="+mn-ea"/>
                <a:cs typeface="+mn-cs"/>
              </a:rPr>
              <a:t>: </a:t>
            </a:r>
            <a:r>
              <a:rPr kumimoji="0" lang="en-US" sz="1600" b="0" i="0" u="none" strike="noStrike" kern="1200" cap="none" spc="0" normalizeH="0" baseline="0" noProof="0" dirty="0">
                <a:ln>
                  <a:noFill/>
                </a:ln>
                <a:solidFill>
                  <a:prstClr val="black"/>
                </a:solidFill>
                <a:effectLst/>
                <a:uLnTx/>
                <a:uFillTx/>
                <a:latin typeface="Arial"/>
                <a:ea typeface="+mn-ea"/>
                <a:cs typeface="+mn-cs"/>
              </a:rPr>
              <a:t>The simple linear ridge model cannot handle customers who spent a lot in 2021 but stopped completely in 2023. It hallucinates high revenue for dead accounts</a:t>
            </a:r>
            <a:endParaRPr lang="en-US" dirty="0"/>
          </a:p>
        </p:txBody>
      </p:sp>
      <p:sp>
        <p:nvSpPr>
          <p:cNvPr id="20" name="TextBox 19">
            <a:extLst>
              <a:ext uri="{FF2B5EF4-FFF2-40B4-BE49-F238E27FC236}">
                <a16:creationId xmlns:a16="http://schemas.microsoft.com/office/drawing/2014/main" id="{2290EA73-A785-385C-9D8A-9627A70360A8}"/>
              </a:ext>
            </a:extLst>
          </p:cNvPr>
          <p:cNvSpPr txBox="1"/>
          <p:nvPr/>
        </p:nvSpPr>
        <p:spPr>
          <a:xfrm>
            <a:off x="5176928" y="1223462"/>
            <a:ext cx="4318764" cy="2677656"/>
          </a:xfrm>
          <a:prstGeom prst="rect">
            <a:avLst/>
          </a:prstGeom>
          <a:noFill/>
          <a:ln>
            <a:solidFill>
              <a:schemeClr val="tx1"/>
            </a:solidFill>
          </a:ln>
        </p:spPr>
        <p:txBody>
          <a:bodyPr wrap="square">
            <a:spAutoFit/>
          </a:bodyPr>
          <a:lstStyle/>
          <a:p>
            <a:r>
              <a:rPr lang="en-US" sz="1200" b="1" i="0" dirty="0">
                <a:effectLst/>
                <a:latin typeface="Consolas" panose="020B0609020204030204" pitchFamily="49" charset="0"/>
              </a:rPr>
              <a:t>--- LATENT ATTRITION EXAMPLES --- </a:t>
            </a:r>
          </a:p>
          <a:p>
            <a:r>
              <a:rPr lang="en-US" sz="1200" b="0" i="0" u="sng" dirty="0">
                <a:effectLst/>
                <a:latin typeface="Consolas" panose="020B0609020204030204" pitchFamily="49" charset="0"/>
              </a:rPr>
              <a:t>Customer ID: 3</a:t>
            </a:r>
            <a:r>
              <a:rPr lang="en-US" sz="1200" b="0" i="0" dirty="0">
                <a:effectLst/>
                <a:latin typeface="Consolas" panose="020B0609020204030204" pitchFamily="49" charset="0"/>
              </a:rPr>
              <a:t> </a:t>
            </a:r>
          </a:p>
          <a:p>
            <a:r>
              <a:rPr lang="en-US" sz="1200" b="0" i="0" dirty="0">
                <a:effectLst/>
                <a:latin typeface="Consolas" panose="020B0609020204030204" pitchFamily="49" charset="0"/>
              </a:rPr>
              <a:t>  - Recency: 245 days </a:t>
            </a:r>
          </a:p>
          <a:p>
            <a:r>
              <a:rPr lang="en-US" sz="1200" b="0" i="0" dirty="0">
                <a:effectLst/>
                <a:latin typeface="Consolas" panose="020B0609020204030204" pitchFamily="49" charset="0"/>
              </a:rPr>
              <a:t>  - Frequency: 33 rentals </a:t>
            </a:r>
          </a:p>
          <a:p>
            <a:r>
              <a:rPr lang="en-US" sz="1200" dirty="0">
                <a:latin typeface="Consolas" panose="020B0609020204030204" pitchFamily="49" charset="0"/>
              </a:rPr>
              <a:t>  </a:t>
            </a:r>
            <a:r>
              <a:rPr lang="en-US" sz="1200" b="0" i="0" dirty="0">
                <a:effectLst/>
                <a:latin typeface="Consolas" panose="020B0609020204030204" pitchFamily="49" charset="0"/>
              </a:rPr>
              <a:t>- Monetary: 55,451.33 NOK </a:t>
            </a:r>
          </a:p>
          <a:p>
            <a:r>
              <a:rPr lang="en-US" sz="1200" dirty="0">
                <a:latin typeface="Consolas" panose="020B0609020204030204" pitchFamily="49" charset="0"/>
              </a:rPr>
              <a:t>  </a:t>
            </a:r>
            <a:r>
              <a:rPr lang="en-US" sz="1200" b="0" i="0" dirty="0">
                <a:effectLst/>
                <a:latin typeface="Consolas" panose="020B0609020204030204" pitchFamily="49" charset="0"/>
              </a:rPr>
              <a:t>=&gt; </a:t>
            </a:r>
            <a:r>
              <a:rPr lang="en-US" sz="1200" b="0" i="0" dirty="0">
                <a:solidFill>
                  <a:srgbClr val="1D9E75"/>
                </a:solidFill>
                <a:effectLst/>
                <a:latin typeface="Consolas" panose="020B0609020204030204" pitchFamily="49" charset="0"/>
              </a:rPr>
              <a:t>ACTUAL</a:t>
            </a:r>
            <a:r>
              <a:rPr lang="en-US" sz="1200" b="0" i="0" dirty="0">
                <a:effectLst/>
                <a:latin typeface="Consolas" panose="020B0609020204030204" pitchFamily="49" charset="0"/>
              </a:rPr>
              <a:t> Future Revenue (Target): 0.00 NOK</a:t>
            </a:r>
          </a:p>
          <a:p>
            <a:r>
              <a:rPr lang="en-US" sz="1200" dirty="0">
                <a:latin typeface="Consolas" panose="020B0609020204030204" pitchFamily="49" charset="0"/>
              </a:rPr>
              <a:t>  </a:t>
            </a:r>
            <a:r>
              <a:rPr lang="en-US" sz="1200" b="0" i="0" dirty="0">
                <a:effectLst/>
                <a:latin typeface="Consolas" panose="020B0609020204030204" pitchFamily="49" charset="0"/>
              </a:rPr>
              <a:t>=&gt; </a:t>
            </a:r>
            <a:r>
              <a:rPr lang="en-US" sz="1200" b="0" i="0" dirty="0">
                <a:solidFill>
                  <a:srgbClr val="C00000"/>
                </a:solidFill>
                <a:effectLst/>
                <a:latin typeface="Consolas" panose="020B0609020204030204" pitchFamily="49" charset="0"/>
              </a:rPr>
              <a:t>RIDGE</a:t>
            </a:r>
            <a:r>
              <a:rPr lang="en-US" sz="1200" b="0" i="0" dirty="0">
                <a:effectLst/>
                <a:latin typeface="Consolas" panose="020B0609020204030204" pitchFamily="49" charset="0"/>
              </a:rPr>
              <a:t> Predicted Revenue: 24,355.41 NOK </a:t>
            </a:r>
          </a:p>
          <a:p>
            <a:endParaRPr lang="en-US" sz="1200" dirty="0">
              <a:latin typeface="Consolas" panose="020B0609020204030204" pitchFamily="49" charset="0"/>
            </a:endParaRPr>
          </a:p>
          <a:p>
            <a:r>
              <a:rPr lang="en-US" sz="1200" b="0" i="0" u="sng" dirty="0">
                <a:effectLst/>
                <a:latin typeface="Consolas" panose="020B0609020204030204" pitchFamily="49" charset="0"/>
              </a:rPr>
              <a:t>Customer ID: 9</a:t>
            </a:r>
            <a:r>
              <a:rPr lang="en-US" sz="1200" b="0" i="0" dirty="0">
                <a:effectLst/>
                <a:latin typeface="Consolas" panose="020B0609020204030204" pitchFamily="49" charset="0"/>
              </a:rPr>
              <a:t> </a:t>
            </a:r>
          </a:p>
          <a:p>
            <a:r>
              <a:rPr lang="en-US" sz="1200" dirty="0">
                <a:latin typeface="Consolas" panose="020B0609020204030204" pitchFamily="49" charset="0"/>
              </a:rPr>
              <a:t>  </a:t>
            </a:r>
            <a:r>
              <a:rPr lang="en-US" sz="1200" b="0" i="0" dirty="0">
                <a:effectLst/>
                <a:latin typeface="Consolas" panose="020B0609020204030204" pitchFamily="49" charset="0"/>
              </a:rPr>
              <a:t>- Recency: 3 days </a:t>
            </a:r>
          </a:p>
          <a:p>
            <a:r>
              <a:rPr lang="en-US" sz="1200" dirty="0">
                <a:latin typeface="Consolas" panose="020B0609020204030204" pitchFamily="49" charset="0"/>
              </a:rPr>
              <a:t>  </a:t>
            </a:r>
            <a:r>
              <a:rPr lang="en-US" sz="1200" b="0" i="0" dirty="0">
                <a:effectLst/>
                <a:latin typeface="Consolas" panose="020B0609020204030204" pitchFamily="49" charset="0"/>
              </a:rPr>
              <a:t>- Frequency: 3 rentals </a:t>
            </a:r>
          </a:p>
          <a:p>
            <a:r>
              <a:rPr lang="en-US" sz="1200" dirty="0">
                <a:latin typeface="Consolas" panose="020B0609020204030204" pitchFamily="49" charset="0"/>
              </a:rPr>
              <a:t>  </a:t>
            </a:r>
            <a:r>
              <a:rPr lang="en-US" sz="1200" b="0" i="0" dirty="0">
                <a:effectLst/>
                <a:latin typeface="Consolas" panose="020B0609020204030204" pitchFamily="49" charset="0"/>
              </a:rPr>
              <a:t>- Monetary: 3,402.67 NOK </a:t>
            </a:r>
          </a:p>
          <a:p>
            <a:r>
              <a:rPr lang="en-US" sz="1200" dirty="0">
                <a:latin typeface="Consolas" panose="020B0609020204030204" pitchFamily="49" charset="0"/>
              </a:rPr>
              <a:t>  </a:t>
            </a:r>
            <a:r>
              <a:rPr lang="en-US" sz="1200" b="0" i="0" dirty="0">
                <a:effectLst/>
                <a:latin typeface="Consolas" panose="020B0609020204030204" pitchFamily="49" charset="0"/>
              </a:rPr>
              <a:t>=&gt; </a:t>
            </a:r>
            <a:r>
              <a:rPr lang="en-US" sz="1200" b="0" i="0" dirty="0">
                <a:solidFill>
                  <a:srgbClr val="1D9E75"/>
                </a:solidFill>
                <a:effectLst/>
                <a:latin typeface="Consolas" panose="020B0609020204030204" pitchFamily="49" charset="0"/>
              </a:rPr>
              <a:t>ACTUAL</a:t>
            </a:r>
            <a:r>
              <a:rPr lang="en-US" sz="1200" b="0" i="0" dirty="0">
                <a:effectLst/>
                <a:latin typeface="Consolas" panose="020B0609020204030204" pitchFamily="49" charset="0"/>
              </a:rPr>
              <a:t> Future Revenue (Target): 6,700.00 NOK </a:t>
            </a:r>
          </a:p>
          <a:p>
            <a:r>
              <a:rPr lang="en-US" sz="1200" dirty="0">
                <a:latin typeface="Consolas" panose="020B0609020204030204" pitchFamily="49" charset="0"/>
              </a:rPr>
              <a:t>  </a:t>
            </a:r>
            <a:r>
              <a:rPr lang="en-US" sz="1200" b="0" i="0" dirty="0">
                <a:effectLst/>
                <a:latin typeface="Consolas" panose="020B0609020204030204" pitchFamily="49" charset="0"/>
              </a:rPr>
              <a:t>=&gt; </a:t>
            </a:r>
            <a:r>
              <a:rPr lang="en-US" sz="1200" b="0" i="0" dirty="0">
                <a:solidFill>
                  <a:srgbClr val="C00000"/>
                </a:solidFill>
                <a:effectLst/>
                <a:latin typeface="Consolas" panose="020B0609020204030204" pitchFamily="49" charset="0"/>
              </a:rPr>
              <a:t>RIDGE</a:t>
            </a:r>
            <a:r>
              <a:rPr lang="en-US" sz="1200" b="0" i="0" dirty="0">
                <a:effectLst/>
                <a:latin typeface="Consolas" panose="020B0609020204030204" pitchFamily="49" charset="0"/>
              </a:rPr>
              <a:t> Predicted Revenue: 14,653.23 NOK</a:t>
            </a:r>
            <a:endParaRPr lang="en-US" sz="1200" dirty="0"/>
          </a:p>
        </p:txBody>
      </p:sp>
      <p:sp>
        <p:nvSpPr>
          <p:cNvPr id="21" name="TextBox 20">
            <a:extLst>
              <a:ext uri="{FF2B5EF4-FFF2-40B4-BE49-F238E27FC236}">
                <a16:creationId xmlns:a16="http://schemas.microsoft.com/office/drawing/2014/main" id="{C3766DCB-B959-67E8-F5B9-DF360F58D8BF}"/>
              </a:ext>
            </a:extLst>
          </p:cNvPr>
          <p:cNvSpPr txBox="1"/>
          <p:nvPr/>
        </p:nvSpPr>
        <p:spPr>
          <a:xfrm>
            <a:off x="9574505" y="1223462"/>
            <a:ext cx="2537109" cy="954107"/>
          </a:xfrm>
          <a:prstGeom prst="rect">
            <a:avLst/>
          </a:prstGeom>
          <a:noFill/>
          <a:ln>
            <a:solidFill>
              <a:schemeClr val="tx1"/>
            </a:solidFill>
          </a:ln>
        </p:spPr>
        <p:txBody>
          <a:bodyPr wrap="square">
            <a:spAutoFit/>
          </a:bodyPr>
          <a:lstStyle/>
          <a:p>
            <a:r>
              <a:rPr lang="en-US" sz="1400" b="1" i="0" dirty="0">
                <a:effectLst/>
                <a:latin typeface="Consolas" panose="020B0609020204030204" pitchFamily="49" charset="0"/>
              </a:rPr>
              <a:t>Feature </a:t>
            </a:r>
            <a:r>
              <a:rPr lang="en-US" sz="1400" b="1" dirty="0">
                <a:latin typeface="Consolas" panose="020B0609020204030204" pitchFamily="49" charset="0"/>
              </a:rPr>
              <a:t>     </a:t>
            </a:r>
            <a:r>
              <a:rPr lang="en-US" sz="1400" b="1" i="0" dirty="0">
                <a:effectLst/>
                <a:latin typeface="Consolas" panose="020B0609020204030204" pitchFamily="49" charset="0"/>
              </a:rPr>
              <a:t>Importance</a:t>
            </a:r>
            <a:endParaRPr lang="en-US" sz="1400" b="0" i="0" dirty="0">
              <a:effectLst/>
              <a:latin typeface="Consolas" panose="020B0609020204030204" pitchFamily="49" charset="0"/>
            </a:endParaRPr>
          </a:p>
          <a:p>
            <a:r>
              <a:rPr lang="en-US" sz="1400" dirty="0">
                <a:latin typeface="Consolas" panose="020B0609020204030204" pitchFamily="49" charset="0"/>
              </a:rPr>
              <a:t>R</a:t>
            </a:r>
            <a:r>
              <a:rPr lang="en-US" sz="1400" b="0" i="0" dirty="0">
                <a:effectLst/>
                <a:latin typeface="Consolas" panose="020B0609020204030204" pitchFamily="49" charset="0"/>
              </a:rPr>
              <a:t>ecency 	     </a:t>
            </a:r>
            <a:r>
              <a:rPr lang="en-US" sz="1100" b="0" i="0" dirty="0">
                <a:effectLst/>
                <a:latin typeface="Consolas" panose="020B0609020204030204" pitchFamily="49" charset="0"/>
              </a:rPr>
              <a:t> </a:t>
            </a:r>
            <a:r>
              <a:rPr lang="en-US" sz="1400" b="0" i="0" dirty="0">
                <a:solidFill>
                  <a:srgbClr val="C00000"/>
                </a:solidFill>
                <a:effectLst/>
                <a:latin typeface="Consolas" panose="020B0609020204030204" pitchFamily="49" charset="0"/>
              </a:rPr>
              <a:t>-7793</a:t>
            </a:r>
          </a:p>
          <a:p>
            <a:r>
              <a:rPr lang="en-US" sz="1400" dirty="0">
                <a:latin typeface="Consolas" panose="020B0609020204030204" pitchFamily="49" charset="0"/>
              </a:rPr>
              <a:t>F</a:t>
            </a:r>
            <a:r>
              <a:rPr lang="en-US" sz="1400" b="0" i="0" dirty="0">
                <a:effectLst/>
                <a:latin typeface="Consolas" panose="020B0609020204030204" pitchFamily="49" charset="0"/>
              </a:rPr>
              <a:t>requency      </a:t>
            </a:r>
            <a:r>
              <a:rPr lang="en-US" sz="1400" b="0" i="0" dirty="0">
                <a:solidFill>
                  <a:srgbClr val="C00000"/>
                </a:solidFill>
                <a:effectLst/>
                <a:latin typeface="Consolas" panose="020B0609020204030204" pitchFamily="49" charset="0"/>
              </a:rPr>
              <a:t>-9150</a:t>
            </a:r>
          </a:p>
          <a:p>
            <a:r>
              <a:rPr lang="en-US" sz="1400" dirty="0">
                <a:latin typeface="Consolas" panose="020B0609020204030204" pitchFamily="49" charset="0"/>
              </a:rPr>
              <a:t>M</a:t>
            </a:r>
            <a:r>
              <a:rPr lang="en-US" sz="1400" b="0" i="0" dirty="0">
                <a:effectLst/>
                <a:latin typeface="Consolas" panose="020B0609020204030204" pitchFamily="49" charset="0"/>
              </a:rPr>
              <a:t>onetary 	      </a:t>
            </a:r>
            <a:r>
              <a:rPr lang="en-US" sz="1400" b="0" i="0" dirty="0">
                <a:solidFill>
                  <a:srgbClr val="1D9E75"/>
                </a:solidFill>
                <a:effectLst/>
                <a:latin typeface="Consolas" panose="020B0609020204030204" pitchFamily="49" charset="0"/>
              </a:rPr>
              <a:t>21982</a:t>
            </a:r>
            <a:endParaRPr lang="en-US" sz="1400" dirty="0">
              <a:solidFill>
                <a:srgbClr val="1D9E75"/>
              </a:solidFill>
            </a:endParaRPr>
          </a:p>
        </p:txBody>
      </p:sp>
      <p:sp>
        <p:nvSpPr>
          <p:cNvPr id="22" name="TextBox 21">
            <a:extLst>
              <a:ext uri="{FF2B5EF4-FFF2-40B4-BE49-F238E27FC236}">
                <a16:creationId xmlns:a16="http://schemas.microsoft.com/office/drawing/2014/main" id="{648C2B7F-B398-AA94-D3A9-0E8FAD03B87D}"/>
              </a:ext>
            </a:extLst>
          </p:cNvPr>
          <p:cNvSpPr txBox="1"/>
          <p:nvPr/>
        </p:nvSpPr>
        <p:spPr>
          <a:xfrm>
            <a:off x="10909555" y="2197553"/>
            <a:ext cx="986167" cy="276999"/>
          </a:xfrm>
          <a:prstGeom prst="rect">
            <a:avLst/>
          </a:prstGeom>
          <a:noFill/>
        </p:spPr>
        <p:txBody>
          <a:bodyPr wrap="none" rtlCol="0">
            <a:spAutoFit/>
          </a:bodyPr>
          <a:lstStyle/>
          <a:p>
            <a:r>
              <a:rPr lang="it-IT" sz="1200" i="1" dirty="0" err="1"/>
              <a:t>Coefficients</a:t>
            </a:r>
            <a:endParaRPr lang="en-US" i="1" dirty="0"/>
          </a:p>
        </p:txBody>
      </p:sp>
      <p:sp>
        <p:nvSpPr>
          <p:cNvPr id="23" name="TextBox 22">
            <a:extLst>
              <a:ext uri="{FF2B5EF4-FFF2-40B4-BE49-F238E27FC236}">
                <a16:creationId xmlns:a16="http://schemas.microsoft.com/office/drawing/2014/main" id="{E2BDEDB8-5A09-889B-1E17-255AA7019E77}"/>
              </a:ext>
            </a:extLst>
          </p:cNvPr>
          <p:cNvSpPr txBox="1"/>
          <p:nvPr/>
        </p:nvSpPr>
        <p:spPr>
          <a:xfrm>
            <a:off x="5176927" y="4073248"/>
            <a:ext cx="7015073" cy="892552"/>
          </a:xfrm>
          <a:prstGeom prst="rect">
            <a:avLst/>
          </a:prstGeom>
          <a:noFill/>
        </p:spPr>
        <p:txBody>
          <a:bodyPr wrap="square" rtlCol="0">
            <a:spAutoFit/>
          </a:bodyPr>
          <a:lstStyle/>
          <a:p>
            <a:pPr marL="283464" indent="-283464" algn="l" rtl="0" eaLnBrk="1" latinLnBrk="0" hangingPunct="1">
              <a:buClrTx/>
              <a:buSzPts val="1800"/>
              <a:buFont typeface="Arial" panose="020B0604020202020204" pitchFamily="34" charset="0"/>
              <a:buChar char="●"/>
            </a:pPr>
            <a:r>
              <a:rPr lang="en-US" sz="2000" b="1" kern="1200" dirty="0" err="1">
                <a:solidFill>
                  <a:srgbClr val="000000"/>
                </a:solidFill>
                <a:effectLst/>
                <a:latin typeface="Arial" panose="020B0604020202020204" pitchFamily="34" charset="0"/>
                <a:ea typeface="+mn-ea"/>
                <a:cs typeface="+mn-cs"/>
              </a:rPr>
              <a:t>LightGBM</a:t>
            </a:r>
            <a:r>
              <a:rPr lang="en-US" sz="2000" kern="1200" dirty="0">
                <a:solidFill>
                  <a:srgbClr val="000000"/>
                </a:solidFill>
                <a:effectLst/>
                <a:latin typeface="Arial" panose="020B0604020202020204" pitchFamily="34" charset="0"/>
                <a:ea typeface="+mn-ea"/>
                <a:cs typeface="+mn-cs"/>
              </a:rPr>
              <a:t>: </a:t>
            </a:r>
            <a:r>
              <a:rPr lang="en-US" sz="1600" kern="1200" dirty="0">
                <a:solidFill>
                  <a:srgbClr val="000000"/>
                </a:solidFill>
                <a:effectLst/>
                <a:latin typeface="Arial" panose="020B0604020202020204" pitchFamily="34" charset="0"/>
                <a:ea typeface="+mn-ea"/>
                <a:cs typeface="+mn-cs"/>
              </a:rPr>
              <a:t>We implement a tree-based model that can implicitly learn to ignore these churned customers. Upgrading to a tree-based model cuts the MAE by ~30%:</a:t>
            </a:r>
            <a:endParaRPr lang="en-US" sz="2000" dirty="0">
              <a:effectLst/>
            </a:endParaRPr>
          </a:p>
        </p:txBody>
      </p:sp>
      <p:sp>
        <p:nvSpPr>
          <p:cNvPr id="26" name="TextBox 25">
            <a:extLst>
              <a:ext uri="{FF2B5EF4-FFF2-40B4-BE49-F238E27FC236}">
                <a16:creationId xmlns:a16="http://schemas.microsoft.com/office/drawing/2014/main" id="{33BFBCD7-0E3E-61C5-3D61-850507BAC495}"/>
              </a:ext>
            </a:extLst>
          </p:cNvPr>
          <p:cNvSpPr txBox="1"/>
          <p:nvPr/>
        </p:nvSpPr>
        <p:spPr>
          <a:xfrm>
            <a:off x="181231" y="5317243"/>
            <a:ext cx="9177374" cy="1077218"/>
          </a:xfrm>
          <a:prstGeom prst="rect">
            <a:avLst/>
          </a:prstGeom>
          <a:solidFill>
            <a:srgbClr val="000066"/>
          </a:solidFill>
        </p:spPr>
        <p:txBody>
          <a:bodyPr wrap="square" rtlCol="0">
            <a:spAutoFit/>
          </a:bodyPr>
          <a:lstStyle/>
          <a:p>
            <a:r>
              <a:rPr lang="en-US" sz="1600" b="1" dirty="0">
                <a:solidFill>
                  <a:schemeClr val="bg1"/>
                </a:solidFill>
              </a:rPr>
              <a:t>While this is a solid improvement, our conclusion is that pure RFM features are still not enough for a highly accurate prediction. Our next step for the final model is to enrich this </a:t>
            </a:r>
            <a:r>
              <a:rPr lang="en-US" sz="1600" b="1" dirty="0" err="1">
                <a:solidFill>
                  <a:schemeClr val="bg1"/>
                </a:solidFill>
              </a:rPr>
              <a:t>LightGBM</a:t>
            </a:r>
            <a:r>
              <a:rPr lang="en-US" sz="1600" b="1" dirty="0">
                <a:solidFill>
                  <a:schemeClr val="bg1"/>
                </a:solidFill>
              </a:rPr>
              <a:t> with behavioral features (e.g., Style Entropy and Cluster Affinity) to precisely predict who is churning and close the error gap even further</a:t>
            </a:r>
          </a:p>
        </p:txBody>
      </p:sp>
    </p:spTree>
    <p:extLst>
      <p:ext uri="{BB962C8B-B14F-4D97-AF65-F5344CB8AC3E}">
        <p14:creationId xmlns:p14="http://schemas.microsoft.com/office/powerpoint/2010/main" val="29956421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A7B57A-EDA6-909B-2745-CEECB32A3245}"/>
              </a:ext>
            </a:extLst>
          </p:cNvPr>
          <p:cNvSpPr>
            <a:spLocks noGrp="1"/>
          </p:cNvSpPr>
          <p:nvPr>
            <p:ph type="title"/>
          </p:nvPr>
        </p:nvSpPr>
        <p:spPr/>
        <p:txBody>
          <a:bodyPr/>
          <a:lstStyle/>
          <a:p>
            <a:r>
              <a:rPr lang="de-DE" dirty="0"/>
              <a:t>Cluster Interpretation</a:t>
            </a:r>
            <a:br>
              <a:rPr lang="de-DE" dirty="0"/>
            </a:br>
            <a:r>
              <a:rPr lang="de-DE" sz="800" dirty="0">
                <a:solidFill>
                  <a:schemeClr val="bg1"/>
                </a:solidFill>
              </a:rPr>
              <a:t>a</a:t>
            </a:r>
            <a:br>
              <a:rPr lang="de-DE" dirty="0"/>
            </a:br>
            <a:r>
              <a:rPr lang="en-US" sz="2000" dirty="0"/>
              <a:t>Cross-referencing predicted clusters with manual category tags validates the model's high semantic accuracy.</a:t>
            </a:r>
          </a:p>
        </p:txBody>
      </p:sp>
      <p:sp>
        <p:nvSpPr>
          <p:cNvPr id="4" name="Datumsplatzhalter 3">
            <a:extLst>
              <a:ext uri="{FF2B5EF4-FFF2-40B4-BE49-F238E27FC236}">
                <a16:creationId xmlns:a16="http://schemas.microsoft.com/office/drawing/2014/main" id="{00BCE553-DE36-0EB6-BE5C-43E0D2EDCCC0}"/>
              </a:ext>
            </a:extLst>
          </p:cNvPr>
          <p:cNvSpPr>
            <a:spLocks noGrp="1"/>
          </p:cNvSpPr>
          <p:nvPr>
            <p:ph type="dt" sz="half" idx="10"/>
          </p:nvPr>
        </p:nvSpPr>
        <p:spPr/>
        <p:txBody>
          <a:bodyPr/>
          <a:lstStyle/>
          <a:p>
            <a:fld id="{0F7782B2-018B-4FD3-AD95-2F64EDE0E9D6}" type="datetime1">
              <a:rPr lang="de-CH" noProof="0" smtClean="0"/>
              <a:t>25.03.2026</a:t>
            </a:fld>
            <a:endParaRPr lang="de-CH" noProof="0"/>
          </a:p>
        </p:txBody>
      </p:sp>
      <p:sp>
        <p:nvSpPr>
          <p:cNvPr id="5" name="Fußzeilenplatzhalter 4">
            <a:extLst>
              <a:ext uri="{FF2B5EF4-FFF2-40B4-BE49-F238E27FC236}">
                <a16:creationId xmlns:a16="http://schemas.microsoft.com/office/drawing/2014/main" id="{21218AD0-A83F-EA78-9FFA-E8C0815DF04B}"/>
              </a:ext>
            </a:extLst>
          </p:cNvPr>
          <p:cNvSpPr>
            <a:spLocks noGrp="1"/>
          </p:cNvSpPr>
          <p:nvPr>
            <p:ph type="ftr" sz="quarter" idx="11"/>
          </p:nvPr>
        </p:nvSpPr>
        <p:spPr/>
        <p:txBody>
          <a:bodyPr/>
          <a:lstStyle/>
          <a:p>
            <a:endParaRPr lang="de-CH" noProof="0" dirty="0"/>
          </a:p>
        </p:txBody>
      </p:sp>
      <p:sp>
        <p:nvSpPr>
          <p:cNvPr id="6" name="Foliennummernplatzhalter 5">
            <a:extLst>
              <a:ext uri="{FF2B5EF4-FFF2-40B4-BE49-F238E27FC236}">
                <a16:creationId xmlns:a16="http://schemas.microsoft.com/office/drawing/2014/main" id="{05BDADE5-00DA-D112-E3B5-6CDEEE55849F}"/>
              </a:ext>
            </a:extLst>
          </p:cNvPr>
          <p:cNvSpPr>
            <a:spLocks noGrp="1"/>
          </p:cNvSpPr>
          <p:nvPr>
            <p:ph type="sldNum" sz="quarter" idx="12"/>
          </p:nvPr>
        </p:nvSpPr>
        <p:spPr/>
        <p:txBody>
          <a:bodyPr/>
          <a:lstStyle/>
          <a:p>
            <a:fld id="{5ACA52AF-F19D-405C-AD5F-7D94B96A5CC3}" type="slidenum">
              <a:rPr lang="de-CH" noProof="0" smtClean="0"/>
              <a:t>3</a:t>
            </a:fld>
            <a:endParaRPr lang="de-CH" noProof="0"/>
          </a:p>
        </p:txBody>
      </p:sp>
      <p:grpSp>
        <p:nvGrpSpPr>
          <p:cNvPr id="3" name="Gruppieren 2">
            <a:extLst>
              <a:ext uri="{FF2B5EF4-FFF2-40B4-BE49-F238E27FC236}">
                <a16:creationId xmlns:a16="http://schemas.microsoft.com/office/drawing/2014/main" id="{8711214C-5C6A-70F4-D4EB-661599A6E23E}"/>
              </a:ext>
            </a:extLst>
          </p:cNvPr>
          <p:cNvGrpSpPr>
            <a:grpSpLocks noChangeAspect="1"/>
          </p:cNvGrpSpPr>
          <p:nvPr/>
        </p:nvGrpSpPr>
        <p:grpSpPr>
          <a:xfrm>
            <a:off x="731837" y="1324528"/>
            <a:ext cx="5072742" cy="5152342"/>
            <a:chOff x="482874" y="710351"/>
            <a:chExt cx="5613125" cy="5701204"/>
          </a:xfrm>
        </p:grpSpPr>
        <p:pic>
          <p:nvPicPr>
            <p:cNvPr id="21" name="Grafik 20" descr="Ein Bild, das Screenshot, Design enthält.&#10;&#10;KI-generierte Inhalte können fehlerhaft sein.">
              <a:extLst>
                <a:ext uri="{FF2B5EF4-FFF2-40B4-BE49-F238E27FC236}">
                  <a16:creationId xmlns:a16="http://schemas.microsoft.com/office/drawing/2014/main" id="{1A45BBD7-4CE0-BDFD-F46E-5B4731E31A0F}"/>
                </a:ext>
              </a:extLst>
            </p:cNvPr>
            <p:cNvPicPr>
              <a:picLocks noChangeAspect="1"/>
            </p:cNvPicPr>
            <p:nvPr/>
          </p:nvPicPr>
          <p:blipFill>
            <a:blip r:embed="rId3"/>
            <a:stretch>
              <a:fillRect/>
            </a:stretch>
          </p:blipFill>
          <p:spPr>
            <a:xfrm>
              <a:off x="1023936" y="4497030"/>
              <a:ext cx="4638675" cy="1914525"/>
            </a:xfrm>
            <a:prstGeom prst="rect">
              <a:avLst/>
            </a:prstGeom>
          </p:spPr>
        </p:pic>
        <p:pic>
          <p:nvPicPr>
            <p:cNvPr id="32" name="Grafik 31" descr="Ein Bild, das Zubehör, Handtasche, Tasche, Gepäck und Koffer enthält.&#10;&#10;KI-generierte Inhalte können fehlerhaft sein.">
              <a:extLst>
                <a:ext uri="{FF2B5EF4-FFF2-40B4-BE49-F238E27FC236}">
                  <a16:creationId xmlns:a16="http://schemas.microsoft.com/office/drawing/2014/main" id="{B49C7DE2-AD46-CC17-9B0E-C56A2830B7E2}"/>
                </a:ext>
              </a:extLst>
            </p:cNvPr>
            <p:cNvPicPr>
              <a:picLocks noChangeAspect="1"/>
            </p:cNvPicPr>
            <p:nvPr/>
          </p:nvPicPr>
          <p:blipFill>
            <a:blip r:embed="rId4"/>
            <a:stretch>
              <a:fillRect/>
            </a:stretch>
          </p:blipFill>
          <p:spPr>
            <a:xfrm>
              <a:off x="482874" y="710351"/>
              <a:ext cx="2752725" cy="3771900"/>
            </a:xfrm>
            <a:prstGeom prst="rect">
              <a:avLst/>
            </a:prstGeom>
          </p:spPr>
        </p:pic>
        <p:pic>
          <p:nvPicPr>
            <p:cNvPr id="36" name="Grafik 35" descr="Ein Bild, das Kleidung, Ärmel, Muster (Modedesign), Freizeitkleidung enthält.&#10;&#10;KI-generierte Inhalte können fehlerhaft sein.">
              <a:extLst>
                <a:ext uri="{FF2B5EF4-FFF2-40B4-BE49-F238E27FC236}">
                  <a16:creationId xmlns:a16="http://schemas.microsoft.com/office/drawing/2014/main" id="{6B46B2A3-589C-F528-B99E-88B0C07954C3}"/>
                </a:ext>
              </a:extLst>
            </p:cNvPr>
            <p:cNvPicPr>
              <a:picLocks noChangeAspect="1"/>
            </p:cNvPicPr>
            <p:nvPr/>
          </p:nvPicPr>
          <p:blipFill>
            <a:blip r:embed="rId5"/>
            <a:stretch>
              <a:fillRect/>
            </a:stretch>
          </p:blipFill>
          <p:spPr>
            <a:xfrm>
              <a:off x="3343274" y="715605"/>
              <a:ext cx="2752725" cy="3781425"/>
            </a:xfrm>
            <a:prstGeom prst="rect">
              <a:avLst/>
            </a:prstGeom>
          </p:spPr>
        </p:pic>
      </p:grpSp>
      <p:pic>
        <p:nvPicPr>
          <p:cNvPr id="40" name="Grafik 39" descr="Ein Bild, das Text, Screenshot, Zahl, parallel enthält.&#10;&#10;KI-generierte Inhalte können fehlerhaft sein.">
            <a:extLst>
              <a:ext uri="{FF2B5EF4-FFF2-40B4-BE49-F238E27FC236}">
                <a16:creationId xmlns:a16="http://schemas.microsoft.com/office/drawing/2014/main" id="{E7FF2963-4BC7-95A4-B276-6F53674E60B9}"/>
              </a:ext>
            </a:extLst>
          </p:cNvPr>
          <p:cNvPicPr>
            <a:picLocks noChangeAspect="1"/>
          </p:cNvPicPr>
          <p:nvPr/>
        </p:nvPicPr>
        <p:blipFill>
          <a:blip r:embed="rId6"/>
          <a:stretch>
            <a:fillRect/>
          </a:stretch>
        </p:blipFill>
        <p:spPr>
          <a:xfrm>
            <a:off x="6069782" y="1657954"/>
            <a:ext cx="5390380" cy="4475747"/>
          </a:xfrm>
          <a:prstGeom prst="rect">
            <a:avLst/>
          </a:prstGeom>
        </p:spPr>
      </p:pic>
    </p:spTree>
    <p:extLst>
      <p:ext uri="{BB962C8B-B14F-4D97-AF65-F5344CB8AC3E}">
        <p14:creationId xmlns:p14="http://schemas.microsoft.com/office/powerpoint/2010/main" val="3026351573"/>
      </p:ext>
    </p:extLst>
  </p:cSld>
  <p:clrMapOvr>
    <a:masterClrMapping/>
  </p:clrMapOvr>
</p:sld>
</file>

<file path=ppt/theme/theme1.xml><?xml version="1.0" encoding="utf-8"?>
<a:theme xmlns:a="http://schemas.openxmlformats.org/drawingml/2006/main" name="ETH Zürich">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Präsentation3" id="{9C84984C-18ED-5E49-A574-15FF8A3954B8}" vid="{0B390235-9264-874C-ABEB-5D2188FC234E}"/>
    </a:ext>
  </a:extLst>
</a:theme>
</file>

<file path=ppt/theme/theme2.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D0F59E03F3A02E49BD70E31348545014" ma:contentTypeVersion="7" ma:contentTypeDescription="Ein neues Dokument erstellen." ma:contentTypeScope="" ma:versionID="907cdc0f808be0b4bc1373a5a8f6a492">
  <xsd:schema xmlns:xsd="http://www.w3.org/2001/XMLSchema" xmlns:xs="http://www.w3.org/2001/XMLSchema" xmlns:p="http://schemas.microsoft.com/office/2006/metadata/properties" xmlns:ns2="7fd05bba-d45d-467f-a5a8-3f2970e80e4a" targetNamespace="http://schemas.microsoft.com/office/2006/metadata/properties" ma:root="true" ma:fieldsID="6eaf8534fcc486a778b01aa1a7a62fa4" ns2:_="">
    <xsd:import namespace="7fd05bba-d45d-467f-a5a8-3f2970e80e4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d05bba-d45d-467f-a5a8-3f2970e80e4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C3B1C8D-BA84-44B8-B31F-BF26E7BAC85C}">
  <ds:schemaRefs>
    <ds:schemaRef ds:uri="http://purl.org/dc/elements/1.1/"/>
    <ds:schemaRef ds:uri="http://www.w3.org/XML/1998/namespace"/>
    <ds:schemaRef ds:uri="http://schemas.openxmlformats.org/package/2006/metadata/core-properties"/>
    <ds:schemaRef ds:uri="http://schemas.microsoft.com/office/2006/documentManagement/types"/>
    <ds:schemaRef ds:uri="http://purl.org/dc/terms/"/>
    <ds:schemaRef ds:uri="http://schemas.microsoft.com/office/infopath/2007/PartnerControls"/>
    <ds:schemaRef ds:uri="http://purl.org/dc/dcmitype/"/>
    <ds:schemaRef ds:uri="7fd05bba-d45d-467f-a5a8-3f2970e80e4a"/>
    <ds:schemaRef ds:uri="http://schemas.microsoft.com/office/2006/metadata/properties"/>
  </ds:schemaRefs>
</ds:datastoreItem>
</file>

<file path=customXml/itemProps2.xml><?xml version="1.0" encoding="utf-8"?>
<ds:datastoreItem xmlns:ds="http://schemas.openxmlformats.org/officeDocument/2006/customXml" ds:itemID="{E0CFCB78-2973-46E2-963D-C72C98C43B41}">
  <ds:schemaRefs>
    <ds:schemaRef ds:uri="http://schemas.microsoft.com/sharepoint/v3/contenttype/forms"/>
  </ds:schemaRefs>
</ds:datastoreItem>
</file>

<file path=customXml/itemProps3.xml><?xml version="1.0" encoding="utf-8"?>
<ds:datastoreItem xmlns:ds="http://schemas.openxmlformats.org/officeDocument/2006/customXml" ds:itemID="{6B7B52BC-33EF-4C54-820C-9984D5F8AFB1}">
  <ds:schemaRefs>
    <ds:schemaRef ds:uri="7fd05bba-d45d-467f-a5a8-3f2970e80e4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eth_pp_praesentation_ohne_klassifizierung</Template>
  <TotalTime>0</TotalTime>
  <Words>619</Words>
  <Application>Microsoft Office PowerPoint</Application>
  <PresentationFormat>Widescreen</PresentationFormat>
  <Paragraphs>49</Paragraphs>
  <Slides>3</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Arial</vt:lpstr>
      <vt:lpstr>Consolas</vt:lpstr>
      <vt:lpstr>Segoe UI</vt:lpstr>
      <vt:lpstr>Symbol</vt:lpstr>
      <vt:lpstr>ETH Zürich</vt:lpstr>
      <vt:lpstr>Assignment 2: Baseline Challenge</vt:lpstr>
      <vt:lpstr>RFM Baseline for CLV Prediction</vt:lpstr>
      <vt:lpstr>Cluster Interpretation a Cross-referencing predicted clusters with manual category tags validates the model's high semantic accuracy.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Voss  Julius</dc:creator>
  <cp:lastModifiedBy>Constantin Cimpoes</cp:lastModifiedBy>
  <cp:revision>18</cp:revision>
  <dcterms:created xsi:type="dcterms:W3CDTF">2025-11-07T08:31:52Z</dcterms:created>
  <dcterms:modified xsi:type="dcterms:W3CDTF">2026-03-25T11:26:57Z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0x010100D0F59E03F3A02E49BD70E31348545014</vt:lpwstr>
  </property>
</Properties>
</file>
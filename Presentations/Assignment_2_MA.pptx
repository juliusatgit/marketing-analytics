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8"/>
  </p:notesMasterIdLst>
  <p:handoutMasterIdLst>
    <p:handoutMasterId r:id="rId9"/>
  </p:handoutMasterIdLst>
  <p:sldIdLst>
    <p:sldId id="256" r:id="rId5"/>
    <p:sldId id="1190" r:id="rId6"/>
    <p:sldId id="1188" r:id="rId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83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1D9E75"/>
    <a:srgbClr val="286DD2"/>
    <a:srgbClr val="6899E2"/>
    <a:srgbClr val="78ADD2"/>
    <a:srgbClr val="B8CFF2"/>
    <a:srgbClr val="266CCC"/>
    <a:srgbClr val="215EB3"/>
    <a:srgbClr val="1D5199"/>
    <a:srgbClr val="194787"/>
    <a:srgbClr val="18448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Helle Formatvorlage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159" autoAdjust="0"/>
    <p:restoredTop sz="95033" autoAdjust="0"/>
  </p:normalViewPr>
  <p:slideViewPr>
    <p:cSldViewPr snapToGrid="0">
      <p:cViewPr varScale="1">
        <p:scale>
          <a:sx n="78" d="100"/>
          <a:sy n="78" d="100"/>
        </p:scale>
        <p:origin x="917" y="72"/>
      </p:cViewPr>
      <p:guideLst>
        <p:guide orient="horz" pos="2183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66" d="100"/>
          <a:sy n="66" d="100"/>
        </p:scale>
        <p:origin x="0" y="0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13" Type="http://schemas.openxmlformats.org/officeDocument/2006/relationships/tableStyles" Target="tableStyle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theme" Target="theme/theme1.xml"/><Relationship Id="rId2" Type="http://schemas.openxmlformats.org/officeDocument/2006/relationships/customXml" Target="../customXml/item2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viewProps" Target="viewProps.xml"/><Relationship Id="rId5" Type="http://schemas.openxmlformats.org/officeDocument/2006/relationships/slide" Target="slides/slide1.xml"/><Relationship Id="rId10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>
            <a:extLst>
              <a:ext uri="{FF2B5EF4-FFF2-40B4-BE49-F238E27FC236}">
                <a16:creationId xmlns:a16="http://schemas.microsoft.com/office/drawing/2014/main" id="{8AF70A90-CA7E-49EB-AB17-C37FEDD0759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5A7711EA-1FBE-4E98-9D43-C2D65C45D0E7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68ABEA4-9216-4FDF-AAE1-D8632908A8EC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82CCD3C8-8930-4E0E-A891-B770724F2BD4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A7798FB5-86BC-42DA-9D05-F96D484814F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B685DCD-866D-47AE-A236-118539F53379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42322725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78A90D-FE7E-41AF-B03D-808D82937CB9}" type="datetimeFigureOut">
              <a:rPr lang="de-CH" smtClean="0"/>
              <a:t>25.03.2026</a:t>
            </a:fld>
            <a:endParaRPr lang="de-CH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CH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de-CH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615DDFD-030C-4D5A-B33E-3A7E7538D2BE}" type="slidenum">
              <a:rPr lang="de-CH" smtClean="0"/>
              <a:t>‹#›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4149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olienbildplatzhalt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izenplatzhalt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F615DDFD-030C-4D5A-B33E-3A7E7538D2BE}" type="slidenum">
              <a:rPr lang="de-CH" smtClean="0"/>
              <a:t>2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592363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sv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1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Bildplatzhalter 8">
            <a:extLst>
              <a:ext uri="{FF2B5EF4-FFF2-40B4-BE49-F238E27FC236}">
                <a16:creationId xmlns:a16="http://schemas.microsoft.com/office/drawing/2014/main" id="{C3C296D1-2CD0-479F-A866-6EC741D2293B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EE41BE31-9613-4103-99FF-7DCFF643B329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EDEB298C-798E-4D73-9DD6-F896C06530C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429338104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2" pos="3840" userDrawn="1">
          <p15:clr>
            <a:srgbClr val="FBAE40"/>
          </p15:clr>
        </p15:guide>
        <p15:guide id="3" orient="horz" pos="640" userDrawn="1">
          <p15:clr>
            <a:srgbClr val="FBAE40"/>
          </p15:clr>
        </p15:guide>
        <p15:guide id="4" orient="horz" pos="3952" userDrawn="1">
          <p15:clr>
            <a:srgbClr val="FBAE40"/>
          </p15:clr>
        </p15:guide>
        <p15:guide id="5" pos="610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Bildplatzhalter 4">
            <a:extLst>
              <a:ext uri="{FF2B5EF4-FFF2-40B4-BE49-F238E27FC236}">
                <a16:creationId xmlns:a16="http://schemas.microsoft.com/office/drawing/2014/main" id="{8A01615F-450E-43D0-B554-DA3FBD48DF34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0" tIns="0" rIns="558000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504000" y="2957494"/>
            <a:ext cx="5688000" cy="2268000"/>
          </a:xfrm>
          <a:solidFill>
            <a:schemeClr val="accent6"/>
          </a:solidFill>
        </p:spPr>
        <p:txBody>
          <a:bodyPr lIns="324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9" name="Textplatzhalter 3">
            <a:extLst>
              <a:ext uri="{FF2B5EF4-FFF2-40B4-BE49-F238E27FC236}">
                <a16:creationId xmlns:a16="http://schemas.microsoft.com/office/drawing/2014/main" id="{003A487C-8977-4264-A8A1-D6C1DB604682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6845210" y="4639666"/>
            <a:ext cx="4320000" cy="46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3" name="Bildplatzhalter 8">
            <a:extLst>
              <a:ext uri="{FF2B5EF4-FFF2-40B4-BE49-F238E27FC236}">
                <a16:creationId xmlns:a16="http://schemas.microsoft.com/office/drawing/2014/main" id="{E91D3734-CD8F-4F94-A813-570EF31C4732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547D2927-4A99-4714-8EBA-F773EAA26308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10024114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hteck 2">
            <a:extLst>
              <a:ext uri="{FF2B5EF4-FFF2-40B4-BE49-F238E27FC236}">
                <a16:creationId xmlns:a16="http://schemas.microsoft.com/office/drawing/2014/main" id="{62D94F76-218E-49F2-87F8-05982912ED18}"/>
              </a:ext>
            </a:extLst>
          </p:cNvPr>
          <p:cNvSpPr/>
          <p:nvPr userDrawn="1"/>
        </p:nvSpPr>
        <p:spPr>
          <a:xfrm>
            <a:off x="731838" y="1016000"/>
            <a:ext cx="10728325" cy="5257800"/>
          </a:xfrm>
          <a:prstGeom prst="rect">
            <a:avLst/>
          </a:prstGeom>
          <a:solidFill>
            <a:srgbClr val="8E6713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-1" y="1940405"/>
            <a:ext cx="10188000" cy="3420000"/>
          </a:xfrm>
          <a:solidFill>
            <a:schemeClr val="accent3"/>
          </a:solidFill>
          <a:ln>
            <a:noFill/>
          </a:ln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0503E57F-F89F-431B-8D38-7CC97B7C201A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4217884"/>
            <a:ext cx="864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2" name="Bildplatzhalter 8">
            <a:extLst>
              <a:ext uri="{FF2B5EF4-FFF2-40B4-BE49-F238E27FC236}">
                <a16:creationId xmlns:a16="http://schemas.microsoft.com/office/drawing/2014/main" id="{1BEB6197-C509-4752-B57E-CEE955F5D926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8" name="Textplatzhalter 5">
            <a:extLst>
              <a:ext uri="{FF2B5EF4-FFF2-40B4-BE49-F238E27FC236}">
                <a16:creationId xmlns:a16="http://schemas.microsoft.com/office/drawing/2014/main" id="{4ADF7DEC-21BD-45CA-9E91-B9F58A69F621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392406949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31837" y="1016000"/>
            <a:ext cx="10728326" cy="5256000"/>
          </a:xfrm>
          <a:solidFill>
            <a:schemeClr val="accent6"/>
          </a:solidFill>
          <a:ln>
            <a:noFill/>
          </a:ln>
        </p:spPr>
        <p:txBody>
          <a:bodyPr lIns="324000" tIns="11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10" name="Grafik 9">
            <a:extLst>
              <a:ext uri="{FF2B5EF4-FFF2-40B4-BE49-F238E27FC236}">
                <a16:creationId xmlns:a16="http://schemas.microsoft.com/office/drawing/2014/main" id="{0EE7317F-7892-4B0F-BA41-44765BB93F0C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  <p:sp>
        <p:nvSpPr>
          <p:cNvPr id="6" name="Textplatzhalter 3">
            <a:extLst>
              <a:ext uri="{FF2B5EF4-FFF2-40B4-BE49-F238E27FC236}">
                <a16:creationId xmlns:a16="http://schemas.microsoft.com/office/drawing/2014/main" id="{5FCAD79B-EF47-46A0-9575-229F3DAA72F5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5" y="5122625"/>
            <a:ext cx="10044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8" name="Bildplatzhalter 8">
            <a:extLst>
              <a:ext uri="{FF2B5EF4-FFF2-40B4-BE49-F238E27FC236}">
                <a16:creationId xmlns:a16="http://schemas.microsoft.com/office/drawing/2014/main" id="{72236FC6-C8FF-43C1-86B9-BF112345926F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7" name="Textplatzhalter 5">
            <a:extLst>
              <a:ext uri="{FF2B5EF4-FFF2-40B4-BE49-F238E27FC236}">
                <a16:creationId xmlns:a16="http://schemas.microsoft.com/office/drawing/2014/main" id="{789A3267-E086-4EC3-A0BB-F8ECD01A5C7E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73253206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folie 04 – Uni Zür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Bildplatzhalter 4">
            <a:extLst>
              <a:ext uri="{FF2B5EF4-FFF2-40B4-BE49-F238E27FC236}">
                <a16:creationId xmlns:a16="http://schemas.microsoft.com/office/drawing/2014/main" id="{EB061823-3F7A-48C8-8477-B410C18AC1B7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731838" y="1016000"/>
            <a:ext cx="10728325" cy="5256000"/>
          </a:xfrm>
        </p:spPr>
        <p:txBody>
          <a:bodyPr lIns="5580000" tIns="0" rIns="0" anchor="ctr" anchorCtr="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2" name="Titel 1">
            <a:extLst>
              <a:ext uri="{FF2B5EF4-FFF2-40B4-BE49-F238E27FC236}">
                <a16:creationId xmlns:a16="http://schemas.microsoft.com/office/drawing/2014/main" id="{3491294E-BEE7-4DA8-BBC8-88E1A7B07AE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233538"/>
            <a:ext cx="5904000" cy="2772000"/>
          </a:xfrm>
          <a:solidFill>
            <a:schemeClr val="accent2"/>
          </a:solidFill>
        </p:spPr>
        <p:txBody>
          <a:bodyPr lIns="1080000" tIns="252000" anchor="t" anchorCtr="0"/>
          <a:lstStyle>
            <a:lvl1pPr algn="l"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793E2EDD-B19F-478D-BB03-AD55EC1E86B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27672" y="228020"/>
            <a:ext cx="3679200" cy="552508"/>
          </a:xfrm>
          <a:prstGeom prst="rect">
            <a:avLst/>
          </a:prstGeom>
        </p:spPr>
      </p:pic>
      <p:sp>
        <p:nvSpPr>
          <p:cNvPr id="7" name="Textplatzhalter 3">
            <a:extLst>
              <a:ext uri="{FF2B5EF4-FFF2-40B4-BE49-F238E27FC236}">
                <a16:creationId xmlns:a16="http://schemas.microsoft.com/office/drawing/2014/main" id="{D364BCB8-820F-4C3A-BA37-7048A4C8D4C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78516" y="3860495"/>
            <a:ext cx="4680000" cy="1008000"/>
          </a:xfrm>
        </p:spPr>
        <p:txBody>
          <a:bodyPr/>
          <a:lstStyle>
            <a:lvl1pPr marL="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1pPr>
            <a:lvl2pPr marL="266700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2pPr>
            <a:lvl3pPr marL="538163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3pPr>
            <a:lvl4pPr marL="804862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4pPr>
            <a:lvl5pPr marL="1076325" indent="0">
              <a:lnSpc>
                <a:spcPct val="100000"/>
              </a:lnSpc>
              <a:spcBef>
                <a:spcPts val="0"/>
              </a:spcBef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11" name="Bildplatzhalter 8">
            <a:extLst>
              <a:ext uri="{FF2B5EF4-FFF2-40B4-BE49-F238E27FC236}">
                <a16:creationId xmlns:a16="http://schemas.microsoft.com/office/drawing/2014/main" id="{A73913C2-8DFE-4F15-B2DB-2A6D5C267009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Textplatzhalter 5">
            <a:extLst>
              <a:ext uri="{FF2B5EF4-FFF2-40B4-BE49-F238E27FC236}">
                <a16:creationId xmlns:a16="http://schemas.microsoft.com/office/drawing/2014/main" id="{791A1AD7-DB7D-4C75-BEFB-EB6D34D3B2AB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9696449" y="316800"/>
            <a:ext cx="1800000" cy="360000"/>
          </a:xfrm>
        </p:spPr>
        <p:txBody>
          <a:bodyPr anchor="b" anchorCtr="0"/>
          <a:lstStyle>
            <a:lvl1pPr marL="0" indent="0" algn="l">
              <a:spcBef>
                <a:spcPts val="0"/>
              </a:spcBef>
              <a:buNone/>
              <a:defRPr sz="1150"/>
            </a:lvl1pPr>
            <a:lvl2pPr>
              <a:defRPr sz="1150"/>
            </a:lvl2pPr>
            <a:lvl3pPr>
              <a:defRPr sz="1150"/>
            </a:lvl3pPr>
            <a:lvl4pPr>
              <a:defRPr sz="1150"/>
            </a:lvl4pPr>
            <a:lvl5pPr>
              <a:defRPr sz="1150"/>
            </a:lvl5pPr>
          </a:lstStyle>
          <a:p>
            <a:pPr lvl="0"/>
            <a:r>
              <a:rPr lang="de-DE"/>
              <a:t>Organisationseinheit verbal</a:t>
            </a:r>
            <a:br>
              <a:rPr lang="de-DE"/>
            </a:br>
            <a:r>
              <a:rPr lang="de-DE"/>
              <a:t>optional auf 2 Zeilen</a:t>
            </a:r>
          </a:p>
        </p:txBody>
      </p:sp>
    </p:spTree>
    <p:extLst>
      <p:ext uri="{BB962C8B-B14F-4D97-AF65-F5344CB8AC3E}">
        <p14:creationId xmlns:p14="http://schemas.microsoft.com/office/powerpoint/2010/main" val="278925752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 marL="539750" indent="-539750">
              <a:buFont typeface="+mj-lt"/>
              <a:buAutoNum type="arabicPeriod"/>
              <a:defRPr/>
            </a:lvl1pPr>
            <a:lvl2pPr marL="1079500" indent="-539750">
              <a:buFont typeface="+mj-lt"/>
              <a:buAutoNum type="arabicPeriod"/>
              <a:defRPr/>
            </a:lvl2pPr>
            <a:lvl3pPr marL="1612900" indent="-533400">
              <a:buFont typeface="+mj-lt"/>
              <a:buAutoNum type="arabicPeriod"/>
              <a:defRPr/>
            </a:lvl3pPr>
            <a:lvl4pPr marL="2152650" indent="-539750">
              <a:buFont typeface="+mj-lt"/>
              <a:buAutoNum type="arabicPeriod"/>
              <a:defRPr/>
            </a:lvl4pPr>
            <a:lvl5pPr marL="2692400" indent="-539750">
              <a:buFont typeface="+mj-lt"/>
              <a:buAutoNum type="arabicPeriod"/>
              <a:defRPr/>
            </a:lvl5pPr>
          </a:lstStyle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332D50A-E6CC-4D88-8908-F2129032F4C7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215997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B96697-4585-4368-989A-16003D150648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87531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mit Fussn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A01E762-278A-4155-9BEB-7C2CB2386E9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Textplatzhalter 10">
            <a:extLst>
              <a:ext uri="{FF2B5EF4-FFF2-40B4-BE49-F238E27FC236}">
                <a16:creationId xmlns:a16="http://schemas.microsoft.com/office/drawing/2014/main" id="{2F6D94FA-21C6-4AE0-AA4F-3A077810ED93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836" y="5570135"/>
            <a:ext cx="5364164" cy="721233"/>
          </a:xfrm>
        </p:spPr>
        <p:txBody>
          <a:bodyPr anchor="b" anchorCtr="0"/>
          <a:lstStyle>
            <a:lvl1pPr marL="179388" indent="-179388">
              <a:spcBef>
                <a:spcPts val="0"/>
              </a:spcBef>
              <a:buFont typeface="+mj-lt"/>
              <a:buAutoNum type="arabicPeriod"/>
              <a:defRPr sz="800"/>
            </a:lvl1pPr>
            <a:lvl2pPr marL="266700" indent="0">
              <a:buNone/>
              <a:defRPr sz="800"/>
            </a:lvl2pPr>
            <a:lvl3pPr marL="538163" indent="0">
              <a:buNone/>
              <a:defRPr sz="800"/>
            </a:lvl3pPr>
            <a:lvl4pPr marL="804862" indent="0">
              <a:buNone/>
              <a:defRPr sz="800"/>
            </a:lvl4pPr>
            <a:lvl5pPr marL="1076325" indent="0">
              <a:buNone/>
              <a:defRPr sz="800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</p:spTree>
    <p:extLst>
      <p:ext uri="{BB962C8B-B14F-4D97-AF65-F5344CB8AC3E}">
        <p14:creationId xmlns:p14="http://schemas.microsoft.com/office/powerpoint/2010/main" val="42600172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ischenslide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224781"/>
            <a:ext cx="10728325" cy="1260000"/>
          </a:xfrm>
        </p:spPr>
        <p:txBody>
          <a:bodyPr/>
          <a:lstStyle>
            <a:lvl1pPr>
              <a:lnSpc>
                <a:spcPct val="100000"/>
              </a:lnSpc>
              <a:defRPr sz="3600"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6C4EAFE7-317E-4912-B75C-DD6945F82242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bg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  <p:grpSp>
        <p:nvGrpSpPr>
          <p:cNvPr id="10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GrpSpPr/>
          <p:nvPr/>
        </p:nvGrpSpPr>
        <p:grpSpPr>
          <a:xfrm>
            <a:off x="731837" y="6507088"/>
            <a:ext cx="984462" cy="162000"/>
            <a:chOff x="731837" y="6507088"/>
            <a:chExt cx="984462" cy="162000"/>
          </a:xfrm>
          <a:solidFill>
            <a:schemeClr val="bg1"/>
          </a:solidFill>
        </p:grpSpPr>
        <p:grpSp>
          <p:nvGrpSpPr>
            <p:cNvPr id="12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266489" y="6555186"/>
              <a:ext cx="197463" cy="110963"/>
              <a:chOff x="1266489" y="6555186"/>
              <a:chExt cx="197463" cy="110963"/>
            </a:xfrm>
            <a:grpFill/>
          </p:grpSpPr>
          <p:sp>
            <p:nvSpPr>
              <p:cNvPr id="13" name="Freihandform: Form 12">
                <a:extLst>
                  <a:ext uri="{FF2B5EF4-FFF2-40B4-BE49-F238E27FC236}">
                    <a16:creationId xmlns:a16="http://schemas.microsoft.com/office/drawing/2014/main" id="{18BB0752-F87C-44D9-A9A5-97AF1DEDA1AE}"/>
                  </a:ext>
                </a:extLst>
              </p:cNvPr>
              <p:cNvSpPr/>
              <p:nvPr/>
            </p:nvSpPr>
            <p:spPr>
              <a:xfrm>
                <a:off x="1266489" y="6556934"/>
                <a:ext cx="95902" cy="109216"/>
              </a:xfrm>
              <a:custGeom>
                <a:avLst/>
                <a:gdLst>
                  <a:gd name="connsiteX0" fmla="*/ 66742 w 95902"/>
                  <a:gd name="connsiteY0" fmla="*/ 65797 h 109216"/>
                  <a:gd name="connsiteX1" fmla="*/ 35339 w 95902"/>
                  <a:gd name="connsiteY1" fmla="*/ 95082 h 109216"/>
                  <a:gd name="connsiteX2" fmla="*/ 15953 w 95902"/>
                  <a:gd name="connsiteY2" fmla="*/ 79537 h 109216"/>
                  <a:gd name="connsiteX3" fmla="*/ 15899 w 95902"/>
                  <a:gd name="connsiteY3" fmla="*/ 76265 h 109216"/>
                  <a:gd name="connsiteX4" fmla="*/ 16896 w 95902"/>
                  <a:gd name="connsiteY4" fmla="*/ 66295 h 109216"/>
                  <a:gd name="connsiteX5" fmla="*/ 30230 w 95902"/>
                  <a:gd name="connsiteY5" fmla="*/ 0 h 109216"/>
                  <a:gd name="connsiteX6" fmla="*/ 30230 w 95902"/>
                  <a:gd name="connsiteY6" fmla="*/ 0 h 109216"/>
                  <a:gd name="connsiteX7" fmla="*/ 14528 w 95902"/>
                  <a:gd name="connsiteY7" fmla="*/ 0 h 109216"/>
                  <a:gd name="connsiteX8" fmla="*/ 1194 w 95902"/>
                  <a:gd name="connsiteY8" fmla="*/ 67791 h 109216"/>
                  <a:gd name="connsiteX9" fmla="*/ 1194 w 95902"/>
                  <a:gd name="connsiteY9" fmla="*/ 68788 h 109216"/>
                  <a:gd name="connsiteX10" fmla="*/ 73 w 95902"/>
                  <a:gd name="connsiteY10" fmla="*/ 78508 h 109216"/>
                  <a:gd name="connsiteX11" fmla="*/ 26638 w 95902"/>
                  <a:gd name="connsiteY11" fmla="*/ 109122 h 109216"/>
                  <a:gd name="connsiteX12" fmla="*/ 29980 w 95902"/>
                  <a:gd name="connsiteY12" fmla="*/ 109163 h 109216"/>
                  <a:gd name="connsiteX13" fmla="*/ 61384 w 95902"/>
                  <a:gd name="connsiteY13" fmla="*/ 96702 h 109216"/>
                  <a:gd name="connsiteX14" fmla="*/ 59265 w 95902"/>
                  <a:gd name="connsiteY14" fmla="*/ 107917 h 109216"/>
                  <a:gd name="connsiteX15" fmla="*/ 59265 w 95902"/>
                  <a:gd name="connsiteY15" fmla="*/ 107917 h 109216"/>
                  <a:gd name="connsiteX16" fmla="*/ 74842 w 95902"/>
                  <a:gd name="connsiteY16" fmla="*/ 107917 h 109216"/>
                  <a:gd name="connsiteX17" fmla="*/ 95902 w 95902"/>
                  <a:gd name="connsiteY17" fmla="*/ 0 h 109216"/>
                  <a:gd name="connsiteX18" fmla="*/ 95902 w 95902"/>
                  <a:gd name="connsiteY18" fmla="*/ 0 h 109216"/>
                  <a:gd name="connsiteX19" fmla="*/ 79951 w 95902"/>
                  <a:gd name="connsiteY19" fmla="*/ 0 h 109216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</a:cxnLst>
                <a:rect l="l" t="t" r="r" b="b"/>
                <a:pathLst>
                  <a:path w="95902" h="109216">
                    <a:moveTo>
                      <a:pt x="66742" y="65797"/>
                    </a:moveTo>
                    <a:cubicBezTo>
                      <a:pt x="65228" y="82115"/>
                      <a:pt x="51723" y="94709"/>
                      <a:pt x="35339" y="95082"/>
                    </a:cubicBezTo>
                    <a:cubicBezTo>
                      <a:pt x="25692" y="96142"/>
                      <a:pt x="17013" y="89183"/>
                      <a:pt x="15953" y="79537"/>
                    </a:cubicBezTo>
                    <a:cubicBezTo>
                      <a:pt x="15833" y="78450"/>
                      <a:pt x="15814" y="77355"/>
                      <a:pt x="15899" y="76265"/>
                    </a:cubicBezTo>
                    <a:cubicBezTo>
                      <a:pt x="15976" y="72921"/>
                      <a:pt x="16309" y="69588"/>
                      <a:pt x="16896" y="66295"/>
                    </a:cubicBezTo>
                    <a:lnTo>
                      <a:pt x="30230" y="0"/>
                    </a:lnTo>
                    <a:lnTo>
                      <a:pt x="30230" y="0"/>
                    </a:lnTo>
                    <a:lnTo>
                      <a:pt x="14528" y="0"/>
                    </a:lnTo>
                    <a:lnTo>
                      <a:pt x="1194" y="67791"/>
                    </a:lnTo>
                    <a:lnTo>
                      <a:pt x="1194" y="68788"/>
                    </a:lnTo>
                    <a:cubicBezTo>
                      <a:pt x="472" y="71978"/>
                      <a:pt x="95" y="75237"/>
                      <a:pt x="73" y="78508"/>
                    </a:cubicBezTo>
                    <a:cubicBezTo>
                      <a:pt x="-1045" y="94298"/>
                      <a:pt x="10848" y="108004"/>
                      <a:pt x="26638" y="109122"/>
                    </a:cubicBezTo>
                    <a:cubicBezTo>
                      <a:pt x="27751" y="109200"/>
                      <a:pt x="28866" y="109214"/>
                      <a:pt x="29980" y="109163"/>
                    </a:cubicBezTo>
                    <a:cubicBezTo>
                      <a:pt x="41760" y="109765"/>
                      <a:pt x="53221" y="105218"/>
                      <a:pt x="61384" y="96702"/>
                    </a:cubicBezTo>
                    <a:lnTo>
                      <a:pt x="59265" y="107917"/>
                    </a:lnTo>
                    <a:lnTo>
                      <a:pt x="59265" y="107917"/>
                    </a:lnTo>
                    <a:lnTo>
                      <a:pt x="74842" y="107917"/>
                    </a:lnTo>
                    <a:lnTo>
                      <a:pt x="95902" y="0"/>
                    </a:lnTo>
                    <a:lnTo>
                      <a:pt x="95902" y="0"/>
                    </a:lnTo>
                    <a:lnTo>
                      <a:pt x="79951" y="0"/>
                    </a:lnTo>
                    <a:close/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4" name="Freihandform: Form 13">
                <a:extLst>
                  <a:ext uri="{FF2B5EF4-FFF2-40B4-BE49-F238E27FC236}">
                    <a16:creationId xmlns:a16="http://schemas.microsoft.com/office/drawing/2014/main" id="{ED44DE23-7081-4AC9-BF06-502BEC71C004}"/>
                  </a:ext>
                </a:extLst>
              </p:cNvPr>
              <p:cNvSpPr/>
              <p:nvPr/>
            </p:nvSpPr>
            <p:spPr>
              <a:xfrm>
                <a:off x="1376472" y="6555186"/>
                <a:ext cx="87480" cy="109664"/>
              </a:xfrm>
              <a:custGeom>
                <a:avLst/>
                <a:gdLst>
                  <a:gd name="connsiteX0" fmla="*/ 64302 w 87480"/>
                  <a:gd name="connsiteY0" fmla="*/ 3 h 109664"/>
                  <a:gd name="connsiteX1" fmla="*/ 34518 w 87480"/>
                  <a:gd name="connsiteY1" fmla="*/ 14209 h 109664"/>
                  <a:gd name="connsiteX2" fmla="*/ 36886 w 87480"/>
                  <a:gd name="connsiteY2" fmla="*/ 1747 h 109664"/>
                  <a:gd name="connsiteX3" fmla="*/ 36886 w 87480"/>
                  <a:gd name="connsiteY3" fmla="*/ 1747 h 109664"/>
                  <a:gd name="connsiteX4" fmla="*/ 21434 w 87480"/>
                  <a:gd name="connsiteY4" fmla="*/ 1747 h 109664"/>
                  <a:gd name="connsiteX5" fmla="*/ 0 w 87480"/>
                  <a:gd name="connsiteY5" fmla="*/ 109664 h 109664"/>
                  <a:gd name="connsiteX6" fmla="*/ 0 w 87480"/>
                  <a:gd name="connsiteY6" fmla="*/ 109664 h 109664"/>
                  <a:gd name="connsiteX7" fmla="*/ 15826 w 87480"/>
                  <a:gd name="connsiteY7" fmla="*/ 109664 h 109664"/>
                  <a:gd name="connsiteX8" fmla="*/ 28288 w 87480"/>
                  <a:gd name="connsiteY8" fmla="*/ 43493 h 109664"/>
                  <a:gd name="connsiteX9" fmla="*/ 59940 w 87480"/>
                  <a:gd name="connsiteY9" fmla="*/ 14209 h 109664"/>
                  <a:gd name="connsiteX10" fmla="*/ 75019 w 87480"/>
                  <a:gd name="connsiteY10" fmla="*/ 21810 h 109664"/>
                  <a:gd name="connsiteX11" fmla="*/ 75019 w 87480"/>
                  <a:gd name="connsiteY11" fmla="*/ 21810 h 109664"/>
                  <a:gd name="connsiteX12" fmla="*/ 87480 w 87480"/>
                  <a:gd name="connsiteY12" fmla="*/ 10346 h 109664"/>
                  <a:gd name="connsiteX13" fmla="*/ 87480 w 87480"/>
                  <a:gd name="connsiteY13" fmla="*/ 10346 h 109664"/>
                  <a:gd name="connsiteX14" fmla="*/ 63928 w 87480"/>
                  <a:gd name="connsiteY14" fmla="*/ 252 h 109664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</a:cxnLst>
                <a:rect l="l" t="t" r="r" b="b"/>
                <a:pathLst>
                  <a:path w="87480" h="109664">
                    <a:moveTo>
                      <a:pt x="64302" y="3"/>
                    </a:moveTo>
                    <a:cubicBezTo>
                      <a:pt x="52709" y="-136"/>
                      <a:pt x="41706" y="5111"/>
                      <a:pt x="34518" y="14209"/>
                    </a:cubicBezTo>
                    <a:lnTo>
                      <a:pt x="36886" y="1747"/>
                    </a:lnTo>
                    <a:lnTo>
                      <a:pt x="36886" y="1747"/>
                    </a:lnTo>
                    <a:lnTo>
                      <a:pt x="21434" y="1747"/>
                    </a:lnTo>
                    <a:lnTo>
                      <a:pt x="0" y="109664"/>
                    </a:lnTo>
                    <a:lnTo>
                      <a:pt x="0" y="109664"/>
                    </a:lnTo>
                    <a:lnTo>
                      <a:pt x="15826" y="109664"/>
                    </a:lnTo>
                    <a:lnTo>
                      <a:pt x="28288" y="43493"/>
                    </a:lnTo>
                    <a:cubicBezTo>
                      <a:pt x="30515" y="27438"/>
                      <a:pt x="43760" y="15183"/>
                      <a:pt x="59940" y="14209"/>
                    </a:cubicBezTo>
                    <a:cubicBezTo>
                      <a:pt x="65919" y="14072"/>
                      <a:pt x="71573" y="16922"/>
                      <a:pt x="75019" y="21810"/>
                    </a:cubicBezTo>
                    <a:lnTo>
                      <a:pt x="75019" y="21810"/>
                    </a:lnTo>
                    <a:lnTo>
                      <a:pt x="87480" y="10346"/>
                    </a:lnTo>
                    <a:lnTo>
                      <a:pt x="87480" y="10346"/>
                    </a:lnTo>
                    <a:cubicBezTo>
                      <a:pt x="81552" y="3603"/>
                      <a:pt x="72899" y="-105"/>
                      <a:pt x="63928" y="2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15" name="Freihandform: Form 14">
              <a:extLst>
                <a:ext uri="{FF2B5EF4-FFF2-40B4-BE49-F238E27FC236}">
                  <a16:creationId xmlns:a16="http://schemas.microsoft.com/office/drawing/2014/main" id="{18C24FD2-AEE2-43CA-8EB3-8E646C2E5E46}"/>
                </a:ext>
              </a:extLst>
            </p:cNvPr>
            <p:cNvSpPr/>
            <p:nvPr/>
          </p:nvSpPr>
          <p:spPr>
            <a:xfrm>
              <a:off x="1159517" y="6556560"/>
              <a:ext cx="96452" cy="108166"/>
            </a:xfrm>
            <a:custGeom>
              <a:avLst/>
              <a:gdLst>
                <a:gd name="connsiteX0" fmla="*/ 23303 w 96452"/>
                <a:gd name="connsiteY0" fmla="*/ 0 h 108166"/>
                <a:gd name="connsiteX1" fmla="*/ 20562 w 96452"/>
                <a:gd name="connsiteY1" fmla="*/ 13708 h 108166"/>
                <a:gd name="connsiteX2" fmla="*/ 20562 w 96452"/>
                <a:gd name="connsiteY2" fmla="*/ 13957 h 108166"/>
                <a:gd name="connsiteX3" fmla="*/ 74271 w 96452"/>
                <a:gd name="connsiteY3" fmla="*/ 13957 h 108166"/>
                <a:gd name="connsiteX4" fmla="*/ 2742 w 96452"/>
                <a:gd name="connsiteY4" fmla="*/ 94957 h 108166"/>
                <a:gd name="connsiteX5" fmla="*/ 2617 w 96452"/>
                <a:gd name="connsiteY5" fmla="*/ 94957 h 108166"/>
                <a:gd name="connsiteX6" fmla="*/ 0 w 96452"/>
                <a:gd name="connsiteY6" fmla="*/ 108166 h 108166"/>
                <a:gd name="connsiteX7" fmla="*/ 76265 w 96452"/>
                <a:gd name="connsiteY7" fmla="*/ 108166 h 108166"/>
                <a:gd name="connsiteX8" fmla="*/ 79006 w 96452"/>
                <a:gd name="connsiteY8" fmla="*/ 94209 h 108166"/>
                <a:gd name="connsiteX9" fmla="*/ 21932 w 96452"/>
                <a:gd name="connsiteY9" fmla="*/ 94209 h 108166"/>
                <a:gd name="connsiteX10" fmla="*/ 93835 w 96452"/>
                <a:gd name="connsiteY10" fmla="*/ 13209 h 108166"/>
                <a:gd name="connsiteX11" fmla="*/ 93835 w 96452"/>
                <a:gd name="connsiteY11" fmla="*/ 13209 h 108166"/>
                <a:gd name="connsiteX12" fmla="*/ 96452 w 96452"/>
                <a:gd name="connsiteY12" fmla="*/ 0 h 108166"/>
                <a:gd name="connsiteX13" fmla="*/ 23303 w 96452"/>
                <a:gd name="connsiteY13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96452" h="108166">
                  <a:moveTo>
                    <a:pt x="23303" y="0"/>
                  </a:moveTo>
                  <a:lnTo>
                    <a:pt x="20562" y="13708"/>
                  </a:lnTo>
                  <a:lnTo>
                    <a:pt x="20562" y="13957"/>
                  </a:lnTo>
                  <a:lnTo>
                    <a:pt x="74271" y="13957"/>
                  </a:lnTo>
                  <a:lnTo>
                    <a:pt x="2742" y="94957"/>
                  </a:lnTo>
                  <a:lnTo>
                    <a:pt x="2617" y="94957"/>
                  </a:lnTo>
                  <a:lnTo>
                    <a:pt x="0" y="108166"/>
                  </a:lnTo>
                  <a:lnTo>
                    <a:pt x="76265" y="108166"/>
                  </a:lnTo>
                  <a:lnTo>
                    <a:pt x="79006" y="94209"/>
                  </a:lnTo>
                  <a:lnTo>
                    <a:pt x="21932" y="94209"/>
                  </a:lnTo>
                  <a:lnTo>
                    <a:pt x="93835" y="13209"/>
                  </a:lnTo>
                  <a:lnTo>
                    <a:pt x="93835" y="13209"/>
                  </a:lnTo>
                  <a:lnTo>
                    <a:pt x="96452" y="0"/>
                  </a:lnTo>
                  <a:lnTo>
                    <a:pt x="2330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16" name="Freihandform: Form 15">
              <a:extLst>
                <a:ext uri="{FF2B5EF4-FFF2-40B4-BE49-F238E27FC236}">
                  <a16:creationId xmlns:a16="http://schemas.microsoft.com/office/drawing/2014/main" id="{AEE7F6F4-4D2C-45B3-A061-9606B2BD36A7}"/>
                </a:ext>
              </a:extLst>
            </p:cNvPr>
            <p:cNvSpPr/>
            <p:nvPr/>
          </p:nvSpPr>
          <p:spPr>
            <a:xfrm>
              <a:off x="1466445" y="6556560"/>
              <a:ext cx="37259" cy="108166"/>
            </a:xfrm>
            <a:custGeom>
              <a:avLst/>
              <a:gdLst>
                <a:gd name="connsiteX0" fmla="*/ 21683 w 37259"/>
                <a:gd name="connsiteY0" fmla="*/ 0 h 108166"/>
                <a:gd name="connsiteX1" fmla="*/ 0 w 37259"/>
                <a:gd name="connsiteY1" fmla="*/ 107917 h 108166"/>
                <a:gd name="connsiteX2" fmla="*/ 0 w 37259"/>
                <a:gd name="connsiteY2" fmla="*/ 108166 h 108166"/>
                <a:gd name="connsiteX3" fmla="*/ 15702 w 37259"/>
                <a:gd name="connsiteY3" fmla="*/ 108166 h 108166"/>
                <a:gd name="connsiteX4" fmla="*/ 37260 w 37259"/>
                <a:gd name="connsiteY4" fmla="*/ 0 h 108166"/>
                <a:gd name="connsiteX5" fmla="*/ 21683 w 37259"/>
                <a:gd name="connsiteY5" fmla="*/ 0 h 10816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</a:cxnLst>
              <a:rect l="l" t="t" r="r" b="b"/>
              <a:pathLst>
                <a:path w="37259" h="108166">
                  <a:moveTo>
                    <a:pt x="21683" y="0"/>
                  </a:moveTo>
                  <a:lnTo>
                    <a:pt x="0" y="107917"/>
                  </a:lnTo>
                  <a:lnTo>
                    <a:pt x="0" y="108166"/>
                  </a:lnTo>
                  <a:lnTo>
                    <a:pt x="15702" y="108166"/>
                  </a:lnTo>
                  <a:lnTo>
                    <a:pt x="37260" y="0"/>
                  </a:lnTo>
                  <a:lnTo>
                    <a:pt x="21683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grpSp>
          <p:nvGrpSpPr>
            <p:cNvPr id="17" name="Grafik 6">
              <a:extLst>
                <a:ext uri="{FF2B5EF4-FFF2-40B4-BE49-F238E27FC236}">
                  <a16:creationId xmlns:a16="http://schemas.microsoft.com/office/drawing/2014/main" id="{7F7C476A-2849-4D68-9FA2-3A5CFC13C833}"/>
                </a:ext>
              </a:extLst>
            </p:cNvPr>
            <p:cNvGrpSpPr/>
            <p:nvPr/>
          </p:nvGrpSpPr>
          <p:grpSpPr>
            <a:xfrm>
              <a:off x="1518879" y="6507337"/>
              <a:ext cx="191395" cy="158803"/>
              <a:chOff x="1518879" y="6507337"/>
              <a:chExt cx="191395" cy="158803"/>
            </a:xfrm>
            <a:grpFill/>
          </p:grpSpPr>
          <p:sp>
            <p:nvSpPr>
              <p:cNvPr id="18" name="Freihandform: Form 17">
                <a:extLst>
                  <a:ext uri="{FF2B5EF4-FFF2-40B4-BE49-F238E27FC236}">
                    <a16:creationId xmlns:a16="http://schemas.microsoft.com/office/drawing/2014/main" id="{B2186F78-5D28-4695-8B1C-5A3F1A53AAB3}"/>
                  </a:ext>
                </a:extLst>
              </p:cNvPr>
              <p:cNvSpPr/>
              <p:nvPr/>
            </p:nvSpPr>
            <p:spPr>
              <a:xfrm>
                <a:off x="1614114" y="6507337"/>
                <a:ext cx="96160" cy="157638"/>
              </a:xfrm>
              <a:custGeom>
                <a:avLst/>
                <a:gdLst>
                  <a:gd name="connsiteX0" fmla="*/ 66046 w 96160"/>
                  <a:gd name="connsiteY0" fmla="*/ 47852 h 157638"/>
                  <a:gd name="connsiteX1" fmla="*/ 35142 w 96160"/>
                  <a:gd name="connsiteY1" fmla="*/ 60314 h 157638"/>
                  <a:gd name="connsiteX2" fmla="*/ 47603 w 96160"/>
                  <a:gd name="connsiteY2" fmla="*/ 0 h 157638"/>
                  <a:gd name="connsiteX3" fmla="*/ 31652 w 96160"/>
                  <a:gd name="connsiteY3" fmla="*/ 0 h 157638"/>
                  <a:gd name="connsiteX4" fmla="*/ 0 w 96160"/>
                  <a:gd name="connsiteY4" fmla="*/ 157389 h 157638"/>
                  <a:gd name="connsiteX5" fmla="*/ 15701 w 96160"/>
                  <a:gd name="connsiteY5" fmla="*/ 157389 h 157638"/>
                  <a:gd name="connsiteX6" fmla="*/ 28911 w 96160"/>
                  <a:gd name="connsiteY6" fmla="*/ 91218 h 157638"/>
                  <a:gd name="connsiteX7" fmla="*/ 60563 w 96160"/>
                  <a:gd name="connsiteY7" fmla="*/ 62058 h 157638"/>
                  <a:gd name="connsiteX8" fmla="*/ 79837 w 96160"/>
                  <a:gd name="connsiteY8" fmla="*/ 77742 h 157638"/>
                  <a:gd name="connsiteX9" fmla="*/ 79878 w 96160"/>
                  <a:gd name="connsiteY9" fmla="*/ 80875 h 157638"/>
                  <a:gd name="connsiteX10" fmla="*/ 78757 w 96160"/>
                  <a:gd name="connsiteY10" fmla="*/ 90969 h 157638"/>
                  <a:gd name="connsiteX11" fmla="*/ 65423 w 96160"/>
                  <a:gd name="connsiteY11" fmla="*/ 157638 h 157638"/>
                  <a:gd name="connsiteX12" fmla="*/ 81125 w 96160"/>
                  <a:gd name="connsiteY12" fmla="*/ 157638 h 157638"/>
                  <a:gd name="connsiteX13" fmla="*/ 94957 w 96160"/>
                  <a:gd name="connsiteY13" fmla="*/ 89474 h 157638"/>
                  <a:gd name="connsiteX14" fmla="*/ 96078 w 96160"/>
                  <a:gd name="connsiteY14" fmla="*/ 78757 h 157638"/>
                  <a:gd name="connsiteX15" fmla="*/ 69522 w 96160"/>
                  <a:gd name="connsiteY15" fmla="*/ 47902 h 157638"/>
                  <a:gd name="connsiteX16" fmla="*/ 66046 w 96160"/>
                  <a:gd name="connsiteY16" fmla="*/ 47852 h 15763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</a:cxnLst>
                <a:rect l="l" t="t" r="r" b="b"/>
                <a:pathLst>
                  <a:path w="96160" h="157638">
                    <a:moveTo>
                      <a:pt x="66046" y="47852"/>
                    </a:moveTo>
                    <a:cubicBezTo>
                      <a:pt x="54431" y="47363"/>
                      <a:pt x="43168" y="51904"/>
                      <a:pt x="35142" y="60314"/>
                    </a:cubicBezTo>
                    <a:lnTo>
                      <a:pt x="47603" y="0"/>
                    </a:lnTo>
                    <a:lnTo>
                      <a:pt x="31652" y="0"/>
                    </a:lnTo>
                    <a:lnTo>
                      <a:pt x="0" y="157389"/>
                    </a:lnTo>
                    <a:lnTo>
                      <a:pt x="15701" y="157389"/>
                    </a:lnTo>
                    <a:lnTo>
                      <a:pt x="28911" y="91218"/>
                    </a:lnTo>
                    <a:cubicBezTo>
                      <a:pt x="30603" y="74910"/>
                      <a:pt x="44170" y="62411"/>
                      <a:pt x="60563" y="62058"/>
                    </a:cubicBezTo>
                    <a:cubicBezTo>
                      <a:pt x="70216" y="61067"/>
                      <a:pt x="78845" y="68088"/>
                      <a:pt x="79837" y="77742"/>
                    </a:cubicBezTo>
                    <a:cubicBezTo>
                      <a:pt x="79945" y="78783"/>
                      <a:pt x="79958" y="79832"/>
                      <a:pt x="79878" y="80875"/>
                    </a:cubicBezTo>
                    <a:cubicBezTo>
                      <a:pt x="79822" y="84268"/>
                      <a:pt x="79446" y="87647"/>
                      <a:pt x="78757" y="90969"/>
                    </a:cubicBezTo>
                    <a:lnTo>
                      <a:pt x="65423" y="157638"/>
                    </a:lnTo>
                    <a:lnTo>
                      <a:pt x="81125" y="157638"/>
                    </a:lnTo>
                    <a:lnTo>
                      <a:pt x="94957" y="89474"/>
                    </a:lnTo>
                    <a:cubicBezTo>
                      <a:pt x="95657" y="85943"/>
                      <a:pt x="96034" y="82356"/>
                      <a:pt x="96078" y="78757"/>
                    </a:cubicBezTo>
                    <a:cubicBezTo>
                      <a:pt x="97265" y="62903"/>
                      <a:pt x="85375" y="49089"/>
                      <a:pt x="69522" y="47902"/>
                    </a:cubicBezTo>
                    <a:cubicBezTo>
                      <a:pt x="68365" y="47815"/>
                      <a:pt x="67205" y="47799"/>
                      <a:pt x="66046" y="47852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  <p:sp>
            <p:nvSpPr>
              <p:cNvPr id="19" name="Freihandform: Form 18">
                <a:extLst>
                  <a:ext uri="{FF2B5EF4-FFF2-40B4-BE49-F238E27FC236}">
                    <a16:creationId xmlns:a16="http://schemas.microsoft.com/office/drawing/2014/main" id="{1FE5475E-83C3-4BE3-BBF1-FAE9A6986B3F}"/>
                  </a:ext>
                </a:extLst>
              </p:cNvPr>
              <p:cNvSpPr/>
              <p:nvPr/>
            </p:nvSpPr>
            <p:spPr>
              <a:xfrm>
                <a:off x="1518879" y="6555189"/>
                <a:ext cx="87882" cy="110951"/>
              </a:xfrm>
              <a:custGeom>
                <a:avLst/>
                <a:gdLst>
                  <a:gd name="connsiteX0" fmla="*/ 56853 w 87882"/>
                  <a:gd name="connsiteY0" fmla="*/ 0 h 110951"/>
                  <a:gd name="connsiteX1" fmla="*/ 1649 w 87882"/>
                  <a:gd name="connsiteY1" fmla="*/ 55329 h 110951"/>
                  <a:gd name="connsiteX2" fmla="*/ 153 w 87882"/>
                  <a:gd name="connsiteY2" fmla="*/ 71903 h 110951"/>
                  <a:gd name="connsiteX3" fmla="*/ 32484 w 87882"/>
                  <a:gd name="connsiteY3" fmla="*/ 110801 h 110951"/>
                  <a:gd name="connsiteX4" fmla="*/ 37538 w 87882"/>
                  <a:gd name="connsiteY4" fmla="*/ 110908 h 110951"/>
                  <a:gd name="connsiteX5" fmla="*/ 73552 w 87882"/>
                  <a:gd name="connsiteY5" fmla="*/ 95705 h 110951"/>
                  <a:gd name="connsiteX6" fmla="*/ 73552 w 87882"/>
                  <a:gd name="connsiteY6" fmla="*/ 95705 h 110951"/>
                  <a:gd name="connsiteX7" fmla="*/ 64455 w 87882"/>
                  <a:gd name="connsiteY7" fmla="*/ 84614 h 110951"/>
                  <a:gd name="connsiteX8" fmla="*/ 64455 w 87882"/>
                  <a:gd name="connsiteY8" fmla="*/ 84614 h 110951"/>
                  <a:gd name="connsiteX9" fmla="*/ 64455 w 87882"/>
                  <a:gd name="connsiteY9" fmla="*/ 84614 h 110951"/>
                  <a:gd name="connsiteX10" fmla="*/ 38535 w 87882"/>
                  <a:gd name="connsiteY10" fmla="*/ 97075 h 110951"/>
                  <a:gd name="connsiteX11" fmla="*/ 15233 w 87882"/>
                  <a:gd name="connsiteY11" fmla="*/ 75551 h 110951"/>
                  <a:gd name="connsiteX12" fmla="*/ 15356 w 87882"/>
                  <a:gd name="connsiteY12" fmla="*/ 72152 h 110951"/>
                  <a:gd name="connsiteX13" fmla="*/ 17101 w 87882"/>
                  <a:gd name="connsiteY13" fmla="*/ 55952 h 110951"/>
                  <a:gd name="connsiteX14" fmla="*/ 31058 w 87882"/>
                  <a:gd name="connsiteY14" fmla="*/ 25048 h 110951"/>
                  <a:gd name="connsiteX15" fmla="*/ 55233 w 87882"/>
                  <a:gd name="connsiteY15" fmla="*/ 14206 h 110951"/>
                  <a:gd name="connsiteX16" fmla="*/ 76293 w 87882"/>
                  <a:gd name="connsiteY16" fmla="*/ 26668 h 110951"/>
                  <a:gd name="connsiteX17" fmla="*/ 76293 w 87882"/>
                  <a:gd name="connsiteY17" fmla="*/ 26668 h 110951"/>
                  <a:gd name="connsiteX18" fmla="*/ 87883 w 87882"/>
                  <a:gd name="connsiteY18" fmla="*/ 16823 h 110951"/>
                  <a:gd name="connsiteX19" fmla="*/ 87883 w 87882"/>
                  <a:gd name="connsiteY19" fmla="*/ 16823 h 110951"/>
                  <a:gd name="connsiteX20" fmla="*/ 56729 w 87882"/>
                  <a:gd name="connsiteY20" fmla="*/ 748 h 110951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  <a:cxn ang="0">
                    <a:pos x="connsiteX7" y="connsiteY7"/>
                  </a:cxn>
                  <a:cxn ang="0">
                    <a:pos x="connsiteX8" y="connsiteY8"/>
                  </a:cxn>
                  <a:cxn ang="0">
                    <a:pos x="connsiteX9" y="connsiteY9"/>
                  </a:cxn>
                  <a:cxn ang="0">
                    <a:pos x="connsiteX10" y="connsiteY10"/>
                  </a:cxn>
                  <a:cxn ang="0">
                    <a:pos x="connsiteX11" y="connsiteY11"/>
                  </a:cxn>
                  <a:cxn ang="0">
                    <a:pos x="connsiteX12" y="connsiteY12"/>
                  </a:cxn>
                  <a:cxn ang="0">
                    <a:pos x="connsiteX13" y="connsiteY13"/>
                  </a:cxn>
                  <a:cxn ang="0">
                    <a:pos x="connsiteX14" y="connsiteY14"/>
                  </a:cxn>
                  <a:cxn ang="0">
                    <a:pos x="connsiteX15" y="connsiteY15"/>
                  </a:cxn>
                  <a:cxn ang="0">
                    <a:pos x="connsiteX16" y="connsiteY16"/>
                  </a:cxn>
                  <a:cxn ang="0">
                    <a:pos x="connsiteX17" y="connsiteY17"/>
                  </a:cxn>
                  <a:cxn ang="0">
                    <a:pos x="connsiteX18" y="connsiteY18"/>
                  </a:cxn>
                  <a:cxn ang="0">
                    <a:pos x="connsiteX19" y="connsiteY19"/>
                  </a:cxn>
                  <a:cxn ang="0">
                    <a:pos x="connsiteX20" y="connsiteY20"/>
                  </a:cxn>
                </a:cxnLst>
                <a:rect l="l" t="t" r="r" b="b"/>
                <a:pathLst>
                  <a:path w="87882" h="110951">
                    <a:moveTo>
                      <a:pt x="56853" y="0"/>
                    </a:moveTo>
                    <a:cubicBezTo>
                      <a:pt x="28192" y="0"/>
                      <a:pt x="8129" y="20188"/>
                      <a:pt x="1649" y="55329"/>
                    </a:cubicBezTo>
                    <a:cubicBezTo>
                      <a:pt x="671" y="60800"/>
                      <a:pt x="170" y="66345"/>
                      <a:pt x="153" y="71903"/>
                    </a:cubicBezTo>
                    <a:cubicBezTo>
                      <a:pt x="-1660" y="91572"/>
                      <a:pt x="12814" y="108987"/>
                      <a:pt x="32484" y="110801"/>
                    </a:cubicBezTo>
                    <a:cubicBezTo>
                      <a:pt x="34163" y="110955"/>
                      <a:pt x="35853" y="110991"/>
                      <a:pt x="37538" y="110908"/>
                    </a:cubicBezTo>
                    <a:cubicBezTo>
                      <a:pt x="51112" y="110955"/>
                      <a:pt x="64118" y="105465"/>
                      <a:pt x="73552" y="95705"/>
                    </a:cubicBezTo>
                    <a:lnTo>
                      <a:pt x="73552" y="95705"/>
                    </a:lnTo>
                    <a:lnTo>
                      <a:pt x="64455" y="84614"/>
                    </a:lnTo>
                    <a:lnTo>
                      <a:pt x="64455" y="84614"/>
                    </a:lnTo>
                    <a:lnTo>
                      <a:pt x="64455" y="84614"/>
                    </a:lnTo>
                    <a:cubicBezTo>
                      <a:pt x="58138" y="92466"/>
                      <a:pt x="48613" y="97045"/>
                      <a:pt x="38535" y="97075"/>
                    </a:cubicBezTo>
                    <a:cubicBezTo>
                      <a:pt x="26157" y="97566"/>
                      <a:pt x="15724" y="87929"/>
                      <a:pt x="15233" y="75551"/>
                    </a:cubicBezTo>
                    <a:cubicBezTo>
                      <a:pt x="15188" y="74416"/>
                      <a:pt x="15229" y="73280"/>
                      <a:pt x="15356" y="72152"/>
                    </a:cubicBezTo>
                    <a:cubicBezTo>
                      <a:pt x="15424" y="66709"/>
                      <a:pt x="16008" y="61285"/>
                      <a:pt x="17101" y="55952"/>
                    </a:cubicBezTo>
                    <a:cubicBezTo>
                      <a:pt x="18838" y="44568"/>
                      <a:pt x="23666" y="33878"/>
                      <a:pt x="31058" y="25048"/>
                    </a:cubicBezTo>
                    <a:cubicBezTo>
                      <a:pt x="37213" y="18167"/>
                      <a:pt x="46002" y="14225"/>
                      <a:pt x="55233" y="14206"/>
                    </a:cubicBezTo>
                    <a:cubicBezTo>
                      <a:pt x="64085" y="13892"/>
                      <a:pt x="72308" y="18758"/>
                      <a:pt x="76293" y="26668"/>
                    </a:cubicBezTo>
                    <a:lnTo>
                      <a:pt x="76293" y="26668"/>
                    </a:lnTo>
                    <a:lnTo>
                      <a:pt x="87883" y="16823"/>
                    </a:lnTo>
                    <a:lnTo>
                      <a:pt x="87883" y="16823"/>
                    </a:lnTo>
                    <a:cubicBezTo>
                      <a:pt x="81104" y="6298"/>
                      <a:pt x="69235" y="174"/>
                      <a:pt x="56729" y="748"/>
                    </a:cubicBezTo>
                  </a:path>
                </a:pathLst>
              </a:custGeom>
              <a:grpFill/>
              <a:ln w="12419" cap="flat">
                <a:noFill/>
                <a:prstDash val="solid"/>
                <a:miter/>
              </a:ln>
            </p:spPr>
            <p:txBody>
              <a:bodyPr rtlCol="0" anchor="ctr"/>
              <a:lstStyle/>
              <a:p>
                <a:endParaRPr lang="de-CH" noProof="0"/>
              </a:p>
            </p:txBody>
          </p:sp>
        </p:grpSp>
        <p:sp>
          <p:nvSpPr>
            <p:cNvPr id="20" name="Freihandform: Form 19">
              <a:extLst>
                <a:ext uri="{FF2B5EF4-FFF2-40B4-BE49-F238E27FC236}">
                  <a16:creationId xmlns:a16="http://schemas.microsoft.com/office/drawing/2014/main" id="{41B77B6E-E7CB-412B-95AC-A9322C6799BB}"/>
                </a:ext>
              </a:extLst>
            </p:cNvPr>
            <p:cNvSpPr/>
            <p:nvPr/>
          </p:nvSpPr>
          <p:spPr>
            <a:xfrm>
              <a:off x="1493985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1" name="Freihandform: Form 20">
              <a:extLst>
                <a:ext uri="{FF2B5EF4-FFF2-40B4-BE49-F238E27FC236}">
                  <a16:creationId xmlns:a16="http://schemas.microsoft.com/office/drawing/2014/main" id="{832E5C1A-13CE-49A6-B590-B6EAA5F9E1AD}"/>
                </a:ext>
              </a:extLst>
            </p:cNvPr>
            <p:cNvSpPr/>
            <p:nvPr/>
          </p:nvSpPr>
          <p:spPr>
            <a:xfrm>
              <a:off x="1340708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826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826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2" name="Freihandform: Form 21">
              <a:extLst>
                <a:ext uri="{FF2B5EF4-FFF2-40B4-BE49-F238E27FC236}">
                  <a16:creationId xmlns:a16="http://schemas.microsoft.com/office/drawing/2014/main" id="{63AE00B0-780F-4053-8FE9-B7D321217AFF}"/>
                </a:ext>
              </a:extLst>
            </p:cNvPr>
            <p:cNvSpPr/>
            <p:nvPr/>
          </p:nvSpPr>
          <p:spPr>
            <a:xfrm>
              <a:off x="1298712" y="6507088"/>
              <a:ext cx="19689" cy="19689"/>
            </a:xfrm>
            <a:custGeom>
              <a:avLst/>
              <a:gdLst>
                <a:gd name="connsiteX0" fmla="*/ 3988 w 19689"/>
                <a:gd name="connsiteY0" fmla="*/ 0 h 19689"/>
                <a:gd name="connsiteX1" fmla="*/ 0 w 19689"/>
                <a:gd name="connsiteY1" fmla="*/ 19689 h 19689"/>
                <a:gd name="connsiteX2" fmla="*/ 15702 w 19689"/>
                <a:gd name="connsiteY2" fmla="*/ 19689 h 19689"/>
                <a:gd name="connsiteX3" fmla="*/ 19689 w 19689"/>
                <a:gd name="connsiteY3" fmla="*/ 0 h 19689"/>
                <a:gd name="connsiteX4" fmla="*/ 3988 w 19689"/>
                <a:gd name="connsiteY4" fmla="*/ 0 h 19689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9689" h="19689">
                  <a:moveTo>
                    <a:pt x="3988" y="0"/>
                  </a:moveTo>
                  <a:lnTo>
                    <a:pt x="0" y="19689"/>
                  </a:lnTo>
                  <a:lnTo>
                    <a:pt x="15702" y="19689"/>
                  </a:lnTo>
                  <a:lnTo>
                    <a:pt x="19689" y="0"/>
                  </a:lnTo>
                  <a:lnTo>
                    <a:pt x="3988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  <p:sp>
          <p:nvSpPr>
            <p:cNvPr id="23" name="Freihandform: Form 22">
              <a:extLst>
                <a:ext uri="{FF2B5EF4-FFF2-40B4-BE49-F238E27FC236}">
                  <a16:creationId xmlns:a16="http://schemas.microsoft.com/office/drawing/2014/main" id="{2406CEAF-7399-4CCB-A322-03F0BA2532F5}"/>
                </a:ext>
              </a:extLst>
            </p:cNvPr>
            <p:cNvSpPr/>
            <p:nvPr/>
          </p:nvSpPr>
          <p:spPr>
            <a:xfrm>
              <a:off x="731837" y="6507088"/>
              <a:ext cx="417960" cy="157638"/>
            </a:xfrm>
            <a:custGeom>
              <a:avLst/>
              <a:gdLst>
                <a:gd name="connsiteX0" fmla="*/ 368612 w 417960"/>
                <a:gd name="connsiteY0" fmla="*/ 0 h 157638"/>
                <a:gd name="connsiteX1" fmla="*/ 356151 w 417960"/>
                <a:gd name="connsiteY1" fmla="*/ 61062 h 157638"/>
                <a:gd name="connsiteX2" fmla="*/ 320760 w 417960"/>
                <a:gd name="connsiteY2" fmla="*/ 61062 h 157638"/>
                <a:gd name="connsiteX3" fmla="*/ 333222 w 417960"/>
                <a:gd name="connsiteY3" fmla="*/ 0 h 157638"/>
                <a:gd name="connsiteX4" fmla="*/ 31652 w 417960"/>
                <a:gd name="connsiteY4" fmla="*/ 0 h 157638"/>
                <a:gd name="connsiteX5" fmla="*/ 0 w 417960"/>
                <a:gd name="connsiteY5" fmla="*/ 157638 h 157638"/>
                <a:gd name="connsiteX6" fmla="*/ 120254 w 417960"/>
                <a:gd name="connsiteY6" fmla="*/ 157638 h 157638"/>
                <a:gd name="connsiteX7" fmla="*/ 128105 w 417960"/>
                <a:gd name="connsiteY7" fmla="*/ 118260 h 157638"/>
                <a:gd name="connsiteX8" fmla="*/ 57074 w 417960"/>
                <a:gd name="connsiteY8" fmla="*/ 118260 h 157638"/>
                <a:gd name="connsiteX9" fmla="*/ 61435 w 417960"/>
                <a:gd name="connsiteY9" fmla="*/ 96577 h 157638"/>
                <a:gd name="connsiteX10" fmla="*/ 132342 w 417960"/>
                <a:gd name="connsiteY10" fmla="*/ 96577 h 157638"/>
                <a:gd name="connsiteX11" fmla="*/ 139569 w 417960"/>
                <a:gd name="connsiteY11" fmla="*/ 61062 h 157638"/>
                <a:gd name="connsiteX12" fmla="*/ 68538 w 417960"/>
                <a:gd name="connsiteY12" fmla="*/ 61062 h 157638"/>
                <a:gd name="connsiteX13" fmla="*/ 72900 w 417960"/>
                <a:gd name="connsiteY13" fmla="*/ 39378 h 157638"/>
                <a:gd name="connsiteX14" fmla="*/ 185303 w 417960"/>
                <a:gd name="connsiteY14" fmla="*/ 39378 h 157638"/>
                <a:gd name="connsiteX15" fmla="*/ 161626 w 417960"/>
                <a:gd name="connsiteY15" fmla="*/ 157638 h 157638"/>
                <a:gd name="connsiteX16" fmla="*/ 210849 w 417960"/>
                <a:gd name="connsiteY16" fmla="*/ 157638 h 157638"/>
                <a:gd name="connsiteX17" fmla="*/ 234651 w 417960"/>
                <a:gd name="connsiteY17" fmla="*/ 39378 h 157638"/>
                <a:gd name="connsiteX18" fmla="*/ 276023 w 417960"/>
                <a:gd name="connsiteY18" fmla="*/ 39378 h 157638"/>
                <a:gd name="connsiteX19" fmla="*/ 252222 w 417960"/>
                <a:gd name="connsiteY19" fmla="*/ 157638 h 157638"/>
                <a:gd name="connsiteX20" fmla="*/ 301569 w 417960"/>
                <a:gd name="connsiteY20" fmla="*/ 157638 h 157638"/>
                <a:gd name="connsiteX21" fmla="*/ 313657 w 417960"/>
                <a:gd name="connsiteY21" fmla="*/ 96577 h 157638"/>
                <a:gd name="connsiteX22" fmla="*/ 349172 w 417960"/>
                <a:gd name="connsiteY22" fmla="*/ 96577 h 157638"/>
                <a:gd name="connsiteX23" fmla="*/ 336960 w 417960"/>
                <a:gd name="connsiteY23" fmla="*/ 157638 h 157638"/>
                <a:gd name="connsiteX24" fmla="*/ 386308 w 417960"/>
                <a:gd name="connsiteY24" fmla="*/ 157638 h 157638"/>
                <a:gd name="connsiteX25" fmla="*/ 417960 w 417960"/>
                <a:gd name="connsiteY25" fmla="*/ 0 h 157638"/>
                <a:gd name="connsiteX26" fmla="*/ 368612 w 417960"/>
                <a:gd name="connsiteY26" fmla="*/ 0 h 1576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  <a:cxn ang="0">
                  <a:pos x="connsiteX18" y="connsiteY18"/>
                </a:cxn>
                <a:cxn ang="0">
                  <a:pos x="connsiteX19" y="connsiteY19"/>
                </a:cxn>
                <a:cxn ang="0">
                  <a:pos x="connsiteX20" y="connsiteY20"/>
                </a:cxn>
                <a:cxn ang="0">
                  <a:pos x="connsiteX21" y="connsiteY21"/>
                </a:cxn>
                <a:cxn ang="0">
                  <a:pos x="connsiteX22" y="connsiteY22"/>
                </a:cxn>
                <a:cxn ang="0">
                  <a:pos x="connsiteX23" y="connsiteY23"/>
                </a:cxn>
                <a:cxn ang="0">
                  <a:pos x="connsiteX24" y="connsiteY24"/>
                </a:cxn>
                <a:cxn ang="0">
                  <a:pos x="connsiteX25" y="connsiteY25"/>
                </a:cxn>
                <a:cxn ang="0">
                  <a:pos x="connsiteX26" y="connsiteY26"/>
                </a:cxn>
              </a:cxnLst>
              <a:rect l="l" t="t" r="r" b="b"/>
              <a:pathLst>
                <a:path w="417960" h="157638">
                  <a:moveTo>
                    <a:pt x="368612" y="0"/>
                  </a:moveTo>
                  <a:lnTo>
                    <a:pt x="356151" y="61062"/>
                  </a:lnTo>
                  <a:lnTo>
                    <a:pt x="320760" y="61062"/>
                  </a:lnTo>
                  <a:lnTo>
                    <a:pt x="333222" y="0"/>
                  </a:lnTo>
                  <a:lnTo>
                    <a:pt x="31652" y="0"/>
                  </a:lnTo>
                  <a:lnTo>
                    <a:pt x="0" y="157638"/>
                  </a:lnTo>
                  <a:lnTo>
                    <a:pt x="120254" y="157638"/>
                  </a:lnTo>
                  <a:lnTo>
                    <a:pt x="128105" y="118260"/>
                  </a:lnTo>
                  <a:lnTo>
                    <a:pt x="57074" y="118260"/>
                  </a:lnTo>
                  <a:lnTo>
                    <a:pt x="61435" y="96577"/>
                  </a:lnTo>
                  <a:lnTo>
                    <a:pt x="132342" y="96577"/>
                  </a:lnTo>
                  <a:lnTo>
                    <a:pt x="139569" y="61062"/>
                  </a:lnTo>
                  <a:lnTo>
                    <a:pt x="68538" y="61062"/>
                  </a:lnTo>
                  <a:lnTo>
                    <a:pt x="72900" y="39378"/>
                  </a:lnTo>
                  <a:lnTo>
                    <a:pt x="185303" y="39378"/>
                  </a:lnTo>
                  <a:lnTo>
                    <a:pt x="161626" y="157638"/>
                  </a:lnTo>
                  <a:lnTo>
                    <a:pt x="210849" y="157638"/>
                  </a:lnTo>
                  <a:lnTo>
                    <a:pt x="234651" y="39378"/>
                  </a:lnTo>
                  <a:lnTo>
                    <a:pt x="276023" y="39378"/>
                  </a:lnTo>
                  <a:lnTo>
                    <a:pt x="252222" y="157638"/>
                  </a:lnTo>
                  <a:lnTo>
                    <a:pt x="301569" y="157638"/>
                  </a:lnTo>
                  <a:lnTo>
                    <a:pt x="313657" y="96577"/>
                  </a:lnTo>
                  <a:lnTo>
                    <a:pt x="349172" y="96577"/>
                  </a:lnTo>
                  <a:lnTo>
                    <a:pt x="336960" y="157638"/>
                  </a:lnTo>
                  <a:lnTo>
                    <a:pt x="386308" y="157638"/>
                  </a:lnTo>
                  <a:lnTo>
                    <a:pt x="417960" y="0"/>
                  </a:lnTo>
                  <a:lnTo>
                    <a:pt x="368612" y="0"/>
                  </a:lnTo>
                  <a:close/>
                </a:path>
              </a:pathLst>
            </a:custGeom>
            <a:grpFill/>
            <a:ln w="12419" cap="flat">
              <a:noFill/>
              <a:prstDash val="solid"/>
              <a:miter/>
            </a:ln>
          </p:spPr>
          <p:txBody>
            <a:bodyPr rtlCol="0" anchor="ctr"/>
            <a:lstStyle/>
            <a:p>
              <a:endParaRPr lang="de-CH" noProof="0"/>
            </a:p>
          </p:txBody>
        </p:sp>
      </p:grpSp>
    </p:spTree>
    <p:extLst>
      <p:ext uri="{BB962C8B-B14F-4D97-AF65-F5344CB8AC3E}">
        <p14:creationId xmlns:p14="http://schemas.microsoft.com/office/powerpoint/2010/main" val="37168353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47C2547-0B26-4181-9958-0F74634B97A1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1412874"/>
            <a:ext cx="10728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94385212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ild full p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533879-9C0F-4F94-919F-30B833E8871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05941150-30DE-48F5-9038-0E82CD18DE2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7" y="260350"/>
            <a:ext cx="10728000" cy="6012524"/>
          </a:xfrm>
        </p:spPr>
        <p:txBody>
          <a:bodyPr tIns="21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842048334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zwei Spalte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04163" y="1412875"/>
            <a:ext cx="5256000" cy="4860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040000" cy="4860000"/>
          </a:xfrm>
        </p:spPr>
        <p:txBody>
          <a:bodyPr tIns="162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399639478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2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5121800"/>
            <a:ext cx="5255999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1B9425-7348-43E2-B0E9-6A2A48F5FA8A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9" name="Bildplatzhalter 10">
            <a:extLst>
              <a:ext uri="{FF2B5EF4-FFF2-40B4-BE49-F238E27FC236}">
                <a16:creationId xmlns:a16="http://schemas.microsoft.com/office/drawing/2014/main" id="{1AAB6914-2518-430D-BF4C-14EA51B61410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204162" y="1412875"/>
            <a:ext cx="5256000" cy="3420000"/>
          </a:xfrm>
        </p:spPr>
        <p:txBody>
          <a:bodyPr tIns="90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2" name="Inhaltsplatzhalter 2">
            <a:extLst>
              <a:ext uri="{FF2B5EF4-FFF2-40B4-BE49-F238E27FC236}">
                <a16:creationId xmlns:a16="http://schemas.microsoft.com/office/drawing/2014/main" id="{5092EEFB-079B-4C38-A665-E52B9837601B}"/>
              </a:ext>
            </a:extLst>
          </p:cNvPr>
          <p:cNvSpPr>
            <a:spLocks noGrp="1"/>
          </p:cNvSpPr>
          <p:nvPr>
            <p:ph idx="15"/>
          </p:nvPr>
        </p:nvSpPr>
        <p:spPr>
          <a:xfrm>
            <a:off x="6204162" y="5121800"/>
            <a:ext cx="5256001" cy="1152000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10857507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3 Bil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6" y="4166439"/>
            <a:ext cx="10728327" cy="2124401"/>
          </a:xfrm>
        </p:spPr>
        <p:txBody>
          <a:bodyPr/>
          <a:lstStyle/>
          <a:p>
            <a:pPr lvl="0"/>
            <a:r>
              <a:rPr lang="de-DE" noProof="0"/>
              <a:t>Mastertextformat bearbeiten</a:t>
            </a:r>
          </a:p>
          <a:p>
            <a:pPr lvl="1"/>
            <a:r>
              <a:rPr lang="de-DE" noProof="0"/>
              <a:t>Zweite Ebene</a:t>
            </a:r>
          </a:p>
          <a:p>
            <a:pPr lvl="2"/>
            <a:r>
              <a:rPr lang="de-DE" noProof="0"/>
              <a:t>Dritte Ebene</a:t>
            </a:r>
          </a:p>
          <a:p>
            <a:pPr lvl="3"/>
            <a:r>
              <a:rPr lang="de-DE" noProof="0"/>
              <a:t>Vierte Ebene</a:t>
            </a:r>
          </a:p>
          <a:p>
            <a:pPr lvl="4"/>
            <a:r>
              <a:rPr lang="de-DE" noProof="0"/>
              <a:t>Fünfte Ebene</a:t>
            </a:r>
            <a:endParaRPr lang="de-CH" noProof="0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11" name="Bildplatzhalter 10">
            <a:extLst>
              <a:ext uri="{FF2B5EF4-FFF2-40B4-BE49-F238E27FC236}">
                <a16:creationId xmlns:a16="http://schemas.microsoft.com/office/drawing/2014/main" id="{221A3BAE-B19D-4390-B4A5-2C8A2CC87C59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731838" y="1412875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3" name="Bildplatzhalter 10">
            <a:extLst>
              <a:ext uri="{FF2B5EF4-FFF2-40B4-BE49-F238E27FC236}">
                <a16:creationId xmlns:a16="http://schemas.microsoft.com/office/drawing/2014/main" id="{36793346-BF6B-42A8-ADE0-3AA3DC3B239A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8040162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sp>
        <p:nvSpPr>
          <p:cNvPr id="14" name="Bildplatzhalter 10">
            <a:extLst>
              <a:ext uri="{FF2B5EF4-FFF2-40B4-BE49-F238E27FC236}">
                <a16:creationId xmlns:a16="http://schemas.microsoft.com/office/drawing/2014/main" id="{FE637F68-618E-43EB-B240-4BFA26852FC5}"/>
              </a:ext>
            </a:extLst>
          </p:cNvPr>
          <p:cNvSpPr>
            <a:spLocks noGrp="1"/>
          </p:cNvSpPr>
          <p:nvPr>
            <p:ph type="pic" sz="quarter" idx="17"/>
          </p:nvPr>
        </p:nvSpPr>
        <p:spPr>
          <a:xfrm>
            <a:off x="4385999" y="1414800"/>
            <a:ext cx="3420000" cy="2484000"/>
          </a:xfrm>
        </p:spPr>
        <p:txBody>
          <a:bodyPr tIns="360000"/>
          <a:lstStyle>
            <a:lvl1pPr marL="0" indent="0" algn="ctr">
              <a:buNone/>
              <a:defRPr/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252988954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>
          <p15:clr>
            <a:srgbClr val="FBAE4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346F7F9-CBC8-4641-B12B-7E76FD213E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noProof="0"/>
              <a:t>Mastertitelformat bearbeiten</a:t>
            </a:r>
            <a:endParaRPr lang="de-CH" noProof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87D3E2EF-5F98-49EC-BCEA-B215D49920A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1412875"/>
            <a:ext cx="10728325" cy="396000"/>
          </a:xfrm>
        </p:spPr>
        <p:txBody>
          <a:bodyPr/>
          <a:lstStyle>
            <a:lvl1pPr marL="0" indent="0">
              <a:buNone/>
              <a:defRPr b="1"/>
            </a:lvl1pPr>
            <a:lvl2pPr marL="266700" indent="0">
              <a:buNone/>
              <a:defRPr b="1"/>
            </a:lvl2pPr>
            <a:lvl3pPr marL="538163" indent="0">
              <a:buNone/>
              <a:defRPr b="1"/>
            </a:lvl3pPr>
            <a:lvl4pPr marL="804862" indent="0">
              <a:buNone/>
              <a:defRPr b="1"/>
            </a:lvl4pPr>
            <a:lvl5pPr marL="1076325" indent="0">
              <a:buNone/>
              <a:defRPr b="1"/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7DB21BA-81C0-43DB-A42C-5F672DBC37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0A0FED0-443D-411A-B8E4-0668A8890EE3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1BC78786-28C3-4EAB-A3FC-1A4BFA844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de-DE" noProof="0"/>
              <a:t>Organisationseinheit verbal</a:t>
            </a:r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FC1D5C1-A4AD-42D4-93B7-D3B71140E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‹#›</a:t>
            </a:fld>
            <a:endParaRPr lang="de-CH" noProof="0"/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7F7C476A-2849-4D68-9FA2-3A5CFC13C83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7" y="6507088"/>
            <a:ext cx="984462" cy="162000"/>
          </a:xfrm>
          <a:prstGeom prst="rect">
            <a:avLst/>
          </a:prstGeom>
        </p:spPr>
      </p:pic>
      <p:sp>
        <p:nvSpPr>
          <p:cNvPr id="9" name="Tabellenplatzhalter 8">
            <a:extLst>
              <a:ext uri="{FF2B5EF4-FFF2-40B4-BE49-F238E27FC236}">
                <a16:creationId xmlns:a16="http://schemas.microsoft.com/office/drawing/2014/main" id="{A1D947E6-CC00-458E-BDE1-B0877E30333C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731838" y="2061398"/>
            <a:ext cx="10728325" cy="4212401"/>
          </a:xfrm>
        </p:spPr>
        <p:txBody>
          <a:bodyPr tIns="1260000"/>
          <a:lstStyle>
            <a:lvl1pPr marL="0" indent="0" algn="ctr">
              <a:spcBef>
                <a:spcPts val="0"/>
              </a:spcBef>
              <a:buNone/>
              <a:defRPr sz="1400"/>
            </a:lvl1pPr>
          </a:lstStyle>
          <a:p>
            <a:r>
              <a:rPr lang="de-DE" noProof="0"/>
              <a:t>Tabelle durch Klicken auf Symbol hinzufügen</a:t>
            </a:r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2928661315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952" userDrawn="1">
          <p15:clr>
            <a:srgbClr val="FBAE4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chlussfoli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Inhaltsplatzhalter 2">
            <a:extLst>
              <a:ext uri="{FF2B5EF4-FFF2-40B4-BE49-F238E27FC236}">
                <a16:creationId xmlns:a16="http://schemas.microsoft.com/office/drawing/2014/main" id="{394B20FF-3667-40DF-92A1-C6CF3BBCA26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1837" y="2135492"/>
            <a:ext cx="10728325" cy="3960000"/>
          </a:xfrm>
        </p:spPr>
        <p:txBody>
          <a:bodyPr/>
          <a:lstStyle>
            <a:lvl1pPr marL="0" indent="0">
              <a:spcBef>
                <a:spcPts val="0"/>
              </a:spcBef>
              <a:buNone/>
              <a:defRPr>
                <a:solidFill>
                  <a:schemeClr val="tx1"/>
                </a:solidFill>
              </a:defRPr>
            </a:lvl1pPr>
            <a:lvl2pPr marL="266700" indent="0">
              <a:buNone/>
              <a:defRPr>
                <a:solidFill>
                  <a:schemeClr val="bg1"/>
                </a:solidFill>
              </a:defRPr>
            </a:lvl2pPr>
            <a:lvl3pPr marL="540000" indent="0">
              <a:buNone/>
              <a:defRPr>
                <a:solidFill>
                  <a:schemeClr val="bg1"/>
                </a:solidFill>
              </a:defRPr>
            </a:lvl3pPr>
            <a:lvl4pPr marL="808537" indent="0">
              <a:buNone/>
              <a:defRPr>
                <a:solidFill>
                  <a:schemeClr val="bg1"/>
                </a:solidFill>
              </a:defRPr>
            </a:lvl4pPr>
            <a:lvl5pPr marL="1080000" indent="0">
              <a:buNone/>
              <a:defRPr>
                <a:solidFill>
                  <a:schemeClr val="bg1"/>
                </a:solidFill>
              </a:defRPr>
            </a:lvl5pPr>
          </a:lstStyle>
          <a:p>
            <a:pPr lvl="0"/>
            <a:r>
              <a:rPr lang="de-DE" noProof="0"/>
              <a:t>Mastertextformat bearbeiten</a:t>
            </a:r>
          </a:p>
        </p:txBody>
      </p:sp>
      <p:sp>
        <p:nvSpPr>
          <p:cNvPr id="21" name="Bildplatzhalter 8">
            <a:extLst>
              <a:ext uri="{FF2B5EF4-FFF2-40B4-BE49-F238E27FC236}">
                <a16:creationId xmlns:a16="http://schemas.microsoft.com/office/drawing/2014/main" id="{794484F1-3B7F-46CE-AD0B-2310A557A99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10200163" y="6489088"/>
            <a:ext cx="1260000" cy="180000"/>
          </a:xfrm>
        </p:spPr>
        <p:txBody>
          <a:bodyPr/>
          <a:lstStyle>
            <a:lvl1pPr marL="0" indent="0" algn="l">
              <a:buNone/>
              <a:defRPr sz="700">
                <a:solidFill>
                  <a:schemeClr val="tx1"/>
                </a:solidFill>
              </a:defRPr>
            </a:lvl1pPr>
          </a:lstStyle>
          <a:p>
            <a:r>
              <a:rPr lang="de-DE" noProof="0"/>
              <a:t>Bild durch Klicken auf Symbol hinzufügen</a:t>
            </a:r>
            <a:endParaRPr lang="de-CH" noProof="0"/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F900572E-A73E-42BE-96FA-38ADC4E79FD6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731838" y="360538"/>
            <a:ext cx="1765565" cy="28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5267033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pos="6698">
          <p15:clr>
            <a:srgbClr val="FBAE40"/>
          </p15:clr>
        </p15:guide>
        <p15:guide id="3" orient="horz" pos="640">
          <p15:clr>
            <a:srgbClr val="FBAE40"/>
          </p15:clr>
        </p15:guide>
        <p15:guide id="4" orient="horz" pos="3952">
          <p15:clr>
            <a:srgbClr val="FBAE40"/>
          </p15:clr>
        </p15:guide>
      </p15:sldGuideLst>
    </p:ext>
  </p:extLst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29CEF804-E58C-481B-A606-7D35AF68FF5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837" y="260351"/>
            <a:ext cx="10728325" cy="9000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de-CH" noProof="0"/>
              <a:t>Mastertitelformat bearbeiten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5C6EC0D-393C-42F2-B6A7-B19C9B098F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731837" y="1412875"/>
            <a:ext cx="10728325" cy="4680000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de-CH" noProof="0"/>
              <a:t>Mastertextformat bearbeiten</a:t>
            </a:r>
          </a:p>
          <a:p>
            <a:pPr lvl="1"/>
            <a:r>
              <a:rPr lang="de-CH" noProof="0"/>
              <a:t>Zweite Ebene</a:t>
            </a:r>
          </a:p>
          <a:p>
            <a:pPr lvl="2"/>
            <a:r>
              <a:rPr lang="de-CH" noProof="0"/>
              <a:t>Dritte Ebene</a:t>
            </a:r>
          </a:p>
          <a:p>
            <a:pPr lvl="3"/>
            <a:r>
              <a:rPr lang="de-CH" noProof="0"/>
              <a:t>Vierte Ebene</a:t>
            </a:r>
          </a:p>
          <a:p>
            <a:pPr lvl="4"/>
            <a:r>
              <a:rPr lang="de-CH" noProof="0"/>
              <a:t>Fünfte Ebene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7C96E51-36C9-4BEE-A761-33378A0DF03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10473692" y="6522444"/>
            <a:ext cx="612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fld id="{4A358CF3-A22A-46C1-A4E5-5810212466EF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411EC403-6E63-4450-AFDD-66CA49D6CCB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2171700" y="6522444"/>
            <a:ext cx="5400000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l">
              <a:defRPr sz="800">
                <a:solidFill>
                  <a:schemeClr val="tx1"/>
                </a:solidFill>
              </a:defRPr>
            </a:lvl1pPr>
          </a:lstStyle>
          <a:p>
            <a:endParaRPr lang="de-CH" noProof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7FDFCC57-7DDC-4B2C-A6BE-862DAF9C9F1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137585" y="6522444"/>
            <a:ext cx="322577" cy="216000"/>
          </a:xfrm>
          <a:prstGeom prst="rect">
            <a:avLst/>
          </a:prstGeom>
        </p:spPr>
        <p:txBody>
          <a:bodyPr vert="horz" lIns="0" tIns="0" rIns="0" bIns="0" rtlCol="0" anchor="ctr"/>
          <a:lstStyle>
            <a:lvl1pPr algn="r">
              <a:defRPr sz="800">
                <a:solidFill>
                  <a:schemeClr val="tx1"/>
                </a:solidFill>
              </a:defRPr>
            </a:lvl1pPr>
          </a:lstStyle>
          <a:p>
            <a:fld id="{5ACA52AF-F19D-405C-AD5F-7D94B96A5CC3}" type="slidenum">
              <a:rPr lang="de-CH" noProof="0" smtClean="0"/>
              <a:pPr/>
              <a:t>‹#›</a:t>
            </a:fld>
            <a:endParaRPr lang="de-CH" noProof="0"/>
          </a:p>
        </p:txBody>
      </p:sp>
    </p:spTree>
    <p:extLst>
      <p:ext uri="{BB962C8B-B14F-4D97-AF65-F5344CB8AC3E}">
        <p14:creationId xmlns:p14="http://schemas.microsoft.com/office/powerpoint/2010/main" val="40960627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1" r:id="rId2"/>
    <p:sldLayoutId id="2147483652" r:id="rId3"/>
    <p:sldLayoutId id="2147483653" r:id="rId4"/>
    <p:sldLayoutId id="2147483654" r:id="rId5"/>
    <p:sldLayoutId id="2147483650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6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70000" indent="-2700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538163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1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080000" indent="-271463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350000" indent="-270000" algn="l" defTabSz="914400" rtl="0" eaLnBrk="1" latinLnBrk="0" hangingPunct="1">
        <a:lnSpc>
          <a:spcPct val="100000"/>
        </a:lnSpc>
        <a:spcBef>
          <a:spcPts val="500"/>
        </a:spcBef>
        <a:buFont typeface="Symbol" panose="05050102010706020507" pitchFamily="18" charset="2"/>
        <a:buChar char="-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461" userDrawn="1">
          <p15:clr>
            <a:srgbClr val="F26B43"/>
          </p15:clr>
        </p15:guide>
        <p15:guide id="3" pos="7219" userDrawn="1">
          <p15:clr>
            <a:srgbClr val="F26B43"/>
          </p15:clr>
        </p15:guide>
        <p15:guide id="4" orient="horz" pos="164" userDrawn="1">
          <p15:clr>
            <a:srgbClr val="F26B43"/>
          </p15:clr>
        </p15:guide>
        <p15:guide id="5" orient="horz" pos="890" userDrawn="1">
          <p15:clr>
            <a:srgbClr val="F26B43"/>
          </p15:clr>
        </p15:guide>
        <p15:guide id="6" orient="horz" pos="4201" userDrawn="1">
          <p15:clr>
            <a:srgbClr val="F26B43"/>
          </p15:clr>
        </p15:guide>
        <p15:guide id="7" pos="3840" userDrawn="1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4.xml"/><Relationship Id="rId5" Type="http://schemas.openxmlformats.org/officeDocument/2006/relationships/image" Target="../media/image12.png"/><Relationship Id="rId4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Bildplatzhalter 18" descr="Ein Bild, das Gebäude, Stadt, Schloss, Turm enthält.&#10;&#10;Automatisch generierte Beschreibung">
            <a:extLst>
              <a:ext uri="{FF2B5EF4-FFF2-40B4-BE49-F238E27FC236}">
                <a16:creationId xmlns:a16="http://schemas.microsoft.com/office/drawing/2014/main" id="{882FF669-564A-4497-A386-BA8B28F256B8}"/>
              </a:ext>
            </a:extLst>
          </p:cNvPr>
          <p:cNvPicPr>
            <a:picLocks noGrp="1" noChangeAspect="1"/>
          </p:cNvPicPr>
          <p:nvPr>
            <p:ph type="pic" sz="quarter" idx="11"/>
          </p:nvPr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61" b="461"/>
          <a:stretch>
            <a:fillRect/>
          </a:stretch>
        </p:blipFill>
        <p:spPr/>
      </p:pic>
      <p:sp>
        <p:nvSpPr>
          <p:cNvPr id="3" name="Titel 2">
            <a:extLst>
              <a:ext uri="{FF2B5EF4-FFF2-40B4-BE49-F238E27FC236}">
                <a16:creationId xmlns:a16="http://schemas.microsoft.com/office/drawing/2014/main" id="{AC1FB292-90C1-439C-8480-EB4116CF2374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sz="2400" noProof="0" dirty="0">
                <a:ea typeface="+mj-lt"/>
                <a:cs typeface="+mj-lt"/>
              </a:rPr>
              <a:t>Assignment 2:</a:t>
            </a:r>
            <a:br>
              <a:rPr lang="en-US" sz="2400" noProof="0" dirty="0">
                <a:ea typeface="+mj-lt"/>
                <a:cs typeface="+mj-lt"/>
              </a:rPr>
            </a:br>
            <a:r>
              <a:rPr lang="en-US" sz="2400" noProof="0" dirty="0">
                <a:ea typeface="+mj-lt"/>
                <a:cs typeface="+mj-lt"/>
              </a:rPr>
              <a:t>Baseline Challenge</a:t>
            </a:r>
          </a:p>
        </p:txBody>
      </p:sp>
      <p:sp>
        <p:nvSpPr>
          <p:cNvPr id="2" name="Bildplatzhalter 1">
            <a:extLst>
              <a:ext uri="{FF2B5EF4-FFF2-40B4-BE49-F238E27FC236}">
                <a16:creationId xmlns:a16="http://schemas.microsoft.com/office/drawing/2014/main" id="{11ADABBC-2742-48DB-BA2B-E411F07CEE7C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/>
        <p:txBody>
          <a:bodyPr/>
          <a:lstStyle/>
          <a:p>
            <a:endParaRPr lang="en-US" noProof="0"/>
          </a:p>
        </p:txBody>
      </p:sp>
      <p:sp>
        <p:nvSpPr>
          <p:cNvPr id="6" name="Textplatzhalter 5">
            <a:extLst>
              <a:ext uri="{FF2B5EF4-FFF2-40B4-BE49-F238E27FC236}">
                <a16:creationId xmlns:a16="http://schemas.microsoft.com/office/drawing/2014/main" id="{4171C1F6-869F-40B1-8975-92FF2042F4CD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 vert="horz" lIns="0" tIns="0" rIns="0" bIns="0" rtlCol="0" anchor="t">
            <a:noAutofit/>
          </a:bodyPr>
          <a:lstStyle/>
          <a:p>
            <a:r>
              <a:rPr lang="en-US" sz="1600" b="1" noProof="0" dirty="0">
                <a:cs typeface="+mn-lt"/>
              </a:rPr>
              <a:t>Constantin </a:t>
            </a:r>
            <a:r>
              <a:rPr lang="en-US" sz="1600" b="1" noProof="0">
                <a:cs typeface="+mn-lt"/>
              </a:rPr>
              <a:t>Cimpoes, Julius </a:t>
            </a:r>
            <a:r>
              <a:rPr lang="en-US" sz="1600" b="1" noProof="0" dirty="0">
                <a:cs typeface="+mn-lt"/>
              </a:rPr>
              <a:t>Voss</a:t>
            </a:r>
          </a:p>
        </p:txBody>
      </p:sp>
      <p:sp>
        <p:nvSpPr>
          <p:cNvPr id="9" name="Textplatzhalter 8">
            <a:extLst>
              <a:ext uri="{FF2B5EF4-FFF2-40B4-BE49-F238E27FC236}">
                <a16:creationId xmlns:a16="http://schemas.microsoft.com/office/drawing/2014/main" id="{C6B18E6F-BDD9-4B0B-9B9E-C25187E0E1F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endParaRPr lang="en-US" noProof="0"/>
          </a:p>
        </p:txBody>
      </p:sp>
    </p:spTree>
    <p:extLst>
      <p:ext uri="{BB962C8B-B14F-4D97-AF65-F5344CB8AC3E}">
        <p14:creationId xmlns:p14="http://schemas.microsoft.com/office/powerpoint/2010/main" val="3536168811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14102"/>
    </mc:Choice>
    <mc:Fallback xmlns="">
      <p:transition spd="slow" advTm="14102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D6D59B-742D-025E-BD09-3306E02968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8FC37F3D-0401-4858-87A7-08303556E0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EF82BE-DF56-4719-B180-C3B0D509F71F}" type="datetime1">
              <a:rPr lang="de-CH" noProof="0" smtClean="0"/>
              <a:t>25.03.2026</a:t>
            </a:fld>
            <a:endParaRPr lang="de-CH" noProof="0" dirty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F6668A99-D2EB-14F4-5468-6047A8B53C4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DE" dirty="0"/>
          </a:p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D6F0994-E2A0-79F8-2D29-F6E9657C8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2</a:t>
            </a:fld>
            <a:endParaRPr lang="de-CH" noProof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6AA545B-3B28-6803-1E27-2A196AFAE8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1230" y="119556"/>
            <a:ext cx="10728325" cy="900000"/>
          </a:xfrm>
        </p:spPr>
        <p:txBody>
          <a:bodyPr/>
          <a:lstStyle/>
          <a:p>
            <a:r>
              <a:rPr lang="en-US" dirty="0"/>
              <a:t>RFM Baseline for CLV Prediction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838C4B1-8BA4-8DD6-388B-E7C0C4E144DA}"/>
              </a:ext>
            </a:extLst>
          </p:cNvPr>
          <p:cNvSpPr txBox="1"/>
          <p:nvPr/>
        </p:nvSpPr>
        <p:spPr>
          <a:xfrm>
            <a:off x="6348822" y="2038811"/>
            <a:ext cx="586657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●"/>
            </a:pPr>
            <a:r>
              <a:rPr lang="en-US" b="1" dirty="0"/>
              <a:t>Ridge Regression</a:t>
            </a:r>
            <a:r>
              <a:rPr lang="en-US" dirty="0"/>
              <a:t>: </a:t>
            </a:r>
            <a:r>
              <a:rPr lang="en-US" sz="1600" dirty="0"/>
              <a:t>The simple linear ridge model cannot handle customers who spent a lot in 2021 but stopped completely in 2023. It hallucinates high revenue for dead accounts</a:t>
            </a:r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sz="1600" dirty="0"/>
          </a:p>
          <a:p>
            <a:endParaRPr lang="en-US" sz="1600" dirty="0"/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●"/>
            </a:pPr>
            <a:r>
              <a:rPr lang="en-US" b="1" dirty="0" err="1"/>
              <a:t>LightGBM</a:t>
            </a:r>
            <a:r>
              <a:rPr lang="en-US" dirty="0"/>
              <a:t>: </a:t>
            </a:r>
            <a:r>
              <a:rPr lang="en-US" sz="1600" dirty="0"/>
              <a:t>We implement a tree-based model that can implicitly learn to ignore these churned customers. Upgrading to a tree-based model cuts the MAE by ~30%:</a:t>
            </a:r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dirty="0"/>
          </a:p>
          <a:p>
            <a:pPr marL="285750" indent="-285750">
              <a:buFont typeface="Arial" panose="020B0604020202020204" pitchFamily="34" charset="0"/>
              <a:buChar char="●"/>
            </a:pPr>
            <a:endParaRPr lang="en-US" sz="1400" dirty="0"/>
          </a:p>
          <a:p>
            <a:pPr marL="285750" indent="-285750">
              <a:buFont typeface="Arial" panose="020B0604020202020204" pitchFamily="34" charset="0"/>
              <a:buChar char="●"/>
            </a:pPr>
            <a:r>
              <a:rPr lang="en-US" b="1" dirty="0"/>
              <a:t>Next Steps</a:t>
            </a:r>
            <a:r>
              <a:rPr lang="en-US" dirty="0"/>
              <a:t>: </a:t>
            </a:r>
            <a:r>
              <a:rPr lang="en-US" sz="1600" dirty="0"/>
              <a:t>Pure RFM is insufficient to close the gap to the 93 NOK benchmark</a:t>
            </a:r>
            <a:endParaRPr lang="en-US" dirty="0"/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F73E8C4E-6B72-DE38-8DAE-1F0E44DCA590}"/>
              </a:ext>
            </a:extLst>
          </p:cNvPr>
          <p:cNvGrpSpPr/>
          <p:nvPr/>
        </p:nvGrpSpPr>
        <p:grpSpPr>
          <a:xfrm>
            <a:off x="122238" y="705843"/>
            <a:ext cx="6203183" cy="1626621"/>
            <a:chOff x="4924012" y="1256056"/>
            <a:chExt cx="7207830" cy="1626621"/>
          </a:xfrm>
        </p:grpSpPr>
        <p:sp>
          <p:nvSpPr>
            <p:cNvPr id="71" name="TextBox 70">
              <a:extLst>
                <a:ext uri="{FF2B5EF4-FFF2-40B4-BE49-F238E27FC236}">
                  <a16:creationId xmlns:a16="http://schemas.microsoft.com/office/drawing/2014/main" id="{2FE72850-96D5-C273-26F1-EC72D20FCF41}"/>
                </a:ext>
              </a:extLst>
            </p:cNvPr>
            <p:cNvSpPr txBox="1"/>
            <p:nvPr/>
          </p:nvSpPr>
          <p:spPr>
            <a:xfrm>
              <a:off x="4942917" y="1256056"/>
              <a:ext cx="99257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 dirty="0">
                  <a:ln/>
                  <a:solidFill>
                    <a:srgbClr val="B8B6D8"/>
                  </a:solidFill>
                  <a:latin typeface="Segoe UI"/>
                  <a:cs typeface="Segoe UI"/>
                  <a:sym typeface="Segoe UI"/>
                  <a:rtl val="0"/>
                </a:rPr>
                <a:t>Validation fold</a:t>
              </a:r>
            </a:p>
          </p:txBody>
        </p:sp>
        <p:sp>
          <p:nvSpPr>
            <p:cNvPr id="72" name="TextBox 71">
              <a:extLst>
                <a:ext uri="{FF2B5EF4-FFF2-40B4-BE49-F238E27FC236}">
                  <a16:creationId xmlns:a16="http://schemas.microsoft.com/office/drawing/2014/main" id="{D9E0C421-6492-CC4B-0270-38CA8BF5EC4D}"/>
                </a:ext>
              </a:extLst>
            </p:cNvPr>
            <p:cNvSpPr txBox="1"/>
            <p:nvPr/>
          </p:nvSpPr>
          <p:spPr>
            <a:xfrm>
              <a:off x="4942582" y="1399684"/>
              <a:ext cx="1079142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(current testing)</a:t>
              </a:r>
            </a:p>
          </p:txBody>
        </p:sp>
        <p:sp>
          <p:nvSpPr>
            <p:cNvPr id="73" name="TextBox 72">
              <a:extLst>
                <a:ext uri="{FF2B5EF4-FFF2-40B4-BE49-F238E27FC236}">
                  <a16:creationId xmlns:a16="http://schemas.microsoft.com/office/drawing/2014/main" id="{13A4AAAF-731E-4D68-68AD-966770499C6F}"/>
                </a:ext>
              </a:extLst>
            </p:cNvPr>
            <p:cNvSpPr txBox="1"/>
            <p:nvPr/>
          </p:nvSpPr>
          <p:spPr>
            <a:xfrm>
              <a:off x="4924719" y="1941856"/>
              <a:ext cx="1080745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B8B6D8"/>
                  </a:solidFill>
                  <a:latin typeface="Segoe UI"/>
                  <a:cs typeface="Segoe UI"/>
                  <a:sym typeface="Segoe UI"/>
                  <a:rtl val="0"/>
                </a:rPr>
                <a:t>Final submission</a:t>
              </a:r>
            </a:p>
          </p:txBody>
        </p:sp>
        <p:sp>
          <p:nvSpPr>
            <p:cNvPr id="74" name="TextBox 73">
              <a:extLst>
                <a:ext uri="{FF2B5EF4-FFF2-40B4-BE49-F238E27FC236}">
                  <a16:creationId xmlns:a16="http://schemas.microsoft.com/office/drawing/2014/main" id="{F7F49F98-E120-17E6-34B1-E066F4FC4A24}"/>
                </a:ext>
              </a:extLst>
            </p:cNvPr>
            <p:cNvSpPr txBox="1"/>
            <p:nvPr/>
          </p:nvSpPr>
          <p:spPr>
            <a:xfrm>
              <a:off x="4924012" y="2085484"/>
              <a:ext cx="12025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(future prediction)</a:t>
              </a:r>
            </a:p>
          </p:txBody>
        </p:sp>
        <p:sp>
          <p:nvSpPr>
            <p:cNvPr id="75" name="Freeform: Shape 74">
              <a:extLst>
                <a:ext uri="{FF2B5EF4-FFF2-40B4-BE49-F238E27FC236}">
                  <a16:creationId xmlns:a16="http://schemas.microsoft.com/office/drawing/2014/main" id="{B03F168B-92EB-8CA8-C89A-89D0DA73297F}"/>
                </a:ext>
              </a:extLst>
            </p:cNvPr>
            <p:cNvSpPr/>
            <p:nvPr/>
          </p:nvSpPr>
          <p:spPr>
            <a:xfrm>
              <a:off x="6210300" y="1257300"/>
              <a:ext cx="2457450" cy="247650"/>
            </a:xfrm>
            <a:custGeom>
              <a:avLst/>
              <a:gdLst>
                <a:gd name="csX0" fmla="*/ 2419350 w 2457450"/>
                <a:gd name="csY0" fmla="*/ 0 h 247650"/>
                <a:gd name="csX1" fmla="*/ 2457450 w 2457450"/>
                <a:gd name="csY1" fmla="*/ 0 h 247650"/>
                <a:gd name="csX2" fmla="*/ 2457450 w 2457450"/>
                <a:gd name="csY2" fmla="*/ 247650 h 247650"/>
                <a:gd name="csX3" fmla="*/ 2419350 w 2457450"/>
                <a:gd name="csY3" fmla="*/ 247650 h 247650"/>
                <a:gd name="csX4" fmla="*/ 38100 w 2457450"/>
                <a:gd name="csY4" fmla="*/ 247650 h 247650"/>
                <a:gd name="csX5" fmla="*/ 0 w 2457450"/>
                <a:gd name="csY5" fmla="*/ 247650 h 247650"/>
                <a:gd name="csX6" fmla="*/ 0 w 2457450"/>
                <a:gd name="csY6" fmla="*/ 0 h 247650"/>
                <a:gd name="csX7" fmla="*/ 38100 w 2457450"/>
                <a:gd name="csY7" fmla="*/ 0 h 247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457450" h="247650">
                  <a:moveTo>
                    <a:pt x="2419350" y="0"/>
                  </a:moveTo>
                  <a:cubicBezTo>
                    <a:pt x="2440392" y="0"/>
                    <a:pt x="2457450" y="0"/>
                    <a:pt x="2457450" y="0"/>
                  </a:cubicBezTo>
                  <a:lnTo>
                    <a:pt x="2457450" y="247650"/>
                  </a:lnTo>
                  <a:cubicBezTo>
                    <a:pt x="2457450" y="247650"/>
                    <a:pt x="2440392" y="247650"/>
                    <a:pt x="2419350" y="247650"/>
                  </a:cubicBezTo>
                  <a:lnTo>
                    <a:pt x="38100" y="247650"/>
                  </a:lnTo>
                  <a:cubicBezTo>
                    <a:pt x="17058" y="247650"/>
                    <a:pt x="0" y="247650"/>
                    <a:pt x="0" y="2476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534AB7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76" name="TextBox 75">
              <a:extLst>
                <a:ext uri="{FF2B5EF4-FFF2-40B4-BE49-F238E27FC236}">
                  <a16:creationId xmlns:a16="http://schemas.microsoft.com/office/drawing/2014/main" id="{2A9087F4-A921-B2D4-BD73-C9245E005CA4}"/>
                </a:ext>
              </a:extLst>
            </p:cNvPr>
            <p:cNvSpPr txBox="1"/>
            <p:nvPr/>
          </p:nvSpPr>
          <p:spPr>
            <a:xfrm>
              <a:off x="6989513" y="1270720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D0CEFC"/>
                  </a:solidFill>
                  <a:latin typeface="Segoe UI"/>
                  <a:cs typeface="Segoe UI"/>
                  <a:sym typeface="Segoe UI"/>
                  <a:rtl val="0"/>
                </a:rPr>
                <a:t>Feature window</a:t>
              </a:r>
            </a:p>
          </p:txBody>
        </p:sp>
        <p:sp>
          <p:nvSpPr>
            <p:cNvPr id="77" name="Freeform: Shape 76">
              <a:extLst>
                <a:ext uri="{FF2B5EF4-FFF2-40B4-BE49-F238E27FC236}">
                  <a16:creationId xmlns:a16="http://schemas.microsoft.com/office/drawing/2014/main" id="{D5CEB38E-6D0E-3631-CA96-E6AB39F48FE4}"/>
                </a:ext>
              </a:extLst>
            </p:cNvPr>
            <p:cNvSpPr/>
            <p:nvPr/>
          </p:nvSpPr>
          <p:spPr>
            <a:xfrm>
              <a:off x="8667750" y="1257300"/>
              <a:ext cx="1466850" cy="247650"/>
            </a:xfrm>
            <a:custGeom>
              <a:avLst/>
              <a:gdLst>
                <a:gd name="csX0" fmla="*/ 1428750 w 1466850"/>
                <a:gd name="csY0" fmla="*/ 0 h 247650"/>
                <a:gd name="csX1" fmla="*/ 1466850 w 1466850"/>
                <a:gd name="csY1" fmla="*/ 0 h 247650"/>
                <a:gd name="csX2" fmla="*/ 1466850 w 1466850"/>
                <a:gd name="csY2" fmla="*/ 247650 h 247650"/>
                <a:gd name="csX3" fmla="*/ 1428750 w 1466850"/>
                <a:gd name="csY3" fmla="*/ 247650 h 247650"/>
                <a:gd name="csX4" fmla="*/ 38100 w 1466850"/>
                <a:gd name="csY4" fmla="*/ 247650 h 247650"/>
                <a:gd name="csX5" fmla="*/ 0 w 1466850"/>
                <a:gd name="csY5" fmla="*/ 247650 h 247650"/>
                <a:gd name="csX6" fmla="*/ 0 w 1466850"/>
                <a:gd name="csY6" fmla="*/ 0 h 247650"/>
                <a:gd name="csX7" fmla="*/ 38100 w 1466850"/>
                <a:gd name="csY7" fmla="*/ 0 h 247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66850" h="247650">
                  <a:moveTo>
                    <a:pt x="1428750" y="0"/>
                  </a:moveTo>
                  <a:cubicBezTo>
                    <a:pt x="1449792" y="0"/>
                    <a:pt x="1466850" y="0"/>
                    <a:pt x="1466850" y="0"/>
                  </a:cubicBezTo>
                  <a:lnTo>
                    <a:pt x="1466850" y="247650"/>
                  </a:lnTo>
                  <a:cubicBezTo>
                    <a:pt x="1466850" y="247650"/>
                    <a:pt x="1449792" y="247650"/>
                    <a:pt x="1428750" y="247650"/>
                  </a:cubicBezTo>
                  <a:lnTo>
                    <a:pt x="38100" y="247650"/>
                  </a:lnTo>
                  <a:cubicBezTo>
                    <a:pt x="17058" y="247650"/>
                    <a:pt x="0" y="247650"/>
                    <a:pt x="0" y="2476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D85A30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78" name="TextBox 77">
              <a:extLst>
                <a:ext uri="{FF2B5EF4-FFF2-40B4-BE49-F238E27FC236}">
                  <a16:creationId xmlns:a16="http://schemas.microsoft.com/office/drawing/2014/main" id="{D02B202D-040E-2948-8062-002C4A386590}"/>
                </a:ext>
              </a:extLst>
            </p:cNvPr>
            <p:cNvSpPr txBox="1"/>
            <p:nvPr/>
          </p:nvSpPr>
          <p:spPr>
            <a:xfrm>
              <a:off x="9019031" y="1270720"/>
              <a:ext cx="90120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F5CDB6"/>
                  </a:solidFill>
                  <a:latin typeface="Segoe UI"/>
                  <a:cs typeface="Segoe UI"/>
                  <a:sym typeface="Segoe UI"/>
                  <a:rtl val="0"/>
                </a:rPr>
                <a:t>Target (12M)</a:t>
              </a:r>
            </a:p>
          </p:txBody>
        </p:sp>
        <p:sp>
          <p:nvSpPr>
            <p:cNvPr id="79" name="Freeform: Shape 78">
              <a:extLst>
                <a:ext uri="{FF2B5EF4-FFF2-40B4-BE49-F238E27FC236}">
                  <a16:creationId xmlns:a16="http://schemas.microsoft.com/office/drawing/2014/main" id="{0CB29E37-5B5A-58E4-C945-8C8B57720F9E}"/>
                </a:ext>
              </a:extLst>
            </p:cNvPr>
            <p:cNvSpPr/>
            <p:nvPr/>
          </p:nvSpPr>
          <p:spPr>
            <a:xfrm>
              <a:off x="7686675" y="1971675"/>
              <a:ext cx="2447925" cy="247650"/>
            </a:xfrm>
            <a:custGeom>
              <a:avLst/>
              <a:gdLst>
                <a:gd name="csX0" fmla="*/ 2409825 w 2447925"/>
                <a:gd name="csY0" fmla="*/ 0 h 247650"/>
                <a:gd name="csX1" fmla="*/ 2447925 w 2447925"/>
                <a:gd name="csY1" fmla="*/ 0 h 247650"/>
                <a:gd name="csX2" fmla="*/ 2447925 w 2447925"/>
                <a:gd name="csY2" fmla="*/ 247650 h 247650"/>
                <a:gd name="csX3" fmla="*/ 2409825 w 2447925"/>
                <a:gd name="csY3" fmla="*/ 247650 h 247650"/>
                <a:gd name="csX4" fmla="*/ 38100 w 2447925"/>
                <a:gd name="csY4" fmla="*/ 247650 h 247650"/>
                <a:gd name="csX5" fmla="*/ 0 w 2447925"/>
                <a:gd name="csY5" fmla="*/ 247650 h 247650"/>
                <a:gd name="csX6" fmla="*/ 0 w 2447925"/>
                <a:gd name="csY6" fmla="*/ 0 h 247650"/>
                <a:gd name="csX7" fmla="*/ 38100 w 2447925"/>
                <a:gd name="csY7" fmla="*/ 0 h 247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2447925" h="247650">
                  <a:moveTo>
                    <a:pt x="2409825" y="0"/>
                  </a:moveTo>
                  <a:cubicBezTo>
                    <a:pt x="2430867" y="0"/>
                    <a:pt x="2447925" y="0"/>
                    <a:pt x="2447925" y="0"/>
                  </a:cubicBezTo>
                  <a:lnTo>
                    <a:pt x="2447925" y="247650"/>
                  </a:lnTo>
                  <a:cubicBezTo>
                    <a:pt x="2447925" y="247650"/>
                    <a:pt x="2430867" y="247650"/>
                    <a:pt x="2409825" y="247650"/>
                  </a:cubicBezTo>
                  <a:lnTo>
                    <a:pt x="38100" y="247650"/>
                  </a:lnTo>
                  <a:cubicBezTo>
                    <a:pt x="17058" y="247650"/>
                    <a:pt x="0" y="247650"/>
                    <a:pt x="0" y="2476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534AB7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0" name="TextBox 79">
              <a:extLst>
                <a:ext uri="{FF2B5EF4-FFF2-40B4-BE49-F238E27FC236}">
                  <a16:creationId xmlns:a16="http://schemas.microsoft.com/office/drawing/2014/main" id="{3745A372-DD15-77FB-4592-20932CDB4D93}"/>
                </a:ext>
              </a:extLst>
            </p:cNvPr>
            <p:cNvSpPr txBox="1"/>
            <p:nvPr/>
          </p:nvSpPr>
          <p:spPr>
            <a:xfrm>
              <a:off x="8456363" y="1985095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D0CEFC"/>
                  </a:solidFill>
                  <a:latin typeface="Segoe UI"/>
                  <a:cs typeface="Segoe UI"/>
                  <a:sym typeface="Segoe UI"/>
                  <a:rtl val="0"/>
                </a:rPr>
                <a:t>Feature window</a:t>
              </a:r>
            </a:p>
          </p:txBody>
        </p:sp>
        <p:sp>
          <p:nvSpPr>
            <p:cNvPr id="81" name="Freeform: Shape 80">
              <a:extLst>
                <a:ext uri="{FF2B5EF4-FFF2-40B4-BE49-F238E27FC236}">
                  <a16:creationId xmlns:a16="http://schemas.microsoft.com/office/drawing/2014/main" id="{1B8AD6FC-7DBD-757E-60C3-F7BB7ECCB5C4}"/>
                </a:ext>
              </a:extLst>
            </p:cNvPr>
            <p:cNvSpPr/>
            <p:nvPr/>
          </p:nvSpPr>
          <p:spPr>
            <a:xfrm>
              <a:off x="10134600" y="1971675"/>
              <a:ext cx="1476375" cy="247650"/>
            </a:xfrm>
            <a:custGeom>
              <a:avLst/>
              <a:gdLst>
                <a:gd name="csX0" fmla="*/ 1438275 w 1476375"/>
                <a:gd name="csY0" fmla="*/ 0 h 247650"/>
                <a:gd name="csX1" fmla="*/ 1476375 w 1476375"/>
                <a:gd name="csY1" fmla="*/ 0 h 247650"/>
                <a:gd name="csX2" fmla="*/ 1476375 w 1476375"/>
                <a:gd name="csY2" fmla="*/ 247650 h 247650"/>
                <a:gd name="csX3" fmla="*/ 1438275 w 1476375"/>
                <a:gd name="csY3" fmla="*/ 247650 h 247650"/>
                <a:gd name="csX4" fmla="*/ 38100 w 1476375"/>
                <a:gd name="csY4" fmla="*/ 247650 h 247650"/>
                <a:gd name="csX5" fmla="*/ 0 w 1476375"/>
                <a:gd name="csY5" fmla="*/ 247650 h 247650"/>
                <a:gd name="csX6" fmla="*/ 0 w 1476375"/>
                <a:gd name="csY6" fmla="*/ 0 h 247650"/>
                <a:gd name="csX7" fmla="*/ 38100 w 1476375"/>
                <a:gd name="csY7" fmla="*/ 0 h 2476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476375" h="247650">
                  <a:moveTo>
                    <a:pt x="1438275" y="0"/>
                  </a:moveTo>
                  <a:cubicBezTo>
                    <a:pt x="1459317" y="0"/>
                    <a:pt x="1476375" y="0"/>
                    <a:pt x="1476375" y="0"/>
                  </a:cubicBezTo>
                  <a:lnTo>
                    <a:pt x="1476375" y="247650"/>
                  </a:lnTo>
                  <a:cubicBezTo>
                    <a:pt x="1476375" y="247650"/>
                    <a:pt x="1459317" y="247650"/>
                    <a:pt x="1438275" y="247650"/>
                  </a:cubicBezTo>
                  <a:lnTo>
                    <a:pt x="38100" y="247650"/>
                  </a:lnTo>
                  <a:cubicBezTo>
                    <a:pt x="17058" y="247650"/>
                    <a:pt x="0" y="247650"/>
                    <a:pt x="0" y="247650"/>
                  </a:cubicBezTo>
                  <a:lnTo>
                    <a:pt x="0" y="0"/>
                  </a:lnTo>
                  <a:cubicBezTo>
                    <a:pt x="0" y="0"/>
                    <a:pt x="17058" y="0"/>
                    <a:pt x="38100" y="0"/>
                  </a:cubicBezTo>
                  <a:close/>
                </a:path>
              </a:pathLst>
            </a:custGeom>
            <a:solidFill>
              <a:srgbClr val="D85A30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2" name="TextBox 81">
              <a:extLst>
                <a:ext uri="{FF2B5EF4-FFF2-40B4-BE49-F238E27FC236}">
                  <a16:creationId xmlns:a16="http://schemas.microsoft.com/office/drawing/2014/main" id="{7B825F5F-119F-775B-9BC7-6953DE87AC2A}"/>
                </a:ext>
              </a:extLst>
            </p:cNvPr>
            <p:cNvSpPr txBox="1"/>
            <p:nvPr/>
          </p:nvSpPr>
          <p:spPr>
            <a:xfrm>
              <a:off x="10485881" y="1985095"/>
              <a:ext cx="901209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F5CDB6"/>
                  </a:solidFill>
                  <a:latin typeface="Segoe UI"/>
                  <a:cs typeface="Segoe UI"/>
                  <a:sym typeface="Segoe UI"/>
                  <a:rtl val="0"/>
                </a:rPr>
                <a:t>Target (12M)</a:t>
              </a:r>
            </a:p>
          </p:txBody>
        </p:sp>
        <p:sp>
          <p:nvSpPr>
            <p:cNvPr id="83" name="Freeform: Shape 82">
              <a:extLst>
                <a:ext uri="{FF2B5EF4-FFF2-40B4-BE49-F238E27FC236}">
                  <a16:creationId xmlns:a16="http://schemas.microsoft.com/office/drawing/2014/main" id="{3CDC5862-3FA7-E42D-8FFA-A2D07FA5C098}"/>
                </a:ext>
              </a:extLst>
            </p:cNvPr>
            <p:cNvSpPr/>
            <p:nvPr/>
          </p:nvSpPr>
          <p:spPr>
            <a:xfrm>
              <a:off x="6210300" y="2438400"/>
              <a:ext cx="5524500" cy="9525"/>
            </a:xfrm>
            <a:custGeom>
              <a:avLst/>
              <a:gdLst>
                <a:gd name="csX0" fmla="*/ 0 w 5524500"/>
                <a:gd name="csY0" fmla="*/ 0 h 9525"/>
                <a:gd name="csX1" fmla="*/ 5524500 w 5524500"/>
                <a:gd name="csY1" fmla="*/ 0 h 952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5524500" h="9525">
                  <a:moveTo>
                    <a:pt x="0" y="0"/>
                  </a:moveTo>
                  <a:lnTo>
                    <a:pt x="5524500" y="0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4" name="Freeform: Shape 83">
              <a:extLst>
                <a:ext uri="{FF2B5EF4-FFF2-40B4-BE49-F238E27FC236}">
                  <a16:creationId xmlns:a16="http://schemas.microsoft.com/office/drawing/2014/main" id="{7AC58178-8672-F3A6-BDB1-CFF779C8E1F3}"/>
                </a:ext>
              </a:extLst>
            </p:cNvPr>
            <p:cNvSpPr/>
            <p:nvPr/>
          </p:nvSpPr>
          <p:spPr>
            <a:xfrm>
              <a:off x="6581775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5" name="TextBox 84">
              <a:extLst>
                <a:ext uri="{FF2B5EF4-FFF2-40B4-BE49-F238E27FC236}">
                  <a16:creationId xmlns:a16="http://schemas.microsoft.com/office/drawing/2014/main" id="{218AC7A8-311C-3C70-F317-87757EFD14CC}"/>
                </a:ext>
              </a:extLst>
            </p:cNvPr>
            <p:cNvSpPr txBox="1"/>
            <p:nvPr/>
          </p:nvSpPr>
          <p:spPr>
            <a:xfrm>
              <a:off x="6308873" y="2456959"/>
              <a:ext cx="6799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Apr 2021</a:t>
              </a:r>
            </a:p>
          </p:txBody>
        </p:sp>
        <p:sp>
          <p:nvSpPr>
            <p:cNvPr id="86" name="Freeform: Shape 85">
              <a:extLst>
                <a:ext uri="{FF2B5EF4-FFF2-40B4-BE49-F238E27FC236}">
                  <a16:creationId xmlns:a16="http://schemas.microsoft.com/office/drawing/2014/main" id="{D180F70C-E101-0658-2686-1CFCCFA15D70}"/>
                </a:ext>
              </a:extLst>
            </p:cNvPr>
            <p:cNvSpPr/>
            <p:nvPr/>
          </p:nvSpPr>
          <p:spPr>
            <a:xfrm>
              <a:off x="731520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7" name="TextBox 86">
              <a:extLst>
                <a:ext uri="{FF2B5EF4-FFF2-40B4-BE49-F238E27FC236}">
                  <a16:creationId xmlns:a16="http://schemas.microsoft.com/office/drawing/2014/main" id="{6DB8E407-4001-7951-BBED-2D1D484414AD}"/>
                </a:ext>
              </a:extLst>
            </p:cNvPr>
            <p:cNvSpPr txBox="1"/>
            <p:nvPr/>
          </p:nvSpPr>
          <p:spPr>
            <a:xfrm>
              <a:off x="7043469" y="2456959"/>
              <a:ext cx="6687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Oct 2021</a:t>
              </a:r>
            </a:p>
          </p:txBody>
        </p:sp>
        <p:sp>
          <p:nvSpPr>
            <p:cNvPr id="88" name="Freeform: Shape 87">
              <a:extLst>
                <a:ext uri="{FF2B5EF4-FFF2-40B4-BE49-F238E27FC236}">
                  <a16:creationId xmlns:a16="http://schemas.microsoft.com/office/drawing/2014/main" id="{63D1978E-3289-125B-2746-03CEA43735DA}"/>
                </a:ext>
              </a:extLst>
            </p:cNvPr>
            <p:cNvSpPr/>
            <p:nvPr/>
          </p:nvSpPr>
          <p:spPr>
            <a:xfrm>
              <a:off x="8048625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E21A0350-A399-3FA7-BADE-014F48B7C028}"/>
                </a:ext>
              </a:extLst>
            </p:cNvPr>
            <p:cNvSpPr txBox="1"/>
            <p:nvPr/>
          </p:nvSpPr>
          <p:spPr>
            <a:xfrm>
              <a:off x="7775723" y="2456959"/>
              <a:ext cx="6799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Apr 2022</a:t>
              </a:r>
            </a:p>
          </p:txBody>
        </p:sp>
        <p:sp>
          <p:nvSpPr>
            <p:cNvPr id="90" name="Freeform: Shape 89">
              <a:extLst>
                <a:ext uri="{FF2B5EF4-FFF2-40B4-BE49-F238E27FC236}">
                  <a16:creationId xmlns:a16="http://schemas.microsoft.com/office/drawing/2014/main" id="{46CE8176-3271-D450-536D-534F069963F6}"/>
                </a:ext>
              </a:extLst>
            </p:cNvPr>
            <p:cNvSpPr/>
            <p:nvPr/>
          </p:nvSpPr>
          <p:spPr>
            <a:xfrm>
              <a:off x="878205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1" name="TextBox 90">
              <a:extLst>
                <a:ext uri="{FF2B5EF4-FFF2-40B4-BE49-F238E27FC236}">
                  <a16:creationId xmlns:a16="http://schemas.microsoft.com/office/drawing/2014/main" id="{53A612A9-B091-1543-C755-A103554FB818}"/>
                </a:ext>
              </a:extLst>
            </p:cNvPr>
            <p:cNvSpPr txBox="1"/>
            <p:nvPr/>
          </p:nvSpPr>
          <p:spPr>
            <a:xfrm>
              <a:off x="8510319" y="2456959"/>
              <a:ext cx="6687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Oct 2022</a:t>
              </a:r>
            </a:p>
          </p:txBody>
        </p:sp>
        <p:sp>
          <p:nvSpPr>
            <p:cNvPr id="92" name="Freeform: Shape 91">
              <a:extLst>
                <a:ext uri="{FF2B5EF4-FFF2-40B4-BE49-F238E27FC236}">
                  <a16:creationId xmlns:a16="http://schemas.microsoft.com/office/drawing/2014/main" id="{278034E3-550A-F453-5A00-78C9F8FD98C6}"/>
                </a:ext>
              </a:extLst>
            </p:cNvPr>
            <p:cNvSpPr/>
            <p:nvPr/>
          </p:nvSpPr>
          <p:spPr>
            <a:xfrm>
              <a:off x="952500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3" name="TextBox 92">
              <a:extLst>
                <a:ext uri="{FF2B5EF4-FFF2-40B4-BE49-F238E27FC236}">
                  <a16:creationId xmlns:a16="http://schemas.microsoft.com/office/drawing/2014/main" id="{354C49AA-D41E-A065-E576-4A2E3127319C}"/>
                </a:ext>
              </a:extLst>
            </p:cNvPr>
            <p:cNvSpPr txBox="1"/>
            <p:nvPr/>
          </p:nvSpPr>
          <p:spPr>
            <a:xfrm>
              <a:off x="9252098" y="2456959"/>
              <a:ext cx="6799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Apr 2023</a:t>
              </a:r>
            </a:p>
          </p:txBody>
        </p:sp>
        <p:sp>
          <p:nvSpPr>
            <p:cNvPr id="94" name="Freeform: Shape 93">
              <a:extLst>
                <a:ext uri="{FF2B5EF4-FFF2-40B4-BE49-F238E27FC236}">
                  <a16:creationId xmlns:a16="http://schemas.microsoft.com/office/drawing/2014/main" id="{5CCF3DC9-7065-E410-0D18-384C99755681}"/>
                </a:ext>
              </a:extLst>
            </p:cNvPr>
            <p:cNvSpPr/>
            <p:nvPr/>
          </p:nvSpPr>
          <p:spPr>
            <a:xfrm>
              <a:off x="10258425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5" name="TextBox 94">
              <a:extLst>
                <a:ext uri="{FF2B5EF4-FFF2-40B4-BE49-F238E27FC236}">
                  <a16:creationId xmlns:a16="http://schemas.microsoft.com/office/drawing/2014/main" id="{22B2EFFB-DFCB-740F-4397-6F9AE366DBE1}"/>
                </a:ext>
              </a:extLst>
            </p:cNvPr>
            <p:cNvSpPr txBox="1"/>
            <p:nvPr/>
          </p:nvSpPr>
          <p:spPr>
            <a:xfrm>
              <a:off x="9986694" y="2456959"/>
              <a:ext cx="6687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Oct 2023</a:t>
              </a:r>
            </a:p>
          </p:txBody>
        </p:sp>
        <p:sp>
          <p:nvSpPr>
            <p:cNvPr id="96" name="Freeform: Shape 95">
              <a:extLst>
                <a:ext uri="{FF2B5EF4-FFF2-40B4-BE49-F238E27FC236}">
                  <a16:creationId xmlns:a16="http://schemas.microsoft.com/office/drawing/2014/main" id="{F1B2FA54-2789-6E0D-F49F-06289D033B1F}"/>
                </a:ext>
              </a:extLst>
            </p:cNvPr>
            <p:cNvSpPr/>
            <p:nvPr/>
          </p:nvSpPr>
          <p:spPr>
            <a:xfrm>
              <a:off x="1099185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7" name="TextBox 96">
              <a:extLst>
                <a:ext uri="{FF2B5EF4-FFF2-40B4-BE49-F238E27FC236}">
                  <a16:creationId xmlns:a16="http://schemas.microsoft.com/office/drawing/2014/main" id="{F24246DB-2654-E9A0-3E98-EC9FA3579F7A}"/>
                </a:ext>
              </a:extLst>
            </p:cNvPr>
            <p:cNvSpPr txBox="1"/>
            <p:nvPr/>
          </p:nvSpPr>
          <p:spPr>
            <a:xfrm>
              <a:off x="10718948" y="2456959"/>
              <a:ext cx="6799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Apr 2024</a:t>
              </a:r>
            </a:p>
          </p:txBody>
        </p:sp>
        <p:sp>
          <p:nvSpPr>
            <p:cNvPr id="98" name="Freeform: Shape 97">
              <a:extLst>
                <a:ext uri="{FF2B5EF4-FFF2-40B4-BE49-F238E27FC236}">
                  <a16:creationId xmlns:a16="http://schemas.microsoft.com/office/drawing/2014/main" id="{B9FCC387-09FE-1FF6-8993-C4FDAE5EC058}"/>
                </a:ext>
              </a:extLst>
            </p:cNvPr>
            <p:cNvSpPr/>
            <p:nvPr/>
          </p:nvSpPr>
          <p:spPr>
            <a:xfrm>
              <a:off x="11734800" y="2409825"/>
              <a:ext cx="9525" cy="66675"/>
            </a:xfrm>
            <a:custGeom>
              <a:avLst/>
              <a:gdLst>
                <a:gd name="csX0" fmla="*/ 0 w 9525"/>
                <a:gd name="csY0" fmla="*/ 0 h 66675"/>
                <a:gd name="csX1" fmla="*/ 0 w 9525"/>
                <a:gd name="csY1" fmla="*/ 66675 h 66675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</a:cxnLst>
              <a:rect l="l" t="t" r="r" b="b"/>
              <a:pathLst>
                <a:path w="9525" h="66675">
                  <a:moveTo>
                    <a:pt x="0" y="0"/>
                  </a:moveTo>
                  <a:lnTo>
                    <a:pt x="0" y="66675"/>
                  </a:lnTo>
                </a:path>
              </a:pathLst>
            </a:custGeom>
            <a:ln w="7620" cap="flat">
              <a:solidFill>
                <a:srgbClr val="3A3A6A"/>
              </a:solidFill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99" name="TextBox 98">
              <a:extLst>
                <a:ext uri="{FF2B5EF4-FFF2-40B4-BE49-F238E27FC236}">
                  <a16:creationId xmlns:a16="http://schemas.microsoft.com/office/drawing/2014/main" id="{4EF4D1B3-7879-1F6D-977A-1C8A053167A1}"/>
                </a:ext>
              </a:extLst>
            </p:cNvPr>
            <p:cNvSpPr txBox="1"/>
            <p:nvPr/>
          </p:nvSpPr>
          <p:spPr>
            <a:xfrm>
              <a:off x="11463069" y="2456959"/>
              <a:ext cx="66877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625F8A"/>
                  </a:solidFill>
                  <a:latin typeface="Segoe UI"/>
                  <a:cs typeface="Segoe UI"/>
                  <a:sym typeface="Segoe UI"/>
                  <a:rtl val="0"/>
                </a:rPr>
                <a:t>Oct 2024</a:t>
              </a:r>
            </a:p>
          </p:txBody>
        </p:sp>
        <p:sp>
          <p:nvSpPr>
            <p:cNvPr id="100" name="Freeform: Shape 99">
              <a:extLst>
                <a:ext uri="{FF2B5EF4-FFF2-40B4-BE49-F238E27FC236}">
                  <a16:creationId xmlns:a16="http://schemas.microsoft.com/office/drawing/2014/main" id="{F03B7955-5390-1920-FB1A-1438120F213B}"/>
                </a:ext>
              </a:extLst>
            </p:cNvPr>
            <p:cNvSpPr/>
            <p:nvPr/>
          </p:nvSpPr>
          <p:spPr>
            <a:xfrm>
              <a:off x="7810500" y="2714625"/>
              <a:ext cx="114300" cy="95250"/>
            </a:xfrm>
            <a:custGeom>
              <a:avLst/>
              <a:gdLst>
                <a:gd name="csX0" fmla="*/ 95250 w 114300"/>
                <a:gd name="csY0" fmla="*/ 0 h 95250"/>
                <a:gd name="csX1" fmla="*/ 114300 w 114300"/>
                <a:gd name="csY1" fmla="*/ 0 h 95250"/>
                <a:gd name="csX2" fmla="*/ 114300 w 114300"/>
                <a:gd name="csY2" fmla="*/ 95250 h 95250"/>
                <a:gd name="csX3" fmla="*/ 95250 w 114300"/>
                <a:gd name="csY3" fmla="*/ 95250 h 95250"/>
                <a:gd name="csX4" fmla="*/ 19050 w 114300"/>
                <a:gd name="csY4" fmla="*/ 95250 h 95250"/>
                <a:gd name="csX5" fmla="*/ 0 w 114300"/>
                <a:gd name="csY5" fmla="*/ 95250 h 95250"/>
                <a:gd name="csX6" fmla="*/ 0 w 114300"/>
                <a:gd name="csY6" fmla="*/ 0 h 95250"/>
                <a:gd name="csX7" fmla="*/ 19050 w 114300"/>
                <a:gd name="csY7" fmla="*/ 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4300" h="95250">
                  <a:moveTo>
                    <a:pt x="95250" y="0"/>
                  </a:moveTo>
                  <a:cubicBezTo>
                    <a:pt x="105771" y="0"/>
                    <a:pt x="114300" y="0"/>
                    <a:pt x="114300" y="0"/>
                  </a:cubicBezTo>
                  <a:lnTo>
                    <a:pt x="114300" y="95250"/>
                  </a:lnTo>
                  <a:cubicBezTo>
                    <a:pt x="114300" y="95250"/>
                    <a:pt x="105771" y="95250"/>
                    <a:pt x="95250" y="95250"/>
                  </a:cubicBezTo>
                  <a:lnTo>
                    <a:pt x="19050" y="95250"/>
                  </a:lnTo>
                  <a:cubicBezTo>
                    <a:pt x="8529" y="95250"/>
                    <a:pt x="0" y="95250"/>
                    <a:pt x="0" y="95250"/>
                  </a:cubicBezTo>
                  <a:lnTo>
                    <a:pt x="0" y="0"/>
                  </a:lnTo>
                  <a:cubicBezTo>
                    <a:pt x="0" y="0"/>
                    <a:pt x="8529" y="0"/>
                    <a:pt x="19050" y="0"/>
                  </a:cubicBezTo>
                  <a:close/>
                </a:path>
              </a:pathLst>
            </a:custGeom>
            <a:solidFill>
              <a:srgbClr val="534AB7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101" name="TextBox 100">
              <a:extLst>
                <a:ext uri="{FF2B5EF4-FFF2-40B4-BE49-F238E27FC236}">
                  <a16:creationId xmlns:a16="http://schemas.microsoft.com/office/drawing/2014/main" id="{ED057BBC-F4ED-A405-DBA7-F7EDBAE269D1}"/>
                </a:ext>
              </a:extLst>
            </p:cNvPr>
            <p:cNvSpPr txBox="1"/>
            <p:nvPr/>
          </p:nvSpPr>
          <p:spPr>
            <a:xfrm>
              <a:off x="7871460" y="2651845"/>
              <a:ext cx="1053494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9F9DC8"/>
                  </a:solidFill>
                  <a:latin typeface="Segoe UI"/>
                  <a:cs typeface="Segoe UI"/>
                  <a:sym typeface="Segoe UI"/>
                  <a:rtl val="0"/>
                </a:rPr>
                <a:t>Feature window</a:t>
              </a:r>
            </a:p>
          </p:txBody>
        </p:sp>
        <p:sp>
          <p:nvSpPr>
            <p:cNvPr id="102" name="Freeform: Shape 101">
              <a:extLst>
                <a:ext uri="{FF2B5EF4-FFF2-40B4-BE49-F238E27FC236}">
                  <a16:creationId xmlns:a16="http://schemas.microsoft.com/office/drawing/2014/main" id="{D15D7E9A-0651-179E-FC30-80EAF3F140AB}"/>
                </a:ext>
              </a:extLst>
            </p:cNvPr>
            <p:cNvSpPr/>
            <p:nvPr/>
          </p:nvSpPr>
          <p:spPr>
            <a:xfrm>
              <a:off x="9144000" y="2714625"/>
              <a:ext cx="114300" cy="95250"/>
            </a:xfrm>
            <a:custGeom>
              <a:avLst/>
              <a:gdLst>
                <a:gd name="csX0" fmla="*/ 95250 w 114300"/>
                <a:gd name="csY0" fmla="*/ 0 h 95250"/>
                <a:gd name="csX1" fmla="*/ 114300 w 114300"/>
                <a:gd name="csY1" fmla="*/ 0 h 95250"/>
                <a:gd name="csX2" fmla="*/ 114300 w 114300"/>
                <a:gd name="csY2" fmla="*/ 95250 h 95250"/>
                <a:gd name="csX3" fmla="*/ 95250 w 114300"/>
                <a:gd name="csY3" fmla="*/ 95250 h 95250"/>
                <a:gd name="csX4" fmla="*/ 19050 w 114300"/>
                <a:gd name="csY4" fmla="*/ 95250 h 95250"/>
                <a:gd name="csX5" fmla="*/ 0 w 114300"/>
                <a:gd name="csY5" fmla="*/ 95250 h 95250"/>
                <a:gd name="csX6" fmla="*/ 0 w 114300"/>
                <a:gd name="csY6" fmla="*/ 0 h 95250"/>
                <a:gd name="csX7" fmla="*/ 19050 w 114300"/>
                <a:gd name="csY7" fmla="*/ 0 h 95250"/>
              </a:gdLst>
              <a:ahLst/>
              <a:cxnLst>
                <a:cxn ang="0">
                  <a:pos x="csX0" y="csY0"/>
                </a:cxn>
                <a:cxn ang="0">
                  <a:pos x="csX1" y="csY1"/>
                </a:cxn>
                <a:cxn ang="0">
                  <a:pos x="csX2" y="csY2"/>
                </a:cxn>
                <a:cxn ang="0">
                  <a:pos x="csX3" y="csY3"/>
                </a:cxn>
                <a:cxn ang="0">
                  <a:pos x="csX4" y="csY4"/>
                </a:cxn>
                <a:cxn ang="0">
                  <a:pos x="csX5" y="csY5"/>
                </a:cxn>
                <a:cxn ang="0">
                  <a:pos x="csX6" y="csY6"/>
                </a:cxn>
                <a:cxn ang="0">
                  <a:pos x="csX7" y="csY7"/>
                </a:cxn>
              </a:cxnLst>
              <a:rect l="l" t="t" r="r" b="b"/>
              <a:pathLst>
                <a:path w="114300" h="95250">
                  <a:moveTo>
                    <a:pt x="95250" y="0"/>
                  </a:moveTo>
                  <a:cubicBezTo>
                    <a:pt x="105771" y="0"/>
                    <a:pt x="114300" y="0"/>
                    <a:pt x="114300" y="0"/>
                  </a:cubicBezTo>
                  <a:lnTo>
                    <a:pt x="114300" y="95250"/>
                  </a:lnTo>
                  <a:cubicBezTo>
                    <a:pt x="114300" y="95250"/>
                    <a:pt x="105771" y="95250"/>
                    <a:pt x="95250" y="95250"/>
                  </a:cubicBezTo>
                  <a:lnTo>
                    <a:pt x="19050" y="95250"/>
                  </a:lnTo>
                  <a:cubicBezTo>
                    <a:pt x="8529" y="95250"/>
                    <a:pt x="0" y="95250"/>
                    <a:pt x="0" y="95250"/>
                  </a:cubicBezTo>
                  <a:lnTo>
                    <a:pt x="0" y="0"/>
                  </a:lnTo>
                  <a:cubicBezTo>
                    <a:pt x="0" y="0"/>
                    <a:pt x="8529" y="0"/>
                    <a:pt x="19050" y="0"/>
                  </a:cubicBezTo>
                  <a:close/>
                </a:path>
              </a:pathLst>
            </a:custGeom>
            <a:solidFill>
              <a:srgbClr val="D85A30">
                <a:alpha val="82000"/>
              </a:srgbClr>
            </a:solidFill>
            <a:ln w="9525" cap="flat">
              <a:noFill/>
              <a:prstDash val="solid"/>
              <a:miter/>
            </a:ln>
          </p:spPr>
          <p:txBody>
            <a:bodyPr/>
            <a:lstStyle/>
            <a:p>
              <a:endParaRPr lang="en-US" sz="2400" b="1"/>
            </a:p>
          </p:txBody>
        </p:sp>
        <p:sp>
          <p:nvSpPr>
            <p:cNvPr id="103" name="TextBox 102">
              <a:extLst>
                <a:ext uri="{FF2B5EF4-FFF2-40B4-BE49-F238E27FC236}">
                  <a16:creationId xmlns:a16="http://schemas.microsoft.com/office/drawing/2014/main" id="{1A6DBF94-A969-EA6B-555C-19038AF073C9}"/>
                </a:ext>
              </a:extLst>
            </p:cNvPr>
            <p:cNvSpPr txBox="1"/>
            <p:nvPr/>
          </p:nvSpPr>
          <p:spPr>
            <a:xfrm>
              <a:off x="9204960" y="2651845"/>
              <a:ext cx="1234633" cy="2308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900" b="1" spc="0" baseline="0">
                  <a:ln/>
                  <a:solidFill>
                    <a:srgbClr val="9F9DC8"/>
                  </a:solidFill>
                  <a:latin typeface="Segoe UI"/>
                  <a:cs typeface="Segoe UI"/>
                  <a:sym typeface="Segoe UI"/>
                  <a:rtl val="0"/>
                </a:rPr>
                <a:t>Target (12 months)</a:t>
              </a:r>
            </a:p>
          </p:txBody>
        </p:sp>
      </p:grpSp>
      <p:sp>
        <p:nvSpPr>
          <p:cNvPr id="36" name="TextBox 35">
            <a:extLst>
              <a:ext uri="{FF2B5EF4-FFF2-40B4-BE49-F238E27FC236}">
                <a16:creationId xmlns:a16="http://schemas.microsoft.com/office/drawing/2014/main" id="{C3A83291-AFA7-90F1-92A1-60F153AD9AB6}"/>
              </a:ext>
            </a:extLst>
          </p:cNvPr>
          <p:cNvSpPr txBox="1"/>
          <p:nvPr/>
        </p:nvSpPr>
        <p:spPr>
          <a:xfrm>
            <a:off x="5684475" y="209815"/>
            <a:ext cx="6507525" cy="86177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marR="0" lvl="0" indent="-2857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●"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The Setup</a:t>
            </a:r>
            <a:r>
              <a:rPr kumimoji="0" lang="en-US" sz="1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: </a:t>
            </a:r>
            <a:r>
              <a:rPr kumimoji="0" lang="en-US" sz="1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Filtered dataset to transactions from Jan 1, 2021 onwards to ensure the model learns from the new normal, using pure RFM features (Recency, Frequency, Monetary)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pSp>
        <p:nvGrpSpPr>
          <p:cNvPr id="61" name="Group 60">
            <a:extLst>
              <a:ext uri="{FF2B5EF4-FFF2-40B4-BE49-F238E27FC236}">
                <a16:creationId xmlns:a16="http://schemas.microsoft.com/office/drawing/2014/main" id="{182F1CDD-2847-5FFE-8D54-0C6E68AA5549}"/>
              </a:ext>
            </a:extLst>
          </p:cNvPr>
          <p:cNvGrpSpPr/>
          <p:nvPr/>
        </p:nvGrpSpPr>
        <p:grpSpPr>
          <a:xfrm>
            <a:off x="122238" y="2534346"/>
            <a:ext cx="6226584" cy="3817618"/>
            <a:chOff x="181230" y="2462677"/>
            <a:chExt cx="6626803" cy="3946599"/>
          </a:xfrm>
        </p:grpSpPr>
        <p:pic>
          <p:nvPicPr>
            <p:cNvPr id="23" name="Picture 22">
              <a:extLst>
                <a:ext uri="{FF2B5EF4-FFF2-40B4-BE49-F238E27FC236}">
                  <a16:creationId xmlns:a16="http://schemas.microsoft.com/office/drawing/2014/main" id="{81A3056E-F6E0-98F8-7587-1E77309543DF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81230" y="2462677"/>
              <a:ext cx="6626803" cy="3946599"/>
            </a:xfrm>
            <a:prstGeom prst="rect">
              <a:avLst/>
            </a:prstGeom>
          </p:spPr>
        </p:pic>
        <p:sp>
          <p:nvSpPr>
            <p:cNvPr id="38" name="TextBox 37">
              <a:extLst>
                <a:ext uri="{FF2B5EF4-FFF2-40B4-BE49-F238E27FC236}">
                  <a16:creationId xmlns:a16="http://schemas.microsoft.com/office/drawing/2014/main" id="{10C8069D-901F-4AE7-3D95-774CDEF163D4}"/>
                </a:ext>
              </a:extLst>
            </p:cNvPr>
            <p:cNvSpPr txBox="1"/>
            <p:nvPr/>
          </p:nvSpPr>
          <p:spPr>
            <a:xfrm>
              <a:off x="2200043" y="3717284"/>
              <a:ext cx="814647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l"/>
              <a:r>
                <a:rPr lang="en-US" sz="1600" b="1" spc="0" baseline="0" dirty="0">
                  <a:ln/>
                  <a:solidFill>
                    <a:srgbClr val="1D9E75"/>
                  </a:solidFill>
                  <a:latin typeface="Segoe UI"/>
                  <a:cs typeface="Segoe UI"/>
                  <a:sym typeface="Segoe UI"/>
                  <a:rtl val="0"/>
                </a:rPr>
                <a:t>−31%</a:t>
              </a:r>
            </a:p>
          </p:txBody>
        </p:sp>
        <p:sp>
          <p:nvSpPr>
            <p:cNvPr id="39" name="TextBox 38">
              <a:extLst>
                <a:ext uri="{FF2B5EF4-FFF2-40B4-BE49-F238E27FC236}">
                  <a16:creationId xmlns:a16="http://schemas.microsoft.com/office/drawing/2014/main" id="{36A3BF1A-5886-13F6-26C7-7930C87A764C}"/>
                </a:ext>
              </a:extLst>
            </p:cNvPr>
            <p:cNvSpPr txBox="1"/>
            <p:nvPr/>
          </p:nvSpPr>
          <p:spPr>
            <a:xfrm>
              <a:off x="4628662" y="4807117"/>
              <a:ext cx="712054" cy="369332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l"/>
              <a:r>
                <a:rPr lang="it-IT" sz="1600" b="1" dirty="0">
                  <a:ln/>
                  <a:solidFill>
                    <a:srgbClr val="C00000"/>
                  </a:solidFill>
                  <a:latin typeface="Segoe UI"/>
                  <a:cs typeface="Segoe UI"/>
                  <a:sym typeface="Segoe UI"/>
                  <a:rtl val="0"/>
                </a:rPr>
                <a:t>x</a:t>
              </a:r>
              <a:r>
                <a:rPr lang="en-US" sz="1600" b="1" dirty="0">
                  <a:ln/>
                  <a:solidFill>
                    <a:srgbClr val="C00000"/>
                  </a:solidFill>
                  <a:latin typeface="Segoe UI"/>
                  <a:cs typeface="Segoe UI"/>
                  <a:sym typeface="Segoe UI"/>
                  <a:rtl val="0"/>
                </a:rPr>
                <a:t>110</a:t>
              </a:r>
              <a:endParaRPr lang="en-US" sz="1600" b="1" spc="0" baseline="0" dirty="0">
                <a:ln/>
                <a:solidFill>
                  <a:srgbClr val="C00000"/>
                </a:solidFill>
                <a:latin typeface="Segoe UI"/>
                <a:cs typeface="Segoe UI"/>
                <a:sym typeface="Segoe UI"/>
                <a:rtl val="0"/>
              </a:endParaRPr>
            </a:p>
          </p:txBody>
        </p:sp>
        <p:cxnSp>
          <p:nvCxnSpPr>
            <p:cNvPr id="41" name="Straight Arrow Connector 40">
              <a:extLst>
                <a:ext uri="{FF2B5EF4-FFF2-40B4-BE49-F238E27FC236}">
                  <a16:creationId xmlns:a16="http://schemas.microsoft.com/office/drawing/2014/main" id="{9D124440-49AE-1463-88FD-CFF585FECD2D}"/>
                </a:ext>
              </a:extLst>
            </p:cNvPr>
            <p:cNvCxnSpPr>
              <a:cxnSpLocks/>
            </p:cNvCxnSpPr>
            <p:nvPr/>
          </p:nvCxnSpPr>
          <p:spPr>
            <a:xfrm>
              <a:off x="2101470" y="3913237"/>
              <a:ext cx="1021556" cy="766918"/>
            </a:xfrm>
            <a:prstGeom prst="straightConnector1">
              <a:avLst/>
            </a:prstGeom>
            <a:ln>
              <a:solidFill>
                <a:srgbClr val="1D9E75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Straight Arrow Connector 42">
              <a:extLst>
                <a:ext uri="{FF2B5EF4-FFF2-40B4-BE49-F238E27FC236}">
                  <a16:creationId xmlns:a16="http://schemas.microsoft.com/office/drawing/2014/main" id="{FB683CE5-BA72-E214-811E-567923C3980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4386215" y="5014450"/>
              <a:ext cx="954501" cy="934066"/>
            </a:xfrm>
            <a:prstGeom prst="straightConnector1">
              <a:avLst/>
            </a:prstGeom>
            <a:ln>
              <a:solidFill>
                <a:srgbClr val="C00000"/>
              </a:solidFill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45" name="Freeform: Shape 44">
            <a:extLst>
              <a:ext uri="{FF2B5EF4-FFF2-40B4-BE49-F238E27FC236}">
                <a16:creationId xmlns:a16="http://schemas.microsoft.com/office/drawing/2014/main" id="{135BA3F6-0426-FEB2-7BB8-D575916FB625}"/>
              </a:ext>
            </a:extLst>
          </p:cNvPr>
          <p:cNvSpPr/>
          <p:nvPr/>
        </p:nvSpPr>
        <p:spPr>
          <a:xfrm>
            <a:off x="7741645" y="1788401"/>
            <a:ext cx="3886200" cy="171450"/>
          </a:xfrm>
          <a:custGeom>
            <a:avLst/>
            <a:gdLst>
              <a:gd name="csX0" fmla="*/ 3857625 w 3886200"/>
              <a:gd name="csY0" fmla="*/ 0 h 171450"/>
              <a:gd name="csX1" fmla="*/ 3886200 w 3886200"/>
              <a:gd name="csY1" fmla="*/ 0 h 171450"/>
              <a:gd name="csX2" fmla="*/ 3886200 w 3886200"/>
              <a:gd name="csY2" fmla="*/ 171450 h 171450"/>
              <a:gd name="csX3" fmla="*/ 3857625 w 3886200"/>
              <a:gd name="csY3" fmla="*/ 171450 h 171450"/>
              <a:gd name="csX4" fmla="*/ 28575 w 3886200"/>
              <a:gd name="csY4" fmla="*/ 171450 h 171450"/>
              <a:gd name="csX5" fmla="*/ 0 w 3886200"/>
              <a:gd name="csY5" fmla="*/ 171450 h 171450"/>
              <a:gd name="csX6" fmla="*/ 0 w 3886200"/>
              <a:gd name="csY6" fmla="*/ 0 h 171450"/>
              <a:gd name="csX7" fmla="*/ 28575 w 3886200"/>
              <a:gd name="csY7" fmla="*/ 0 h 1714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171450">
                <a:moveTo>
                  <a:pt x="3857625" y="0"/>
                </a:moveTo>
                <a:cubicBezTo>
                  <a:pt x="3873407" y="0"/>
                  <a:pt x="3886200" y="0"/>
                  <a:pt x="3886200" y="0"/>
                </a:cubicBezTo>
                <a:lnTo>
                  <a:pt x="3886200" y="171450"/>
                </a:lnTo>
                <a:cubicBezTo>
                  <a:pt x="3886200" y="171450"/>
                  <a:pt x="3873407" y="171450"/>
                  <a:pt x="3857625" y="171450"/>
                </a:cubicBezTo>
                <a:lnTo>
                  <a:pt x="28575" y="171450"/>
                </a:lnTo>
                <a:cubicBezTo>
                  <a:pt x="12793" y="171450"/>
                  <a:pt x="0" y="171450"/>
                  <a:pt x="0" y="171450"/>
                </a:cubicBezTo>
                <a:lnTo>
                  <a:pt x="0" y="0"/>
                </a:lnTo>
                <a:cubicBezTo>
                  <a:pt x="0" y="0"/>
                  <a:pt x="12793" y="0"/>
                  <a:pt x="28575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sp>
        <p:nvSpPr>
          <p:cNvPr id="48" name="Freeform: Shape 47">
            <a:extLst>
              <a:ext uri="{FF2B5EF4-FFF2-40B4-BE49-F238E27FC236}">
                <a16:creationId xmlns:a16="http://schemas.microsoft.com/office/drawing/2014/main" id="{5B3392BA-BE15-2051-B1B1-6CBE0DB6D42E}"/>
              </a:ext>
            </a:extLst>
          </p:cNvPr>
          <p:cNvSpPr/>
          <p:nvPr/>
        </p:nvSpPr>
        <p:spPr>
          <a:xfrm>
            <a:off x="7741645" y="1959851"/>
            <a:ext cx="3886200" cy="209550"/>
          </a:xfrm>
          <a:custGeom>
            <a:avLst/>
            <a:gdLst>
              <a:gd name="csX0" fmla="*/ 3867150 w 3886200"/>
              <a:gd name="csY0" fmla="*/ 0 h 209550"/>
              <a:gd name="csX1" fmla="*/ 3886200 w 3886200"/>
              <a:gd name="csY1" fmla="*/ 0 h 209550"/>
              <a:gd name="csX2" fmla="*/ 3886200 w 3886200"/>
              <a:gd name="csY2" fmla="*/ 209550 h 209550"/>
              <a:gd name="csX3" fmla="*/ 3867150 w 3886200"/>
              <a:gd name="csY3" fmla="*/ 209550 h 209550"/>
              <a:gd name="csX4" fmla="*/ 19050 w 3886200"/>
              <a:gd name="csY4" fmla="*/ 209550 h 209550"/>
              <a:gd name="csX5" fmla="*/ 0 w 3886200"/>
              <a:gd name="csY5" fmla="*/ 209550 h 209550"/>
              <a:gd name="csX6" fmla="*/ 0 w 3886200"/>
              <a:gd name="csY6" fmla="*/ 0 h 209550"/>
              <a:gd name="csX7" fmla="*/ 19050 w 3886200"/>
              <a:gd name="csY7" fmla="*/ 0 h 209550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</a:cxnLst>
            <a:rect l="l" t="t" r="r" b="b"/>
            <a:pathLst>
              <a:path w="3886200" h="209550">
                <a:moveTo>
                  <a:pt x="3867150" y="0"/>
                </a:moveTo>
                <a:cubicBezTo>
                  <a:pt x="3877671" y="0"/>
                  <a:pt x="3886200" y="0"/>
                  <a:pt x="3886200" y="0"/>
                </a:cubicBezTo>
                <a:lnTo>
                  <a:pt x="3886200" y="209550"/>
                </a:lnTo>
                <a:cubicBezTo>
                  <a:pt x="3886200" y="209550"/>
                  <a:pt x="3877671" y="209550"/>
                  <a:pt x="3867150" y="209550"/>
                </a:cubicBezTo>
                <a:lnTo>
                  <a:pt x="19050" y="209550"/>
                </a:lnTo>
                <a:cubicBezTo>
                  <a:pt x="8529" y="209550"/>
                  <a:pt x="0" y="209550"/>
                  <a:pt x="0" y="209550"/>
                </a:cubicBezTo>
                <a:lnTo>
                  <a:pt x="0" y="0"/>
                </a:lnTo>
                <a:cubicBezTo>
                  <a:pt x="0" y="0"/>
                  <a:pt x="8529" y="0"/>
                  <a:pt x="19050" y="0"/>
                </a:cubicBezTo>
                <a:close/>
              </a:path>
            </a:pathLst>
          </a:custGeom>
          <a:solidFill>
            <a:schemeClr val="bg2"/>
          </a:solidFill>
          <a:ln w="9525" cap="flat">
            <a:noFill/>
            <a:prstDash val="solid"/>
            <a:miter/>
          </a:ln>
        </p:spPr>
        <p:txBody>
          <a:bodyPr/>
          <a:lstStyle/>
          <a:p>
            <a:endParaRPr lang="en-US"/>
          </a:p>
        </p:txBody>
      </p:sp>
      <p:grpSp>
        <p:nvGrpSpPr>
          <p:cNvPr id="57" name="Group 56">
            <a:extLst>
              <a:ext uri="{FF2B5EF4-FFF2-40B4-BE49-F238E27FC236}">
                <a16:creationId xmlns:a16="http://schemas.microsoft.com/office/drawing/2014/main" id="{378421C5-F679-3644-538B-90F9B5B6B24C}"/>
              </a:ext>
            </a:extLst>
          </p:cNvPr>
          <p:cNvGrpSpPr/>
          <p:nvPr/>
        </p:nvGrpSpPr>
        <p:grpSpPr>
          <a:xfrm>
            <a:off x="6825268" y="1096346"/>
            <a:ext cx="4453045" cy="862763"/>
            <a:chOff x="7745455" y="1754196"/>
            <a:chExt cx="3420143" cy="862763"/>
          </a:xfrm>
        </p:grpSpPr>
        <p:sp>
          <p:nvSpPr>
            <p:cNvPr id="46" name="TextBox 45">
              <a:extLst>
                <a:ext uri="{FF2B5EF4-FFF2-40B4-BE49-F238E27FC236}">
                  <a16:creationId xmlns:a16="http://schemas.microsoft.com/office/drawing/2014/main" id="{BF9584AC-FC0F-A15D-1464-6C151AF1793D}"/>
                </a:ext>
              </a:extLst>
            </p:cNvPr>
            <p:cNvSpPr txBox="1"/>
            <p:nvPr/>
          </p:nvSpPr>
          <p:spPr>
            <a:xfrm>
              <a:off x="7745455" y="1754196"/>
              <a:ext cx="636713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Feature</a:t>
              </a:r>
            </a:p>
          </p:txBody>
        </p:sp>
        <p:sp>
          <p:nvSpPr>
            <p:cNvPr id="47" name="TextBox 46">
              <a:extLst>
                <a:ext uri="{FF2B5EF4-FFF2-40B4-BE49-F238E27FC236}">
                  <a16:creationId xmlns:a16="http://schemas.microsoft.com/office/drawing/2014/main" id="{51154143-8CA9-4D81-73B6-A8230C5FB453}"/>
                </a:ext>
              </a:extLst>
            </p:cNvPr>
            <p:cNvSpPr txBox="1"/>
            <p:nvPr/>
          </p:nvSpPr>
          <p:spPr>
            <a:xfrm>
              <a:off x="8831305" y="1754196"/>
              <a:ext cx="875561" cy="246221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00" b="1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Description</a:t>
              </a:r>
            </a:p>
          </p:txBody>
        </p:sp>
        <p:sp>
          <p:nvSpPr>
            <p:cNvPr id="49" name="TextBox 48">
              <a:extLst>
                <a:ext uri="{FF2B5EF4-FFF2-40B4-BE49-F238E27FC236}">
                  <a16:creationId xmlns:a16="http://schemas.microsoft.com/office/drawing/2014/main" id="{ABDE8CB2-7605-C549-D244-BA69022AB87B}"/>
                </a:ext>
              </a:extLst>
            </p:cNvPr>
            <p:cNvSpPr txBox="1"/>
            <p:nvPr/>
          </p:nvSpPr>
          <p:spPr>
            <a:xfrm>
              <a:off x="7745455" y="1943943"/>
              <a:ext cx="699230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Recency</a:t>
              </a:r>
            </a:p>
          </p:txBody>
        </p:sp>
        <p:sp>
          <p:nvSpPr>
            <p:cNvPr id="50" name="TextBox 49">
              <a:extLst>
                <a:ext uri="{FF2B5EF4-FFF2-40B4-BE49-F238E27FC236}">
                  <a16:creationId xmlns:a16="http://schemas.microsoft.com/office/drawing/2014/main" id="{BABD6587-E1DD-A2A9-6B1D-551E7D60EA5F}"/>
                </a:ext>
              </a:extLst>
            </p:cNvPr>
            <p:cNvSpPr txBox="1"/>
            <p:nvPr/>
          </p:nvSpPr>
          <p:spPr>
            <a:xfrm>
              <a:off x="8831305" y="1943943"/>
              <a:ext cx="2231701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Days since last rental before cutoff</a:t>
              </a:r>
            </a:p>
          </p:txBody>
        </p:sp>
        <p:sp>
          <p:nvSpPr>
            <p:cNvPr id="52" name="TextBox 51">
              <a:extLst>
                <a:ext uri="{FF2B5EF4-FFF2-40B4-BE49-F238E27FC236}">
                  <a16:creationId xmlns:a16="http://schemas.microsoft.com/office/drawing/2014/main" id="{C1FB57F0-A278-20CA-1DCE-BEFE42D2663A}"/>
                </a:ext>
              </a:extLst>
            </p:cNvPr>
            <p:cNvSpPr txBox="1"/>
            <p:nvPr/>
          </p:nvSpPr>
          <p:spPr>
            <a:xfrm>
              <a:off x="7745455" y="2153493"/>
              <a:ext cx="835485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Frequency</a:t>
              </a:r>
            </a:p>
          </p:txBody>
        </p:sp>
        <p:sp>
          <p:nvSpPr>
            <p:cNvPr id="53" name="TextBox 52">
              <a:extLst>
                <a:ext uri="{FF2B5EF4-FFF2-40B4-BE49-F238E27FC236}">
                  <a16:creationId xmlns:a16="http://schemas.microsoft.com/office/drawing/2014/main" id="{450814E2-2227-8A34-4056-3F7229DED91F}"/>
                </a:ext>
              </a:extLst>
            </p:cNvPr>
            <p:cNvSpPr txBox="1"/>
            <p:nvPr/>
          </p:nvSpPr>
          <p:spPr>
            <a:xfrm>
              <a:off x="8831305" y="2153493"/>
              <a:ext cx="2334293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rental count in feature window</a:t>
              </a:r>
            </a:p>
          </p:txBody>
        </p:sp>
        <p:sp>
          <p:nvSpPr>
            <p:cNvPr id="55" name="TextBox 54">
              <a:extLst>
                <a:ext uri="{FF2B5EF4-FFF2-40B4-BE49-F238E27FC236}">
                  <a16:creationId xmlns:a16="http://schemas.microsoft.com/office/drawing/2014/main" id="{2B973BDE-062B-4572-A928-E46072F388EF}"/>
                </a:ext>
              </a:extLst>
            </p:cNvPr>
            <p:cNvSpPr txBox="1"/>
            <p:nvPr/>
          </p:nvSpPr>
          <p:spPr>
            <a:xfrm>
              <a:off x="7745455" y="2363043"/>
              <a:ext cx="798617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b="1" spc="0" baseline="0">
                  <a:ln/>
                  <a:latin typeface="Segoe UI"/>
                  <a:cs typeface="Segoe UI"/>
                  <a:sym typeface="Segoe UI"/>
                  <a:rtl val="0"/>
                </a:rPr>
                <a:t>Monetary</a:t>
              </a:r>
            </a:p>
          </p:txBody>
        </p:sp>
        <p:sp>
          <p:nvSpPr>
            <p:cNvPr id="56" name="TextBox 55">
              <a:extLst>
                <a:ext uri="{FF2B5EF4-FFF2-40B4-BE49-F238E27FC236}">
                  <a16:creationId xmlns:a16="http://schemas.microsoft.com/office/drawing/2014/main" id="{B79D079C-0D47-85B5-DBA9-0E35061D6826}"/>
                </a:ext>
              </a:extLst>
            </p:cNvPr>
            <p:cNvSpPr txBox="1"/>
            <p:nvPr/>
          </p:nvSpPr>
          <p:spPr>
            <a:xfrm>
              <a:off x="8831305" y="2363043"/>
              <a:ext cx="2032929" cy="253916"/>
            </a:xfrm>
            <a:prstGeom prst="rect">
              <a:avLst/>
            </a:prstGeom>
            <a:solidFill>
              <a:schemeClr val="bg2"/>
            </a:solidFill>
          </p:spPr>
          <p:txBody>
            <a:bodyPr wrap="none" rtlCol="0">
              <a:spAutoFit/>
            </a:bodyPr>
            <a:lstStyle/>
            <a:p>
              <a:pPr algn="l"/>
              <a:r>
                <a:rPr lang="en-US" sz="1050" spc="0" baseline="0" dirty="0">
                  <a:ln/>
                  <a:latin typeface="Segoe UI"/>
                  <a:cs typeface="Segoe UI"/>
                  <a:sym typeface="Segoe UI"/>
                  <a:rtl val="0"/>
                </a:rPr>
                <a:t>Total revenue generated (NOK)</a:t>
              </a:r>
            </a:p>
          </p:txBody>
        </p:sp>
      </p:grpSp>
      <p:sp>
        <p:nvSpPr>
          <p:cNvPr id="14" name="TextBox 13">
            <a:extLst>
              <a:ext uri="{FF2B5EF4-FFF2-40B4-BE49-F238E27FC236}">
                <a16:creationId xmlns:a16="http://schemas.microsoft.com/office/drawing/2014/main" id="{C3766DCB-B959-67E8-F5B9-DF360F58D8BF}"/>
              </a:ext>
            </a:extLst>
          </p:cNvPr>
          <p:cNvSpPr txBox="1"/>
          <p:nvPr/>
        </p:nvSpPr>
        <p:spPr>
          <a:xfrm>
            <a:off x="8430888" y="2899122"/>
            <a:ext cx="30480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Consolas" panose="020B0609020204030204" pitchFamily="49" charset="0"/>
              </a:rPr>
              <a:t>Feature </a:t>
            </a:r>
            <a:r>
              <a:rPr lang="en-US" b="1" dirty="0">
                <a:latin typeface="Consolas" panose="020B0609020204030204" pitchFamily="49" charset="0"/>
              </a:rPr>
              <a:t>    </a:t>
            </a:r>
            <a:r>
              <a:rPr lang="en-US" b="1" i="0" dirty="0">
                <a:effectLst/>
                <a:latin typeface="Consolas" panose="020B0609020204030204" pitchFamily="49" charset="0"/>
              </a:rPr>
              <a:t>Importance</a:t>
            </a:r>
            <a:endParaRPr lang="en-US" b="0" i="0" dirty="0">
              <a:effectLst/>
              <a:latin typeface="Consolas" panose="020B0609020204030204" pitchFamily="49" charset="0"/>
            </a:endParaRPr>
          </a:p>
          <a:p>
            <a:r>
              <a:rPr lang="en-US" dirty="0">
                <a:latin typeface="Consolas" panose="020B0609020204030204" pitchFamily="49" charset="0"/>
              </a:rPr>
              <a:t>R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ecency 	</a:t>
            </a:r>
            <a:r>
              <a:rPr lang="en-US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-7793</a:t>
            </a:r>
          </a:p>
          <a:p>
            <a:r>
              <a:rPr lang="en-US" dirty="0">
                <a:latin typeface="Consolas" panose="020B0609020204030204" pitchFamily="49" charset="0"/>
              </a:rPr>
              <a:t>F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requency 	</a:t>
            </a:r>
            <a:r>
              <a:rPr lang="en-US" b="0" i="0" dirty="0">
                <a:solidFill>
                  <a:srgbClr val="C00000"/>
                </a:solidFill>
                <a:effectLst/>
                <a:latin typeface="Consolas" panose="020B0609020204030204" pitchFamily="49" charset="0"/>
              </a:rPr>
              <a:t>-9150</a:t>
            </a:r>
          </a:p>
          <a:p>
            <a:r>
              <a:rPr lang="en-US" dirty="0">
                <a:latin typeface="Consolas" panose="020B0609020204030204" pitchFamily="49" charset="0"/>
              </a:rPr>
              <a:t>M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onetary 	</a:t>
            </a:r>
            <a:r>
              <a:rPr lang="en-US" b="0" i="0" dirty="0">
                <a:solidFill>
                  <a:srgbClr val="1D9E75"/>
                </a:solidFill>
                <a:effectLst/>
                <a:latin typeface="Consolas" panose="020B0609020204030204" pitchFamily="49" charset="0"/>
              </a:rPr>
              <a:t>21982</a:t>
            </a:r>
            <a:endParaRPr lang="en-US" dirty="0">
              <a:solidFill>
                <a:srgbClr val="1D9E75"/>
              </a:solidFill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E8C2E2E-BDEF-E0F0-0A29-F9FE32BFD08A}"/>
              </a:ext>
            </a:extLst>
          </p:cNvPr>
          <p:cNvSpPr txBox="1"/>
          <p:nvPr/>
        </p:nvSpPr>
        <p:spPr>
          <a:xfrm>
            <a:off x="8412163" y="4939579"/>
            <a:ext cx="3048000" cy="120032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>
            <a:spAutoFit/>
          </a:bodyPr>
          <a:lstStyle/>
          <a:p>
            <a:r>
              <a:rPr lang="en-US" b="1" i="0" dirty="0">
                <a:effectLst/>
                <a:latin typeface="Consolas" panose="020B0609020204030204" pitchFamily="49" charset="0"/>
              </a:rPr>
              <a:t>Feature    Importance</a:t>
            </a:r>
            <a:br>
              <a:rPr lang="en-US" b="0" i="0" dirty="0">
                <a:effectLst/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M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onetary 	556 </a:t>
            </a:r>
            <a:br>
              <a:rPr lang="en-US" b="0" i="0" dirty="0">
                <a:effectLst/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R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ecency 	451 </a:t>
            </a:r>
            <a:br>
              <a:rPr lang="en-US" b="0" i="0" dirty="0">
                <a:effectLst/>
                <a:latin typeface="Consolas" panose="020B0609020204030204" pitchFamily="49" charset="0"/>
              </a:rPr>
            </a:br>
            <a:r>
              <a:rPr lang="en-US" dirty="0">
                <a:latin typeface="Consolas" panose="020B0609020204030204" pitchFamily="49" charset="0"/>
              </a:rPr>
              <a:t>F</a:t>
            </a:r>
            <a:r>
              <a:rPr lang="en-US" b="0" i="0" dirty="0">
                <a:effectLst/>
                <a:latin typeface="Consolas" panose="020B0609020204030204" pitchFamily="49" charset="0"/>
              </a:rPr>
              <a:t>requency 	337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9564218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BA7B57A-EDA6-909B-2745-CEECB32A324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Cluster Interpretation</a:t>
            </a:r>
            <a:br>
              <a:rPr lang="de-DE" dirty="0"/>
            </a:br>
            <a:r>
              <a:rPr lang="de-DE" sz="800" dirty="0">
                <a:solidFill>
                  <a:schemeClr val="bg1"/>
                </a:solidFill>
              </a:rPr>
              <a:t>a</a:t>
            </a:r>
            <a:br>
              <a:rPr lang="de-DE" dirty="0"/>
            </a:br>
            <a:r>
              <a:rPr lang="en-US" sz="2000" dirty="0"/>
              <a:t>Cross-referencing predicted clusters with manual category tags validates the model's high semantic accuracy.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00BCE553-DE36-0EB6-BE5C-43E0D2EDCC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F7782B2-018B-4FD3-AD95-2F64EDE0E9D6}" type="datetime1">
              <a:rPr lang="de-CH" noProof="0" smtClean="0"/>
              <a:t>25.03.2026</a:t>
            </a:fld>
            <a:endParaRPr lang="de-CH" noProof="0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21218AD0-A83F-EA78-9FFA-E8C0815DF0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 noProof="0" dirty="0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05BDADE5-00DA-D112-E3B5-6CDEEE55849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CA52AF-F19D-405C-AD5F-7D94B96A5CC3}" type="slidenum">
              <a:rPr lang="de-CH" noProof="0" smtClean="0"/>
              <a:t>3</a:t>
            </a:fld>
            <a:endParaRPr lang="de-CH" noProof="0"/>
          </a:p>
        </p:txBody>
      </p:sp>
      <p:grpSp>
        <p:nvGrpSpPr>
          <p:cNvPr id="3" name="Gruppieren 2">
            <a:extLst>
              <a:ext uri="{FF2B5EF4-FFF2-40B4-BE49-F238E27FC236}">
                <a16:creationId xmlns:a16="http://schemas.microsoft.com/office/drawing/2014/main" id="{8711214C-5C6A-70F4-D4EB-661599A6E23E}"/>
              </a:ext>
            </a:extLst>
          </p:cNvPr>
          <p:cNvGrpSpPr>
            <a:grpSpLocks noChangeAspect="1"/>
          </p:cNvGrpSpPr>
          <p:nvPr/>
        </p:nvGrpSpPr>
        <p:grpSpPr>
          <a:xfrm>
            <a:off x="731837" y="1324528"/>
            <a:ext cx="5072742" cy="5152342"/>
            <a:chOff x="482874" y="710351"/>
            <a:chExt cx="5613125" cy="5701204"/>
          </a:xfrm>
        </p:grpSpPr>
        <p:pic>
          <p:nvPicPr>
            <p:cNvPr id="21" name="Grafik 20" descr="Ein Bild, das Screenshot, Design enthält.&#10;&#10;KI-generierte Inhalte können fehlerhaft sein.">
              <a:extLst>
                <a:ext uri="{FF2B5EF4-FFF2-40B4-BE49-F238E27FC236}">
                  <a16:creationId xmlns:a16="http://schemas.microsoft.com/office/drawing/2014/main" id="{1A45BBD7-4CE0-BDFD-F46E-5B4731E31A0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1023936" y="4497030"/>
              <a:ext cx="4638675" cy="1914525"/>
            </a:xfrm>
            <a:prstGeom prst="rect">
              <a:avLst/>
            </a:prstGeom>
          </p:spPr>
        </p:pic>
        <p:pic>
          <p:nvPicPr>
            <p:cNvPr id="32" name="Grafik 31" descr="Ein Bild, das Zubehör, Handtasche, Tasche, Gepäck und Koffer enthält.&#10;&#10;KI-generierte Inhalte können fehlerhaft sein.">
              <a:extLst>
                <a:ext uri="{FF2B5EF4-FFF2-40B4-BE49-F238E27FC236}">
                  <a16:creationId xmlns:a16="http://schemas.microsoft.com/office/drawing/2014/main" id="{B49C7DE2-AD46-CC17-9B0E-C56A2830B7E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82874" y="710351"/>
              <a:ext cx="2752725" cy="3771900"/>
            </a:xfrm>
            <a:prstGeom prst="rect">
              <a:avLst/>
            </a:prstGeom>
          </p:spPr>
        </p:pic>
        <p:pic>
          <p:nvPicPr>
            <p:cNvPr id="36" name="Grafik 35" descr="Ein Bild, das Kleidung, Ärmel, Muster (Modedesign), Freizeitkleidung enthält.&#10;&#10;KI-generierte Inhalte können fehlerhaft sein.">
              <a:extLst>
                <a:ext uri="{FF2B5EF4-FFF2-40B4-BE49-F238E27FC236}">
                  <a16:creationId xmlns:a16="http://schemas.microsoft.com/office/drawing/2014/main" id="{6B46B2A3-589C-F528-B99E-88B0C0795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3343274" y="715605"/>
              <a:ext cx="2752725" cy="3781425"/>
            </a:xfrm>
            <a:prstGeom prst="rect">
              <a:avLst/>
            </a:prstGeom>
          </p:spPr>
        </p:pic>
      </p:grpSp>
      <p:pic>
        <p:nvPicPr>
          <p:cNvPr id="40" name="Grafik 39" descr="Ein Bild, das Text, Screenshot, Zahl, parallel enthält.&#10;&#10;KI-generierte Inhalte können fehlerhaft sein.">
            <a:extLst>
              <a:ext uri="{FF2B5EF4-FFF2-40B4-BE49-F238E27FC236}">
                <a16:creationId xmlns:a16="http://schemas.microsoft.com/office/drawing/2014/main" id="{E7FF2963-4BC7-95A4-B276-6F53674E60B9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69782" y="1657954"/>
            <a:ext cx="5390380" cy="447574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6351573"/>
      </p:ext>
    </p:extLst>
  </p:cSld>
  <p:clrMapOvr>
    <a:masterClrMapping/>
  </p:clrMapOvr>
</p:sld>
</file>

<file path=ppt/theme/theme1.xml><?xml version="1.0" encoding="utf-8"?>
<a:theme xmlns:a="http://schemas.openxmlformats.org/drawingml/2006/main" name="ETH Zürich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Präsentation3" id="{9C84984C-18ED-5E49-A574-15FF8A3954B8}" vid="{0B390235-9264-874C-ABEB-5D2188FC234E}"/>
    </a:ext>
  </a:extLst>
</a:theme>
</file>

<file path=ppt/theme/theme2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custClrLst>
    <a:custClr name="ETH Blau">
      <a:srgbClr val="215CAF"/>
    </a:custClr>
    <a:custClr name="ETH Petrol">
      <a:srgbClr val="007894"/>
    </a:custClr>
    <a:custClr name="ETH Gruen">
      <a:srgbClr val="627313"/>
    </a:custClr>
    <a:custClr name="ETH Bronze">
      <a:srgbClr val="8E6713"/>
    </a:custClr>
    <a:custClr name="ETH Rot">
      <a:srgbClr val="B7352D"/>
    </a:custClr>
    <a:custClr name="ETH Purpur">
      <a:srgbClr val="A30774"/>
    </a:custClr>
    <a:custClr name="ETH Grau">
      <a:srgbClr val="6F6F6F"/>
    </a:custClr>
  </a:custClrLst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">
  <a:themeElements>
    <a:clrScheme name="ETH Zürich">
      <a:dk1>
        <a:sysClr val="windowText" lastClr="000000"/>
      </a:dk1>
      <a:lt1>
        <a:sysClr val="window" lastClr="FFFFFF"/>
      </a:lt1>
      <a:dk2>
        <a:srgbClr val="000000"/>
      </a:dk2>
      <a:lt2>
        <a:srgbClr val="FFFFFF"/>
      </a:lt2>
      <a:accent1>
        <a:srgbClr val="215CAF"/>
      </a:accent1>
      <a:accent2>
        <a:srgbClr val="007894"/>
      </a:accent2>
      <a:accent3>
        <a:srgbClr val="627313"/>
      </a:accent3>
      <a:accent4>
        <a:srgbClr val="8E6713"/>
      </a:accent4>
      <a:accent5>
        <a:srgbClr val="B7352D"/>
      </a:accent5>
      <a:accent6>
        <a:srgbClr val="A30774"/>
      </a:accent6>
      <a:hlink>
        <a:srgbClr val="0563C1"/>
      </a:hlink>
      <a:folHlink>
        <a:srgbClr val="954F72"/>
      </a:folHlink>
    </a:clrScheme>
    <a:fontScheme name="ETH Zürich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D0F59E03F3A02E49BD70E31348545014" ma:contentTypeVersion="7" ma:contentTypeDescription="Ein neues Dokument erstellen." ma:contentTypeScope="" ma:versionID="907cdc0f808be0b4bc1373a5a8f6a492">
  <xsd:schema xmlns:xsd="http://www.w3.org/2001/XMLSchema" xmlns:xs="http://www.w3.org/2001/XMLSchema" xmlns:p="http://schemas.microsoft.com/office/2006/metadata/properties" xmlns:ns2="7fd05bba-d45d-467f-a5a8-3f2970e80e4a" targetNamespace="http://schemas.microsoft.com/office/2006/metadata/properties" ma:root="true" ma:fieldsID="6eaf8534fcc486a778b01aa1a7a62fa4" ns2:_="">
    <xsd:import namespace="7fd05bba-d45d-467f-a5a8-3f2970e80e4a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DateTaken" minOccurs="0"/>
                <xsd:element ref="ns2:MediaServiceGenerationTime" minOccurs="0"/>
                <xsd:element ref="ns2:MediaServiceEventHashCode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fd05bba-d45d-467f-a5a8-3f2970e80e4a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1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2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3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4" nillable="true" ma:displayName="MediaLengthInSeconds" ma:hidden="true" ma:internalName="MediaLengthInSeconds" ma:readOnly="true">
      <xsd:simpleType>
        <xsd:restriction base="dms:Unknown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2C3B1C8D-BA84-44B8-B31F-BF26E7BAC85C}">
  <ds:schemaRefs>
    <ds:schemaRef ds:uri="http://purl.org/dc/elements/1.1/"/>
    <ds:schemaRef ds:uri="http://www.w3.org/XML/1998/namespace"/>
    <ds:schemaRef ds:uri="http://schemas.openxmlformats.org/package/2006/metadata/core-properties"/>
    <ds:schemaRef ds:uri="http://schemas.microsoft.com/office/2006/documentManagement/types"/>
    <ds:schemaRef ds:uri="http://purl.org/dc/terms/"/>
    <ds:schemaRef ds:uri="http://schemas.microsoft.com/office/infopath/2007/PartnerControls"/>
    <ds:schemaRef ds:uri="http://purl.org/dc/dcmitype/"/>
    <ds:schemaRef ds:uri="7fd05bba-d45d-467f-a5a8-3f2970e80e4a"/>
    <ds:schemaRef ds:uri="http://schemas.microsoft.com/office/2006/metadata/properties"/>
  </ds:schemaRefs>
</ds:datastoreItem>
</file>

<file path=customXml/itemProps2.xml><?xml version="1.0" encoding="utf-8"?>
<ds:datastoreItem xmlns:ds="http://schemas.openxmlformats.org/officeDocument/2006/customXml" ds:itemID="{E0CFCB78-2973-46E2-963D-C72C98C43B41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6B7B52BC-33EF-4C54-820C-9984D5F8AFB1}">
  <ds:schemaRefs>
    <ds:schemaRef ds:uri="7fd05bba-d45d-467f-a5a8-3f2970e80e4a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eth_pp_praesentation_ohne_klassifizierung</Template>
  <TotalTime>0</TotalTime>
  <Words>251</Words>
  <Application>Microsoft Office PowerPoint</Application>
  <PresentationFormat>Widescreen</PresentationFormat>
  <Paragraphs>55</Paragraphs>
  <Slides>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8" baseType="lpstr">
      <vt:lpstr>Arial</vt:lpstr>
      <vt:lpstr>Consolas</vt:lpstr>
      <vt:lpstr>Segoe UI</vt:lpstr>
      <vt:lpstr>Symbol</vt:lpstr>
      <vt:lpstr>ETH Zürich</vt:lpstr>
      <vt:lpstr>Assignment 2: Baseline Challenge</vt:lpstr>
      <vt:lpstr>RFM Baseline for CLV Prediction</vt:lpstr>
      <vt:lpstr>Cluster Interpretation a Cross-referencing predicted clusters with manual category tags validates the model's high semantic accuracy.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Voss  Julius</dc:creator>
  <cp:lastModifiedBy>Constantin Cimpoes</cp:lastModifiedBy>
  <cp:revision>14</cp:revision>
  <dcterms:created xsi:type="dcterms:W3CDTF">2025-11-07T08:31:52Z</dcterms:created>
  <dcterms:modified xsi:type="dcterms:W3CDTF">2026-03-25T10:19:12Z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0x010100D0F59E03F3A02E49BD70E31348545014</vt:lpwstr>
  </property>
</Properties>
</file>
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1190" r:id="rId6"/>
    <p:sldId id="118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9E75"/>
    <a:srgbClr val="286DD2"/>
    <a:srgbClr val="6899E2"/>
    <a:srgbClr val="78ADD2"/>
    <a:srgbClr val="B8CFF2"/>
    <a:srgbClr val="266CCC"/>
    <a:srgbClr val="215EB3"/>
    <a:srgbClr val="1D5199"/>
    <a:srgbClr val="194787"/>
    <a:srgbClr val="1844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917" y="7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>
                <a:cs typeface="+mn-lt"/>
              </a:rPr>
              <a:t>Cimpoes, Julius </a:t>
            </a:r>
            <a:r>
              <a:rPr lang="en-US" sz="1600" b="1" noProof="0" dirty="0">
                <a:cs typeface="+mn-lt"/>
              </a:rPr>
              <a:t>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38C4B1-8BA4-8DD6-388B-E7C0C4E144DA}"/>
              </a:ext>
            </a:extLst>
          </p:cNvPr>
          <p:cNvSpPr txBox="1"/>
          <p:nvPr/>
        </p:nvSpPr>
        <p:spPr>
          <a:xfrm>
            <a:off x="6760883" y="3053413"/>
            <a:ext cx="543111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/>
              <a:t>The Linear Failure (Ridge)</a:t>
            </a:r>
            <a:r>
              <a:rPr lang="en-US" dirty="0"/>
              <a:t>: Simple linear regression struggles with "Latent Attrition." It hallucinates high future revenue for past active users who have silently churned.</a:t>
            </a:r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/>
              <a:t>The ML Improvement (</a:t>
            </a:r>
            <a:r>
              <a:rPr lang="en-US" b="1" dirty="0" err="1"/>
              <a:t>LightGBM</a:t>
            </a:r>
            <a:r>
              <a:rPr lang="en-US" b="1" dirty="0"/>
              <a:t>)</a:t>
            </a:r>
            <a:r>
              <a:rPr lang="en-US" dirty="0"/>
              <a:t>: Upgrading to a tree-based model cuts the MAE by ~30%. Feature importance confirms it uses Recency to implicitly predict churn cutoffs.</a:t>
            </a:r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/>
              <a:t>Next Steps</a:t>
            </a:r>
            <a:r>
              <a:rPr lang="en-US" dirty="0"/>
              <a:t>: Pure RFM is insufficient. To close the gap to the 93 NOK benchmark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73E8C4E-6B72-DE38-8DAE-1F0E44DCA590}"/>
              </a:ext>
            </a:extLst>
          </p:cNvPr>
          <p:cNvGrpSpPr/>
          <p:nvPr/>
        </p:nvGrpSpPr>
        <p:grpSpPr>
          <a:xfrm>
            <a:off x="122238" y="705843"/>
            <a:ext cx="7207830" cy="1626621"/>
            <a:chOff x="4924012" y="1256056"/>
            <a:chExt cx="7207830" cy="1626621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FE72850-96D5-C273-26F1-EC72D20FCF41}"/>
                </a:ext>
              </a:extLst>
            </p:cNvPr>
            <p:cNvSpPr txBox="1"/>
            <p:nvPr/>
          </p:nvSpPr>
          <p:spPr>
            <a:xfrm>
              <a:off x="4942917" y="1256056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 dirty="0">
                  <a:ln/>
                  <a:solidFill>
                    <a:srgbClr val="B8B6D8"/>
                  </a:solidFill>
                  <a:latin typeface="Segoe UI"/>
                  <a:cs typeface="Segoe UI"/>
                  <a:sym typeface="Segoe UI"/>
                  <a:rtl val="0"/>
                </a:rPr>
                <a:t>Validation fold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9E0C421-6492-CC4B-0270-38CA8BF5EC4D}"/>
                </a:ext>
              </a:extLst>
            </p:cNvPr>
            <p:cNvSpPr txBox="1"/>
            <p:nvPr/>
          </p:nvSpPr>
          <p:spPr>
            <a:xfrm>
              <a:off x="4942582" y="1399684"/>
              <a:ext cx="107914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(current testing)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3A4AAAF-731E-4D68-68AD-966770499C6F}"/>
                </a:ext>
              </a:extLst>
            </p:cNvPr>
            <p:cNvSpPr txBox="1"/>
            <p:nvPr/>
          </p:nvSpPr>
          <p:spPr>
            <a:xfrm>
              <a:off x="4924719" y="1941856"/>
              <a:ext cx="10807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B8B6D8"/>
                  </a:solidFill>
                  <a:latin typeface="Segoe UI"/>
                  <a:cs typeface="Segoe UI"/>
                  <a:sym typeface="Segoe UI"/>
                  <a:rtl val="0"/>
                </a:rPr>
                <a:t>Final submission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7F49F98-E120-17E6-34B1-E066F4FC4A24}"/>
                </a:ext>
              </a:extLst>
            </p:cNvPr>
            <p:cNvSpPr txBox="1"/>
            <p:nvPr/>
          </p:nvSpPr>
          <p:spPr>
            <a:xfrm>
              <a:off x="4924012" y="2085484"/>
              <a:ext cx="12025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(future prediction)</a:t>
              </a: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03F168B-92EB-8CA8-C89A-89D0DA73297F}"/>
                </a:ext>
              </a:extLst>
            </p:cNvPr>
            <p:cNvSpPr/>
            <p:nvPr/>
          </p:nvSpPr>
          <p:spPr>
            <a:xfrm>
              <a:off x="6210300" y="1257300"/>
              <a:ext cx="2457450" cy="247650"/>
            </a:xfrm>
            <a:custGeom>
              <a:avLst/>
              <a:gdLst>
                <a:gd name="csX0" fmla="*/ 2419350 w 2457450"/>
                <a:gd name="csY0" fmla="*/ 0 h 247650"/>
                <a:gd name="csX1" fmla="*/ 2457450 w 2457450"/>
                <a:gd name="csY1" fmla="*/ 0 h 247650"/>
                <a:gd name="csX2" fmla="*/ 2457450 w 2457450"/>
                <a:gd name="csY2" fmla="*/ 247650 h 247650"/>
                <a:gd name="csX3" fmla="*/ 2419350 w 2457450"/>
                <a:gd name="csY3" fmla="*/ 247650 h 247650"/>
                <a:gd name="csX4" fmla="*/ 38100 w 2457450"/>
                <a:gd name="csY4" fmla="*/ 247650 h 247650"/>
                <a:gd name="csX5" fmla="*/ 0 w 2457450"/>
                <a:gd name="csY5" fmla="*/ 247650 h 247650"/>
                <a:gd name="csX6" fmla="*/ 0 w 2457450"/>
                <a:gd name="csY6" fmla="*/ 0 h 247650"/>
                <a:gd name="csX7" fmla="*/ 38100 w 2457450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57450" h="247650">
                  <a:moveTo>
                    <a:pt x="2419350" y="0"/>
                  </a:moveTo>
                  <a:cubicBezTo>
                    <a:pt x="2440392" y="0"/>
                    <a:pt x="2457450" y="0"/>
                    <a:pt x="2457450" y="0"/>
                  </a:cubicBezTo>
                  <a:lnTo>
                    <a:pt x="2457450" y="247650"/>
                  </a:lnTo>
                  <a:cubicBezTo>
                    <a:pt x="2457450" y="247650"/>
                    <a:pt x="2440392" y="247650"/>
                    <a:pt x="2419350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A9087F4-A921-B2D4-BD73-C9245E005CA4}"/>
                </a:ext>
              </a:extLst>
            </p:cNvPr>
            <p:cNvSpPr txBox="1"/>
            <p:nvPr/>
          </p:nvSpPr>
          <p:spPr>
            <a:xfrm>
              <a:off x="6989513" y="1270720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D0CEFC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5CEB38E-6D0E-3631-CA96-E6AB39F48FE4}"/>
                </a:ext>
              </a:extLst>
            </p:cNvPr>
            <p:cNvSpPr/>
            <p:nvPr/>
          </p:nvSpPr>
          <p:spPr>
            <a:xfrm>
              <a:off x="8667750" y="1257300"/>
              <a:ext cx="1466850" cy="247650"/>
            </a:xfrm>
            <a:custGeom>
              <a:avLst/>
              <a:gdLst>
                <a:gd name="csX0" fmla="*/ 1428750 w 1466850"/>
                <a:gd name="csY0" fmla="*/ 0 h 247650"/>
                <a:gd name="csX1" fmla="*/ 1466850 w 1466850"/>
                <a:gd name="csY1" fmla="*/ 0 h 247650"/>
                <a:gd name="csX2" fmla="*/ 1466850 w 1466850"/>
                <a:gd name="csY2" fmla="*/ 247650 h 247650"/>
                <a:gd name="csX3" fmla="*/ 1428750 w 1466850"/>
                <a:gd name="csY3" fmla="*/ 247650 h 247650"/>
                <a:gd name="csX4" fmla="*/ 38100 w 1466850"/>
                <a:gd name="csY4" fmla="*/ 247650 h 247650"/>
                <a:gd name="csX5" fmla="*/ 0 w 1466850"/>
                <a:gd name="csY5" fmla="*/ 247650 h 247650"/>
                <a:gd name="csX6" fmla="*/ 0 w 1466850"/>
                <a:gd name="csY6" fmla="*/ 0 h 247650"/>
                <a:gd name="csX7" fmla="*/ 38100 w 1466850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66850" h="247650">
                  <a:moveTo>
                    <a:pt x="1428750" y="0"/>
                  </a:moveTo>
                  <a:cubicBezTo>
                    <a:pt x="1449792" y="0"/>
                    <a:pt x="1466850" y="0"/>
                    <a:pt x="1466850" y="0"/>
                  </a:cubicBezTo>
                  <a:lnTo>
                    <a:pt x="1466850" y="247650"/>
                  </a:lnTo>
                  <a:cubicBezTo>
                    <a:pt x="1466850" y="247650"/>
                    <a:pt x="1449792" y="247650"/>
                    <a:pt x="1428750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02B202D-040E-2948-8062-002C4A386590}"/>
                </a:ext>
              </a:extLst>
            </p:cNvPr>
            <p:cNvSpPr txBox="1"/>
            <p:nvPr/>
          </p:nvSpPr>
          <p:spPr>
            <a:xfrm>
              <a:off x="9019031" y="1270720"/>
              <a:ext cx="90120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F5CDB6"/>
                  </a:solidFill>
                  <a:latin typeface="Segoe UI"/>
                  <a:cs typeface="Segoe UI"/>
                  <a:sym typeface="Segoe UI"/>
                  <a:rtl val="0"/>
                </a:rPr>
                <a:t>Target (12M)</a:t>
              </a: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CB29E37-5B5A-58E4-C945-8C8B57720F9E}"/>
                </a:ext>
              </a:extLst>
            </p:cNvPr>
            <p:cNvSpPr/>
            <p:nvPr/>
          </p:nvSpPr>
          <p:spPr>
            <a:xfrm>
              <a:off x="7686675" y="1971675"/>
              <a:ext cx="2447925" cy="247650"/>
            </a:xfrm>
            <a:custGeom>
              <a:avLst/>
              <a:gdLst>
                <a:gd name="csX0" fmla="*/ 2409825 w 2447925"/>
                <a:gd name="csY0" fmla="*/ 0 h 247650"/>
                <a:gd name="csX1" fmla="*/ 2447925 w 2447925"/>
                <a:gd name="csY1" fmla="*/ 0 h 247650"/>
                <a:gd name="csX2" fmla="*/ 2447925 w 2447925"/>
                <a:gd name="csY2" fmla="*/ 247650 h 247650"/>
                <a:gd name="csX3" fmla="*/ 2409825 w 2447925"/>
                <a:gd name="csY3" fmla="*/ 247650 h 247650"/>
                <a:gd name="csX4" fmla="*/ 38100 w 2447925"/>
                <a:gd name="csY4" fmla="*/ 247650 h 247650"/>
                <a:gd name="csX5" fmla="*/ 0 w 2447925"/>
                <a:gd name="csY5" fmla="*/ 247650 h 247650"/>
                <a:gd name="csX6" fmla="*/ 0 w 2447925"/>
                <a:gd name="csY6" fmla="*/ 0 h 247650"/>
                <a:gd name="csX7" fmla="*/ 38100 w 2447925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47925" h="247650">
                  <a:moveTo>
                    <a:pt x="2409825" y="0"/>
                  </a:moveTo>
                  <a:cubicBezTo>
                    <a:pt x="2430867" y="0"/>
                    <a:pt x="2447925" y="0"/>
                    <a:pt x="2447925" y="0"/>
                  </a:cubicBezTo>
                  <a:lnTo>
                    <a:pt x="2447925" y="247650"/>
                  </a:lnTo>
                  <a:cubicBezTo>
                    <a:pt x="2447925" y="247650"/>
                    <a:pt x="2430867" y="247650"/>
                    <a:pt x="2409825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745A372-DD15-77FB-4592-20932CDB4D93}"/>
                </a:ext>
              </a:extLst>
            </p:cNvPr>
            <p:cNvSpPr txBox="1"/>
            <p:nvPr/>
          </p:nvSpPr>
          <p:spPr>
            <a:xfrm>
              <a:off x="8456363" y="1985095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D0CEFC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B8AD6FC-7DBD-757E-60C3-F7BB7ECCB5C4}"/>
                </a:ext>
              </a:extLst>
            </p:cNvPr>
            <p:cNvSpPr/>
            <p:nvPr/>
          </p:nvSpPr>
          <p:spPr>
            <a:xfrm>
              <a:off x="10134600" y="1971675"/>
              <a:ext cx="1476375" cy="247650"/>
            </a:xfrm>
            <a:custGeom>
              <a:avLst/>
              <a:gdLst>
                <a:gd name="csX0" fmla="*/ 1438275 w 1476375"/>
                <a:gd name="csY0" fmla="*/ 0 h 247650"/>
                <a:gd name="csX1" fmla="*/ 1476375 w 1476375"/>
                <a:gd name="csY1" fmla="*/ 0 h 247650"/>
                <a:gd name="csX2" fmla="*/ 1476375 w 1476375"/>
                <a:gd name="csY2" fmla="*/ 247650 h 247650"/>
                <a:gd name="csX3" fmla="*/ 1438275 w 1476375"/>
                <a:gd name="csY3" fmla="*/ 247650 h 247650"/>
                <a:gd name="csX4" fmla="*/ 38100 w 1476375"/>
                <a:gd name="csY4" fmla="*/ 247650 h 247650"/>
                <a:gd name="csX5" fmla="*/ 0 w 1476375"/>
                <a:gd name="csY5" fmla="*/ 247650 h 247650"/>
                <a:gd name="csX6" fmla="*/ 0 w 1476375"/>
                <a:gd name="csY6" fmla="*/ 0 h 247650"/>
                <a:gd name="csX7" fmla="*/ 38100 w 1476375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76375" h="247650">
                  <a:moveTo>
                    <a:pt x="1438275" y="0"/>
                  </a:moveTo>
                  <a:cubicBezTo>
                    <a:pt x="1459317" y="0"/>
                    <a:pt x="1476375" y="0"/>
                    <a:pt x="1476375" y="0"/>
                  </a:cubicBezTo>
                  <a:lnTo>
                    <a:pt x="1476375" y="247650"/>
                  </a:lnTo>
                  <a:cubicBezTo>
                    <a:pt x="1476375" y="247650"/>
                    <a:pt x="1459317" y="247650"/>
                    <a:pt x="1438275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B825F5F-119F-775B-9BC7-6953DE87AC2A}"/>
                </a:ext>
              </a:extLst>
            </p:cNvPr>
            <p:cNvSpPr txBox="1"/>
            <p:nvPr/>
          </p:nvSpPr>
          <p:spPr>
            <a:xfrm>
              <a:off x="10485881" y="1985095"/>
              <a:ext cx="90120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F5CDB6"/>
                  </a:solidFill>
                  <a:latin typeface="Segoe UI"/>
                  <a:cs typeface="Segoe UI"/>
                  <a:sym typeface="Segoe UI"/>
                  <a:rtl val="0"/>
                </a:rPr>
                <a:t>Target (12M)</a:t>
              </a: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CDC5862-3FA7-E42D-8FFA-A2D07FA5C098}"/>
                </a:ext>
              </a:extLst>
            </p:cNvPr>
            <p:cNvSpPr/>
            <p:nvPr/>
          </p:nvSpPr>
          <p:spPr>
            <a:xfrm>
              <a:off x="6210300" y="2438400"/>
              <a:ext cx="5524500" cy="9525"/>
            </a:xfrm>
            <a:custGeom>
              <a:avLst/>
              <a:gdLst>
                <a:gd name="csX0" fmla="*/ 0 w 5524500"/>
                <a:gd name="csY0" fmla="*/ 0 h 9525"/>
                <a:gd name="csX1" fmla="*/ 5524500 w 5524500"/>
                <a:gd name="csY1" fmla="*/ 0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AC58178-8672-F3A6-BDB1-CFF779C8E1F3}"/>
                </a:ext>
              </a:extLst>
            </p:cNvPr>
            <p:cNvSpPr/>
            <p:nvPr/>
          </p:nvSpPr>
          <p:spPr>
            <a:xfrm>
              <a:off x="658177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18AC7A8-311C-3C70-F317-87757EFD14CC}"/>
                </a:ext>
              </a:extLst>
            </p:cNvPr>
            <p:cNvSpPr txBox="1"/>
            <p:nvPr/>
          </p:nvSpPr>
          <p:spPr>
            <a:xfrm>
              <a:off x="6308873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2021</a:t>
              </a: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80F70C-E101-0658-2686-1CFCCFA15D70}"/>
                </a:ext>
              </a:extLst>
            </p:cNvPr>
            <p:cNvSpPr/>
            <p:nvPr/>
          </p:nvSpPr>
          <p:spPr>
            <a:xfrm>
              <a:off x="73152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DB8E407-4001-7951-BBED-2D1D484414AD}"/>
                </a:ext>
              </a:extLst>
            </p:cNvPr>
            <p:cNvSpPr txBox="1"/>
            <p:nvPr/>
          </p:nvSpPr>
          <p:spPr>
            <a:xfrm>
              <a:off x="704346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2021</a:t>
              </a: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3D1978E-3289-125B-2746-03CEA43735DA}"/>
                </a:ext>
              </a:extLst>
            </p:cNvPr>
            <p:cNvSpPr/>
            <p:nvPr/>
          </p:nvSpPr>
          <p:spPr>
            <a:xfrm>
              <a:off x="804862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21A0350-A399-3FA7-BADE-014F48B7C028}"/>
                </a:ext>
              </a:extLst>
            </p:cNvPr>
            <p:cNvSpPr txBox="1"/>
            <p:nvPr/>
          </p:nvSpPr>
          <p:spPr>
            <a:xfrm>
              <a:off x="7775723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2022</a:t>
              </a: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6CE8176-3271-D450-536D-534F069963F6}"/>
                </a:ext>
              </a:extLst>
            </p:cNvPr>
            <p:cNvSpPr/>
            <p:nvPr/>
          </p:nvSpPr>
          <p:spPr>
            <a:xfrm>
              <a:off x="878205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3A612A9-B091-1543-C755-A103554FB818}"/>
                </a:ext>
              </a:extLst>
            </p:cNvPr>
            <p:cNvSpPr txBox="1"/>
            <p:nvPr/>
          </p:nvSpPr>
          <p:spPr>
            <a:xfrm>
              <a:off x="851031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2022</a:t>
              </a: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278034E3-550A-F453-5A00-78C9F8FD98C6}"/>
                </a:ext>
              </a:extLst>
            </p:cNvPr>
            <p:cNvSpPr/>
            <p:nvPr/>
          </p:nvSpPr>
          <p:spPr>
            <a:xfrm>
              <a:off x="95250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54C49AA-D41E-A065-E576-4A2E3127319C}"/>
                </a:ext>
              </a:extLst>
            </p:cNvPr>
            <p:cNvSpPr txBox="1"/>
            <p:nvPr/>
          </p:nvSpPr>
          <p:spPr>
            <a:xfrm>
              <a:off x="9252098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2023</a:t>
              </a: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5CCF3DC9-7065-E410-0D18-384C99755681}"/>
                </a:ext>
              </a:extLst>
            </p:cNvPr>
            <p:cNvSpPr/>
            <p:nvPr/>
          </p:nvSpPr>
          <p:spPr>
            <a:xfrm>
              <a:off x="1025842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2B2EFFB-DFCB-740F-4397-6F9AE366DBE1}"/>
                </a:ext>
              </a:extLst>
            </p:cNvPr>
            <p:cNvSpPr txBox="1"/>
            <p:nvPr/>
          </p:nvSpPr>
          <p:spPr>
            <a:xfrm>
              <a:off x="9986694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2023</a:t>
              </a: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1B2FA54-2789-6E0D-F49F-06289D033B1F}"/>
                </a:ext>
              </a:extLst>
            </p:cNvPr>
            <p:cNvSpPr/>
            <p:nvPr/>
          </p:nvSpPr>
          <p:spPr>
            <a:xfrm>
              <a:off x="1099185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24246DB-2654-E9A0-3E98-EC9FA3579F7A}"/>
                </a:ext>
              </a:extLst>
            </p:cNvPr>
            <p:cNvSpPr txBox="1"/>
            <p:nvPr/>
          </p:nvSpPr>
          <p:spPr>
            <a:xfrm>
              <a:off x="10718948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2024</a:t>
              </a: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B9FCC387-09FE-1FF6-8993-C4FDAE5EC058}"/>
                </a:ext>
              </a:extLst>
            </p:cNvPr>
            <p:cNvSpPr/>
            <p:nvPr/>
          </p:nvSpPr>
          <p:spPr>
            <a:xfrm>
              <a:off x="117348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EF4D1B3-7879-1F6D-977A-1C8A053167A1}"/>
                </a:ext>
              </a:extLst>
            </p:cNvPr>
            <p:cNvSpPr txBox="1"/>
            <p:nvPr/>
          </p:nvSpPr>
          <p:spPr>
            <a:xfrm>
              <a:off x="1146306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2024</a:t>
              </a: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03B7955-5390-1920-FB1A-1438120F213B}"/>
                </a:ext>
              </a:extLst>
            </p:cNvPr>
            <p:cNvSpPr/>
            <p:nvPr/>
          </p:nvSpPr>
          <p:spPr>
            <a:xfrm>
              <a:off x="7810500" y="2714625"/>
              <a:ext cx="114300" cy="95250"/>
            </a:xfrm>
            <a:custGeom>
              <a:avLst/>
              <a:gdLst>
                <a:gd name="csX0" fmla="*/ 95250 w 114300"/>
                <a:gd name="csY0" fmla="*/ 0 h 95250"/>
                <a:gd name="csX1" fmla="*/ 114300 w 114300"/>
                <a:gd name="csY1" fmla="*/ 0 h 95250"/>
                <a:gd name="csX2" fmla="*/ 114300 w 114300"/>
                <a:gd name="csY2" fmla="*/ 95250 h 95250"/>
                <a:gd name="csX3" fmla="*/ 95250 w 114300"/>
                <a:gd name="csY3" fmla="*/ 95250 h 95250"/>
                <a:gd name="csX4" fmla="*/ 19050 w 114300"/>
                <a:gd name="csY4" fmla="*/ 95250 h 95250"/>
                <a:gd name="csX5" fmla="*/ 0 w 114300"/>
                <a:gd name="csY5" fmla="*/ 95250 h 95250"/>
                <a:gd name="csX6" fmla="*/ 0 w 114300"/>
                <a:gd name="csY6" fmla="*/ 0 h 95250"/>
                <a:gd name="csX7" fmla="*/ 19050 w 114300"/>
                <a:gd name="csY7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4300" h="95250">
                  <a:moveTo>
                    <a:pt x="95250" y="0"/>
                  </a:moveTo>
                  <a:cubicBezTo>
                    <a:pt x="105771" y="0"/>
                    <a:pt x="114300" y="0"/>
                    <a:pt x="114300" y="0"/>
                  </a:cubicBezTo>
                  <a:lnTo>
                    <a:pt x="114300" y="95250"/>
                  </a:lnTo>
                  <a:cubicBezTo>
                    <a:pt x="114300" y="95250"/>
                    <a:pt x="105771" y="95250"/>
                    <a:pt x="95250" y="95250"/>
                  </a:cubicBezTo>
                  <a:lnTo>
                    <a:pt x="19050" y="95250"/>
                  </a:lnTo>
                  <a:cubicBezTo>
                    <a:pt x="8529" y="95250"/>
                    <a:pt x="0" y="95250"/>
                    <a:pt x="0" y="95250"/>
                  </a:cubicBezTo>
                  <a:lnTo>
                    <a:pt x="0" y="0"/>
                  </a:lnTo>
                  <a:cubicBezTo>
                    <a:pt x="0" y="0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D057BBC-F4ED-A405-DBA7-F7EDBAE269D1}"/>
                </a:ext>
              </a:extLst>
            </p:cNvPr>
            <p:cNvSpPr txBox="1"/>
            <p:nvPr/>
          </p:nvSpPr>
          <p:spPr>
            <a:xfrm>
              <a:off x="7871460" y="2651845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9F9DC8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15D7E9A-0651-179E-FC30-80EAF3F140AB}"/>
                </a:ext>
              </a:extLst>
            </p:cNvPr>
            <p:cNvSpPr/>
            <p:nvPr/>
          </p:nvSpPr>
          <p:spPr>
            <a:xfrm>
              <a:off x="9144000" y="2714625"/>
              <a:ext cx="114300" cy="95250"/>
            </a:xfrm>
            <a:custGeom>
              <a:avLst/>
              <a:gdLst>
                <a:gd name="csX0" fmla="*/ 95250 w 114300"/>
                <a:gd name="csY0" fmla="*/ 0 h 95250"/>
                <a:gd name="csX1" fmla="*/ 114300 w 114300"/>
                <a:gd name="csY1" fmla="*/ 0 h 95250"/>
                <a:gd name="csX2" fmla="*/ 114300 w 114300"/>
                <a:gd name="csY2" fmla="*/ 95250 h 95250"/>
                <a:gd name="csX3" fmla="*/ 95250 w 114300"/>
                <a:gd name="csY3" fmla="*/ 95250 h 95250"/>
                <a:gd name="csX4" fmla="*/ 19050 w 114300"/>
                <a:gd name="csY4" fmla="*/ 95250 h 95250"/>
                <a:gd name="csX5" fmla="*/ 0 w 114300"/>
                <a:gd name="csY5" fmla="*/ 95250 h 95250"/>
                <a:gd name="csX6" fmla="*/ 0 w 114300"/>
                <a:gd name="csY6" fmla="*/ 0 h 95250"/>
                <a:gd name="csX7" fmla="*/ 19050 w 114300"/>
                <a:gd name="csY7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4300" h="95250">
                  <a:moveTo>
                    <a:pt x="95250" y="0"/>
                  </a:moveTo>
                  <a:cubicBezTo>
                    <a:pt x="105771" y="0"/>
                    <a:pt x="114300" y="0"/>
                    <a:pt x="114300" y="0"/>
                  </a:cubicBezTo>
                  <a:lnTo>
                    <a:pt x="114300" y="95250"/>
                  </a:lnTo>
                  <a:cubicBezTo>
                    <a:pt x="114300" y="95250"/>
                    <a:pt x="105771" y="95250"/>
                    <a:pt x="95250" y="95250"/>
                  </a:cubicBezTo>
                  <a:lnTo>
                    <a:pt x="19050" y="95250"/>
                  </a:lnTo>
                  <a:cubicBezTo>
                    <a:pt x="8529" y="95250"/>
                    <a:pt x="0" y="95250"/>
                    <a:pt x="0" y="95250"/>
                  </a:cubicBezTo>
                  <a:lnTo>
                    <a:pt x="0" y="0"/>
                  </a:lnTo>
                  <a:cubicBezTo>
                    <a:pt x="0" y="0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1A6DBF94-A969-EA6B-555C-19038AF073C9}"/>
                </a:ext>
              </a:extLst>
            </p:cNvPr>
            <p:cNvSpPr txBox="1"/>
            <p:nvPr/>
          </p:nvSpPr>
          <p:spPr>
            <a:xfrm>
              <a:off x="9204960" y="2651845"/>
              <a:ext cx="123463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9F9DC8"/>
                  </a:solidFill>
                  <a:latin typeface="Segoe UI"/>
                  <a:cs typeface="Segoe UI"/>
                  <a:sym typeface="Segoe UI"/>
                  <a:rtl val="0"/>
                </a:rPr>
                <a:t>Target (12 months)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A83291-AFA7-90F1-92A1-60F153AD9AB6}"/>
              </a:ext>
            </a:extLst>
          </p:cNvPr>
          <p:cNvSpPr txBox="1"/>
          <p:nvPr/>
        </p:nvSpPr>
        <p:spPr>
          <a:xfrm>
            <a:off x="6746164" y="426654"/>
            <a:ext cx="57985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●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Setup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Filtered data post-Jan 2021 (Subscription Pivot) using pure RFM features (Recency, Frequency, Monetary)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82F1CDD-2847-5FFE-8D54-0C6E68AA5549}"/>
              </a:ext>
            </a:extLst>
          </p:cNvPr>
          <p:cNvGrpSpPr/>
          <p:nvPr/>
        </p:nvGrpSpPr>
        <p:grpSpPr>
          <a:xfrm>
            <a:off x="181230" y="2462677"/>
            <a:ext cx="6626803" cy="3946599"/>
            <a:chOff x="181230" y="2462677"/>
            <a:chExt cx="6626803" cy="394659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1A3056E-F6E0-98F8-7587-1E7730954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230" y="2462677"/>
              <a:ext cx="6626803" cy="3946599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200043" y="3717284"/>
              <a:ext cx="8146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6A3BF1A-5886-13F6-26C7-7930C87A764C}"/>
                </a:ext>
              </a:extLst>
            </p:cNvPr>
            <p:cNvSpPr txBox="1"/>
            <p:nvPr/>
          </p:nvSpPr>
          <p:spPr>
            <a:xfrm>
              <a:off x="4628662" y="4807117"/>
              <a:ext cx="7120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it-IT" b="1" dirty="0">
                  <a:ln/>
                  <a:solidFill>
                    <a:srgbClr val="C00000"/>
                  </a:solidFill>
                  <a:latin typeface="Segoe UI"/>
                  <a:cs typeface="Segoe UI"/>
                  <a:sym typeface="Segoe UI"/>
                  <a:rtl val="0"/>
                </a:rPr>
                <a:t>x</a:t>
              </a:r>
              <a:r>
                <a:rPr lang="en-US" b="1" dirty="0">
                  <a:ln/>
                  <a:solidFill>
                    <a:srgbClr val="C00000"/>
                  </a:solidFill>
                  <a:latin typeface="Segoe UI"/>
                  <a:cs typeface="Segoe UI"/>
                  <a:sym typeface="Segoe UI"/>
                  <a:rtl val="0"/>
                </a:rPr>
                <a:t>110</a:t>
              </a:r>
              <a:endParaRPr lang="en-US" b="1" spc="0" baseline="0" dirty="0">
                <a:ln/>
                <a:solidFill>
                  <a:srgbClr val="C00000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101470" y="3913237"/>
              <a:ext cx="1021556" cy="766918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B683CE5-BA72-E214-811E-567923C398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86215" y="5014450"/>
              <a:ext cx="954501" cy="934066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5B3392BA-BE15-2051-B1B1-6CBE0DB6D42E}"/>
              </a:ext>
            </a:extLst>
          </p:cNvPr>
          <p:cNvSpPr/>
          <p:nvPr/>
        </p:nvSpPr>
        <p:spPr>
          <a:xfrm>
            <a:off x="7741645" y="1959851"/>
            <a:ext cx="3886200" cy="209550"/>
          </a:xfrm>
          <a:custGeom>
            <a:avLst/>
            <a:gdLst>
              <a:gd name="csX0" fmla="*/ 3867150 w 3886200"/>
              <a:gd name="csY0" fmla="*/ 0 h 209550"/>
              <a:gd name="csX1" fmla="*/ 3886200 w 3886200"/>
              <a:gd name="csY1" fmla="*/ 0 h 209550"/>
              <a:gd name="csX2" fmla="*/ 3886200 w 3886200"/>
              <a:gd name="csY2" fmla="*/ 209550 h 209550"/>
              <a:gd name="csX3" fmla="*/ 3867150 w 3886200"/>
              <a:gd name="csY3" fmla="*/ 209550 h 209550"/>
              <a:gd name="csX4" fmla="*/ 19050 w 3886200"/>
              <a:gd name="csY4" fmla="*/ 209550 h 209550"/>
              <a:gd name="csX5" fmla="*/ 0 w 3886200"/>
              <a:gd name="csY5" fmla="*/ 209550 h 209550"/>
              <a:gd name="csX6" fmla="*/ 0 w 3886200"/>
              <a:gd name="csY6" fmla="*/ 0 h 209550"/>
              <a:gd name="csX7" fmla="*/ 19050 w 3886200"/>
              <a:gd name="csY7" fmla="*/ 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209550">
                <a:moveTo>
                  <a:pt x="3867150" y="0"/>
                </a:moveTo>
                <a:cubicBezTo>
                  <a:pt x="3877671" y="0"/>
                  <a:pt x="3886200" y="0"/>
                  <a:pt x="3886200" y="0"/>
                </a:cubicBezTo>
                <a:lnTo>
                  <a:pt x="3886200" y="209550"/>
                </a:lnTo>
                <a:cubicBezTo>
                  <a:pt x="3886200" y="209550"/>
                  <a:pt x="3877671" y="209550"/>
                  <a:pt x="3867150" y="209550"/>
                </a:cubicBezTo>
                <a:lnTo>
                  <a:pt x="19050" y="209550"/>
                </a:lnTo>
                <a:cubicBezTo>
                  <a:pt x="8529" y="209550"/>
                  <a:pt x="0" y="209550"/>
                  <a:pt x="0" y="209550"/>
                </a:cubicBezTo>
                <a:lnTo>
                  <a:pt x="0" y="0"/>
                </a:lnTo>
                <a:cubicBezTo>
                  <a:pt x="0" y="0"/>
                  <a:pt x="8529" y="0"/>
                  <a:pt x="19050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6E0C542-1B5B-7649-B03B-CEC8C4693F45}"/>
              </a:ext>
            </a:extLst>
          </p:cNvPr>
          <p:cNvSpPr/>
          <p:nvPr/>
        </p:nvSpPr>
        <p:spPr>
          <a:xfrm>
            <a:off x="7741645" y="2169401"/>
            <a:ext cx="3886200" cy="209550"/>
          </a:xfrm>
          <a:custGeom>
            <a:avLst/>
            <a:gdLst>
              <a:gd name="csX0" fmla="*/ 3867150 w 3886200"/>
              <a:gd name="csY0" fmla="*/ 0 h 209550"/>
              <a:gd name="csX1" fmla="*/ 3886200 w 3886200"/>
              <a:gd name="csY1" fmla="*/ 0 h 209550"/>
              <a:gd name="csX2" fmla="*/ 3886200 w 3886200"/>
              <a:gd name="csY2" fmla="*/ 209550 h 209550"/>
              <a:gd name="csX3" fmla="*/ 3867150 w 3886200"/>
              <a:gd name="csY3" fmla="*/ 209550 h 209550"/>
              <a:gd name="csX4" fmla="*/ 19050 w 3886200"/>
              <a:gd name="csY4" fmla="*/ 209550 h 209550"/>
              <a:gd name="csX5" fmla="*/ 0 w 3886200"/>
              <a:gd name="csY5" fmla="*/ 209550 h 209550"/>
              <a:gd name="csX6" fmla="*/ 0 w 3886200"/>
              <a:gd name="csY6" fmla="*/ 0 h 209550"/>
              <a:gd name="csX7" fmla="*/ 19050 w 3886200"/>
              <a:gd name="csY7" fmla="*/ 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209550">
                <a:moveTo>
                  <a:pt x="3867150" y="0"/>
                </a:moveTo>
                <a:cubicBezTo>
                  <a:pt x="3877671" y="0"/>
                  <a:pt x="3886200" y="0"/>
                  <a:pt x="3886200" y="0"/>
                </a:cubicBezTo>
                <a:lnTo>
                  <a:pt x="3886200" y="209550"/>
                </a:lnTo>
                <a:cubicBezTo>
                  <a:pt x="3886200" y="209550"/>
                  <a:pt x="3877671" y="209550"/>
                  <a:pt x="3867150" y="209550"/>
                </a:cubicBezTo>
                <a:lnTo>
                  <a:pt x="19050" y="209550"/>
                </a:lnTo>
                <a:cubicBezTo>
                  <a:pt x="8529" y="209550"/>
                  <a:pt x="0" y="209550"/>
                  <a:pt x="0" y="209550"/>
                </a:cubicBezTo>
                <a:lnTo>
                  <a:pt x="0" y="0"/>
                </a:lnTo>
                <a:cubicBezTo>
                  <a:pt x="0" y="0"/>
                  <a:pt x="8529" y="0"/>
                  <a:pt x="19050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5E95F9EE-F36F-DE0F-6E59-DA3394391B6B}"/>
              </a:ext>
            </a:extLst>
          </p:cNvPr>
          <p:cNvSpPr/>
          <p:nvPr/>
        </p:nvSpPr>
        <p:spPr>
          <a:xfrm>
            <a:off x="7741645" y="2378951"/>
            <a:ext cx="3886200" cy="209550"/>
          </a:xfrm>
          <a:custGeom>
            <a:avLst/>
            <a:gdLst>
              <a:gd name="csX0" fmla="*/ 3867150 w 3886200"/>
              <a:gd name="csY0" fmla="*/ 0 h 209550"/>
              <a:gd name="csX1" fmla="*/ 3886200 w 3886200"/>
              <a:gd name="csY1" fmla="*/ 0 h 209550"/>
              <a:gd name="csX2" fmla="*/ 3886200 w 3886200"/>
              <a:gd name="csY2" fmla="*/ 209550 h 209550"/>
              <a:gd name="csX3" fmla="*/ 3867150 w 3886200"/>
              <a:gd name="csY3" fmla="*/ 209550 h 209550"/>
              <a:gd name="csX4" fmla="*/ 19050 w 3886200"/>
              <a:gd name="csY4" fmla="*/ 209550 h 209550"/>
              <a:gd name="csX5" fmla="*/ 0 w 3886200"/>
              <a:gd name="csY5" fmla="*/ 209550 h 209550"/>
              <a:gd name="csX6" fmla="*/ 0 w 3886200"/>
              <a:gd name="csY6" fmla="*/ 0 h 209550"/>
              <a:gd name="csX7" fmla="*/ 19050 w 3886200"/>
              <a:gd name="csY7" fmla="*/ 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209550">
                <a:moveTo>
                  <a:pt x="3867150" y="0"/>
                </a:moveTo>
                <a:cubicBezTo>
                  <a:pt x="3877671" y="0"/>
                  <a:pt x="3886200" y="0"/>
                  <a:pt x="3886200" y="0"/>
                </a:cubicBezTo>
                <a:lnTo>
                  <a:pt x="3886200" y="209550"/>
                </a:lnTo>
                <a:cubicBezTo>
                  <a:pt x="3886200" y="209550"/>
                  <a:pt x="3877671" y="209550"/>
                  <a:pt x="3867150" y="209550"/>
                </a:cubicBezTo>
                <a:lnTo>
                  <a:pt x="19050" y="209550"/>
                </a:lnTo>
                <a:cubicBezTo>
                  <a:pt x="8529" y="209550"/>
                  <a:pt x="0" y="209550"/>
                  <a:pt x="0" y="209550"/>
                </a:cubicBezTo>
                <a:lnTo>
                  <a:pt x="0" y="0"/>
                </a:lnTo>
                <a:cubicBezTo>
                  <a:pt x="0" y="0"/>
                  <a:pt x="8529" y="0"/>
                  <a:pt x="19050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7607866" y="1639827"/>
            <a:ext cx="3557732" cy="1075454"/>
            <a:chOff x="7607866" y="1541505"/>
            <a:chExt cx="3557732" cy="1075454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01F9448-9263-6006-CEA3-40D22B14ECBC}"/>
                </a:ext>
              </a:extLst>
            </p:cNvPr>
            <p:cNvSpPr txBox="1"/>
            <p:nvPr/>
          </p:nvSpPr>
          <p:spPr>
            <a:xfrm>
              <a:off x="7607866" y="1541505"/>
              <a:ext cx="1389804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180" baseline="0">
                  <a:ln/>
                  <a:latin typeface="Segoe UI"/>
                  <a:cs typeface="Segoe UI"/>
                  <a:sym typeface="Segoe UI"/>
                  <a:rtl val="0"/>
                </a:rPr>
                <a:t>RFM FEATURES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7B57A-EDA6-909B-2745-CEECB32A3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Interpretation</a:t>
            </a:r>
            <a:br>
              <a:rPr lang="de-DE" dirty="0"/>
            </a:br>
            <a:r>
              <a:rPr lang="de-DE" sz="800" dirty="0">
                <a:solidFill>
                  <a:schemeClr val="bg1"/>
                </a:solidFill>
              </a:rPr>
              <a:t>a</a:t>
            </a:r>
            <a:br>
              <a:rPr lang="de-DE" dirty="0"/>
            </a:br>
            <a:r>
              <a:rPr lang="en-US" sz="2000" dirty="0"/>
              <a:t>Cross-referencing predicted clusters with manual category tags validates the model's high semantic accuracy.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BCE553-DE36-0EB6-BE5C-43E0D2ED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218AD0-A83F-EA78-9FFA-E8C0815DF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BDADE5-00DA-D112-E3B5-6CDEEE558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711214C-5C6A-70F4-D4EB-661599A6E23E}"/>
              </a:ext>
            </a:extLst>
          </p:cNvPr>
          <p:cNvGrpSpPr>
            <a:grpSpLocks noChangeAspect="1"/>
          </p:cNvGrpSpPr>
          <p:nvPr/>
        </p:nvGrpSpPr>
        <p:grpSpPr>
          <a:xfrm>
            <a:off x="731837" y="1324528"/>
            <a:ext cx="5072742" cy="5152342"/>
            <a:chOff x="482874" y="710351"/>
            <a:chExt cx="5613125" cy="5701204"/>
          </a:xfrm>
        </p:grpSpPr>
        <p:pic>
          <p:nvPicPr>
            <p:cNvPr id="21" name="Grafik 20" descr="Ein Bild, das Screenshot, Design enthält.&#10;&#10;KI-generierte Inhalte können fehlerhaft sein.">
              <a:extLst>
                <a:ext uri="{FF2B5EF4-FFF2-40B4-BE49-F238E27FC236}">
                  <a16:creationId xmlns:a16="http://schemas.microsoft.com/office/drawing/2014/main" id="{1A45BBD7-4CE0-BDFD-F46E-5B4731E31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3936" y="4497030"/>
              <a:ext cx="4638675" cy="1914525"/>
            </a:xfrm>
            <a:prstGeom prst="rect">
              <a:avLst/>
            </a:prstGeom>
          </p:spPr>
        </p:pic>
        <p:pic>
          <p:nvPicPr>
            <p:cNvPr id="32" name="Grafik 31" descr="Ein Bild, das Zubehör, Handtasche, Tasche, Gepäck und Koffer enthält.&#10;&#10;KI-generierte Inhalte können fehlerhaft sein.">
              <a:extLst>
                <a:ext uri="{FF2B5EF4-FFF2-40B4-BE49-F238E27FC236}">
                  <a16:creationId xmlns:a16="http://schemas.microsoft.com/office/drawing/2014/main" id="{B49C7DE2-AD46-CC17-9B0E-C56A2830B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74" y="710351"/>
              <a:ext cx="2752725" cy="3771900"/>
            </a:xfrm>
            <a:prstGeom prst="rect">
              <a:avLst/>
            </a:prstGeom>
          </p:spPr>
        </p:pic>
        <p:pic>
          <p:nvPicPr>
            <p:cNvPr id="36" name="Grafik 35" descr="Ein Bild, das Kleidung, Ärmel, Muster (Modedesign), Freizeitkleidung enthält.&#10;&#10;KI-generierte Inhalte können fehlerhaft sein.">
              <a:extLst>
                <a:ext uri="{FF2B5EF4-FFF2-40B4-BE49-F238E27FC236}">
                  <a16:creationId xmlns:a16="http://schemas.microsoft.com/office/drawing/2014/main" id="{6B46B2A3-589C-F528-B99E-88B0C079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3274" y="715605"/>
              <a:ext cx="2752725" cy="3781425"/>
            </a:xfrm>
            <a:prstGeom prst="rect">
              <a:avLst/>
            </a:prstGeom>
          </p:spPr>
        </p:pic>
      </p:grpSp>
      <p:pic>
        <p:nvPicPr>
          <p:cNvPr id="40" name="Grafik 39" descr="Ein Bild, das Text, Screenshot, Zahl, parallel enthält.&#10;&#10;KI-generierte Inhalte können fehlerhaft sein.">
            <a:extLst>
              <a:ext uri="{FF2B5EF4-FFF2-40B4-BE49-F238E27FC236}">
                <a16:creationId xmlns:a16="http://schemas.microsoft.com/office/drawing/2014/main" id="{E7FF2963-4BC7-95A4-B276-6F53674E6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9782" y="1657954"/>
            <a:ext cx="5390380" cy="447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51573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215</Words>
  <Application>Microsoft Office PowerPoint</Application>
  <PresentationFormat>Widescreen</PresentationFormat>
  <Paragraphs>44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Segoe UI</vt:lpstr>
      <vt:lpstr>Symbol</vt:lpstr>
      <vt:lpstr>ETH Zürich</vt:lpstr>
      <vt:lpstr>Assignment 2: Baseline Challenge</vt:lpstr>
      <vt:lpstr>RFM Baseline for CLV Prediction</vt:lpstr>
      <vt:lpstr>Cluster Interpretation a Cross-referencing predicted clusters with manual category tags validates the model's high semantic accuracy.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Constantin Cimpoes</cp:lastModifiedBy>
  <cp:revision>13</cp:revision>
  <dcterms:created xsi:type="dcterms:W3CDTF">2025-11-07T08:31:52Z</dcterms:created>
  <dcterms:modified xsi:type="dcterms:W3CDTF">2026-03-25T09:59:57Z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
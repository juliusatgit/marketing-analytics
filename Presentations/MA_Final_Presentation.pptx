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1206" r:id="rId6"/>
    <p:sldId id="1209" r:id="rId7"/>
    <p:sldId id="1207" r:id="rId8"/>
    <p:sldId id="1211" r:id="rId9"/>
    <p:sldId id="1212" r:id="rId10"/>
    <p:sldId id="1193" r:id="rId11"/>
    <p:sldId id="1195" r:id="rId12"/>
    <p:sldId id="1196" r:id="rId13"/>
    <p:sldId id="1214" r:id="rId14"/>
    <p:sldId id="1200" r:id="rId15"/>
    <p:sldId id="1201" r:id="rId16"/>
    <p:sldId id="1203" r:id="rId17"/>
    <p:sldId id="1204" r:id="rId18"/>
    <p:sldId id="1213"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B1B1"/>
    <a:srgbClr val="A6D854"/>
    <a:srgbClr val="66C2A5"/>
    <a:srgbClr val="2CA02C"/>
    <a:srgbClr val="FFFFFF"/>
    <a:srgbClr val="1D76B3"/>
    <a:srgbClr val="7A7A7A"/>
    <a:srgbClr val="82483C"/>
    <a:srgbClr val="E999D1"/>
    <a:srgbClr val="FF7E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0980" autoAdjust="0"/>
  </p:normalViewPr>
  <p:slideViewPr>
    <p:cSldViewPr snapToGrid="0">
      <p:cViewPr varScale="1">
        <p:scale>
          <a:sx n="75" d="100"/>
          <a:sy n="75" d="100"/>
        </p:scale>
        <p:origin x="1128" y="53"/>
      </p:cViewPr>
      <p:guideLst>
        <p:guide orient="horz" pos="2183"/>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2BA8F1-03A5-4B83-959B-8E8AB24A07A6}" type="doc">
      <dgm:prSet loTypeId="urn:microsoft.com/office/officeart/2005/8/layout/chevron2" loCatId="process" qsTypeId="urn:microsoft.com/office/officeart/2005/8/quickstyle/simple5" qsCatId="simple" csTypeId="urn:microsoft.com/office/officeart/2005/8/colors/colorful1" csCatId="colorful" phldr="1"/>
      <dgm:spPr/>
      <dgm:t>
        <a:bodyPr/>
        <a:lstStyle/>
        <a:p>
          <a:endParaRPr lang="en-US"/>
        </a:p>
      </dgm:t>
    </dgm:pt>
    <dgm:pt modelId="{A0D9B4CE-361E-4D1A-9364-F3D4B22E9A9E}">
      <dgm:prSet phldrT="[Text]"/>
      <dgm:spPr/>
      <dgm:t>
        <a:bodyPr/>
        <a:lstStyle/>
        <a:p>
          <a:pPr>
            <a:buNone/>
          </a:pPr>
          <a:r>
            <a:rPr lang="en-US" b="1" dirty="0"/>
            <a:t>Product images + descriptions</a:t>
          </a:r>
        </a:p>
      </dgm:t>
    </dgm:pt>
    <dgm:pt modelId="{AA6B5C8B-9562-4A1A-B1B7-169B1AA026E7}" type="parTrans" cxnId="{531F33BC-EC98-4EA2-9A05-2B37A6DD90A1}">
      <dgm:prSet/>
      <dgm:spPr/>
      <dgm:t>
        <a:bodyPr/>
        <a:lstStyle/>
        <a:p>
          <a:endParaRPr lang="en-US"/>
        </a:p>
      </dgm:t>
    </dgm:pt>
    <dgm:pt modelId="{E8CAA43B-4B62-4CEE-9569-2795BBDEEE02}" type="sibTrans" cxnId="{531F33BC-EC98-4EA2-9A05-2B37A6DD90A1}">
      <dgm:prSet/>
      <dgm:spPr/>
      <dgm:t>
        <a:bodyPr/>
        <a:lstStyle/>
        <a:p>
          <a:endParaRPr lang="en-US"/>
        </a:p>
      </dgm:t>
    </dgm:pt>
    <dgm:pt modelId="{1C3F4396-0F0D-4B82-A74C-3ABE315BFA85}">
      <dgm:prSet phldrT="[Text]" custT="1"/>
      <dgm:spPr/>
      <dgm:t>
        <a:bodyPr/>
        <a:lstStyle/>
        <a:p>
          <a:r>
            <a:rPr lang="en-US" sz="1400" dirty="0"/>
            <a:t>A </a:t>
          </a:r>
          <a:r>
            <a:rPr lang="en-US" sz="1400" b="1" dirty="0"/>
            <a:t>metadata</a:t>
          </a:r>
          <a:r>
            <a:rPr lang="en-US" sz="1400" dirty="0"/>
            <a:t> tag says "dress“, an </a:t>
          </a:r>
          <a:r>
            <a:rPr lang="en-US" sz="1400" b="1" dirty="0"/>
            <a:t>embedding</a:t>
          </a:r>
          <a:r>
            <a:rPr lang="en-US" sz="1400" dirty="0"/>
            <a:t> captures what kind of dress (the silhouette, color palette, occasion, vibe)</a:t>
          </a:r>
        </a:p>
      </dgm:t>
    </dgm:pt>
    <dgm:pt modelId="{E4EC9AE5-61C3-4820-9ECF-08CBB984E545}" type="parTrans" cxnId="{065ABF24-1B54-433A-A760-98C742F0E8CB}">
      <dgm:prSet/>
      <dgm:spPr/>
      <dgm:t>
        <a:bodyPr/>
        <a:lstStyle/>
        <a:p>
          <a:endParaRPr lang="en-US"/>
        </a:p>
      </dgm:t>
    </dgm:pt>
    <dgm:pt modelId="{7D33B74A-544B-435E-AA3B-4EA3F843DA75}" type="sibTrans" cxnId="{065ABF24-1B54-433A-A760-98C742F0E8CB}">
      <dgm:prSet/>
      <dgm:spPr/>
      <dgm:t>
        <a:bodyPr/>
        <a:lstStyle/>
        <a:p>
          <a:endParaRPr lang="en-US"/>
        </a:p>
      </dgm:t>
    </dgm:pt>
    <dgm:pt modelId="{5866F4CE-E9AA-485F-B098-C81A9D4B1645}">
      <dgm:prSet phldrT="[Text]"/>
      <dgm:spPr/>
      <dgm:t>
        <a:bodyPr/>
        <a:lstStyle/>
        <a:p>
          <a:pPr>
            <a:buNone/>
          </a:pPr>
          <a:r>
            <a:rPr lang="en-US" b="1" dirty="0"/>
            <a:t>Voyage 3.5 (2048-dim)</a:t>
          </a:r>
        </a:p>
      </dgm:t>
    </dgm:pt>
    <dgm:pt modelId="{130851F2-A624-43B4-9F5D-71FED199A205}" type="parTrans" cxnId="{E3BCC25A-385C-4DFF-8731-4F8E6AD6DB01}">
      <dgm:prSet/>
      <dgm:spPr/>
      <dgm:t>
        <a:bodyPr/>
        <a:lstStyle/>
        <a:p>
          <a:endParaRPr lang="en-US"/>
        </a:p>
      </dgm:t>
    </dgm:pt>
    <dgm:pt modelId="{E29AD4C6-A011-45EC-807E-F704814CA46F}" type="sibTrans" cxnId="{E3BCC25A-385C-4DFF-8731-4F8E6AD6DB01}">
      <dgm:prSet/>
      <dgm:spPr/>
      <dgm:t>
        <a:bodyPr/>
        <a:lstStyle/>
        <a:p>
          <a:endParaRPr lang="en-US"/>
        </a:p>
      </dgm:t>
    </dgm:pt>
    <dgm:pt modelId="{108A22EC-82FE-47AF-970F-6B5D6F2B1179}">
      <dgm:prSet phldrT="[Text]"/>
      <dgm:spPr/>
      <dgm:t>
        <a:bodyPr/>
        <a:lstStyle/>
        <a:p>
          <a:r>
            <a:rPr lang="en-US" dirty="0"/>
            <a:t> Why </a:t>
          </a:r>
          <a:r>
            <a:rPr lang="en-US" b="1" dirty="0"/>
            <a:t>Voyage Multimodal 3.5</a:t>
          </a:r>
          <a:r>
            <a:rPr lang="en-US" dirty="0"/>
            <a:t>: integrates both image and text in a </a:t>
          </a:r>
          <a:r>
            <a:rPr lang="en-US" b="1" dirty="0"/>
            <a:t>single interleaved vector</a:t>
          </a:r>
          <a:r>
            <a:rPr lang="en-US" dirty="0"/>
            <a:t> → one representation per garment, no modality mismatch </a:t>
          </a:r>
        </a:p>
      </dgm:t>
    </dgm:pt>
    <dgm:pt modelId="{AE1F66B8-37F8-40C8-932C-2B645B367CE5}" type="parTrans" cxnId="{F8529D6E-DFD0-4F28-8FD3-28F24F1E8B86}">
      <dgm:prSet/>
      <dgm:spPr/>
      <dgm:t>
        <a:bodyPr/>
        <a:lstStyle/>
        <a:p>
          <a:endParaRPr lang="en-US"/>
        </a:p>
      </dgm:t>
    </dgm:pt>
    <dgm:pt modelId="{87BE72CA-9D75-4C0D-A5E3-F4144F6501F7}" type="sibTrans" cxnId="{F8529D6E-DFD0-4F28-8FD3-28F24F1E8B86}">
      <dgm:prSet/>
      <dgm:spPr/>
      <dgm:t>
        <a:bodyPr/>
        <a:lstStyle/>
        <a:p>
          <a:endParaRPr lang="en-US"/>
        </a:p>
      </dgm:t>
    </dgm:pt>
    <dgm:pt modelId="{E6444267-E3BB-470A-A5B4-62E11D263DE6}">
      <dgm:prSet phldrT="[Text]"/>
      <dgm:spPr/>
      <dgm:t>
        <a:bodyPr/>
        <a:lstStyle/>
        <a:p>
          <a:r>
            <a:rPr lang="en-US" dirty="0"/>
            <a:t> Why not cluster on </a:t>
          </a:r>
          <a:r>
            <a:rPr lang="en-US" b="1" dirty="0"/>
            <a:t>raw 2,048-dim embeddings</a:t>
          </a:r>
          <a:r>
            <a:rPr lang="en-US" dirty="0"/>
            <a:t>? </a:t>
          </a:r>
          <a:r>
            <a:rPr lang="en-US" b="1" dirty="0"/>
            <a:t>Curse of dimensionality</a:t>
          </a:r>
          <a:r>
            <a:rPr lang="en-US" dirty="0"/>
            <a:t>, HDBSCAN collapsed 84% of items into one cluster. K-Means Silhouette scores near zero. Distance metrics break in high dimensions. </a:t>
          </a:r>
        </a:p>
      </dgm:t>
    </dgm:pt>
    <dgm:pt modelId="{93C1187F-3F9B-439C-B0DC-845F18F15D62}" type="parTrans" cxnId="{976797FE-BBFA-4AE5-A0D0-1C8A6284E2A8}">
      <dgm:prSet/>
      <dgm:spPr/>
      <dgm:t>
        <a:bodyPr/>
        <a:lstStyle/>
        <a:p>
          <a:endParaRPr lang="en-US"/>
        </a:p>
      </dgm:t>
    </dgm:pt>
    <dgm:pt modelId="{7445DFB1-4671-4A6E-ADC6-443F330C424B}" type="sibTrans" cxnId="{976797FE-BBFA-4AE5-A0D0-1C8A6284E2A8}">
      <dgm:prSet/>
      <dgm:spPr/>
      <dgm:t>
        <a:bodyPr/>
        <a:lstStyle/>
        <a:p>
          <a:endParaRPr lang="en-US"/>
        </a:p>
      </dgm:t>
    </dgm:pt>
    <dgm:pt modelId="{E9F6686F-AA5D-4202-B87B-0FDE8E73D0FC}">
      <dgm:prSet phldrT="[Text]"/>
      <dgm:spPr/>
      <dgm:t>
        <a:bodyPr/>
        <a:lstStyle/>
        <a:p>
          <a:pPr>
            <a:buNone/>
          </a:pPr>
          <a:r>
            <a:rPr lang="en-US" b="1" dirty="0"/>
            <a:t>UMAP (20-dim)</a:t>
          </a:r>
        </a:p>
      </dgm:t>
    </dgm:pt>
    <dgm:pt modelId="{4094DBB2-2E07-4AF1-9EEF-CAB3384AB9D8}" type="parTrans" cxnId="{DEEFA55A-F216-4801-9CF5-D25F47D27329}">
      <dgm:prSet/>
      <dgm:spPr/>
      <dgm:t>
        <a:bodyPr/>
        <a:lstStyle/>
        <a:p>
          <a:endParaRPr lang="en-US"/>
        </a:p>
      </dgm:t>
    </dgm:pt>
    <dgm:pt modelId="{9A178EFC-C0ED-482B-B02B-5C177D9B70E1}" type="sibTrans" cxnId="{DEEFA55A-F216-4801-9CF5-D25F47D27329}">
      <dgm:prSet/>
      <dgm:spPr/>
      <dgm:t>
        <a:bodyPr/>
        <a:lstStyle/>
        <a:p>
          <a:endParaRPr lang="en-US"/>
        </a:p>
      </dgm:t>
    </dgm:pt>
    <dgm:pt modelId="{0786C96B-7F0F-4107-B83A-F1D562F283E2}">
      <dgm:prSet phldrT="[Text]"/>
      <dgm:spPr/>
      <dgm:t>
        <a:bodyPr/>
        <a:lstStyle/>
        <a:p>
          <a:r>
            <a:rPr lang="en-US" dirty="0"/>
            <a:t> Why </a:t>
          </a:r>
          <a:r>
            <a:rPr lang="en-US" b="1" dirty="0"/>
            <a:t>UMAP first</a:t>
          </a:r>
          <a:r>
            <a:rPr lang="en-US" dirty="0"/>
            <a:t>? Non-linear dimensionality reduction that preserves both local and global structure. Reduces to 20 dimensions where distance is meaningful again </a:t>
          </a:r>
        </a:p>
      </dgm:t>
    </dgm:pt>
    <dgm:pt modelId="{0226DF90-B263-4B13-8EBE-DF951CB62A4A}" type="parTrans" cxnId="{6B3303EB-87B7-40FB-BF5E-F29569103E1D}">
      <dgm:prSet/>
      <dgm:spPr/>
      <dgm:t>
        <a:bodyPr/>
        <a:lstStyle/>
        <a:p>
          <a:endParaRPr lang="en-US"/>
        </a:p>
      </dgm:t>
    </dgm:pt>
    <dgm:pt modelId="{67B0706C-9B6C-43FB-863E-C5FE0F110739}" type="sibTrans" cxnId="{6B3303EB-87B7-40FB-BF5E-F29569103E1D}">
      <dgm:prSet/>
      <dgm:spPr/>
      <dgm:t>
        <a:bodyPr/>
        <a:lstStyle/>
        <a:p>
          <a:endParaRPr lang="en-US"/>
        </a:p>
      </dgm:t>
    </dgm:pt>
    <dgm:pt modelId="{C49978E1-9670-4502-92AA-C519449B4FCC}">
      <dgm:prSet/>
      <dgm:spPr/>
      <dgm:t>
        <a:bodyPr/>
        <a:lstStyle/>
        <a:p>
          <a:pPr>
            <a:buNone/>
          </a:pPr>
          <a:r>
            <a:rPr lang="en-US" b="1" dirty="0"/>
            <a:t>K-Means (k=8)</a:t>
          </a:r>
        </a:p>
      </dgm:t>
    </dgm:pt>
    <dgm:pt modelId="{8DEF5FA5-099C-4E11-8463-62D5A7EBDC96}" type="parTrans" cxnId="{408BE869-FE4C-4145-9709-E64579EEE44C}">
      <dgm:prSet/>
      <dgm:spPr/>
      <dgm:t>
        <a:bodyPr/>
        <a:lstStyle/>
        <a:p>
          <a:endParaRPr lang="en-US"/>
        </a:p>
      </dgm:t>
    </dgm:pt>
    <dgm:pt modelId="{1CF8AE49-2D92-4962-9593-3F5CA056A98F}" type="sibTrans" cxnId="{408BE869-FE4C-4145-9709-E64579EEE44C}">
      <dgm:prSet/>
      <dgm:spPr/>
      <dgm:t>
        <a:bodyPr/>
        <a:lstStyle/>
        <a:p>
          <a:endParaRPr lang="en-US"/>
        </a:p>
      </dgm:t>
    </dgm:pt>
    <dgm:pt modelId="{44FB9A1E-FBB8-43E6-B88C-8101BCA9912C}">
      <dgm:prSet/>
      <dgm:spPr/>
      <dgm:t>
        <a:bodyPr/>
        <a:lstStyle/>
        <a:p>
          <a:r>
            <a:rPr lang="en-US" dirty="0"/>
            <a:t> Why </a:t>
          </a:r>
          <a:r>
            <a:rPr lang="en-US" b="1" dirty="0"/>
            <a:t>K-Means</a:t>
          </a:r>
          <a:r>
            <a:rPr lang="en-US" dirty="0"/>
            <a:t> over </a:t>
          </a:r>
          <a:r>
            <a:rPr lang="en-US" b="1" dirty="0"/>
            <a:t>GMM</a:t>
          </a:r>
          <a:r>
            <a:rPr lang="en-US" dirty="0"/>
            <a:t>? After UMAP, over 99% of items had &gt;99% probability of belonging to a single cluster, probabilistic modeling adds no value. K-Means is simpler, more stable, fully interpretable</a:t>
          </a:r>
        </a:p>
      </dgm:t>
    </dgm:pt>
    <dgm:pt modelId="{5809F64E-0447-446A-850D-470EAB15FAFF}" type="parTrans" cxnId="{0811F5C3-DD42-4904-B83E-B97DF865BFD8}">
      <dgm:prSet/>
      <dgm:spPr/>
      <dgm:t>
        <a:bodyPr/>
        <a:lstStyle/>
        <a:p>
          <a:endParaRPr lang="en-US"/>
        </a:p>
      </dgm:t>
    </dgm:pt>
    <dgm:pt modelId="{1EAFA76C-5006-45F7-8F65-971812061ACD}" type="sibTrans" cxnId="{0811F5C3-DD42-4904-B83E-B97DF865BFD8}">
      <dgm:prSet/>
      <dgm:spPr/>
      <dgm:t>
        <a:bodyPr/>
        <a:lstStyle/>
        <a:p>
          <a:endParaRPr lang="en-US"/>
        </a:p>
      </dgm:t>
    </dgm:pt>
    <dgm:pt modelId="{8A8FB93B-266E-45B3-9908-A666F23A4FB3}">
      <dgm:prSet/>
      <dgm:spPr/>
      <dgm:t>
        <a:bodyPr/>
        <a:lstStyle/>
        <a:p>
          <a:r>
            <a:rPr lang="en-US" dirty="0"/>
            <a:t> Why </a:t>
          </a:r>
          <a:r>
            <a:rPr lang="en-US" b="1" dirty="0"/>
            <a:t>k=8</a:t>
          </a:r>
          <a:r>
            <a:rPr lang="en-US" dirty="0"/>
            <a:t>? Grid search across k=5/13 and UMAP dims 2/50. k=8 achieved the global Silhouette peak of 0.645 and mean ARI of 0.85 across 100 random initializations</a:t>
          </a:r>
        </a:p>
      </dgm:t>
    </dgm:pt>
    <dgm:pt modelId="{0E89F366-D1EE-4357-B704-8797E2586A18}" type="parTrans" cxnId="{10FAA916-5A17-49CA-893D-5ACECEB73172}">
      <dgm:prSet/>
      <dgm:spPr/>
      <dgm:t>
        <a:bodyPr/>
        <a:lstStyle/>
        <a:p>
          <a:endParaRPr lang="en-US"/>
        </a:p>
      </dgm:t>
    </dgm:pt>
    <dgm:pt modelId="{9521E298-1CB5-4AF9-847A-8E54B6380FCB}" type="sibTrans" cxnId="{10FAA916-5A17-49CA-893D-5ACECEB73172}">
      <dgm:prSet/>
      <dgm:spPr/>
      <dgm:t>
        <a:bodyPr/>
        <a:lstStyle/>
        <a:p>
          <a:endParaRPr lang="en-US"/>
        </a:p>
      </dgm:t>
    </dgm:pt>
    <dgm:pt modelId="{2508F28D-CCC7-4D1D-B808-A0DAA03298D3}" type="pres">
      <dgm:prSet presAssocID="{902BA8F1-03A5-4B83-959B-8E8AB24A07A6}" presName="linearFlow" presStyleCnt="0">
        <dgm:presLayoutVars>
          <dgm:dir/>
          <dgm:animLvl val="lvl"/>
          <dgm:resizeHandles val="exact"/>
        </dgm:presLayoutVars>
      </dgm:prSet>
      <dgm:spPr/>
    </dgm:pt>
    <dgm:pt modelId="{C78FD262-CE24-441A-903C-96FC4C3156CD}" type="pres">
      <dgm:prSet presAssocID="{A0D9B4CE-361E-4D1A-9364-F3D4B22E9A9E}" presName="composite" presStyleCnt="0"/>
      <dgm:spPr/>
    </dgm:pt>
    <dgm:pt modelId="{B006DFD3-799B-4005-BE49-C99753E3246A}" type="pres">
      <dgm:prSet presAssocID="{A0D9B4CE-361E-4D1A-9364-F3D4B22E9A9E}" presName="parentText" presStyleLbl="alignNode1" presStyleIdx="0" presStyleCnt="4">
        <dgm:presLayoutVars>
          <dgm:chMax val="1"/>
          <dgm:bulletEnabled val="1"/>
        </dgm:presLayoutVars>
      </dgm:prSet>
      <dgm:spPr/>
    </dgm:pt>
    <dgm:pt modelId="{5F454FF1-A97F-49E2-9845-2AE6FA97CBAF}" type="pres">
      <dgm:prSet presAssocID="{A0D9B4CE-361E-4D1A-9364-F3D4B22E9A9E}" presName="descendantText" presStyleLbl="alignAcc1" presStyleIdx="0" presStyleCnt="4">
        <dgm:presLayoutVars>
          <dgm:bulletEnabled val="1"/>
        </dgm:presLayoutVars>
      </dgm:prSet>
      <dgm:spPr/>
    </dgm:pt>
    <dgm:pt modelId="{363E63A7-DD3E-4DFD-A4CB-AB4AD3263832}" type="pres">
      <dgm:prSet presAssocID="{E8CAA43B-4B62-4CEE-9569-2795BBDEEE02}" presName="sp" presStyleCnt="0"/>
      <dgm:spPr/>
    </dgm:pt>
    <dgm:pt modelId="{DC8477BF-178D-4460-BBA0-A0611DF569EA}" type="pres">
      <dgm:prSet presAssocID="{5866F4CE-E9AA-485F-B098-C81A9D4B1645}" presName="composite" presStyleCnt="0"/>
      <dgm:spPr/>
    </dgm:pt>
    <dgm:pt modelId="{E3C12FB9-772D-47DF-824B-13545CFDF973}" type="pres">
      <dgm:prSet presAssocID="{5866F4CE-E9AA-485F-B098-C81A9D4B1645}" presName="parentText" presStyleLbl="alignNode1" presStyleIdx="1" presStyleCnt="4">
        <dgm:presLayoutVars>
          <dgm:chMax val="1"/>
          <dgm:bulletEnabled val="1"/>
        </dgm:presLayoutVars>
      </dgm:prSet>
      <dgm:spPr/>
    </dgm:pt>
    <dgm:pt modelId="{562C5702-D40B-43F5-955D-DDBB54EE63C1}" type="pres">
      <dgm:prSet presAssocID="{5866F4CE-E9AA-485F-B098-C81A9D4B1645}" presName="descendantText" presStyleLbl="alignAcc1" presStyleIdx="1" presStyleCnt="4">
        <dgm:presLayoutVars>
          <dgm:bulletEnabled val="1"/>
        </dgm:presLayoutVars>
      </dgm:prSet>
      <dgm:spPr/>
    </dgm:pt>
    <dgm:pt modelId="{21BF50DB-D63E-4E79-B87F-D4EE1CDC9197}" type="pres">
      <dgm:prSet presAssocID="{E29AD4C6-A011-45EC-807E-F704814CA46F}" presName="sp" presStyleCnt="0"/>
      <dgm:spPr/>
    </dgm:pt>
    <dgm:pt modelId="{202E801A-42E5-4D61-A30A-C13B45B79F70}" type="pres">
      <dgm:prSet presAssocID="{E9F6686F-AA5D-4202-B87B-0FDE8E73D0FC}" presName="composite" presStyleCnt="0"/>
      <dgm:spPr/>
    </dgm:pt>
    <dgm:pt modelId="{ADF9A38E-8B53-4E29-ADD9-52A57B13EDE0}" type="pres">
      <dgm:prSet presAssocID="{E9F6686F-AA5D-4202-B87B-0FDE8E73D0FC}" presName="parentText" presStyleLbl="alignNode1" presStyleIdx="2" presStyleCnt="4">
        <dgm:presLayoutVars>
          <dgm:chMax val="1"/>
          <dgm:bulletEnabled val="1"/>
        </dgm:presLayoutVars>
      </dgm:prSet>
      <dgm:spPr/>
    </dgm:pt>
    <dgm:pt modelId="{9477D874-CF3C-434E-8DC3-BAC23984ADFD}" type="pres">
      <dgm:prSet presAssocID="{E9F6686F-AA5D-4202-B87B-0FDE8E73D0FC}" presName="descendantText" presStyleLbl="alignAcc1" presStyleIdx="2" presStyleCnt="4">
        <dgm:presLayoutVars>
          <dgm:bulletEnabled val="1"/>
        </dgm:presLayoutVars>
      </dgm:prSet>
      <dgm:spPr/>
    </dgm:pt>
    <dgm:pt modelId="{4B8C7FD0-A6CF-4E64-8AD9-6E5EF507FC5E}" type="pres">
      <dgm:prSet presAssocID="{9A178EFC-C0ED-482B-B02B-5C177D9B70E1}" presName="sp" presStyleCnt="0"/>
      <dgm:spPr/>
    </dgm:pt>
    <dgm:pt modelId="{20149FDD-4029-4351-A003-BF350BB9925A}" type="pres">
      <dgm:prSet presAssocID="{C49978E1-9670-4502-92AA-C519449B4FCC}" presName="composite" presStyleCnt="0"/>
      <dgm:spPr/>
    </dgm:pt>
    <dgm:pt modelId="{B883275C-2092-4DD0-90D9-83F9E957DB32}" type="pres">
      <dgm:prSet presAssocID="{C49978E1-9670-4502-92AA-C519449B4FCC}" presName="parentText" presStyleLbl="alignNode1" presStyleIdx="3" presStyleCnt="4">
        <dgm:presLayoutVars>
          <dgm:chMax val="1"/>
          <dgm:bulletEnabled val="1"/>
        </dgm:presLayoutVars>
      </dgm:prSet>
      <dgm:spPr/>
    </dgm:pt>
    <dgm:pt modelId="{93841DBD-3CE2-48BF-9C1E-FB6615FCB39A}" type="pres">
      <dgm:prSet presAssocID="{C49978E1-9670-4502-92AA-C519449B4FCC}" presName="descendantText" presStyleLbl="alignAcc1" presStyleIdx="3" presStyleCnt="4">
        <dgm:presLayoutVars>
          <dgm:bulletEnabled val="1"/>
        </dgm:presLayoutVars>
      </dgm:prSet>
      <dgm:spPr/>
    </dgm:pt>
  </dgm:ptLst>
  <dgm:cxnLst>
    <dgm:cxn modelId="{10FAA916-5A17-49CA-893D-5ACECEB73172}" srcId="{C49978E1-9670-4502-92AA-C519449B4FCC}" destId="{8A8FB93B-266E-45B3-9908-A666F23A4FB3}" srcOrd="1" destOrd="0" parTransId="{0E89F366-D1EE-4357-B704-8797E2586A18}" sibTransId="{9521E298-1CB5-4AF9-847A-8E54B6380FCB}"/>
    <dgm:cxn modelId="{065ABF24-1B54-433A-A760-98C742F0E8CB}" srcId="{A0D9B4CE-361E-4D1A-9364-F3D4B22E9A9E}" destId="{1C3F4396-0F0D-4B82-A74C-3ABE315BFA85}" srcOrd="0" destOrd="0" parTransId="{E4EC9AE5-61C3-4820-9ECF-08CBB984E545}" sibTransId="{7D33B74A-544B-435E-AA3B-4EA3F843DA75}"/>
    <dgm:cxn modelId="{408BE869-FE4C-4145-9709-E64579EEE44C}" srcId="{902BA8F1-03A5-4B83-959B-8E8AB24A07A6}" destId="{C49978E1-9670-4502-92AA-C519449B4FCC}" srcOrd="3" destOrd="0" parTransId="{8DEF5FA5-099C-4E11-8463-62D5A7EBDC96}" sibTransId="{1CF8AE49-2D92-4962-9593-3F5CA056A98F}"/>
    <dgm:cxn modelId="{10B8614D-F307-4B51-B26C-2BA9ACEB9EF1}" type="presOf" srcId="{0786C96B-7F0F-4107-B83A-F1D562F283E2}" destId="{9477D874-CF3C-434E-8DC3-BAC23984ADFD}" srcOrd="0" destOrd="0" presId="urn:microsoft.com/office/officeart/2005/8/layout/chevron2"/>
    <dgm:cxn modelId="{08E6D74D-784F-40C5-9141-918BD0E34162}" type="presOf" srcId="{A0D9B4CE-361E-4D1A-9364-F3D4B22E9A9E}" destId="{B006DFD3-799B-4005-BE49-C99753E3246A}" srcOrd="0" destOrd="0" presId="urn:microsoft.com/office/officeart/2005/8/layout/chevron2"/>
    <dgm:cxn modelId="{F8529D6E-DFD0-4F28-8FD3-28F24F1E8B86}" srcId="{5866F4CE-E9AA-485F-B098-C81A9D4B1645}" destId="{108A22EC-82FE-47AF-970F-6B5D6F2B1179}" srcOrd="0" destOrd="0" parTransId="{AE1F66B8-37F8-40C8-932C-2B645B367CE5}" sibTransId="{87BE72CA-9D75-4C0D-A5E3-F4144F6501F7}"/>
    <dgm:cxn modelId="{C9C62A70-382D-42A5-9EC4-60DA5C854E7D}" type="presOf" srcId="{C49978E1-9670-4502-92AA-C519449B4FCC}" destId="{B883275C-2092-4DD0-90D9-83F9E957DB32}" srcOrd="0" destOrd="0" presId="urn:microsoft.com/office/officeart/2005/8/layout/chevron2"/>
    <dgm:cxn modelId="{FFE03F53-B47E-4F9B-A7D2-57B5A834F0D2}" type="presOf" srcId="{8A8FB93B-266E-45B3-9908-A666F23A4FB3}" destId="{93841DBD-3CE2-48BF-9C1E-FB6615FCB39A}" srcOrd="0" destOrd="1" presId="urn:microsoft.com/office/officeart/2005/8/layout/chevron2"/>
    <dgm:cxn modelId="{BDEF5374-E6FD-4AD9-B36E-4987FF5C73E5}" type="presOf" srcId="{E9F6686F-AA5D-4202-B87B-0FDE8E73D0FC}" destId="{ADF9A38E-8B53-4E29-ADD9-52A57B13EDE0}" srcOrd="0" destOrd="0" presId="urn:microsoft.com/office/officeart/2005/8/layout/chevron2"/>
    <dgm:cxn modelId="{DEEFA55A-F216-4801-9CF5-D25F47D27329}" srcId="{902BA8F1-03A5-4B83-959B-8E8AB24A07A6}" destId="{E9F6686F-AA5D-4202-B87B-0FDE8E73D0FC}" srcOrd="2" destOrd="0" parTransId="{4094DBB2-2E07-4AF1-9EEF-CAB3384AB9D8}" sibTransId="{9A178EFC-C0ED-482B-B02B-5C177D9B70E1}"/>
    <dgm:cxn modelId="{E3BCC25A-385C-4DFF-8731-4F8E6AD6DB01}" srcId="{902BA8F1-03A5-4B83-959B-8E8AB24A07A6}" destId="{5866F4CE-E9AA-485F-B098-C81A9D4B1645}" srcOrd="1" destOrd="0" parTransId="{130851F2-A624-43B4-9F5D-71FED199A205}" sibTransId="{E29AD4C6-A011-45EC-807E-F704814CA46F}"/>
    <dgm:cxn modelId="{14D38C84-43C8-4816-B2E6-25D5D0B12A0B}" type="presOf" srcId="{E6444267-E3BB-470A-A5B4-62E11D263DE6}" destId="{562C5702-D40B-43F5-955D-DDBB54EE63C1}" srcOrd="0" destOrd="1" presId="urn:microsoft.com/office/officeart/2005/8/layout/chevron2"/>
    <dgm:cxn modelId="{CD16559B-D4D7-4241-AB94-45DE29689747}" type="presOf" srcId="{108A22EC-82FE-47AF-970F-6B5D6F2B1179}" destId="{562C5702-D40B-43F5-955D-DDBB54EE63C1}" srcOrd="0" destOrd="0" presId="urn:microsoft.com/office/officeart/2005/8/layout/chevron2"/>
    <dgm:cxn modelId="{531F33BC-EC98-4EA2-9A05-2B37A6DD90A1}" srcId="{902BA8F1-03A5-4B83-959B-8E8AB24A07A6}" destId="{A0D9B4CE-361E-4D1A-9364-F3D4B22E9A9E}" srcOrd="0" destOrd="0" parTransId="{AA6B5C8B-9562-4A1A-B1B7-169B1AA026E7}" sibTransId="{E8CAA43B-4B62-4CEE-9569-2795BBDEEE02}"/>
    <dgm:cxn modelId="{0811F5C3-DD42-4904-B83E-B97DF865BFD8}" srcId="{C49978E1-9670-4502-92AA-C519449B4FCC}" destId="{44FB9A1E-FBB8-43E6-B88C-8101BCA9912C}" srcOrd="0" destOrd="0" parTransId="{5809F64E-0447-446A-850D-470EAB15FAFF}" sibTransId="{1EAFA76C-5006-45F7-8F65-971812061ACD}"/>
    <dgm:cxn modelId="{AC398DC8-39B0-43DD-BE95-4AA617CC2670}" type="presOf" srcId="{5866F4CE-E9AA-485F-B098-C81A9D4B1645}" destId="{E3C12FB9-772D-47DF-824B-13545CFDF973}" srcOrd="0" destOrd="0" presId="urn:microsoft.com/office/officeart/2005/8/layout/chevron2"/>
    <dgm:cxn modelId="{E97A30D7-9808-4149-9BA1-97C826D9E13E}" type="presOf" srcId="{902BA8F1-03A5-4B83-959B-8E8AB24A07A6}" destId="{2508F28D-CCC7-4D1D-B808-A0DAA03298D3}" srcOrd="0" destOrd="0" presId="urn:microsoft.com/office/officeart/2005/8/layout/chevron2"/>
    <dgm:cxn modelId="{E96296DC-C852-4A69-A3EC-170825C9FEC5}" type="presOf" srcId="{1C3F4396-0F0D-4B82-A74C-3ABE315BFA85}" destId="{5F454FF1-A97F-49E2-9845-2AE6FA97CBAF}" srcOrd="0" destOrd="0" presId="urn:microsoft.com/office/officeart/2005/8/layout/chevron2"/>
    <dgm:cxn modelId="{9C87B4E6-C59E-46D6-B842-6AC16841A135}" type="presOf" srcId="{44FB9A1E-FBB8-43E6-B88C-8101BCA9912C}" destId="{93841DBD-3CE2-48BF-9C1E-FB6615FCB39A}" srcOrd="0" destOrd="0" presId="urn:microsoft.com/office/officeart/2005/8/layout/chevron2"/>
    <dgm:cxn modelId="{6B3303EB-87B7-40FB-BF5E-F29569103E1D}" srcId="{E9F6686F-AA5D-4202-B87B-0FDE8E73D0FC}" destId="{0786C96B-7F0F-4107-B83A-F1D562F283E2}" srcOrd="0" destOrd="0" parTransId="{0226DF90-B263-4B13-8EBE-DF951CB62A4A}" sibTransId="{67B0706C-9B6C-43FB-863E-C5FE0F110739}"/>
    <dgm:cxn modelId="{976797FE-BBFA-4AE5-A0D0-1C8A6284E2A8}" srcId="{5866F4CE-E9AA-485F-B098-C81A9D4B1645}" destId="{E6444267-E3BB-470A-A5B4-62E11D263DE6}" srcOrd="1" destOrd="0" parTransId="{93C1187F-3F9B-439C-B0DC-845F18F15D62}" sibTransId="{7445DFB1-4671-4A6E-ADC6-443F330C424B}"/>
    <dgm:cxn modelId="{EF3A4A2E-7BFE-41E5-95AA-486F78E730D7}" type="presParOf" srcId="{2508F28D-CCC7-4D1D-B808-A0DAA03298D3}" destId="{C78FD262-CE24-441A-903C-96FC4C3156CD}" srcOrd="0" destOrd="0" presId="urn:microsoft.com/office/officeart/2005/8/layout/chevron2"/>
    <dgm:cxn modelId="{530788C9-4B90-4DCE-B5F6-E1B96EAC7B93}" type="presParOf" srcId="{C78FD262-CE24-441A-903C-96FC4C3156CD}" destId="{B006DFD3-799B-4005-BE49-C99753E3246A}" srcOrd="0" destOrd="0" presId="urn:microsoft.com/office/officeart/2005/8/layout/chevron2"/>
    <dgm:cxn modelId="{09B54DD3-7D63-472F-8CF2-B08C38BDAAA8}" type="presParOf" srcId="{C78FD262-CE24-441A-903C-96FC4C3156CD}" destId="{5F454FF1-A97F-49E2-9845-2AE6FA97CBAF}" srcOrd="1" destOrd="0" presId="urn:microsoft.com/office/officeart/2005/8/layout/chevron2"/>
    <dgm:cxn modelId="{BD508698-6AE0-4D7B-87C9-7923E75FFB57}" type="presParOf" srcId="{2508F28D-CCC7-4D1D-B808-A0DAA03298D3}" destId="{363E63A7-DD3E-4DFD-A4CB-AB4AD3263832}" srcOrd="1" destOrd="0" presId="urn:microsoft.com/office/officeart/2005/8/layout/chevron2"/>
    <dgm:cxn modelId="{86F12290-3E63-4B02-AF23-F22B3ADA767C}" type="presParOf" srcId="{2508F28D-CCC7-4D1D-B808-A0DAA03298D3}" destId="{DC8477BF-178D-4460-BBA0-A0611DF569EA}" srcOrd="2" destOrd="0" presId="urn:microsoft.com/office/officeart/2005/8/layout/chevron2"/>
    <dgm:cxn modelId="{B80DC1AD-B897-41BC-A964-67922E804FDC}" type="presParOf" srcId="{DC8477BF-178D-4460-BBA0-A0611DF569EA}" destId="{E3C12FB9-772D-47DF-824B-13545CFDF973}" srcOrd="0" destOrd="0" presId="urn:microsoft.com/office/officeart/2005/8/layout/chevron2"/>
    <dgm:cxn modelId="{3E01A206-64D9-4134-96AE-DA1F23ED867F}" type="presParOf" srcId="{DC8477BF-178D-4460-BBA0-A0611DF569EA}" destId="{562C5702-D40B-43F5-955D-DDBB54EE63C1}" srcOrd="1" destOrd="0" presId="urn:microsoft.com/office/officeart/2005/8/layout/chevron2"/>
    <dgm:cxn modelId="{6879836B-6E4C-4BAA-AEDF-00A712949576}" type="presParOf" srcId="{2508F28D-CCC7-4D1D-B808-A0DAA03298D3}" destId="{21BF50DB-D63E-4E79-B87F-D4EE1CDC9197}" srcOrd="3" destOrd="0" presId="urn:microsoft.com/office/officeart/2005/8/layout/chevron2"/>
    <dgm:cxn modelId="{3B020C3F-708B-44CB-868F-D452039D906F}" type="presParOf" srcId="{2508F28D-CCC7-4D1D-B808-A0DAA03298D3}" destId="{202E801A-42E5-4D61-A30A-C13B45B79F70}" srcOrd="4" destOrd="0" presId="urn:microsoft.com/office/officeart/2005/8/layout/chevron2"/>
    <dgm:cxn modelId="{F3DEB5F6-CFCD-4289-B6EE-C67F0FAC2D5D}" type="presParOf" srcId="{202E801A-42E5-4D61-A30A-C13B45B79F70}" destId="{ADF9A38E-8B53-4E29-ADD9-52A57B13EDE0}" srcOrd="0" destOrd="0" presId="urn:microsoft.com/office/officeart/2005/8/layout/chevron2"/>
    <dgm:cxn modelId="{D4BD05DF-E989-45D7-A1FA-5F3BF2061663}" type="presParOf" srcId="{202E801A-42E5-4D61-A30A-C13B45B79F70}" destId="{9477D874-CF3C-434E-8DC3-BAC23984ADFD}" srcOrd="1" destOrd="0" presId="urn:microsoft.com/office/officeart/2005/8/layout/chevron2"/>
    <dgm:cxn modelId="{9C21BE3A-8664-43DF-BD26-3FA66C6DE228}" type="presParOf" srcId="{2508F28D-CCC7-4D1D-B808-A0DAA03298D3}" destId="{4B8C7FD0-A6CF-4E64-8AD9-6E5EF507FC5E}" srcOrd="5" destOrd="0" presId="urn:microsoft.com/office/officeart/2005/8/layout/chevron2"/>
    <dgm:cxn modelId="{ED34183D-BE54-44CA-BDBD-7B71784A2627}" type="presParOf" srcId="{2508F28D-CCC7-4D1D-B808-A0DAA03298D3}" destId="{20149FDD-4029-4351-A003-BF350BB9925A}" srcOrd="6" destOrd="0" presId="urn:microsoft.com/office/officeart/2005/8/layout/chevron2"/>
    <dgm:cxn modelId="{4C1BEA0A-3A23-4B37-B1E6-B499469434D8}" type="presParOf" srcId="{20149FDD-4029-4351-A003-BF350BB9925A}" destId="{B883275C-2092-4DD0-90D9-83F9E957DB32}" srcOrd="0" destOrd="0" presId="urn:microsoft.com/office/officeart/2005/8/layout/chevron2"/>
    <dgm:cxn modelId="{1DFB48FF-419D-40B9-9F6B-D5A248DBF9DB}" type="presParOf" srcId="{20149FDD-4029-4351-A003-BF350BB9925A}" destId="{93841DBD-3CE2-48BF-9C1E-FB6615FCB39A}" srcOrd="1" destOrd="0" presId="urn:microsoft.com/office/officeart/2005/8/layout/chevron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6DFD3-799B-4005-BE49-C99753E3246A}">
      <dsp:nvSpPr>
        <dsp:cNvPr id="0" name=""/>
        <dsp:cNvSpPr/>
      </dsp:nvSpPr>
      <dsp:spPr>
        <a:xfrm rot="5400000">
          <a:off x="-227639" y="228988"/>
          <a:ext cx="1517599" cy="1062319"/>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Product images + descriptions</a:t>
          </a:r>
        </a:p>
      </dsp:txBody>
      <dsp:txXfrm rot="-5400000">
        <a:off x="2" y="532508"/>
        <a:ext cx="1062319" cy="455280"/>
      </dsp:txXfrm>
    </dsp:sp>
    <dsp:sp modelId="{5F454FF1-A97F-49E2-9845-2AE6FA97CBAF}">
      <dsp:nvSpPr>
        <dsp:cNvPr id="0" name=""/>
        <dsp:cNvSpPr/>
      </dsp:nvSpPr>
      <dsp:spPr>
        <a:xfrm rot="5400000">
          <a:off x="3735561" y="-2671893"/>
          <a:ext cx="986439" cy="6332923"/>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A </a:t>
          </a:r>
          <a:r>
            <a:rPr lang="en-US" sz="1400" b="1" kern="1200" dirty="0"/>
            <a:t>metadata</a:t>
          </a:r>
          <a:r>
            <a:rPr lang="en-US" sz="1400" kern="1200" dirty="0"/>
            <a:t> tag says "dress“, an </a:t>
          </a:r>
          <a:r>
            <a:rPr lang="en-US" sz="1400" b="1" kern="1200" dirty="0"/>
            <a:t>embedding</a:t>
          </a:r>
          <a:r>
            <a:rPr lang="en-US" sz="1400" kern="1200" dirty="0"/>
            <a:t> captures what kind of dress (the silhouette, color palette, occasion, vibe)</a:t>
          </a:r>
        </a:p>
      </dsp:txBody>
      <dsp:txXfrm rot="-5400000">
        <a:off x="1062319" y="49503"/>
        <a:ext cx="6284769" cy="890131"/>
      </dsp:txXfrm>
    </dsp:sp>
    <dsp:sp modelId="{E3C12FB9-772D-47DF-824B-13545CFDF973}">
      <dsp:nvSpPr>
        <dsp:cNvPr id="0" name=""/>
        <dsp:cNvSpPr/>
      </dsp:nvSpPr>
      <dsp:spPr>
        <a:xfrm rot="5400000">
          <a:off x="-227639" y="1602467"/>
          <a:ext cx="1517599" cy="1062319"/>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Voyage 3.5 (2048-dim)</a:t>
          </a:r>
        </a:p>
      </dsp:txBody>
      <dsp:txXfrm rot="-5400000">
        <a:off x="2" y="1905987"/>
        <a:ext cx="1062319" cy="455280"/>
      </dsp:txXfrm>
    </dsp:sp>
    <dsp:sp modelId="{562C5702-D40B-43F5-955D-DDBB54EE63C1}">
      <dsp:nvSpPr>
        <dsp:cNvPr id="0" name=""/>
        <dsp:cNvSpPr/>
      </dsp:nvSpPr>
      <dsp:spPr>
        <a:xfrm rot="5400000">
          <a:off x="3735561" y="-1298414"/>
          <a:ext cx="986439" cy="6332923"/>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 Why </a:t>
          </a:r>
          <a:r>
            <a:rPr lang="en-US" sz="1200" b="1" kern="1200" dirty="0"/>
            <a:t>Voyage Multimodal 3.5</a:t>
          </a:r>
          <a:r>
            <a:rPr lang="en-US" sz="1200" kern="1200" dirty="0"/>
            <a:t>: integrates both image and text in a </a:t>
          </a:r>
          <a:r>
            <a:rPr lang="en-US" sz="1200" b="1" kern="1200" dirty="0"/>
            <a:t>single interleaved vector</a:t>
          </a:r>
          <a:r>
            <a:rPr lang="en-US" sz="1200" kern="1200" dirty="0"/>
            <a:t> → one representation per garment, no modality mismatch </a:t>
          </a:r>
        </a:p>
        <a:p>
          <a:pPr marL="114300" lvl="1" indent="-114300" algn="l" defTabSz="533400">
            <a:lnSpc>
              <a:spcPct val="90000"/>
            </a:lnSpc>
            <a:spcBef>
              <a:spcPct val="0"/>
            </a:spcBef>
            <a:spcAft>
              <a:spcPct val="15000"/>
            </a:spcAft>
            <a:buChar char="•"/>
          </a:pPr>
          <a:r>
            <a:rPr lang="en-US" sz="1200" kern="1200" dirty="0"/>
            <a:t> Why not cluster on </a:t>
          </a:r>
          <a:r>
            <a:rPr lang="en-US" sz="1200" b="1" kern="1200" dirty="0"/>
            <a:t>raw 2,048-dim embeddings</a:t>
          </a:r>
          <a:r>
            <a:rPr lang="en-US" sz="1200" kern="1200" dirty="0"/>
            <a:t>? </a:t>
          </a:r>
          <a:r>
            <a:rPr lang="en-US" sz="1200" b="1" kern="1200" dirty="0"/>
            <a:t>Curse of dimensionality</a:t>
          </a:r>
          <a:r>
            <a:rPr lang="en-US" sz="1200" kern="1200" dirty="0"/>
            <a:t>, HDBSCAN collapsed 84% of items into one cluster. K-Means Silhouette scores near zero. Distance metrics break in high dimensions. </a:t>
          </a:r>
        </a:p>
      </dsp:txBody>
      <dsp:txXfrm rot="-5400000">
        <a:off x="1062319" y="1422982"/>
        <a:ext cx="6284769" cy="890131"/>
      </dsp:txXfrm>
    </dsp:sp>
    <dsp:sp modelId="{ADF9A38E-8B53-4E29-ADD9-52A57B13EDE0}">
      <dsp:nvSpPr>
        <dsp:cNvPr id="0" name=""/>
        <dsp:cNvSpPr/>
      </dsp:nvSpPr>
      <dsp:spPr>
        <a:xfrm rot="5400000">
          <a:off x="-227639" y="2975945"/>
          <a:ext cx="1517599" cy="1062319"/>
        </a:xfrm>
        <a:prstGeom prst="chevr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UMAP (20-dim)</a:t>
          </a:r>
        </a:p>
      </dsp:txBody>
      <dsp:txXfrm rot="-5400000">
        <a:off x="2" y="3279465"/>
        <a:ext cx="1062319" cy="455280"/>
      </dsp:txXfrm>
    </dsp:sp>
    <dsp:sp modelId="{9477D874-CF3C-434E-8DC3-BAC23984ADFD}">
      <dsp:nvSpPr>
        <dsp:cNvPr id="0" name=""/>
        <dsp:cNvSpPr/>
      </dsp:nvSpPr>
      <dsp:spPr>
        <a:xfrm rot="5400000">
          <a:off x="3735561" y="75063"/>
          <a:ext cx="986439" cy="6332923"/>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 Why </a:t>
          </a:r>
          <a:r>
            <a:rPr lang="en-US" sz="1200" b="1" kern="1200" dirty="0"/>
            <a:t>UMAP first</a:t>
          </a:r>
          <a:r>
            <a:rPr lang="en-US" sz="1200" kern="1200" dirty="0"/>
            <a:t>? Non-linear dimensionality reduction that preserves both local and global structure. Reduces to 20 dimensions where distance is meaningful again </a:t>
          </a:r>
        </a:p>
      </dsp:txBody>
      <dsp:txXfrm rot="-5400000">
        <a:off x="1062319" y="2796459"/>
        <a:ext cx="6284769" cy="890131"/>
      </dsp:txXfrm>
    </dsp:sp>
    <dsp:sp modelId="{B883275C-2092-4DD0-90D9-83F9E957DB32}">
      <dsp:nvSpPr>
        <dsp:cNvPr id="0" name=""/>
        <dsp:cNvSpPr/>
      </dsp:nvSpPr>
      <dsp:spPr>
        <a:xfrm rot="5400000">
          <a:off x="-227639" y="4349423"/>
          <a:ext cx="1517599" cy="1062319"/>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K-Means (k=8)</a:t>
          </a:r>
        </a:p>
      </dsp:txBody>
      <dsp:txXfrm rot="-5400000">
        <a:off x="2" y="4652943"/>
        <a:ext cx="1062319" cy="455280"/>
      </dsp:txXfrm>
    </dsp:sp>
    <dsp:sp modelId="{93841DBD-3CE2-48BF-9C1E-FB6615FCB39A}">
      <dsp:nvSpPr>
        <dsp:cNvPr id="0" name=""/>
        <dsp:cNvSpPr/>
      </dsp:nvSpPr>
      <dsp:spPr>
        <a:xfrm rot="5400000">
          <a:off x="3735561" y="1448541"/>
          <a:ext cx="986439" cy="6332923"/>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 Why </a:t>
          </a:r>
          <a:r>
            <a:rPr lang="en-US" sz="1200" b="1" kern="1200" dirty="0"/>
            <a:t>K-Means</a:t>
          </a:r>
          <a:r>
            <a:rPr lang="en-US" sz="1200" kern="1200" dirty="0"/>
            <a:t> over </a:t>
          </a:r>
          <a:r>
            <a:rPr lang="en-US" sz="1200" b="1" kern="1200" dirty="0"/>
            <a:t>GMM</a:t>
          </a:r>
          <a:r>
            <a:rPr lang="en-US" sz="1200" kern="1200" dirty="0"/>
            <a:t>? After UMAP, over 99% of items had &gt;99% probability of belonging to a single cluster, probabilistic modeling adds no value. K-Means is simpler, more stable, fully interpretable</a:t>
          </a:r>
        </a:p>
        <a:p>
          <a:pPr marL="114300" lvl="1" indent="-114300" algn="l" defTabSz="533400">
            <a:lnSpc>
              <a:spcPct val="90000"/>
            </a:lnSpc>
            <a:spcBef>
              <a:spcPct val="0"/>
            </a:spcBef>
            <a:spcAft>
              <a:spcPct val="15000"/>
            </a:spcAft>
            <a:buChar char="•"/>
          </a:pPr>
          <a:r>
            <a:rPr lang="en-US" sz="1200" kern="1200" dirty="0"/>
            <a:t> Why </a:t>
          </a:r>
          <a:r>
            <a:rPr lang="en-US" sz="1200" b="1" kern="1200" dirty="0"/>
            <a:t>k=8</a:t>
          </a:r>
          <a:r>
            <a:rPr lang="en-US" sz="1200" kern="1200" dirty="0"/>
            <a:t>? Grid search across k=5/13 and UMAP dims 2/50. k=8 achieved the global Silhouette peak of 0.645 and mean ARI of 0.85 across 100 random initializations</a:t>
          </a:r>
        </a:p>
      </dsp:txBody>
      <dsp:txXfrm rot="-5400000">
        <a:off x="1062319" y="4169937"/>
        <a:ext cx="6284769" cy="89013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30.04.2026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30.04.2026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5DDFD-030C-4D5A-B33E-3A7E7538D2BE}" type="slidenum">
              <a:rPr lang="de-CH" smtClean="0"/>
              <a:t>1</a:t>
            </a:fld>
            <a:endParaRPr lang="de-CH"/>
          </a:p>
        </p:txBody>
      </p:sp>
    </p:spTree>
    <p:extLst>
      <p:ext uri="{BB962C8B-B14F-4D97-AF65-F5344CB8AC3E}">
        <p14:creationId xmlns:p14="http://schemas.microsoft.com/office/powerpoint/2010/main" val="3836580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D0B4B-0EA0-40F2-46F9-FC3EC6AFE57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BF85FCF-AB5C-065B-699C-618247C16BC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6CDD816-5711-CEC4-451B-9617D41F5887}"/>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CC629A9F-CEAE-DE3E-3822-DC495AB03CA9}"/>
              </a:ext>
            </a:extLst>
          </p:cNvPr>
          <p:cNvSpPr>
            <a:spLocks noGrp="1"/>
          </p:cNvSpPr>
          <p:nvPr>
            <p:ph type="sldNum" sz="quarter" idx="5"/>
          </p:nvPr>
        </p:nvSpPr>
        <p:spPr/>
        <p:txBody>
          <a:bodyPr/>
          <a:lstStyle/>
          <a:p>
            <a:fld id="{F615DDFD-030C-4D5A-B33E-3A7E7538D2BE}" type="slidenum">
              <a:rPr lang="de-CH" smtClean="0"/>
              <a:t>2</a:t>
            </a:fld>
            <a:endParaRPr lang="de-CH"/>
          </a:p>
        </p:txBody>
      </p:sp>
    </p:spTree>
    <p:extLst>
      <p:ext uri="{BB962C8B-B14F-4D97-AF65-F5344CB8AC3E}">
        <p14:creationId xmlns:p14="http://schemas.microsoft.com/office/powerpoint/2010/main" val="3994831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87578-49A4-ABA9-C7CC-AEDF375E0C3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8505AC3-BDE8-7AE8-221A-69944532AA2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7D00EFF-543F-07BB-4E38-1EBF0854B7AB}"/>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CCAAFE24-5D80-CE8F-B9EB-E6D75D58ABA0}"/>
              </a:ext>
            </a:extLst>
          </p:cNvPr>
          <p:cNvSpPr>
            <a:spLocks noGrp="1"/>
          </p:cNvSpPr>
          <p:nvPr>
            <p:ph type="sldNum" sz="quarter" idx="5"/>
          </p:nvPr>
        </p:nvSpPr>
        <p:spPr/>
        <p:txBody>
          <a:bodyPr/>
          <a:lstStyle/>
          <a:p>
            <a:fld id="{F615DDFD-030C-4D5A-B33E-3A7E7538D2BE}" type="slidenum">
              <a:rPr lang="de-CH" smtClean="0"/>
              <a:t>3</a:t>
            </a:fld>
            <a:endParaRPr lang="de-CH"/>
          </a:p>
        </p:txBody>
      </p:sp>
    </p:spTree>
    <p:extLst>
      <p:ext uri="{BB962C8B-B14F-4D97-AF65-F5344CB8AC3E}">
        <p14:creationId xmlns:p14="http://schemas.microsoft.com/office/powerpoint/2010/main" val="2570531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32F20-EF5E-7A29-05D5-89628C89104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545CD42-789C-F341-4C8A-E9A5C62AB9D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2415DD9-F2BE-83FF-DD9B-DCF90B461BBE}"/>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42AAFC21-448D-6018-9C42-9E5B8F5BD23D}"/>
              </a:ext>
            </a:extLst>
          </p:cNvPr>
          <p:cNvSpPr>
            <a:spLocks noGrp="1"/>
          </p:cNvSpPr>
          <p:nvPr>
            <p:ph type="sldNum" sz="quarter" idx="5"/>
          </p:nvPr>
        </p:nvSpPr>
        <p:spPr/>
        <p:txBody>
          <a:bodyPr/>
          <a:lstStyle/>
          <a:p>
            <a:fld id="{F615DDFD-030C-4D5A-B33E-3A7E7538D2BE}" type="slidenum">
              <a:rPr lang="de-CH" smtClean="0"/>
              <a:t>4</a:t>
            </a:fld>
            <a:endParaRPr lang="de-CH"/>
          </a:p>
        </p:txBody>
      </p:sp>
    </p:spTree>
    <p:extLst>
      <p:ext uri="{BB962C8B-B14F-4D97-AF65-F5344CB8AC3E}">
        <p14:creationId xmlns:p14="http://schemas.microsoft.com/office/powerpoint/2010/main" val="4243700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64339-939C-D81B-7920-77E18100324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2021DA-CFAA-A36F-82D8-CD91966FCFE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26BAC6B-05AA-F5D8-102B-7B713FC514F1}"/>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F29670DA-9B0D-EC4A-1B21-899ED9C5EA08}"/>
              </a:ext>
            </a:extLst>
          </p:cNvPr>
          <p:cNvSpPr>
            <a:spLocks noGrp="1"/>
          </p:cNvSpPr>
          <p:nvPr>
            <p:ph type="sldNum" sz="quarter" idx="5"/>
          </p:nvPr>
        </p:nvSpPr>
        <p:spPr/>
        <p:txBody>
          <a:bodyPr/>
          <a:lstStyle/>
          <a:p>
            <a:fld id="{F615DDFD-030C-4D5A-B33E-3A7E7538D2BE}" type="slidenum">
              <a:rPr lang="de-CH" smtClean="0"/>
              <a:t>5</a:t>
            </a:fld>
            <a:endParaRPr lang="de-CH"/>
          </a:p>
        </p:txBody>
      </p:sp>
    </p:spTree>
    <p:extLst>
      <p:ext uri="{BB962C8B-B14F-4D97-AF65-F5344CB8AC3E}">
        <p14:creationId xmlns:p14="http://schemas.microsoft.com/office/powerpoint/2010/main" val="2408165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A5A68-03C3-D8B8-C876-C6B69F2A627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7B58494-555D-9888-7E6F-92D86CD825B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B16DBC7-8814-6FC3-6F4E-BD179ED2A8E2}"/>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08CDE469-3496-379F-B3D0-64DC92F0ED78}"/>
              </a:ext>
            </a:extLst>
          </p:cNvPr>
          <p:cNvSpPr>
            <a:spLocks noGrp="1"/>
          </p:cNvSpPr>
          <p:nvPr>
            <p:ph type="sldNum" sz="quarter" idx="5"/>
          </p:nvPr>
        </p:nvSpPr>
        <p:spPr/>
        <p:txBody>
          <a:bodyPr/>
          <a:lstStyle/>
          <a:p>
            <a:fld id="{F615DDFD-030C-4D5A-B33E-3A7E7538D2BE}" type="slidenum">
              <a:rPr lang="de-CH" smtClean="0"/>
              <a:t>6</a:t>
            </a:fld>
            <a:endParaRPr lang="de-CH"/>
          </a:p>
        </p:txBody>
      </p:sp>
    </p:spTree>
    <p:extLst>
      <p:ext uri="{BB962C8B-B14F-4D97-AF65-F5344CB8AC3E}">
        <p14:creationId xmlns:p14="http://schemas.microsoft.com/office/powerpoint/2010/main" val="3264208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AE75B-5055-D8D6-7C89-4BE3AB440DE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6D042FD-0C7A-1112-66BF-BEFF658FC6B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775242A-1EB1-48B8-3738-118802B1C53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615551E-A870-7E24-235F-183DD6B114A8}"/>
              </a:ext>
            </a:extLst>
          </p:cNvPr>
          <p:cNvSpPr>
            <a:spLocks noGrp="1"/>
          </p:cNvSpPr>
          <p:nvPr>
            <p:ph type="sldNum" sz="quarter" idx="5"/>
          </p:nvPr>
        </p:nvSpPr>
        <p:spPr/>
        <p:txBody>
          <a:bodyPr/>
          <a:lstStyle/>
          <a:p>
            <a:fld id="{F615DDFD-030C-4D5A-B33E-3A7E7538D2BE}" type="slidenum">
              <a:rPr lang="de-CH" smtClean="0"/>
              <a:t>7</a:t>
            </a:fld>
            <a:endParaRPr lang="de-CH"/>
          </a:p>
        </p:txBody>
      </p:sp>
    </p:spTree>
    <p:extLst>
      <p:ext uri="{BB962C8B-B14F-4D97-AF65-F5344CB8AC3E}">
        <p14:creationId xmlns:p14="http://schemas.microsoft.com/office/powerpoint/2010/main" val="876370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CBA0-C2F7-F23C-8517-4434EE5A08E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986D3AB-5CB8-9850-D397-C3C8FC891AC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C65A79D-C063-B58E-F732-95D95A09BCA7}"/>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B5AADF57-EDFF-298F-BFBF-1B0215C53467}"/>
              </a:ext>
            </a:extLst>
          </p:cNvPr>
          <p:cNvSpPr>
            <a:spLocks noGrp="1"/>
          </p:cNvSpPr>
          <p:nvPr>
            <p:ph type="sldNum" sz="quarter" idx="5"/>
          </p:nvPr>
        </p:nvSpPr>
        <p:spPr/>
        <p:txBody>
          <a:bodyPr/>
          <a:lstStyle/>
          <a:p>
            <a:fld id="{F615DDFD-030C-4D5A-B33E-3A7E7538D2BE}" type="slidenum">
              <a:rPr lang="de-CH" smtClean="0"/>
              <a:t>8</a:t>
            </a:fld>
            <a:endParaRPr lang="de-CH"/>
          </a:p>
        </p:txBody>
      </p:sp>
    </p:spTree>
    <p:extLst>
      <p:ext uri="{BB962C8B-B14F-4D97-AF65-F5344CB8AC3E}">
        <p14:creationId xmlns:p14="http://schemas.microsoft.com/office/powerpoint/2010/main" val="4073915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F615DDFD-030C-4D5A-B33E-3A7E7538D2BE}" type="slidenum">
              <a:rPr lang="de-CH" smtClean="0"/>
              <a:t>9</a:t>
            </a:fld>
            <a:endParaRPr lang="de-CH"/>
          </a:p>
        </p:txBody>
      </p:sp>
    </p:spTree>
    <p:extLst>
      <p:ext uri="{BB962C8B-B14F-4D97-AF65-F5344CB8AC3E}">
        <p14:creationId xmlns:p14="http://schemas.microsoft.com/office/powerpoint/2010/main" val="555029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5F5E2-DA88-2E9F-35F1-788C71BDAD9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AFF42CE-C5F1-C521-FE61-2491E6F7D61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A91F7B4-CABA-A731-4F50-F3A01261BB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Foliennummernplatzhalter 3">
            <a:extLst>
              <a:ext uri="{FF2B5EF4-FFF2-40B4-BE49-F238E27FC236}">
                <a16:creationId xmlns:a16="http://schemas.microsoft.com/office/drawing/2014/main" id="{30B20E9F-D742-40E1-0F53-597202FF98F4}"/>
              </a:ext>
            </a:extLst>
          </p:cNvPr>
          <p:cNvSpPr>
            <a:spLocks noGrp="1"/>
          </p:cNvSpPr>
          <p:nvPr>
            <p:ph type="sldNum" sz="quarter" idx="5"/>
          </p:nvPr>
        </p:nvSpPr>
        <p:spPr/>
        <p:txBody>
          <a:bodyPr/>
          <a:lstStyle/>
          <a:p>
            <a:fld id="{F615DDFD-030C-4D5A-B33E-3A7E7538D2BE}" type="slidenum">
              <a:rPr lang="de-CH" smtClean="0"/>
              <a:t>10</a:t>
            </a:fld>
            <a:endParaRPr lang="de-CH"/>
          </a:p>
        </p:txBody>
      </p:sp>
    </p:spTree>
    <p:extLst>
      <p:ext uri="{BB962C8B-B14F-4D97-AF65-F5344CB8AC3E}">
        <p14:creationId xmlns:p14="http://schemas.microsoft.com/office/powerpoint/2010/main" val="1602486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F98BF-76C3-B5E8-17D6-D32E23069DC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9835055-F42F-C092-B85F-66D9C924519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82DFEB8-1400-22CD-24F3-7EAB9B08BFD4}"/>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993DC389-1253-4E84-EF85-DC93751C0EC7}"/>
              </a:ext>
            </a:extLst>
          </p:cNvPr>
          <p:cNvSpPr>
            <a:spLocks noGrp="1"/>
          </p:cNvSpPr>
          <p:nvPr>
            <p:ph type="sldNum" sz="quarter" idx="5"/>
          </p:nvPr>
        </p:nvSpPr>
        <p:spPr/>
        <p:txBody>
          <a:bodyPr/>
          <a:lstStyle/>
          <a:p>
            <a:fld id="{F615DDFD-030C-4D5A-B33E-3A7E7538D2BE}" type="slidenum">
              <a:rPr lang="de-CH" smtClean="0"/>
              <a:t>11</a:t>
            </a:fld>
            <a:endParaRPr lang="de-CH"/>
          </a:p>
        </p:txBody>
      </p:sp>
    </p:spTree>
    <p:extLst>
      <p:ext uri="{BB962C8B-B14F-4D97-AF65-F5344CB8AC3E}">
        <p14:creationId xmlns:p14="http://schemas.microsoft.com/office/powerpoint/2010/main" val="2219307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The model didn't need all 8 clusters — just the ones that matter economically</a:t>
            </a:r>
          </a:p>
          <a:p>
            <a:endParaRPr lang="en-US" dirty="0"/>
          </a:p>
          <a:p>
            <a:r>
              <a:rPr lang="en-US" dirty="0"/>
              <a:t>I want to flag something that connects directly back to Constantin's segmentation work. When Sequential Forward Selection chose which features to keep, it didn't retain all eight cluster affinities — it kept exactly four. And those four are Bags, Tops, Dresses, and Jackets — the precise clusters that the business profiling identified as the economic anchors of </a:t>
            </a:r>
            <a:r>
              <a:rPr lang="en-US"/>
              <a:t>the platform</a:t>
            </a:r>
            <a:endParaRPr lang="en-US" dirty="0"/>
          </a:p>
        </p:txBody>
      </p:sp>
      <p:sp>
        <p:nvSpPr>
          <p:cNvPr id="4" name="Foliennummernplatzhalter 3"/>
          <p:cNvSpPr>
            <a:spLocks noGrp="1"/>
          </p:cNvSpPr>
          <p:nvPr>
            <p:ph type="sldNum" sz="quarter" idx="5"/>
          </p:nvPr>
        </p:nvSpPr>
        <p:spPr/>
        <p:txBody>
          <a:bodyPr/>
          <a:lstStyle/>
          <a:p>
            <a:fld id="{F615DDFD-030C-4D5A-B33E-3A7E7538D2BE}" type="slidenum">
              <a:rPr lang="de-CH" smtClean="0"/>
              <a:t>12</a:t>
            </a:fld>
            <a:endParaRPr lang="de-CH"/>
          </a:p>
        </p:txBody>
      </p:sp>
    </p:spTree>
    <p:extLst>
      <p:ext uri="{BB962C8B-B14F-4D97-AF65-F5344CB8AC3E}">
        <p14:creationId xmlns:p14="http://schemas.microsoft.com/office/powerpoint/2010/main" val="901618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F995B-8CAC-C44C-6096-9A891D234B6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F72E027-A0A3-A178-160E-5618DD19F9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9FA8226-DD59-C7A6-B1DC-1BF90F0852BF}"/>
              </a:ext>
            </a:extLst>
          </p:cNvPr>
          <p:cNvSpPr>
            <a:spLocks noGrp="1"/>
          </p:cNvSpPr>
          <p:nvPr>
            <p:ph type="body" idx="1"/>
          </p:nvPr>
        </p:nvSpPr>
        <p:spPr/>
        <p:txBody>
          <a:bodyPr/>
          <a:lstStyle/>
          <a:p>
            <a:r>
              <a:rPr lang="en-US" i="0" dirty="0"/>
              <a:t>The churn classifier was built separately from the revenue model, using its own feature selection process. So it independently chose its own set of four predictors. And again you can see it uses RFM which seem to be strong predictors for churn too and one of them is Cluster 6 - Skirts</a:t>
            </a:r>
          </a:p>
          <a:p>
            <a:endParaRPr lang="en-US" i="0" dirty="0"/>
          </a:p>
          <a:p>
            <a:r>
              <a:rPr lang="en-US" i="0" dirty="0"/>
              <a:t>Here's why that matters: customers who engage with everyday fashion staples are less likely to churn. Customers who concentrate on Dresses or Bags — occasion wear — are the ones solving a one-time need and leaving. The classifier found that signal on its own, without being told anything about the affinity analysis. Two completely separate methods, same conclusion."</a:t>
            </a:r>
          </a:p>
          <a:p>
            <a:endParaRPr lang="en-US" i="0" dirty="0"/>
          </a:p>
        </p:txBody>
      </p:sp>
      <p:sp>
        <p:nvSpPr>
          <p:cNvPr id="4" name="Foliennummernplatzhalter 3">
            <a:extLst>
              <a:ext uri="{FF2B5EF4-FFF2-40B4-BE49-F238E27FC236}">
                <a16:creationId xmlns:a16="http://schemas.microsoft.com/office/drawing/2014/main" id="{6A9DF0DD-92E8-4F7E-C365-13890BA86449}"/>
              </a:ext>
            </a:extLst>
          </p:cNvPr>
          <p:cNvSpPr>
            <a:spLocks noGrp="1"/>
          </p:cNvSpPr>
          <p:nvPr>
            <p:ph type="sldNum" sz="quarter" idx="5"/>
          </p:nvPr>
        </p:nvSpPr>
        <p:spPr/>
        <p:txBody>
          <a:bodyPr/>
          <a:lstStyle/>
          <a:p>
            <a:fld id="{F615DDFD-030C-4D5A-B33E-3A7E7538D2BE}" type="slidenum">
              <a:rPr lang="de-CH" smtClean="0"/>
              <a:t>13</a:t>
            </a:fld>
            <a:endParaRPr lang="de-CH"/>
          </a:p>
        </p:txBody>
      </p:sp>
    </p:spTree>
    <p:extLst>
      <p:ext uri="{BB962C8B-B14F-4D97-AF65-F5344CB8AC3E}">
        <p14:creationId xmlns:p14="http://schemas.microsoft.com/office/powerpoint/2010/main" val="3147808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So </a:t>
            </a:r>
            <a:r>
              <a:rPr lang="de-DE" dirty="0" err="1"/>
              <a:t>would</a:t>
            </a:r>
            <a:r>
              <a:rPr lang="de-DE" dirty="0"/>
              <a:t> </a:t>
            </a:r>
            <a:r>
              <a:rPr lang="de-DE" dirty="0" err="1"/>
              <a:t>should</a:t>
            </a:r>
            <a:r>
              <a:rPr lang="de-DE" dirty="0"/>
              <a:t> </a:t>
            </a:r>
            <a:r>
              <a:rPr lang="de-DE" dirty="0" err="1"/>
              <a:t>Vibrent</a:t>
            </a:r>
            <a:r>
              <a:rPr lang="de-DE" dirty="0"/>
              <a:t> do with </a:t>
            </a:r>
            <a:r>
              <a:rPr lang="de-DE" dirty="0" err="1"/>
              <a:t>those</a:t>
            </a:r>
            <a:r>
              <a:rPr lang="de-DE" dirty="0"/>
              <a:t> </a:t>
            </a:r>
            <a:r>
              <a:rPr lang="de-DE" dirty="0" err="1"/>
              <a:t>information</a:t>
            </a:r>
            <a:endParaRPr lang="de-DE" dirty="0"/>
          </a:p>
          <a:p>
            <a:endParaRPr lang="de-DE" dirty="0"/>
          </a:p>
          <a:p>
            <a:r>
              <a:rPr lang="de-DE" dirty="0"/>
              <a:t>Bags: high </a:t>
            </a:r>
            <a:r>
              <a:rPr lang="de-DE" dirty="0" err="1"/>
              <a:t>utilization</a:t>
            </a:r>
            <a:r>
              <a:rPr lang="de-DE" dirty="0"/>
              <a:t> – </a:t>
            </a:r>
            <a:r>
              <a:rPr lang="de-DE" dirty="0" err="1"/>
              <a:t>maybe</a:t>
            </a:r>
            <a:r>
              <a:rPr lang="de-DE" dirty="0"/>
              <a:t> </a:t>
            </a:r>
            <a:r>
              <a:rPr lang="de-DE" dirty="0" err="1"/>
              <a:t>increase</a:t>
            </a:r>
            <a:r>
              <a:rPr lang="de-DE" dirty="0"/>
              <a:t> </a:t>
            </a:r>
            <a:r>
              <a:rPr lang="de-DE" dirty="0" err="1"/>
              <a:t>price</a:t>
            </a:r>
            <a:r>
              <a:rPr lang="de-DE" dirty="0"/>
              <a:t> </a:t>
            </a:r>
            <a:r>
              <a:rPr lang="de-DE" dirty="0" err="1"/>
              <a:t>sligthly</a:t>
            </a:r>
            <a:r>
              <a:rPr lang="de-DE" dirty="0"/>
              <a:t>, </a:t>
            </a:r>
            <a:r>
              <a:rPr lang="de-DE" dirty="0" err="1"/>
              <a:t>buy</a:t>
            </a:r>
            <a:r>
              <a:rPr lang="de-DE" dirty="0"/>
              <a:t> </a:t>
            </a:r>
            <a:r>
              <a:rPr lang="de-DE" dirty="0" err="1"/>
              <a:t>similar</a:t>
            </a:r>
            <a:r>
              <a:rPr lang="de-DE" dirty="0"/>
              <a:t> </a:t>
            </a:r>
            <a:r>
              <a:rPr lang="de-DE" dirty="0" err="1"/>
              <a:t>bags</a:t>
            </a:r>
            <a:r>
              <a:rPr lang="de-DE" dirty="0"/>
              <a:t> to </a:t>
            </a:r>
            <a:r>
              <a:rPr lang="de-DE" dirty="0" err="1"/>
              <a:t>does</a:t>
            </a:r>
            <a:r>
              <a:rPr lang="de-DE" dirty="0"/>
              <a:t> </a:t>
            </a:r>
            <a:r>
              <a:rPr lang="de-DE" dirty="0" err="1"/>
              <a:t>rented</a:t>
            </a:r>
            <a:r>
              <a:rPr lang="de-DE" dirty="0"/>
              <a:t> </a:t>
            </a:r>
            <a:r>
              <a:rPr lang="de-DE" dirty="0" err="1"/>
              <a:t>often</a:t>
            </a:r>
            <a:r>
              <a:rPr lang="de-DE" dirty="0"/>
              <a:t> – they have </a:t>
            </a:r>
            <a:r>
              <a:rPr lang="de-DE" dirty="0" err="1"/>
              <a:t>higher</a:t>
            </a:r>
            <a:r>
              <a:rPr lang="de-DE" dirty="0"/>
              <a:t> </a:t>
            </a:r>
            <a:r>
              <a:rPr lang="de-DE" dirty="0" err="1"/>
              <a:t>utiliasation</a:t>
            </a:r>
            <a:r>
              <a:rPr lang="de-DE" dirty="0"/>
              <a:t> and </a:t>
            </a:r>
            <a:r>
              <a:rPr lang="de-DE" dirty="0" err="1"/>
              <a:t>better</a:t>
            </a:r>
            <a:r>
              <a:rPr lang="de-DE" dirty="0"/>
              <a:t> ROI</a:t>
            </a:r>
          </a:p>
          <a:p>
            <a:endParaRPr lang="de-DE" dirty="0"/>
          </a:p>
          <a:p>
            <a:r>
              <a:rPr lang="de-DE" dirty="0"/>
              <a:t>Shift </a:t>
            </a:r>
            <a:r>
              <a:rPr lang="de-DE" dirty="0" err="1"/>
              <a:t>away</a:t>
            </a:r>
            <a:r>
              <a:rPr lang="de-DE" dirty="0"/>
              <a:t> </a:t>
            </a:r>
            <a:r>
              <a:rPr lang="de-DE" dirty="0" err="1"/>
              <a:t>from</a:t>
            </a:r>
            <a:r>
              <a:rPr lang="de-DE" dirty="0"/>
              <a:t> </a:t>
            </a:r>
            <a:r>
              <a:rPr lang="de-DE" dirty="0" err="1"/>
              <a:t>trousers</a:t>
            </a:r>
            <a:r>
              <a:rPr lang="de-DE" dirty="0"/>
              <a:t> and </a:t>
            </a:r>
            <a:r>
              <a:rPr lang="de-DE" dirty="0" err="1"/>
              <a:t>skirts</a:t>
            </a:r>
            <a:r>
              <a:rPr lang="de-DE" dirty="0"/>
              <a:t> – </a:t>
            </a:r>
            <a:r>
              <a:rPr lang="de-DE" dirty="0" err="1"/>
              <a:t>since</a:t>
            </a:r>
            <a:r>
              <a:rPr lang="de-DE" dirty="0"/>
              <a:t> high </a:t>
            </a:r>
            <a:r>
              <a:rPr lang="de-DE" dirty="0" err="1"/>
              <a:t>share</a:t>
            </a:r>
            <a:r>
              <a:rPr lang="de-DE" dirty="0"/>
              <a:t> </a:t>
            </a:r>
            <a:r>
              <a:rPr lang="de-DE" dirty="0" err="1"/>
              <a:t>of</a:t>
            </a:r>
            <a:r>
              <a:rPr lang="de-DE" dirty="0"/>
              <a:t> </a:t>
            </a:r>
            <a:r>
              <a:rPr lang="de-DE" dirty="0" err="1"/>
              <a:t>never</a:t>
            </a:r>
            <a:r>
              <a:rPr lang="de-DE" dirty="0"/>
              <a:t> </a:t>
            </a:r>
            <a:r>
              <a:rPr lang="de-DE" dirty="0" err="1"/>
              <a:t>rented</a:t>
            </a:r>
            <a:r>
              <a:rPr lang="de-DE" dirty="0"/>
              <a:t> </a:t>
            </a:r>
            <a:r>
              <a:rPr lang="de-DE" dirty="0" err="1"/>
              <a:t>items</a:t>
            </a:r>
            <a:r>
              <a:rPr lang="de-DE" dirty="0"/>
              <a:t> – shift </a:t>
            </a:r>
            <a:r>
              <a:rPr lang="de-DE" dirty="0" err="1"/>
              <a:t>towards</a:t>
            </a:r>
            <a:r>
              <a:rPr lang="de-DE" dirty="0"/>
              <a:t> </a:t>
            </a:r>
            <a:r>
              <a:rPr lang="de-DE" dirty="0" err="1"/>
              <a:t>tops</a:t>
            </a:r>
            <a:r>
              <a:rPr lang="de-DE" dirty="0"/>
              <a:t> and </a:t>
            </a:r>
            <a:r>
              <a:rPr lang="de-DE" dirty="0" err="1"/>
              <a:t>sweaters</a:t>
            </a:r>
            <a:r>
              <a:rPr lang="de-DE" dirty="0"/>
              <a:t> with </a:t>
            </a:r>
            <a:r>
              <a:rPr lang="de-DE" dirty="0" err="1"/>
              <a:t>higher</a:t>
            </a:r>
            <a:r>
              <a:rPr lang="de-DE" dirty="0"/>
              <a:t> </a:t>
            </a:r>
            <a:r>
              <a:rPr lang="de-DE" dirty="0" err="1"/>
              <a:t>roi</a:t>
            </a:r>
            <a:endParaRPr lang="de-DE" dirty="0"/>
          </a:p>
          <a:p>
            <a:endParaRPr lang="de-DE" dirty="0"/>
          </a:p>
          <a:p>
            <a:r>
              <a:rPr lang="de-DE" dirty="0"/>
              <a:t>Dress </a:t>
            </a:r>
            <a:r>
              <a:rPr lang="de-DE" dirty="0" err="1"/>
              <a:t>rental</a:t>
            </a:r>
            <a:r>
              <a:rPr lang="de-DE" dirty="0"/>
              <a:t> </a:t>
            </a:r>
            <a:r>
              <a:rPr lang="de-DE" dirty="0" err="1"/>
              <a:t>seems</a:t>
            </a:r>
            <a:r>
              <a:rPr lang="de-DE" dirty="0"/>
              <a:t> to </a:t>
            </a:r>
            <a:r>
              <a:rPr lang="de-DE" dirty="0" err="1"/>
              <a:t>be</a:t>
            </a:r>
            <a:r>
              <a:rPr lang="de-DE" dirty="0"/>
              <a:t> a good </a:t>
            </a:r>
            <a:r>
              <a:rPr lang="de-DE" dirty="0" err="1"/>
              <a:t>churn</a:t>
            </a:r>
            <a:r>
              <a:rPr lang="de-DE" dirty="0"/>
              <a:t> </a:t>
            </a:r>
            <a:r>
              <a:rPr lang="de-DE" dirty="0" err="1"/>
              <a:t>predictor</a:t>
            </a:r>
            <a:r>
              <a:rPr lang="de-DE" dirty="0"/>
              <a:t> – so </a:t>
            </a:r>
            <a:r>
              <a:rPr lang="de-DE" dirty="0" err="1"/>
              <a:t>goal</a:t>
            </a:r>
            <a:r>
              <a:rPr lang="de-DE" dirty="0"/>
              <a:t> </a:t>
            </a:r>
            <a:r>
              <a:rPr lang="de-DE" dirty="0" err="1"/>
              <a:t>should</a:t>
            </a:r>
            <a:r>
              <a:rPr lang="de-DE" dirty="0"/>
              <a:t> </a:t>
            </a:r>
            <a:r>
              <a:rPr lang="de-DE" dirty="0" err="1"/>
              <a:t>be</a:t>
            </a:r>
            <a:r>
              <a:rPr lang="de-DE" dirty="0"/>
              <a:t> to </a:t>
            </a:r>
            <a:r>
              <a:rPr lang="de-DE" dirty="0" err="1"/>
              <a:t>get</a:t>
            </a:r>
            <a:r>
              <a:rPr lang="de-DE" dirty="0"/>
              <a:t> </a:t>
            </a:r>
            <a:r>
              <a:rPr lang="de-DE" dirty="0" err="1"/>
              <a:t>customers</a:t>
            </a:r>
            <a:r>
              <a:rPr lang="de-DE" dirty="0"/>
              <a:t> to </a:t>
            </a:r>
            <a:r>
              <a:rPr lang="de-DE" dirty="0" err="1"/>
              <a:t>rent</a:t>
            </a:r>
            <a:r>
              <a:rPr lang="de-DE" dirty="0"/>
              <a:t> </a:t>
            </a:r>
            <a:r>
              <a:rPr lang="de-DE" dirty="0" err="1"/>
              <a:t>from</a:t>
            </a:r>
            <a:r>
              <a:rPr lang="de-DE" dirty="0"/>
              <a:t> </a:t>
            </a:r>
            <a:r>
              <a:rPr lang="de-DE" dirty="0" err="1"/>
              <a:t>everyday</a:t>
            </a:r>
            <a:r>
              <a:rPr lang="de-DE" dirty="0"/>
              <a:t> </a:t>
            </a:r>
            <a:r>
              <a:rPr lang="de-DE" dirty="0" err="1"/>
              <a:t>clothes</a:t>
            </a:r>
            <a:r>
              <a:rPr lang="de-DE" dirty="0"/>
              <a:t> </a:t>
            </a:r>
            <a:r>
              <a:rPr lang="de-DE" dirty="0" err="1"/>
              <a:t>categories</a:t>
            </a:r>
            <a:r>
              <a:rPr lang="de-DE" dirty="0"/>
              <a:t> to </a:t>
            </a:r>
            <a:r>
              <a:rPr lang="de-DE" dirty="0" err="1"/>
              <a:t>get</a:t>
            </a:r>
            <a:r>
              <a:rPr lang="de-DE" dirty="0"/>
              <a:t> </a:t>
            </a:r>
            <a:r>
              <a:rPr lang="de-DE" dirty="0" err="1"/>
              <a:t>them</a:t>
            </a:r>
            <a:r>
              <a:rPr lang="de-DE" dirty="0"/>
              <a:t> </a:t>
            </a:r>
            <a:r>
              <a:rPr lang="de-DE" dirty="0" err="1"/>
              <a:t>away</a:t>
            </a:r>
            <a:r>
              <a:rPr lang="de-DE" dirty="0"/>
              <a:t> </a:t>
            </a:r>
            <a:r>
              <a:rPr lang="de-DE" dirty="0" err="1"/>
              <a:t>from</a:t>
            </a:r>
            <a:r>
              <a:rPr lang="de-DE" dirty="0"/>
              <a:t> </a:t>
            </a:r>
            <a:r>
              <a:rPr lang="de-DE" dirty="0" err="1"/>
              <a:t>the</a:t>
            </a:r>
            <a:r>
              <a:rPr lang="de-DE" dirty="0"/>
              <a:t> </a:t>
            </a:r>
            <a:r>
              <a:rPr lang="de-DE" dirty="0" err="1"/>
              <a:t>special</a:t>
            </a:r>
            <a:r>
              <a:rPr lang="de-DE" dirty="0"/>
              <a:t> </a:t>
            </a:r>
            <a:r>
              <a:rPr lang="de-DE" dirty="0" err="1"/>
              <a:t>occasion</a:t>
            </a:r>
            <a:r>
              <a:rPr lang="de-DE" dirty="0"/>
              <a:t> </a:t>
            </a:r>
            <a:r>
              <a:rPr lang="de-DE" dirty="0" err="1"/>
              <a:t>rents</a:t>
            </a:r>
            <a:endParaRPr lang="en-US" dirty="0"/>
          </a:p>
        </p:txBody>
      </p:sp>
      <p:sp>
        <p:nvSpPr>
          <p:cNvPr id="4" name="Foliennummernplatzhalter 3"/>
          <p:cNvSpPr>
            <a:spLocks noGrp="1"/>
          </p:cNvSpPr>
          <p:nvPr>
            <p:ph type="sldNum" sz="quarter" idx="5"/>
          </p:nvPr>
        </p:nvSpPr>
        <p:spPr/>
        <p:txBody>
          <a:bodyPr/>
          <a:lstStyle/>
          <a:p>
            <a:fld id="{F615DDFD-030C-4D5A-B33E-3A7E7538D2BE}" type="slidenum">
              <a:rPr lang="de-CH" smtClean="0"/>
              <a:t>14</a:t>
            </a:fld>
            <a:endParaRPr lang="de-CH"/>
          </a:p>
        </p:txBody>
      </p:sp>
    </p:spTree>
    <p:extLst>
      <p:ext uri="{BB962C8B-B14F-4D97-AF65-F5344CB8AC3E}">
        <p14:creationId xmlns:p14="http://schemas.microsoft.com/office/powerpoint/2010/main" val="1719610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19AE2-CB22-C504-1B83-E4762C05152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D4A8C3A-A0B0-2695-E0BC-1923F747FC4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432932E-89F9-7FE1-BE1B-BCD7866645C0}"/>
              </a:ext>
            </a:extLst>
          </p:cNvPr>
          <p:cNvSpPr>
            <a:spLocks noGrp="1"/>
          </p:cNvSpPr>
          <p:nvPr>
            <p:ph type="body" idx="1"/>
          </p:nvPr>
        </p:nvSpPr>
        <p:spPr/>
        <p:txBody>
          <a:bodyPr/>
          <a:lstStyle/>
          <a:p>
            <a:r>
              <a:rPr lang="de-DE" dirty="0"/>
              <a:t>So </a:t>
            </a:r>
            <a:r>
              <a:rPr lang="de-DE" dirty="0" err="1"/>
              <a:t>would</a:t>
            </a:r>
            <a:r>
              <a:rPr lang="de-DE" dirty="0"/>
              <a:t> </a:t>
            </a:r>
            <a:r>
              <a:rPr lang="de-DE" dirty="0" err="1"/>
              <a:t>should</a:t>
            </a:r>
            <a:r>
              <a:rPr lang="de-DE" dirty="0"/>
              <a:t> </a:t>
            </a:r>
            <a:r>
              <a:rPr lang="de-DE" dirty="0" err="1"/>
              <a:t>Vibrent</a:t>
            </a:r>
            <a:r>
              <a:rPr lang="de-DE" dirty="0"/>
              <a:t> do with </a:t>
            </a:r>
            <a:r>
              <a:rPr lang="de-DE" dirty="0" err="1"/>
              <a:t>those</a:t>
            </a:r>
            <a:r>
              <a:rPr lang="de-DE" dirty="0"/>
              <a:t> </a:t>
            </a:r>
            <a:r>
              <a:rPr lang="de-DE" dirty="0" err="1"/>
              <a:t>information</a:t>
            </a:r>
            <a:endParaRPr lang="de-DE" dirty="0"/>
          </a:p>
          <a:p>
            <a:endParaRPr lang="de-DE" dirty="0"/>
          </a:p>
          <a:p>
            <a:r>
              <a:rPr lang="de-DE" dirty="0"/>
              <a:t>Bags: high </a:t>
            </a:r>
            <a:r>
              <a:rPr lang="de-DE" dirty="0" err="1"/>
              <a:t>utilization</a:t>
            </a:r>
            <a:r>
              <a:rPr lang="de-DE" dirty="0"/>
              <a:t> – </a:t>
            </a:r>
            <a:r>
              <a:rPr lang="de-DE" dirty="0" err="1"/>
              <a:t>maybe</a:t>
            </a:r>
            <a:r>
              <a:rPr lang="de-DE" dirty="0"/>
              <a:t> </a:t>
            </a:r>
            <a:r>
              <a:rPr lang="de-DE" dirty="0" err="1"/>
              <a:t>increase</a:t>
            </a:r>
            <a:r>
              <a:rPr lang="de-DE" dirty="0"/>
              <a:t> </a:t>
            </a:r>
            <a:r>
              <a:rPr lang="de-DE" dirty="0" err="1"/>
              <a:t>price</a:t>
            </a:r>
            <a:r>
              <a:rPr lang="de-DE" dirty="0"/>
              <a:t> </a:t>
            </a:r>
            <a:r>
              <a:rPr lang="de-DE" dirty="0" err="1"/>
              <a:t>sligthly</a:t>
            </a:r>
            <a:r>
              <a:rPr lang="de-DE" dirty="0"/>
              <a:t>, </a:t>
            </a:r>
            <a:r>
              <a:rPr lang="de-DE" dirty="0" err="1"/>
              <a:t>buy</a:t>
            </a:r>
            <a:r>
              <a:rPr lang="de-DE" dirty="0"/>
              <a:t> </a:t>
            </a:r>
            <a:r>
              <a:rPr lang="de-DE" dirty="0" err="1"/>
              <a:t>similar</a:t>
            </a:r>
            <a:r>
              <a:rPr lang="de-DE" dirty="0"/>
              <a:t> </a:t>
            </a:r>
            <a:r>
              <a:rPr lang="de-DE" dirty="0" err="1"/>
              <a:t>bags</a:t>
            </a:r>
            <a:r>
              <a:rPr lang="de-DE" dirty="0"/>
              <a:t> to </a:t>
            </a:r>
            <a:r>
              <a:rPr lang="de-DE" dirty="0" err="1"/>
              <a:t>does</a:t>
            </a:r>
            <a:r>
              <a:rPr lang="de-DE" dirty="0"/>
              <a:t> </a:t>
            </a:r>
            <a:r>
              <a:rPr lang="de-DE" dirty="0" err="1"/>
              <a:t>rented</a:t>
            </a:r>
            <a:r>
              <a:rPr lang="de-DE" dirty="0"/>
              <a:t> </a:t>
            </a:r>
            <a:r>
              <a:rPr lang="de-DE" dirty="0" err="1"/>
              <a:t>often</a:t>
            </a:r>
            <a:r>
              <a:rPr lang="de-DE" dirty="0"/>
              <a:t> – they have </a:t>
            </a:r>
            <a:r>
              <a:rPr lang="de-DE" dirty="0" err="1"/>
              <a:t>higher</a:t>
            </a:r>
            <a:r>
              <a:rPr lang="de-DE" dirty="0"/>
              <a:t> </a:t>
            </a:r>
            <a:r>
              <a:rPr lang="de-DE" dirty="0" err="1"/>
              <a:t>utiliasation</a:t>
            </a:r>
            <a:r>
              <a:rPr lang="de-DE" dirty="0"/>
              <a:t> and </a:t>
            </a:r>
            <a:r>
              <a:rPr lang="de-DE" dirty="0" err="1"/>
              <a:t>better</a:t>
            </a:r>
            <a:r>
              <a:rPr lang="de-DE" dirty="0"/>
              <a:t> ROI</a:t>
            </a:r>
          </a:p>
          <a:p>
            <a:endParaRPr lang="de-DE" dirty="0"/>
          </a:p>
          <a:p>
            <a:r>
              <a:rPr lang="de-DE" dirty="0"/>
              <a:t>Shift </a:t>
            </a:r>
            <a:r>
              <a:rPr lang="de-DE" dirty="0" err="1"/>
              <a:t>away</a:t>
            </a:r>
            <a:r>
              <a:rPr lang="de-DE" dirty="0"/>
              <a:t> </a:t>
            </a:r>
            <a:r>
              <a:rPr lang="de-DE" dirty="0" err="1"/>
              <a:t>from</a:t>
            </a:r>
            <a:r>
              <a:rPr lang="de-DE" dirty="0"/>
              <a:t> </a:t>
            </a:r>
            <a:r>
              <a:rPr lang="de-DE" dirty="0" err="1"/>
              <a:t>trousers</a:t>
            </a:r>
            <a:r>
              <a:rPr lang="de-DE" dirty="0"/>
              <a:t> and </a:t>
            </a:r>
            <a:r>
              <a:rPr lang="de-DE" dirty="0" err="1"/>
              <a:t>skirts</a:t>
            </a:r>
            <a:r>
              <a:rPr lang="de-DE" dirty="0"/>
              <a:t> – </a:t>
            </a:r>
            <a:r>
              <a:rPr lang="de-DE" dirty="0" err="1"/>
              <a:t>since</a:t>
            </a:r>
            <a:r>
              <a:rPr lang="de-DE" dirty="0"/>
              <a:t> high </a:t>
            </a:r>
            <a:r>
              <a:rPr lang="de-DE" dirty="0" err="1"/>
              <a:t>share</a:t>
            </a:r>
            <a:r>
              <a:rPr lang="de-DE" dirty="0"/>
              <a:t> </a:t>
            </a:r>
            <a:r>
              <a:rPr lang="de-DE" dirty="0" err="1"/>
              <a:t>of</a:t>
            </a:r>
            <a:r>
              <a:rPr lang="de-DE" dirty="0"/>
              <a:t> </a:t>
            </a:r>
            <a:r>
              <a:rPr lang="de-DE" dirty="0" err="1"/>
              <a:t>never</a:t>
            </a:r>
            <a:r>
              <a:rPr lang="de-DE" dirty="0"/>
              <a:t> </a:t>
            </a:r>
            <a:r>
              <a:rPr lang="de-DE" dirty="0" err="1"/>
              <a:t>rented</a:t>
            </a:r>
            <a:r>
              <a:rPr lang="de-DE" dirty="0"/>
              <a:t> </a:t>
            </a:r>
            <a:r>
              <a:rPr lang="de-DE" dirty="0" err="1"/>
              <a:t>items</a:t>
            </a:r>
            <a:r>
              <a:rPr lang="de-DE" dirty="0"/>
              <a:t> – shift </a:t>
            </a:r>
            <a:r>
              <a:rPr lang="de-DE" dirty="0" err="1"/>
              <a:t>towards</a:t>
            </a:r>
            <a:r>
              <a:rPr lang="de-DE" dirty="0"/>
              <a:t> </a:t>
            </a:r>
            <a:r>
              <a:rPr lang="de-DE" dirty="0" err="1"/>
              <a:t>tops</a:t>
            </a:r>
            <a:r>
              <a:rPr lang="de-DE" dirty="0"/>
              <a:t> and </a:t>
            </a:r>
            <a:r>
              <a:rPr lang="de-DE" dirty="0" err="1"/>
              <a:t>sweaters</a:t>
            </a:r>
            <a:r>
              <a:rPr lang="de-DE" dirty="0"/>
              <a:t> with </a:t>
            </a:r>
            <a:r>
              <a:rPr lang="de-DE" dirty="0" err="1"/>
              <a:t>higher</a:t>
            </a:r>
            <a:r>
              <a:rPr lang="de-DE" dirty="0"/>
              <a:t> </a:t>
            </a:r>
            <a:r>
              <a:rPr lang="de-DE" dirty="0" err="1"/>
              <a:t>roi</a:t>
            </a:r>
            <a:endParaRPr lang="de-DE" dirty="0"/>
          </a:p>
          <a:p>
            <a:endParaRPr lang="de-DE" dirty="0"/>
          </a:p>
          <a:p>
            <a:r>
              <a:rPr lang="de-DE" dirty="0"/>
              <a:t>Dress </a:t>
            </a:r>
            <a:r>
              <a:rPr lang="de-DE" dirty="0" err="1"/>
              <a:t>rental</a:t>
            </a:r>
            <a:r>
              <a:rPr lang="de-DE" dirty="0"/>
              <a:t> </a:t>
            </a:r>
            <a:r>
              <a:rPr lang="de-DE" dirty="0" err="1"/>
              <a:t>seems</a:t>
            </a:r>
            <a:r>
              <a:rPr lang="de-DE" dirty="0"/>
              <a:t> to </a:t>
            </a:r>
            <a:r>
              <a:rPr lang="de-DE" dirty="0" err="1"/>
              <a:t>be</a:t>
            </a:r>
            <a:r>
              <a:rPr lang="de-DE" dirty="0"/>
              <a:t> a good </a:t>
            </a:r>
            <a:r>
              <a:rPr lang="de-DE" dirty="0" err="1"/>
              <a:t>churn</a:t>
            </a:r>
            <a:r>
              <a:rPr lang="de-DE" dirty="0"/>
              <a:t> </a:t>
            </a:r>
            <a:r>
              <a:rPr lang="de-DE" dirty="0" err="1"/>
              <a:t>predictor</a:t>
            </a:r>
            <a:r>
              <a:rPr lang="de-DE" dirty="0"/>
              <a:t> – so </a:t>
            </a:r>
            <a:r>
              <a:rPr lang="de-DE" dirty="0" err="1"/>
              <a:t>goal</a:t>
            </a:r>
            <a:r>
              <a:rPr lang="de-DE" dirty="0"/>
              <a:t> </a:t>
            </a:r>
            <a:r>
              <a:rPr lang="de-DE" dirty="0" err="1"/>
              <a:t>should</a:t>
            </a:r>
            <a:r>
              <a:rPr lang="de-DE" dirty="0"/>
              <a:t> </a:t>
            </a:r>
            <a:r>
              <a:rPr lang="de-DE" dirty="0" err="1"/>
              <a:t>be</a:t>
            </a:r>
            <a:r>
              <a:rPr lang="de-DE" dirty="0"/>
              <a:t> to </a:t>
            </a:r>
            <a:r>
              <a:rPr lang="de-DE" dirty="0" err="1"/>
              <a:t>get</a:t>
            </a:r>
            <a:r>
              <a:rPr lang="de-DE" dirty="0"/>
              <a:t> </a:t>
            </a:r>
            <a:r>
              <a:rPr lang="de-DE" dirty="0" err="1"/>
              <a:t>customers</a:t>
            </a:r>
            <a:r>
              <a:rPr lang="de-DE" dirty="0"/>
              <a:t> to </a:t>
            </a:r>
            <a:r>
              <a:rPr lang="de-DE" dirty="0" err="1"/>
              <a:t>rent</a:t>
            </a:r>
            <a:r>
              <a:rPr lang="de-DE" dirty="0"/>
              <a:t> </a:t>
            </a:r>
            <a:r>
              <a:rPr lang="de-DE" dirty="0" err="1"/>
              <a:t>from</a:t>
            </a:r>
            <a:r>
              <a:rPr lang="de-DE" dirty="0"/>
              <a:t> </a:t>
            </a:r>
            <a:r>
              <a:rPr lang="de-DE" dirty="0" err="1"/>
              <a:t>everyday</a:t>
            </a:r>
            <a:r>
              <a:rPr lang="de-DE" dirty="0"/>
              <a:t> </a:t>
            </a:r>
            <a:r>
              <a:rPr lang="de-DE" dirty="0" err="1"/>
              <a:t>clothes</a:t>
            </a:r>
            <a:r>
              <a:rPr lang="de-DE" dirty="0"/>
              <a:t> </a:t>
            </a:r>
            <a:r>
              <a:rPr lang="de-DE" dirty="0" err="1"/>
              <a:t>categories</a:t>
            </a:r>
            <a:r>
              <a:rPr lang="de-DE" dirty="0"/>
              <a:t> to </a:t>
            </a:r>
            <a:r>
              <a:rPr lang="de-DE" dirty="0" err="1"/>
              <a:t>get</a:t>
            </a:r>
            <a:r>
              <a:rPr lang="de-DE" dirty="0"/>
              <a:t> </a:t>
            </a:r>
            <a:r>
              <a:rPr lang="de-DE" dirty="0" err="1"/>
              <a:t>them</a:t>
            </a:r>
            <a:r>
              <a:rPr lang="de-DE" dirty="0"/>
              <a:t> </a:t>
            </a:r>
            <a:r>
              <a:rPr lang="de-DE" dirty="0" err="1"/>
              <a:t>away</a:t>
            </a:r>
            <a:r>
              <a:rPr lang="de-DE" dirty="0"/>
              <a:t> </a:t>
            </a:r>
            <a:r>
              <a:rPr lang="de-DE" dirty="0" err="1"/>
              <a:t>from</a:t>
            </a:r>
            <a:r>
              <a:rPr lang="de-DE" dirty="0"/>
              <a:t> </a:t>
            </a:r>
            <a:r>
              <a:rPr lang="de-DE" dirty="0" err="1"/>
              <a:t>the</a:t>
            </a:r>
            <a:r>
              <a:rPr lang="de-DE" dirty="0"/>
              <a:t> </a:t>
            </a:r>
            <a:r>
              <a:rPr lang="de-DE" dirty="0" err="1"/>
              <a:t>special</a:t>
            </a:r>
            <a:r>
              <a:rPr lang="de-DE" dirty="0"/>
              <a:t> </a:t>
            </a:r>
            <a:r>
              <a:rPr lang="de-DE" dirty="0" err="1"/>
              <a:t>occasion</a:t>
            </a:r>
            <a:r>
              <a:rPr lang="de-DE" dirty="0"/>
              <a:t> </a:t>
            </a:r>
            <a:r>
              <a:rPr lang="de-DE" dirty="0" err="1"/>
              <a:t>rents</a:t>
            </a:r>
            <a:endParaRPr lang="en-US" dirty="0"/>
          </a:p>
        </p:txBody>
      </p:sp>
      <p:sp>
        <p:nvSpPr>
          <p:cNvPr id="4" name="Foliennummernplatzhalter 3">
            <a:extLst>
              <a:ext uri="{FF2B5EF4-FFF2-40B4-BE49-F238E27FC236}">
                <a16:creationId xmlns:a16="http://schemas.microsoft.com/office/drawing/2014/main" id="{3E35E2A0-8E24-5057-1FCD-DB9E46F4FD47}"/>
              </a:ext>
            </a:extLst>
          </p:cNvPr>
          <p:cNvSpPr>
            <a:spLocks noGrp="1"/>
          </p:cNvSpPr>
          <p:nvPr>
            <p:ph type="sldNum" sz="quarter" idx="5"/>
          </p:nvPr>
        </p:nvSpPr>
        <p:spPr/>
        <p:txBody>
          <a:bodyPr/>
          <a:lstStyle/>
          <a:p>
            <a:fld id="{F615DDFD-030C-4D5A-B33E-3A7E7538D2BE}" type="slidenum">
              <a:rPr lang="de-CH" smtClean="0"/>
              <a:t>15</a:t>
            </a:fld>
            <a:endParaRPr lang="de-CH"/>
          </a:p>
        </p:txBody>
      </p:sp>
    </p:spTree>
    <p:extLst>
      <p:ext uri="{BB962C8B-B14F-4D97-AF65-F5344CB8AC3E}">
        <p14:creationId xmlns:p14="http://schemas.microsoft.com/office/powerpoint/2010/main" val="3575679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332D50A-E6CC-4D88-8908-F2129032F4C7}"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A01E762-278A-4155-9BEB-7C2CB2386E92}"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de-DE" noProof="0"/>
              <a:t>Mastertextformat bearbeiten</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de-DE" noProof="0"/>
              <a:t>Mastertitelformat bearbeiten</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6C4EAFE7-317E-4912-B75C-DD6945F82242}"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de-DE" noProof="0"/>
              <a:t>Mastertitelformat bearbeiten</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7C2547-0B26-4181-9958-0F74634B97A1}"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A533879-9C0F-4F94-919F-30B833E8871A}"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EF82BE-DF56-4719-B180-C3B0D509F71F}"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E1B9425-7348-43E2-B0E9-6A2A48F5FA8A}"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de-DE" noProof="0"/>
              <a:t>Bild durch Klicken auf Symbol hinzufügen</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de-DE" noProof="0"/>
              <a:t>Bild durch Klicken auf Symbol hinzufügen</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0F7782B2-018B-4FD3-AD95-2F64EDE0E9D6}"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de-DE" noProof="0"/>
              <a:t>Bild durch Klicken auf Symbol hinzufügen</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de-DE" noProof="0"/>
              <a:t>Bild durch Klicken auf Symbol hinzufügen</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de-DE" noProof="0"/>
              <a:t>Mastertextformat bearbeiten</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0A0FED0-443D-411A-B8E4-0668A8890EE3}"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de-DE" noProof="0"/>
              <a:t>Tabelle durch Klicken auf Symbol hinzufügen</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de-DE" noProof="0"/>
              <a:t>Mastertextformat bearbeiten</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de-DE" noProof="0"/>
              <a:t>Bild durch Klicken auf Symbol hinzufügen</a:t>
            </a:r>
            <a:endParaRPr lang="de-CH" noProof="0"/>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4A358CF3-A22A-46C1-A4E5-5810212466EF}"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2171700" y="6522444"/>
            <a:ext cx="5400000" cy="216000"/>
          </a:xfrm>
          <a:prstGeom prst="rect">
            <a:avLst/>
          </a:prstGeom>
        </p:spPr>
        <p:txBody>
          <a:bodyPr vert="horz" lIns="0" tIns="0" rIns="0" bIns="0" rtlCol="0" anchor="ctr"/>
          <a:lstStyle>
            <a:lvl1pPr algn="l">
              <a:defRPr sz="800">
                <a:solidFill>
                  <a:schemeClr val="tx1"/>
                </a:solidFill>
              </a:defRPr>
            </a:lvl1pPr>
          </a:lstStyle>
          <a:p>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882FF669-564A-4497-A386-BA8B28F256B8}"/>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6452" b="6452"/>
          <a:stretch/>
        </p:blipFill>
        <p:spPr/>
      </p:pic>
      <p:sp>
        <p:nvSpPr>
          <p:cNvPr id="3" name="Titel 2">
            <a:extLst>
              <a:ext uri="{FF2B5EF4-FFF2-40B4-BE49-F238E27FC236}">
                <a16:creationId xmlns:a16="http://schemas.microsoft.com/office/drawing/2014/main" id="{AC1FB292-90C1-439C-8480-EB4116CF2374}"/>
              </a:ext>
            </a:extLst>
          </p:cNvPr>
          <p:cNvSpPr>
            <a:spLocks noGrp="1"/>
          </p:cNvSpPr>
          <p:nvPr>
            <p:ph type="ctrTitle"/>
          </p:nvPr>
        </p:nvSpPr>
        <p:sp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8100000" scaled="1"/>
            <a:tileRect/>
          </a:gradFill>
        </p:spPr>
        <p:txBody>
          <a:bodyPr/>
          <a:lstStyle/>
          <a:p>
            <a:r>
              <a:rPr lang="de-DE" sz="3200" b="1" noProof="0" dirty="0">
                <a:ea typeface="+mj-lt"/>
                <a:cs typeface="+mj-lt"/>
              </a:rPr>
              <a:t>Final </a:t>
            </a:r>
            <a:r>
              <a:rPr lang="de-DE" sz="3200" b="1" noProof="0" dirty="0" err="1">
                <a:ea typeface="+mj-lt"/>
                <a:cs typeface="+mj-lt"/>
              </a:rPr>
              <a:t>Presentation</a:t>
            </a:r>
            <a:r>
              <a:rPr lang="de-DE" sz="3200" b="1" noProof="0" dirty="0">
                <a:ea typeface="+mj-lt"/>
                <a:cs typeface="+mj-lt"/>
              </a:rPr>
              <a:t> </a:t>
            </a:r>
            <a:br>
              <a:rPr lang="de-DE" sz="2800" b="1" noProof="0" dirty="0">
                <a:ea typeface="+mj-lt"/>
                <a:cs typeface="+mj-lt"/>
              </a:rPr>
            </a:br>
            <a:br>
              <a:rPr lang="de-DE" sz="1050" b="1" noProof="0" dirty="0">
                <a:ea typeface="+mj-lt"/>
                <a:cs typeface="+mj-lt"/>
              </a:rPr>
            </a:br>
            <a:r>
              <a:rPr lang="de-DE" sz="2400" b="1" i="1" noProof="0" dirty="0">
                <a:ea typeface="+mj-lt"/>
                <a:cs typeface="+mj-lt"/>
              </a:rPr>
              <a:t>Marketing Analytics</a:t>
            </a:r>
            <a:endParaRPr lang="en-US" sz="2800" b="1" i="1" noProof="0" dirty="0">
              <a:ea typeface="+mj-lt"/>
              <a:cs typeface="+mj-lt"/>
            </a:endParaRPr>
          </a:p>
        </p:txBody>
      </p:sp>
      <p:sp>
        <p:nvSpPr>
          <p:cNvPr id="2" name="Bildplatzhalter 1">
            <a:extLst>
              <a:ext uri="{FF2B5EF4-FFF2-40B4-BE49-F238E27FC236}">
                <a16:creationId xmlns:a16="http://schemas.microsoft.com/office/drawing/2014/main" id="{11ADABBC-2742-48DB-BA2B-E411F07CEE7C}"/>
              </a:ext>
            </a:extLst>
          </p:cNvPr>
          <p:cNvSpPr>
            <a:spLocks noGrp="1"/>
          </p:cNvSpPr>
          <p:nvPr>
            <p:ph type="pic" sz="quarter" idx="12"/>
          </p:nvPr>
        </p:nvSpPr>
        <p:spPr/>
        <p:txBody>
          <a:bodyPr/>
          <a:lstStyle/>
          <a:p>
            <a:endParaRPr lang="en-US" noProof="0"/>
          </a:p>
        </p:txBody>
      </p:sp>
      <p:sp>
        <p:nvSpPr>
          <p:cNvPr id="6" name="Textplatzhalter 5">
            <a:extLst>
              <a:ext uri="{FF2B5EF4-FFF2-40B4-BE49-F238E27FC236}">
                <a16:creationId xmlns:a16="http://schemas.microsoft.com/office/drawing/2014/main" id="{4171C1F6-869F-40B1-8975-92FF2042F4CD}"/>
              </a:ext>
            </a:extLst>
          </p:cNvPr>
          <p:cNvSpPr>
            <a:spLocks noGrp="1"/>
          </p:cNvSpPr>
          <p:nvPr>
            <p:ph type="body" sz="quarter" idx="13"/>
          </p:nvPr>
        </p:nvSpPr>
        <p:spPr>
          <a:xfrm>
            <a:off x="1069186" y="3774694"/>
            <a:ext cx="4680000" cy="1008000"/>
          </a:xfrm>
        </p:spPr>
        <p:txBody>
          <a:bodyPr vert="horz" lIns="0" tIns="0" rIns="0" bIns="0" rtlCol="0" anchor="t">
            <a:noAutofit/>
          </a:bodyPr>
          <a:lstStyle/>
          <a:p>
            <a:r>
              <a:rPr lang="en-US" b="1" noProof="0" dirty="0">
                <a:cs typeface="+mn-lt"/>
              </a:rPr>
              <a:t>Group 2:</a:t>
            </a:r>
          </a:p>
          <a:p>
            <a:endParaRPr lang="en-US" sz="1000" b="1" noProof="0" dirty="0">
              <a:cs typeface="+mn-lt"/>
            </a:endParaRPr>
          </a:p>
          <a:p>
            <a:r>
              <a:rPr lang="en-US" sz="1600" b="1" noProof="0" dirty="0">
                <a:cs typeface="+mn-lt"/>
              </a:rPr>
              <a:t>Constantin </a:t>
            </a:r>
            <a:r>
              <a:rPr lang="en-US" sz="1600" b="1" noProof="0" dirty="0" err="1">
                <a:cs typeface="+mn-lt"/>
              </a:rPr>
              <a:t>Cimpoes</a:t>
            </a:r>
            <a:r>
              <a:rPr lang="en-US" sz="1600" b="1" noProof="0" dirty="0">
                <a:cs typeface="+mn-lt"/>
              </a:rPr>
              <a:t>, Julius Voss</a:t>
            </a:r>
          </a:p>
        </p:txBody>
      </p:sp>
      <p:sp>
        <p:nvSpPr>
          <p:cNvPr id="9" name="Textplatzhalter 8">
            <a:extLst>
              <a:ext uri="{FF2B5EF4-FFF2-40B4-BE49-F238E27FC236}">
                <a16:creationId xmlns:a16="http://schemas.microsoft.com/office/drawing/2014/main" id="{C6B18E6F-BDD9-4B0B-9B9E-C25187E0E1F2}"/>
              </a:ext>
            </a:extLst>
          </p:cNvPr>
          <p:cNvSpPr>
            <a:spLocks noGrp="1"/>
          </p:cNvSpPr>
          <p:nvPr>
            <p:ph type="body" sz="quarter" idx="16"/>
          </p:nvPr>
        </p:nvSpPr>
        <p:spPr/>
        <p:txBody>
          <a:bodyPr/>
          <a:lstStyle/>
          <a:p>
            <a:r>
              <a:rPr lang="en-US" dirty="0"/>
              <a:t>Marketing Analytics</a:t>
            </a:r>
          </a:p>
        </p:txBody>
      </p:sp>
    </p:spTree>
    <p:extLst>
      <p:ext uri="{BB962C8B-B14F-4D97-AF65-F5344CB8AC3E}">
        <p14:creationId xmlns:p14="http://schemas.microsoft.com/office/powerpoint/2010/main" val="3536168811"/>
      </p:ext>
    </p:extLst>
  </p:cSld>
  <p:clrMapOvr>
    <a:masterClrMapping/>
  </p:clrMapOvr>
  <mc:AlternateContent xmlns:mc="http://schemas.openxmlformats.org/markup-compatibility/2006" xmlns:p14="http://schemas.microsoft.com/office/powerpoint/2010/main">
    <mc:Choice Requires="p14">
      <p:transition spd="slow" p14:dur="2000" advTm="14102"/>
    </mc:Choice>
    <mc:Fallback xmlns="">
      <p:transition spd="slow" advTm="1410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E4FEA-8533-AA4C-EC68-55BCD7F91F4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2AADCB5-84F2-7905-AA24-FBC93FACEF1F}"/>
              </a:ext>
            </a:extLst>
          </p:cNvPr>
          <p:cNvSpPr>
            <a:spLocks noGrp="1"/>
          </p:cNvSpPr>
          <p:nvPr>
            <p:ph type="title"/>
          </p:nvPr>
        </p:nvSpPr>
        <p:spPr>
          <a:xfrm>
            <a:off x="339788" y="178788"/>
            <a:ext cx="10728325" cy="900000"/>
          </a:xfrm>
        </p:spPr>
        <p:txBody>
          <a:bodyPr/>
          <a:lstStyle/>
          <a:p>
            <a:r>
              <a:rPr lang="en-US" dirty="0"/>
              <a:t>Introduction &amp; Problem Setup</a:t>
            </a:r>
          </a:p>
        </p:txBody>
      </p:sp>
      <p:sp>
        <p:nvSpPr>
          <p:cNvPr id="4" name="Datumsplatzhalter 3">
            <a:extLst>
              <a:ext uri="{FF2B5EF4-FFF2-40B4-BE49-F238E27FC236}">
                <a16:creationId xmlns:a16="http://schemas.microsoft.com/office/drawing/2014/main" id="{E4471ABE-9CCA-2783-5430-173CD9A5BDAB}"/>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F412B12A-5AC2-FE4B-A3FA-03800885E760}"/>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732EFAA0-41D0-3DB8-04E6-23F8E33E02D7}"/>
              </a:ext>
            </a:extLst>
          </p:cNvPr>
          <p:cNvSpPr>
            <a:spLocks noGrp="1"/>
          </p:cNvSpPr>
          <p:nvPr>
            <p:ph type="sldNum" sz="quarter" idx="12"/>
          </p:nvPr>
        </p:nvSpPr>
        <p:spPr/>
        <p:txBody>
          <a:bodyPr/>
          <a:lstStyle/>
          <a:p>
            <a:fld id="{5ACA52AF-F19D-405C-AD5F-7D94B96A5CC3}" type="slidenum">
              <a:rPr lang="de-CH" noProof="0" smtClean="0"/>
              <a:t>2</a:t>
            </a:fld>
            <a:endParaRPr lang="de-CH" noProof="0"/>
          </a:p>
        </p:txBody>
      </p:sp>
      <p:sp>
        <p:nvSpPr>
          <p:cNvPr id="3" name="TextBox 2">
            <a:extLst>
              <a:ext uri="{FF2B5EF4-FFF2-40B4-BE49-F238E27FC236}">
                <a16:creationId xmlns:a16="http://schemas.microsoft.com/office/drawing/2014/main" id="{80C951BB-CB32-4E95-B5F8-BE70D8D9D0B0}"/>
              </a:ext>
            </a:extLst>
          </p:cNvPr>
          <p:cNvSpPr txBox="1"/>
          <p:nvPr/>
        </p:nvSpPr>
        <p:spPr>
          <a:xfrm>
            <a:off x="1123887" y="894298"/>
            <a:ext cx="10378642" cy="2585323"/>
          </a:xfrm>
          <a:prstGeom prst="rect">
            <a:avLst/>
          </a:prstGeom>
          <a:noFill/>
        </p:spPr>
        <p:txBody>
          <a:bodyPr wrap="square" numCol="2" spcCol="1080000" rtlCol="0">
            <a:spAutoFit/>
          </a:bodyPr>
          <a:lstStyle/>
          <a:p>
            <a:pPr marL="285750" indent="-285750">
              <a:buClr>
                <a:srgbClr val="215CAF"/>
              </a:buClr>
              <a:buFont typeface="Wingdings" panose="05000000000000000000" pitchFamily="2" charset="2"/>
              <a:buChar char="Ø"/>
            </a:pPr>
            <a:r>
              <a:rPr lang="en-US" b="1" dirty="0" err="1"/>
              <a:t>Vibrent</a:t>
            </a:r>
            <a:r>
              <a:rPr lang="en-US" dirty="0"/>
              <a:t>: Norwegian fashion rental platform (high-frequency, high-churn business), 7,400 customers, 15,649 garments</a:t>
            </a:r>
          </a:p>
          <a:p>
            <a:endParaRPr lang="en-US" dirty="0"/>
          </a:p>
          <a:p>
            <a:pPr marL="285750" indent="-285750">
              <a:buClr>
                <a:srgbClr val="215CAF"/>
              </a:buClr>
              <a:buFont typeface="Wingdings" panose="05000000000000000000" pitchFamily="2" charset="2"/>
              <a:buChar char="Ø"/>
            </a:pPr>
            <a:r>
              <a:rPr lang="en-US" b="1" dirty="0"/>
              <a:t>CLV in rental ≠ discrete purchases</a:t>
            </a:r>
            <a:r>
              <a:rPr lang="en-US" dirty="0"/>
              <a:t>. It's driven by rental frequency, category preference, and duration </a:t>
            </a:r>
          </a:p>
          <a:p>
            <a:pPr marL="285750" indent="-285750">
              <a:buSzPct val="110000"/>
              <a:buFont typeface="Wingdings" panose="05000000000000000000" pitchFamily="2" charset="2"/>
              <a:buChar char="Ø"/>
            </a:pPr>
            <a:endParaRPr lang="en-US" dirty="0"/>
          </a:p>
          <a:p>
            <a:pPr marL="285750" indent="-285750">
              <a:buClr>
                <a:srgbClr val="B7352D"/>
              </a:buClr>
              <a:buSzPct val="110000"/>
              <a:buFont typeface="Wingdings" panose="05000000000000000000" pitchFamily="2" charset="2"/>
              <a:buChar char="Ø"/>
            </a:pPr>
            <a:r>
              <a:rPr lang="en-US" dirty="0"/>
              <a:t>Conventional models use only transactions, they </a:t>
            </a:r>
            <a:r>
              <a:rPr lang="en-US" b="1" dirty="0"/>
              <a:t>ignore what customers rent </a:t>
            </a:r>
          </a:p>
          <a:p>
            <a:pPr marL="285750" indent="-285750">
              <a:buFont typeface="Wingdings" panose="05000000000000000000" pitchFamily="2" charset="2"/>
              <a:buChar char="Ø"/>
            </a:pPr>
            <a:endParaRPr lang="en-US" dirty="0"/>
          </a:p>
          <a:p>
            <a:endParaRPr lang="en-US" dirty="0"/>
          </a:p>
          <a:p>
            <a:pPr marL="285750" indent="-285750">
              <a:buClr>
                <a:srgbClr val="B7352D"/>
              </a:buClr>
              <a:buFont typeface="Wingdings" panose="05000000000000000000" pitchFamily="2" charset="2"/>
              <a:buChar char="Ø"/>
            </a:pPr>
            <a:r>
              <a:rPr lang="en-US" b="1" dirty="0"/>
              <a:t>Research gap</a:t>
            </a:r>
            <a:r>
              <a:rPr lang="en-US" dirty="0"/>
              <a:t>: Does product-level intelligence improve customer-level revenue predictions and churn predictions?</a:t>
            </a:r>
          </a:p>
        </p:txBody>
      </p:sp>
      <p:grpSp>
        <p:nvGrpSpPr>
          <p:cNvPr id="20" name="Group 19">
            <a:extLst>
              <a:ext uri="{FF2B5EF4-FFF2-40B4-BE49-F238E27FC236}">
                <a16:creationId xmlns:a16="http://schemas.microsoft.com/office/drawing/2014/main" id="{AA1C4CD4-A110-DF1E-30FD-AB23DE7E4EB6}"/>
              </a:ext>
            </a:extLst>
          </p:cNvPr>
          <p:cNvGrpSpPr/>
          <p:nvPr/>
        </p:nvGrpSpPr>
        <p:grpSpPr>
          <a:xfrm>
            <a:off x="347240" y="3611300"/>
            <a:ext cx="7222604" cy="2743201"/>
            <a:chOff x="6310190" y="842989"/>
            <a:chExt cx="6313372" cy="2743201"/>
          </a:xfrm>
        </p:grpSpPr>
        <p:sp>
          <p:nvSpPr>
            <p:cNvPr id="9" name="TextBox 8">
              <a:extLst>
                <a:ext uri="{FF2B5EF4-FFF2-40B4-BE49-F238E27FC236}">
                  <a16:creationId xmlns:a16="http://schemas.microsoft.com/office/drawing/2014/main" id="{D337B51F-EC9D-55EC-1B2F-3359E5022A1E}"/>
                </a:ext>
              </a:extLst>
            </p:cNvPr>
            <p:cNvSpPr txBox="1"/>
            <p:nvPr/>
          </p:nvSpPr>
          <p:spPr>
            <a:xfrm>
              <a:off x="8358175" y="981974"/>
              <a:ext cx="1979455" cy="584775"/>
            </a:xfrm>
            <a:prstGeom prst="rect">
              <a:avLst/>
            </a:prstGeom>
            <a:gradFill flip="none" rotWithShape="1">
              <a:gsLst>
                <a:gs pos="0">
                  <a:srgbClr val="DFDA00">
                    <a:tint val="66000"/>
                    <a:satMod val="160000"/>
                  </a:srgbClr>
                </a:gs>
                <a:gs pos="50000">
                  <a:srgbClr val="DFDA00">
                    <a:tint val="44500"/>
                    <a:satMod val="160000"/>
                  </a:srgbClr>
                </a:gs>
                <a:gs pos="100000">
                  <a:srgbClr val="DFDA00">
                    <a:tint val="23500"/>
                    <a:satMod val="160000"/>
                  </a:srgbClr>
                </a:gs>
              </a:gsLst>
              <a:lin ang="8100000" scaled="1"/>
              <a:tileRect/>
            </a:gradFill>
          </p:spPr>
          <p:txBody>
            <a:bodyPr wrap="none" rtlCol="0">
              <a:spAutoFit/>
            </a:bodyPr>
            <a:lstStyle/>
            <a:p>
              <a:pPr algn="ctr"/>
              <a:r>
                <a:rPr lang="it-IT" sz="3200" b="1" dirty="0" err="1">
                  <a:latin typeface="Aptos Black" panose="020F0502020204030204" pitchFamily="34" charset="0"/>
                  <a:cs typeface="Aharoni" panose="020F0502020204030204" pitchFamily="2" charset="-79"/>
                </a:rPr>
                <a:t>Objectives</a:t>
              </a:r>
              <a:endParaRPr lang="en-US" sz="3200" b="1" dirty="0">
                <a:latin typeface="Aptos Black" panose="020F0502020204030204" pitchFamily="34" charset="0"/>
                <a:cs typeface="Aharoni" panose="020F0502020204030204" pitchFamily="2" charset="-79"/>
              </a:endParaRPr>
            </a:p>
          </p:txBody>
        </p:sp>
        <p:sp>
          <p:nvSpPr>
            <p:cNvPr id="13" name="TextBox 12">
              <a:extLst>
                <a:ext uri="{FF2B5EF4-FFF2-40B4-BE49-F238E27FC236}">
                  <a16:creationId xmlns:a16="http://schemas.microsoft.com/office/drawing/2014/main" id="{2E5F35AB-165D-7213-21B6-8D2C52A7B80B}"/>
                </a:ext>
              </a:extLst>
            </p:cNvPr>
            <p:cNvSpPr txBox="1"/>
            <p:nvPr/>
          </p:nvSpPr>
          <p:spPr>
            <a:xfrm>
              <a:off x="6394821" y="1698513"/>
              <a:ext cx="6228741" cy="1754326"/>
            </a:xfrm>
            <a:prstGeom prst="rect">
              <a:avLst/>
            </a:prstGeom>
            <a:noFill/>
          </p:spPr>
          <p:txBody>
            <a:bodyPr wrap="square" rtlCol="0">
              <a:spAutoFit/>
            </a:bodyPr>
            <a:lstStyle/>
            <a:p>
              <a:pPr marL="342900" indent="-342900">
                <a:buFont typeface="+mj-lt"/>
                <a:buAutoNum type="arabicParenR"/>
              </a:pPr>
              <a:r>
                <a:rPr lang="en-US" b="1" dirty="0"/>
                <a:t>Product Segmentation </a:t>
              </a:r>
              <a:r>
                <a:rPr lang="en-US" dirty="0"/>
                <a:t>→ Build a semantically meaningful product segmentation</a:t>
              </a:r>
            </a:p>
            <a:p>
              <a:pPr marL="342900" indent="-342900">
                <a:buFont typeface="+mj-lt"/>
                <a:buAutoNum type="arabicParenR"/>
              </a:pPr>
              <a:endParaRPr lang="en-US" dirty="0"/>
            </a:p>
            <a:p>
              <a:pPr marL="342900" indent="-342900">
                <a:buFont typeface="+mj-lt"/>
                <a:buAutoNum type="arabicParenR"/>
              </a:pPr>
              <a:r>
                <a:rPr lang="en-US" b="1" dirty="0"/>
                <a:t>Revenue Prediction</a:t>
              </a:r>
              <a:r>
                <a:rPr lang="en-US" dirty="0"/>
                <a:t> → Predict 12-month customer revenue</a:t>
              </a:r>
            </a:p>
            <a:p>
              <a:pPr marL="342900" indent="-342900">
                <a:buFont typeface="+mj-lt"/>
                <a:buAutoNum type="arabicParenR"/>
              </a:pPr>
              <a:endParaRPr lang="en-US" dirty="0"/>
            </a:p>
            <a:p>
              <a:pPr marL="342900" indent="-342900">
                <a:buFont typeface="+mj-lt"/>
                <a:buAutoNum type="arabicParenR"/>
              </a:pPr>
              <a:r>
                <a:rPr lang="en-US" b="1" dirty="0"/>
                <a:t>Churn Identification </a:t>
              </a:r>
              <a:r>
                <a:rPr lang="en-US" dirty="0"/>
                <a:t>→ Identify churners before they go silent</a:t>
              </a:r>
            </a:p>
          </p:txBody>
        </p:sp>
        <p:sp>
          <p:nvSpPr>
            <p:cNvPr id="19" name="Rectangle 18">
              <a:extLst>
                <a:ext uri="{FF2B5EF4-FFF2-40B4-BE49-F238E27FC236}">
                  <a16:creationId xmlns:a16="http://schemas.microsoft.com/office/drawing/2014/main" id="{9B6E61EB-6C64-622D-EBCA-0C12944094C2}"/>
                </a:ext>
              </a:extLst>
            </p:cNvPr>
            <p:cNvSpPr/>
            <p:nvPr/>
          </p:nvSpPr>
          <p:spPr>
            <a:xfrm>
              <a:off x="6310190" y="842989"/>
              <a:ext cx="6152083" cy="2743201"/>
            </a:xfrm>
            <a:prstGeom prst="rect">
              <a:avLst/>
            </a:prstGeom>
            <a:noFill/>
            <a:ln>
              <a:solidFill>
                <a:schemeClr val="tx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3E6FDC46-6E2A-9445-42AF-08AD9BD4FD5F}"/>
              </a:ext>
            </a:extLst>
          </p:cNvPr>
          <p:cNvSpPr txBox="1"/>
          <p:nvPr/>
        </p:nvSpPr>
        <p:spPr>
          <a:xfrm>
            <a:off x="689470" y="589710"/>
            <a:ext cx="6094140" cy="369332"/>
          </a:xfrm>
          <a:prstGeom prst="rect">
            <a:avLst/>
          </a:prstGeom>
          <a:noFill/>
        </p:spPr>
        <p:txBody>
          <a:bodyPr wrap="square">
            <a:spAutoFit/>
          </a:bodyPr>
          <a:lstStyle/>
          <a:p>
            <a:r>
              <a:rPr lang="en-US" b="1" i="1" dirty="0">
                <a:solidFill>
                  <a:srgbClr val="215CAF"/>
                </a:solidFill>
              </a:rPr>
              <a:t>Context</a:t>
            </a:r>
          </a:p>
        </p:txBody>
      </p:sp>
      <p:sp>
        <p:nvSpPr>
          <p:cNvPr id="10" name="TextBox 9">
            <a:extLst>
              <a:ext uri="{FF2B5EF4-FFF2-40B4-BE49-F238E27FC236}">
                <a16:creationId xmlns:a16="http://schemas.microsoft.com/office/drawing/2014/main" id="{0043CCDD-94B3-1DBF-13ED-3214F3186DFD}"/>
              </a:ext>
            </a:extLst>
          </p:cNvPr>
          <p:cNvSpPr txBox="1"/>
          <p:nvPr/>
        </p:nvSpPr>
        <p:spPr>
          <a:xfrm>
            <a:off x="6453769" y="597368"/>
            <a:ext cx="6094140" cy="369332"/>
          </a:xfrm>
          <a:prstGeom prst="rect">
            <a:avLst/>
          </a:prstGeom>
          <a:noFill/>
        </p:spPr>
        <p:txBody>
          <a:bodyPr wrap="square">
            <a:spAutoFit/>
          </a:bodyPr>
          <a:lstStyle/>
          <a:p>
            <a:r>
              <a:rPr lang="en-US" b="1" i="1" dirty="0">
                <a:solidFill>
                  <a:srgbClr val="B7352D"/>
                </a:solidFill>
              </a:rPr>
              <a:t>The Problem</a:t>
            </a:r>
          </a:p>
        </p:txBody>
      </p:sp>
      <p:sp>
        <p:nvSpPr>
          <p:cNvPr id="15" name="Arrow: Right 14">
            <a:extLst>
              <a:ext uri="{FF2B5EF4-FFF2-40B4-BE49-F238E27FC236}">
                <a16:creationId xmlns:a16="http://schemas.microsoft.com/office/drawing/2014/main" id="{C3EC8355-12B2-813A-D25A-B45CDA44C7B2}"/>
              </a:ext>
            </a:extLst>
          </p:cNvPr>
          <p:cNvSpPr/>
          <p:nvPr/>
        </p:nvSpPr>
        <p:spPr>
          <a:xfrm>
            <a:off x="7600617" y="4828478"/>
            <a:ext cx="828000" cy="288000"/>
          </a:xfrm>
          <a:prstGeom prst="rightArrow">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7BF57282-EFF7-7733-E025-C101B9ABCC94}"/>
              </a:ext>
            </a:extLst>
          </p:cNvPr>
          <p:cNvSpPr txBox="1"/>
          <p:nvPr/>
        </p:nvSpPr>
        <p:spPr>
          <a:xfrm>
            <a:off x="8459390" y="3669133"/>
            <a:ext cx="3607304" cy="2677656"/>
          </a:xfrm>
          <a:prstGeom prst="rect">
            <a:avLst/>
          </a:prstGeom>
          <a:noFill/>
        </p:spPr>
        <p:txBody>
          <a:bodyPr wrap="square" rtlCol="0">
            <a:spAutoFit/>
          </a:bodyPr>
          <a:lstStyle/>
          <a:p>
            <a:pPr algn="ctr"/>
            <a:r>
              <a:rPr lang="en-US" sz="2400" b="1" i="1" dirty="0"/>
              <a:t>Fashion rental needs a smarter CLV model because if you don't know which customers are coming back, you can't decide what to buy or who to target</a:t>
            </a:r>
          </a:p>
        </p:txBody>
      </p:sp>
    </p:spTree>
    <p:extLst>
      <p:ext uri="{BB962C8B-B14F-4D97-AF65-F5344CB8AC3E}">
        <p14:creationId xmlns:p14="http://schemas.microsoft.com/office/powerpoint/2010/main" val="10665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4C06B-0E51-EEF4-8E72-8E5979171921}"/>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AD28122B-60D8-D969-B2E1-ABAD96EF9395}"/>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49849114-7260-7D8D-3E51-B169720CA7D2}"/>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832296BB-EE3E-CDEA-A6B0-C603ADCF1638}"/>
              </a:ext>
            </a:extLst>
          </p:cNvPr>
          <p:cNvSpPr>
            <a:spLocks noGrp="1"/>
          </p:cNvSpPr>
          <p:nvPr>
            <p:ph type="sldNum" sz="quarter" idx="12"/>
          </p:nvPr>
        </p:nvSpPr>
        <p:spPr/>
        <p:txBody>
          <a:bodyPr/>
          <a:lstStyle/>
          <a:p>
            <a:fld id="{5ACA52AF-F19D-405C-AD5F-7D94B96A5CC3}" type="slidenum">
              <a:rPr lang="de-CH" noProof="0" smtClean="0"/>
              <a:t>3</a:t>
            </a:fld>
            <a:endParaRPr lang="de-CH" noProof="0"/>
          </a:p>
        </p:txBody>
      </p:sp>
      <p:pic>
        <p:nvPicPr>
          <p:cNvPr id="23" name="Picture 22">
            <a:extLst>
              <a:ext uri="{FF2B5EF4-FFF2-40B4-BE49-F238E27FC236}">
                <a16:creationId xmlns:a16="http://schemas.microsoft.com/office/drawing/2014/main" id="{8A43F329-3E81-CB62-78E3-6BA849AFC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40" y="3265246"/>
            <a:ext cx="5400000" cy="3221436"/>
          </a:xfrm>
          <a:prstGeom prst="rect">
            <a:avLst/>
          </a:prstGeom>
        </p:spPr>
      </p:pic>
      <p:sp>
        <p:nvSpPr>
          <p:cNvPr id="24" name="TextBox 23">
            <a:extLst>
              <a:ext uri="{FF2B5EF4-FFF2-40B4-BE49-F238E27FC236}">
                <a16:creationId xmlns:a16="http://schemas.microsoft.com/office/drawing/2014/main" id="{053DEFC8-6BC6-8B66-A1DC-5EB8A93BDE6A}"/>
              </a:ext>
            </a:extLst>
          </p:cNvPr>
          <p:cNvSpPr txBox="1"/>
          <p:nvPr/>
        </p:nvSpPr>
        <p:spPr>
          <a:xfrm>
            <a:off x="154593" y="1439367"/>
            <a:ext cx="5586449" cy="1954381"/>
          </a:xfrm>
          <a:prstGeom prst="rect">
            <a:avLst/>
          </a:prstGeom>
          <a:noFill/>
        </p:spPr>
        <p:txBody>
          <a:bodyPr wrap="square" rtlCol="0">
            <a:spAutoFit/>
          </a:bodyPr>
          <a:lstStyle/>
          <a:p>
            <a:pPr marL="285750" indent="-285750">
              <a:buFont typeface="Wingdings" panose="05000000000000000000" pitchFamily="2" charset="2"/>
              <a:buChar char="q"/>
            </a:pPr>
            <a:r>
              <a:rPr lang="en-US" b="1" dirty="0"/>
              <a:t>April 2020 structural break</a:t>
            </a:r>
            <a:r>
              <a:rPr lang="en-US" dirty="0"/>
              <a:t>: </a:t>
            </a:r>
            <a:br>
              <a:rPr lang="en-US" dirty="0"/>
            </a:br>
            <a:r>
              <a:rPr lang="en-US" dirty="0"/>
              <a:t>spot-rental → subscription model </a:t>
            </a:r>
            <a:br>
              <a:rPr lang="en-US" dirty="0"/>
            </a:br>
            <a:endParaRPr lang="en-US" sz="400" dirty="0"/>
          </a:p>
          <a:p>
            <a:pPr marL="742950" lvl="1" indent="-285750">
              <a:buFont typeface="Courier New" panose="02070309020205020404" pitchFamily="49" charset="0"/>
              <a:buChar char="o"/>
            </a:pPr>
            <a:r>
              <a:rPr lang="en-US" sz="1600" b="1" dirty="0"/>
              <a:t>Median duration</a:t>
            </a:r>
            <a:r>
              <a:rPr lang="en-US" sz="1600" dirty="0"/>
              <a:t>: </a:t>
            </a:r>
            <a:br>
              <a:rPr lang="en-US" sz="1600" dirty="0"/>
            </a:br>
            <a:r>
              <a:rPr lang="en-US" sz="1600" dirty="0"/>
              <a:t>4 days → 30 days </a:t>
            </a:r>
          </a:p>
          <a:p>
            <a:pPr marL="742950" lvl="1" indent="-285750">
              <a:buFont typeface="Courier New" panose="02070309020205020404" pitchFamily="49" charset="0"/>
              <a:buChar char="o"/>
            </a:pPr>
            <a:endParaRPr lang="en-US" sz="600" dirty="0"/>
          </a:p>
          <a:p>
            <a:pPr marL="742950" lvl="1" indent="-285750">
              <a:buFont typeface="Courier New" panose="02070309020205020404" pitchFamily="49" charset="0"/>
              <a:buChar char="o"/>
            </a:pPr>
            <a:r>
              <a:rPr lang="en-US" sz="1600" b="1" dirty="0"/>
              <a:t>Monthly transactions</a:t>
            </a:r>
            <a:r>
              <a:rPr lang="en-US" sz="1600" dirty="0"/>
              <a:t>: </a:t>
            </a:r>
            <a:br>
              <a:rPr lang="en-US" sz="1600" dirty="0"/>
            </a:br>
            <a:r>
              <a:rPr lang="en-US" sz="1600" dirty="0"/>
              <a:t>~100 → ~2,000 </a:t>
            </a:r>
          </a:p>
          <a:p>
            <a:pPr marL="285750" indent="-285750">
              <a:buFont typeface="Wingdings" panose="05000000000000000000" pitchFamily="2" charset="2"/>
              <a:buChar char="ü"/>
            </a:pPr>
            <a:endParaRPr lang="en-US" sz="1100" b="1" dirty="0"/>
          </a:p>
        </p:txBody>
      </p:sp>
      <p:sp>
        <p:nvSpPr>
          <p:cNvPr id="25" name="Titel 1">
            <a:extLst>
              <a:ext uri="{FF2B5EF4-FFF2-40B4-BE49-F238E27FC236}">
                <a16:creationId xmlns:a16="http://schemas.microsoft.com/office/drawing/2014/main" id="{62894E07-EB0E-C21C-8DF0-CB3754AA31FE}"/>
              </a:ext>
            </a:extLst>
          </p:cNvPr>
          <p:cNvSpPr txBox="1">
            <a:spLocks/>
          </p:cNvSpPr>
          <p:nvPr/>
        </p:nvSpPr>
        <p:spPr>
          <a:xfrm>
            <a:off x="386088" y="155638"/>
            <a:ext cx="10728325" cy="90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dirty="0"/>
              <a:t>Data &amp; The April 2020 Structural Break</a:t>
            </a:r>
          </a:p>
        </p:txBody>
      </p:sp>
      <p:sp>
        <p:nvSpPr>
          <p:cNvPr id="26" name="TextBox 25">
            <a:extLst>
              <a:ext uri="{FF2B5EF4-FFF2-40B4-BE49-F238E27FC236}">
                <a16:creationId xmlns:a16="http://schemas.microsoft.com/office/drawing/2014/main" id="{1AB8CD89-BDEF-89A2-1802-80EC6192341C}"/>
              </a:ext>
            </a:extLst>
          </p:cNvPr>
          <p:cNvSpPr txBox="1"/>
          <p:nvPr/>
        </p:nvSpPr>
        <p:spPr>
          <a:xfrm>
            <a:off x="386089" y="709812"/>
            <a:ext cx="4795028" cy="584775"/>
          </a:xfrm>
          <a:prstGeom prst="rect">
            <a:avLst/>
          </a:prstGeom>
          <a:noFill/>
          <a:ln w="19050">
            <a:solidFill>
              <a:schemeClr val="tx2"/>
            </a:solidFill>
          </a:ln>
        </p:spPr>
        <p:txBody>
          <a:bodyPr wrap="square" rtlCol="0">
            <a:spAutoFit/>
          </a:bodyPr>
          <a:lstStyle/>
          <a:p>
            <a:pPr algn="ctr"/>
            <a:r>
              <a:rPr lang="en-US" sz="1600" b="1" dirty="0"/>
              <a:t>March 2016 – September 2023</a:t>
            </a:r>
          </a:p>
          <a:p>
            <a:pPr algn="ctr"/>
            <a:r>
              <a:rPr lang="en-US" sz="1600" b="1" dirty="0"/>
              <a:t>77,100 rental events | 7,400 customers </a:t>
            </a:r>
          </a:p>
        </p:txBody>
      </p:sp>
      <p:sp>
        <p:nvSpPr>
          <p:cNvPr id="30" name="TextBox 29">
            <a:extLst>
              <a:ext uri="{FF2B5EF4-FFF2-40B4-BE49-F238E27FC236}">
                <a16:creationId xmlns:a16="http://schemas.microsoft.com/office/drawing/2014/main" id="{E106B471-13BA-C468-F7E8-7874A8182EE3}"/>
              </a:ext>
            </a:extLst>
          </p:cNvPr>
          <p:cNvSpPr txBox="1"/>
          <p:nvPr/>
        </p:nvSpPr>
        <p:spPr>
          <a:xfrm>
            <a:off x="2171700" y="6319777"/>
            <a:ext cx="184731" cy="369332"/>
          </a:xfrm>
          <a:prstGeom prst="rect">
            <a:avLst/>
          </a:prstGeom>
          <a:noFill/>
        </p:spPr>
        <p:txBody>
          <a:bodyPr wrap="none" rtlCol="0">
            <a:spAutoFit/>
          </a:bodyPr>
          <a:lstStyle/>
          <a:p>
            <a:endParaRPr lang="en-US" dirty="0"/>
          </a:p>
        </p:txBody>
      </p:sp>
      <p:sp>
        <p:nvSpPr>
          <p:cNvPr id="38" name="TextBox 37">
            <a:extLst>
              <a:ext uri="{FF2B5EF4-FFF2-40B4-BE49-F238E27FC236}">
                <a16:creationId xmlns:a16="http://schemas.microsoft.com/office/drawing/2014/main" id="{B255A6BD-D04B-33F8-C948-1DCCC368450E}"/>
              </a:ext>
            </a:extLst>
          </p:cNvPr>
          <p:cNvSpPr txBox="1"/>
          <p:nvPr/>
        </p:nvSpPr>
        <p:spPr>
          <a:xfrm>
            <a:off x="5636870" y="1237030"/>
            <a:ext cx="6439339" cy="2000548"/>
          </a:xfrm>
          <a:prstGeom prst="rect">
            <a:avLst/>
          </a:prstGeom>
          <a:noFill/>
          <a:ln w="28575">
            <a:solidFill>
              <a:schemeClr val="bg1"/>
            </a:solidFill>
          </a:ln>
        </p:spPr>
        <p:txBody>
          <a:bodyPr wrap="square" rtlCol="0">
            <a:spAutoFit/>
          </a:bodyPr>
          <a:lstStyle/>
          <a:p>
            <a:pPr marL="285750" indent="-285750">
              <a:buFont typeface="Wingdings" panose="05000000000000000000" pitchFamily="2" charset="2"/>
              <a:buChar char="Ø"/>
            </a:pPr>
            <a:r>
              <a:rPr lang="en-US" b="1" u="sng" dirty="0">
                <a:solidFill>
                  <a:srgbClr val="B7352D"/>
                </a:solidFill>
              </a:rPr>
              <a:t>Problem</a:t>
            </a:r>
            <a:r>
              <a:rPr lang="en-US" b="1" dirty="0"/>
              <a:t>:</a:t>
            </a:r>
            <a:r>
              <a:rPr lang="en-US" dirty="0"/>
              <a:t> throwing away pre-2020 data entirely </a:t>
            </a:r>
            <a:r>
              <a:rPr lang="en-US" b="1" dirty="0"/>
              <a:t>loses deep behavioral context</a:t>
            </a:r>
            <a:r>
              <a:rPr lang="en-US" dirty="0"/>
              <a:t> (tenure, early loyalty signals) </a:t>
            </a:r>
          </a:p>
          <a:p>
            <a:pPr marL="285750" indent="-285750">
              <a:buFont typeface="Wingdings" panose="05000000000000000000" pitchFamily="2" charset="2"/>
              <a:buChar char="Ø"/>
            </a:pPr>
            <a:endParaRPr lang="en-US" sz="800" dirty="0"/>
          </a:p>
          <a:p>
            <a:pPr marL="285750" indent="-285750">
              <a:buFont typeface="Wingdings" panose="05000000000000000000" pitchFamily="2" charset="2"/>
              <a:buChar char="Ø"/>
            </a:pPr>
            <a:r>
              <a:rPr lang="en-US" b="1" u="sng" dirty="0">
                <a:solidFill>
                  <a:srgbClr val="215CAF"/>
                </a:solidFill>
              </a:rPr>
              <a:t>Solution</a:t>
            </a:r>
            <a:r>
              <a:rPr lang="en-US" b="1" dirty="0">
                <a:solidFill>
                  <a:srgbClr val="215CAF"/>
                </a:solidFill>
              </a:rPr>
              <a:t>:</a:t>
            </a:r>
            <a:r>
              <a:rPr lang="en-US" dirty="0"/>
              <a:t> </a:t>
            </a:r>
            <a:r>
              <a:rPr lang="en-US" b="1" dirty="0"/>
              <a:t>features engineered</a:t>
            </a:r>
            <a:r>
              <a:rPr lang="en-US" dirty="0"/>
              <a:t> on full history 2016–2023, </a:t>
            </a:r>
            <a:r>
              <a:rPr lang="en-US" b="1" dirty="0"/>
              <a:t>labels</a:t>
            </a:r>
            <a:r>
              <a:rPr lang="en-US" dirty="0"/>
              <a:t> strictly from post-2020 periods </a:t>
            </a:r>
          </a:p>
          <a:p>
            <a:pPr marL="285750" indent="-285750">
              <a:buFont typeface="Wingdings" panose="05000000000000000000" pitchFamily="2" charset="2"/>
              <a:buChar char="Ø"/>
            </a:pPr>
            <a:endParaRPr lang="en-US" sz="700" b="1" dirty="0"/>
          </a:p>
          <a:p>
            <a:pPr marL="285750" indent="-285750">
              <a:buFont typeface="Wingdings" panose="05000000000000000000" pitchFamily="2" charset="2"/>
              <a:buChar char="Ø"/>
            </a:pPr>
            <a:r>
              <a:rPr lang="en-US" b="1" u="sng" dirty="0">
                <a:solidFill>
                  <a:srgbClr val="00B050"/>
                </a:solidFill>
              </a:rPr>
              <a:t>Results</a:t>
            </a:r>
            <a:r>
              <a:rPr lang="en-US" b="1" dirty="0">
                <a:solidFill>
                  <a:srgbClr val="00B050"/>
                </a:solidFill>
              </a:rPr>
              <a:t>:</a:t>
            </a:r>
            <a:r>
              <a:rPr lang="en-US" dirty="0"/>
              <a:t> using full history reduces MAE by </a:t>
            </a:r>
            <a:r>
              <a:rPr lang="en-US" b="1" dirty="0"/>
              <a:t>74%</a:t>
            </a:r>
            <a:r>
              <a:rPr lang="en-US" dirty="0"/>
              <a:t> vs. post-2020 data alone (12,674 → 3,296 NOK)</a:t>
            </a:r>
          </a:p>
        </p:txBody>
      </p:sp>
      <p:sp>
        <p:nvSpPr>
          <p:cNvPr id="3" name="TextBox 2">
            <a:extLst>
              <a:ext uri="{FF2B5EF4-FFF2-40B4-BE49-F238E27FC236}">
                <a16:creationId xmlns:a16="http://schemas.microsoft.com/office/drawing/2014/main" id="{C546E585-B7D3-5E01-8435-2EF3CD719B56}"/>
              </a:ext>
            </a:extLst>
          </p:cNvPr>
          <p:cNvSpPr txBox="1"/>
          <p:nvPr/>
        </p:nvSpPr>
        <p:spPr>
          <a:xfrm>
            <a:off x="6342928" y="155947"/>
            <a:ext cx="5733282" cy="923330"/>
          </a:xfrm>
          <a:prstGeom prst="rect">
            <a:avLst/>
          </a:prstGeom>
          <a:noFill/>
        </p:spPr>
        <p:txBody>
          <a:bodyPr wrap="square">
            <a:spAutoFit/>
          </a:bodyPr>
          <a:lstStyle/>
          <a:p>
            <a:pPr lvl="1">
              <a:buSzPct val="200000"/>
            </a:pPr>
            <a:r>
              <a:rPr lang="en-US" b="1" dirty="0"/>
              <a:t>Why it matters:</a:t>
            </a:r>
            <a:r>
              <a:rPr lang="en-US" dirty="0"/>
              <a:t> A model trained on pre-2020 data learns the wrong business. Labels and model evaluation must use only post-2020 dynamics</a:t>
            </a:r>
          </a:p>
        </p:txBody>
      </p:sp>
      <p:grpSp>
        <p:nvGrpSpPr>
          <p:cNvPr id="10" name="Group 9">
            <a:extLst>
              <a:ext uri="{FF2B5EF4-FFF2-40B4-BE49-F238E27FC236}">
                <a16:creationId xmlns:a16="http://schemas.microsoft.com/office/drawing/2014/main" id="{4C97B938-B3A0-DCF5-BCCC-6F06FAF398DB}"/>
              </a:ext>
            </a:extLst>
          </p:cNvPr>
          <p:cNvGrpSpPr/>
          <p:nvPr/>
        </p:nvGrpSpPr>
        <p:grpSpPr>
          <a:xfrm>
            <a:off x="5578995" y="3436291"/>
            <a:ext cx="6497214" cy="2662267"/>
            <a:chOff x="5578995" y="3436291"/>
            <a:chExt cx="6497214" cy="2662267"/>
          </a:xfrm>
        </p:grpSpPr>
        <p:sp>
          <p:nvSpPr>
            <p:cNvPr id="39" name="TextBox 38">
              <a:extLst>
                <a:ext uri="{FF2B5EF4-FFF2-40B4-BE49-F238E27FC236}">
                  <a16:creationId xmlns:a16="http://schemas.microsoft.com/office/drawing/2014/main" id="{9807A180-9F9E-F7CA-4FDC-8E1A03078D26}"/>
                </a:ext>
              </a:extLst>
            </p:cNvPr>
            <p:cNvSpPr txBox="1"/>
            <p:nvPr/>
          </p:nvSpPr>
          <p:spPr>
            <a:xfrm>
              <a:off x="5636870" y="3805623"/>
              <a:ext cx="6439339" cy="2292935"/>
            </a:xfrm>
            <a:prstGeom prst="rect">
              <a:avLst/>
            </a:prstGeom>
            <a:noFill/>
            <a:ln w="28575">
              <a:solidFill>
                <a:schemeClr val="tx1"/>
              </a:solidFill>
            </a:ln>
          </p:spPr>
          <p:txBody>
            <a:bodyPr wrap="square" rtlCol="0">
              <a:spAutoFit/>
            </a:bodyPr>
            <a:lstStyle/>
            <a:p>
              <a:r>
                <a:rPr lang="en-US" sz="1600" b="1" dirty="0">
                  <a:solidFill>
                    <a:srgbClr val="FFC000"/>
                  </a:solidFill>
                </a:rPr>
                <a:t>Train:</a:t>
              </a:r>
              <a:r>
                <a:rPr lang="en-US" sz="1600" dirty="0"/>
                <a:t> </a:t>
              </a:r>
              <a:r>
                <a:rPr lang="en-US" sz="1600" b="1" dirty="0"/>
                <a:t>features</a:t>
              </a:r>
              <a:r>
                <a:rPr lang="en-US" sz="1600" dirty="0"/>
                <a:t> up to Sep 2021 → </a:t>
              </a:r>
              <a:r>
                <a:rPr lang="en-US" sz="1600" b="1" dirty="0"/>
                <a:t>labels</a:t>
              </a:r>
              <a:r>
                <a:rPr lang="en-US" sz="1600" dirty="0"/>
                <a:t> Sep 2021–2022 </a:t>
              </a:r>
              <a:br>
                <a:rPr lang="en-US" sz="1600" dirty="0"/>
              </a:br>
              <a:r>
                <a:rPr lang="en-US" sz="1600" dirty="0"/>
                <a:t>(n = 5,943) </a:t>
              </a:r>
            </a:p>
            <a:p>
              <a:endParaRPr lang="en-US" sz="800" dirty="0"/>
            </a:p>
            <a:p>
              <a:r>
                <a:rPr lang="en-US" sz="1600" b="1" dirty="0">
                  <a:solidFill>
                    <a:srgbClr val="A30774"/>
                  </a:solidFill>
                </a:rPr>
                <a:t>Test:</a:t>
              </a:r>
              <a:r>
                <a:rPr lang="en-US" sz="1600" dirty="0"/>
                <a:t> </a:t>
              </a:r>
              <a:r>
                <a:rPr lang="en-US" sz="1600" b="1" dirty="0"/>
                <a:t>features</a:t>
              </a:r>
              <a:r>
                <a:rPr lang="en-US" sz="1600" dirty="0"/>
                <a:t> up to Sep 2022 → </a:t>
              </a:r>
              <a:r>
                <a:rPr lang="en-US" sz="1600" b="1" dirty="0"/>
                <a:t>labels</a:t>
              </a:r>
              <a:r>
                <a:rPr lang="en-US" sz="1600" dirty="0"/>
                <a:t> Sep 2022–2023 </a:t>
              </a:r>
              <a:br>
                <a:rPr lang="en-US" sz="1600" dirty="0"/>
              </a:br>
              <a:r>
                <a:rPr lang="en-US" sz="1600" dirty="0"/>
                <a:t>(n = 6,809) </a:t>
              </a:r>
            </a:p>
            <a:p>
              <a:endParaRPr lang="en-US" sz="800" dirty="0"/>
            </a:p>
            <a:p>
              <a:r>
                <a:rPr lang="en-US" sz="1600" b="1" dirty="0">
                  <a:solidFill>
                    <a:srgbClr val="007894"/>
                  </a:solidFill>
                </a:rPr>
                <a:t>Submission:</a:t>
              </a:r>
              <a:r>
                <a:rPr lang="en-US" sz="1600" dirty="0"/>
                <a:t> </a:t>
              </a:r>
              <a:r>
                <a:rPr lang="en-US" sz="1600" b="1" dirty="0"/>
                <a:t>features</a:t>
              </a:r>
              <a:r>
                <a:rPr lang="en-US" sz="1600" dirty="0"/>
                <a:t> up to Sep 2023 → </a:t>
              </a:r>
              <a:r>
                <a:rPr lang="en-US" sz="1600" b="1" dirty="0"/>
                <a:t>predict</a:t>
              </a:r>
              <a:r>
                <a:rPr lang="en-US" sz="1600" dirty="0"/>
                <a:t> Sep 2023–2024 </a:t>
              </a:r>
            </a:p>
            <a:p>
              <a:endParaRPr lang="en-US" sz="1050" i="1" u="sng" dirty="0"/>
            </a:p>
            <a:p>
              <a:r>
                <a:rPr lang="en-US" sz="1600" i="1" u="sng" dirty="0"/>
                <a:t>Window expands forward in time, thus the model never sees the future it is predicting</a:t>
              </a:r>
            </a:p>
          </p:txBody>
        </p:sp>
        <p:sp>
          <p:nvSpPr>
            <p:cNvPr id="7" name="TextBox 6">
              <a:extLst>
                <a:ext uri="{FF2B5EF4-FFF2-40B4-BE49-F238E27FC236}">
                  <a16:creationId xmlns:a16="http://schemas.microsoft.com/office/drawing/2014/main" id="{3224CC86-23B5-9514-B859-E919E885F5B5}"/>
                </a:ext>
              </a:extLst>
            </p:cNvPr>
            <p:cNvSpPr txBox="1"/>
            <p:nvPr/>
          </p:nvSpPr>
          <p:spPr>
            <a:xfrm>
              <a:off x="5578995" y="3436291"/>
              <a:ext cx="2395960" cy="369332"/>
            </a:xfrm>
            <a:prstGeom prst="rect">
              <a:avLst/>
            </a:prstGeom>
            <a:noFill/>
          </p:spPr>
          <p:txBody>
            <a:bodyPr wrap="square" rtlCol="0">
              <a:spAutoFit/>
            </a:bodyPr>
            <a:lstStyle/>
            <a:p>
              <a:r>
                <a:rPr lang="en-US" b="1" i="1" dirty="0"/>
                <a:t>Temporal validation</a:t>
              </a:r>
            </a:p>
          </p:txBody>
        </p:sp>
      </p:grpSp>
      <p:sp>
        <p:nvSpPr>
          <p:cNvPr id="11" name="TextBox 10">
            <a:extLst>
              <a:ext uri="{FF2B5EF4-FFF2-40B4-BE49-F238E27FC236}">
                <a16:creationId xmlns:a16="http://schemas.microsoft.com/office/drawing/2014/main" id="{8F52B19C-3F10-F38D-3D02-D7812D8F9124}"/>
              </a:ext>
            </a:extLst>
          </p:cNvPr>
          <p:cNvSpPr txBox="1"/>
          <p:nvPr/>
        </p:nvSpPr>
        <p:spPr>
          <a:xfrm>
            <a:off x="6342927" y="171295"/>
            <a:ext cx="466794" cy="646331"/>
          </a:xfrm>
          <a:prstGeom prst="rect">
            <a:avLst/>
          </a:prstGeom>
          <a:noFill/>
        </p:spPr>
        <p:txBody>
          <a:bodyPr wrap="none" rtlCol="0">
            <a:spAutoFit/>
          </a:bodyPr>
          <a:lstStyle/>
          <a:p>
            <a:r>
              <a:rPr lang="it-IT" sz="3600" b="1" dirty="0"/>
              <a:t>?</a:t>
            </a:r>
            <a:endParaRPr lang="en-US" sz="3600" b="1" dirty="0"/>
          </a:p>
        </p:txBody>
      </p:sp>
    </p:spTree>
    <p:extLst>
      <p:ext uri="{BB962C8B-B14F-4D97-AF65-F5344CB8AC3E}">
        <p14:creationId xmlns:p14="http://schemas.microsoft.com/office/powerpoint/2010/main" val="233649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C49C-5C77-105B-29B8-A7771E564C1A}"/>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F77FF210-75CD-C881-D375-2A483BF04641}"/>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05E1541E-A40C-C9CB-302E-5FBD64F029BA}"/>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56A4B7E2-B4D9-A180-E5C2-215C6AB14D18}"/>
              </a:ext>
            </a:extLst>
          </p:cNvPr>
          <p:cNvSpPr>
            <a:spLocks noGrp="1"/>
          </p:cNvSpPr>
          <p:nvPr>
            <p:ph type="sldNum" sz="quarter" idx="12"/>
          </p:nvPr>
        </p:nvSpPr>
        <p:spPr/>
        <p:txBody>
          <a:bodyPr/>
          <a:lstStyle/>
          <a:p>
            <a:fld id="{5ACA52AF-F19D-405C-AD5F-7D94B96A5CC3}" type="slidenum">
              <a:rPr lang="de-CH" noProof="0" smtClean="0"/>
              <a:t>4</a:t>
            </a:fld>
            <a:endParaRPr lang="de-CH" noProof="0"/>
          </a:p>
        </p:txBody>
      </p:sp>
      <p:sp>
        <p:nvSpPr>
          <p:cNvPr id="25" name="Titel 1">
            <a:extLst>
              <a:ext uri="{FF2B5EF4-FFF2-40B4-BE49-F238E27FC236}">
                <a16:creationId xmlns:a16="http://schemas.microsoft.com/office/drawing/2014/main" id="{8508A2B9-C77D-4584-88FE-6F4C4728270F}"/>
              </a:ext>
            </a:extLst>
          </p:cNvPr>
          <p:cNvSpPr txBox="1">
            <a:spLocks/>
          </p:cNvSpPr>
          <p:nvPr/>
        </p:nvSpPr>
        <p:spPr>
          <a:xfrm>
            <a:off x="274776" y="158634"/>
            <a:ext cx="10728325" cy="90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dirty="0"/>
              <a:t>The Clustering Pipeline</a:t>
            </a:r>
          </a:p>
        </p:txBody>
      </p:sp>
      <p:graphicFrame>
        <p:nvGraphicFramePr>
          <p:cNvPr id="8" name="Diagram 7">
            <a:extLst>
              <a:ext uri="{FF2B5EF4-FFF2-40B4-BE49-F238E27FC236}">
                <a16:creationId xmlns:a16="http://schemas.microsoft.com/office/drawing/2014/main" id="{085E26FE-A008-8352-1AF2-FC3A8106A068}"/>
              </a:ext>
            </a:extLst>
          </p:cNvPr>
          <p:cNvGraphicFramePr/>
          <p:nvPr>
            <p:extLst>
              <p:ext uri="{D42A27DB-BD31-4B8C-83A1-F6EECF244321}">
                <p14:modId xmlns:p14="http://schemas.microsoft.com/office/powerpoint/2010/main" val="1109181970"/>
              </p:ext>
            </p:extLst>
          </p:nvPr>
        </p:nvGraphicFramePr>
        <p:xfrm>
          <a:off x="176457" y="747530"/>
          <a:ext cx="7395243" cy="5640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92684321-A276-3AA2-C4D4-C092EB378C4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037554" y="3313420"/>
            <a:ext cx="3798684" cy="3139346"/>
          </a:xfrm>
          <a:prstGeom prst="rect">
            <a:avLst/>
          </a:prstGeom>
        </p:spPr>
      </p:pic>
      <p:grpSp>
        <p:nvGrpSpPr>
          <p:cNvPr id="14" name="Group 13">
            <a:extLst>
              <a:ext uri="{FF2B5EF4-FFF2-40B4-BE49-F238E27FC236}">
                <a16:creationId xmlns:a16="http://schemas.microsoft.com/office/drawing/2014/main" id="{3CA6266E-CE26-A52A-6454-C690450C9CA7}"/>
              </a:ext>
            </a:extLst>
          </p:cNvPr>
          <p:cNvGrpSpPr/>
          <p:nvPr/>
        </p:nvGrpSpPr>
        <p:grpSpPr>
          <a:xfrm>
            <a:off x="7846675" y="608634"/>
            <a:ext cx="4180443" cy="2635108"/>
            <a:chOff x="7800582" y="3648983"/>
            <a:chExt cx="4180443" cy="2635108"/>
          </a:xfrm>
        </p:grpSpPr>
        <p:pic>
          <p:nvPicPr>
            <p:cNvPr id="12" name="Picture 11">
              <a:extLst>
                <a:ext uri="{FF2B5EF4-FFF2-40B4-BE49-F238E27FC236}">
                  <a16:creationId xmlns:a16="http://schemas.microsoft.com/office/drawing/2014/main" id="{DDFAF275-75CA-EA77-B191-9F92701C25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00582" y="3648983"/>
              <a:ext cx="4180443" cy="2635108"/>
            </a:xfrm>
            <a:prstGeom prst="rect">
              <a:avLst/>
            </a:prstGeom>
          </p:spPr>
        </p:pic>
        <p:sp>
          <p:nvSpPr>
            <p:cNvPr id="13" name="Oval 12">
              <a:extLst>
                <a:ext uri="{FF2B5EF4-FFF2-40B4-BE49-F238E27FC236}">
                  <a16:creationId xmlns:a16="http://schemas.microsoft.com/office/drawing/2014/main" id="{B0D7A4A0-06F4-8909-4BE5-F262DFC9829D}"/>
                </a:ext>
              </a:extLst>
            </p:cNvPr>
            <p:cNvSpPr/>
            <p:nvPr/>
          </p:nvSpPr>
          <p:spPr>
            <a:xfrm>
              <a:off x="9225022" y="4653020"/>
              <a:ext cx="522000" cy="52086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1848C135-1C00-2148-F921-7BC6A8EC220E}"/>
              </a:ext>
            </a:extLst>
          </p:cNvPr>
          <p:cNvSpPr txBox="1"/>
          <p:nvPr/>
        </p:nvSpPr>
        <p:spPr>
          <a:xfrm>
            <a:off x="3960034" y="6230334"/>
            <a:ext cx="3813865" cy="400110"/>
          </a:xfrm>
          <a:prstGeom prst="rect">
            <a:avLst/>
          </a:prstGeom>
          <a:noFill/>
        </p:spPr>
        <p:txBody>
          <a:bodyPr wrap="none" rtlCol="0">
            <a:spAutoFit/>
          </a:bodyPr>
          <a:lstStyle/>
          <a:p>
            <a:r>
              <a:rPr lang="en-US" sz="2000" b="1" dirty="0"/>
              <a:t>	  8 coherent segments</a:t>
            </a:r>
          </a:p>
        </p:txBody>
      </p:sp>
      <p:sp>
        <p:nvSpPr>
          <p:cNvPr id="16" name="TextBox 15">
            <a:extLst>
              <a:ext uri="{FF2B5EF4-FFF2-40B4-BE49-F238E27FC236}">
                <a16:creationId xmlns:a16="http://schemas.microsoft.com/office/drawing/2014/main" id="{15B46C78-0DCC-C412-3234-286DAE28812E}"/>
              </a:ext>
            </a:extLst>
          </p:cNvPr>
          <p:cNvSpPr txBox="1"/>
          <p:nvPr/>
        </p:nvSpPr>
        <p:spPr>
          <a:xfrm>
            <a:off x="3879009" y="6241909"/>
            <a:ext cx="1142236" cy="369332"/>
          </a:xfrm>
          <a:prstGeom prst="rect">
            <a:avLst/>
          </a:prstGeom>
          <a:gradFill flip="none" rotWithShape="1">
            <a:gsLst>
              <a:gs pos="0">
                <a:srgbClr val="D5D000">
                  <a:tint val="66000"/>
                  <a:satMod val="160000"/>
                </a:srgbClr>
              </a:gs>
              <a:gs pos="50000">
                <a:srgbClr val="D5D000">
                  <a:tint val="44500"/>
                  <a:satMod val="160000"/>
                </a:srgbClr>
              </a:gs>
              <a:gs pos="100000">
                <a:srgbClr val="D5D000">
                  <a:tint val="23500"/>
                  <a:satMod val="160000"/>
                </a:srgbClr>
              </a:gs>
            </a:gsLst>
            <a:lin ang="10800000" scaled="1"/>
            <a:tileRect/>
          </a:gradFill>
        </p:spPr>
        <p:txBody>
          <a:bodyPr wrap="none" rtlCol="0">
            <a:spAutoFit/>
          </a:bodyPr>
          <a:lstStyle/>
          <a:p>
            <a:r>
              <a:rPr lang="it-IT" b="1" dirty="0"/>
              <a:t>RESULT:</a:t>
            </a:r>
            <a:endParaRPr lang="en-US" dirty="0"/>
          </a:p>
        </p:txBody>
      </p:sp>
    </p:spTree>
    <p:extLst>
      <p:ext uri="{BB962C8B-B14F-4D97-AF65-F5344CB8AC3E}">
        <p14:creationId xmlns:p14="http://schemas.microsoft.com/office/powerpoint/2010/main" val="1143225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5A0B2-401A-47B3-C8E8-F1EEEAFFD3EF}"/>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5F281D0B-D0F7-1487-D8A5-6ACC7D269028}"/>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7FDF7C63-FC6D-19D8-41CA-8F4FE4B4CE69}"/>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1222E101-6203-328B-9933-724829DDC043}"/>
              </a:ext>
            </a:extLst>
          </p:cNvPr>
          <p:cNvSpPr>
            <a:spLocks noGrp="1"/>
          </p:cNvSpPr>
          <p:nvPr>
            <p:ph type="sldNum" sz="quarter" idx="12"/>
          </p:nvPr>
        </p:nvSpPr>
        <p:spPr/>
        <p:txBody>
          <a:bodyPr/>
          <a:lstStyle/>
          <a:p>
            <a:fld id="{5ACA52AF-F19D-405C-AD5F-7D94B96A5CC3}" type="slidenum">
              <a:rPr lang="de-CH" noProof="0" smtClean="0"/>
              <a:t>5</a:t>
            </a:fld>
            <a:endParaRPr lang="de-CH" noProof="0"/>
          </a:p>
        </p:txBody>
      </p:sp>
      <p:sp>
        <p:nvSpPr>
          <p:cNvPr id="25" name="Titel 1">
            <a:extLst>
              <a:ext uri="{FF2B5EF4-FFF2-40B4-BE49-F238E27FC236}">
                <a16:creationId xmlns:a16="http://schemas.microsoft.com/office/drawing/2014/main" id="{352C5B5D-10A0-3BCD-4502-EF9623605D3D}"/>
              </a:ext>
            </a:extLst>
          </p:cNvPr>
          <p:cNvSpPr txBox="1">
            <a:spLocks/>
          </p:cNvSpPr>
          <p:nvPr/>
        </p:nvSpPr>
        <p:spPr>
          <a:xfrm>
            <a:off x="409260" y="185398"/>
            <a:ext cx="10728325" cy="90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dirty="0"/>
              <a:t>Business Profiling: four strategic roles</a:t>
            </a:r>
          </a:p>
        </p:txBody>
      </p:sp>
      <p:grpSp>
        <p:nvGrpSpPr>
          <p:cNvPr id="2" name="Group 1">
            <a:extLst>
              <a:ext uri="{FF2B5EF4-FFF2-40B4-BE49-F238E27FC236}">
                <a16:creationId xmlns:a16="http://schemas.microsoft.com/office/drawing/2014/main" id="{DA932616-0C2E-968E-C7A4-089BF06A0FA4}"/>
              </a:ext>
            </a:extLst>
          </p:cNvPr>
          <p:cNvGrpSpPr>
            <a:grpSpLocks noChangeAspect="1"/>
          </p:cNvGrpSpPr>
          <p:nvPr/>
        </p:nvGrpSpPr>
        <p:grpSpPr>
          <a:xfrm>
            <a:off x="3471483" y="782122"/>
            <a:ext cx="5603070" cy="3553238"/>
            <a:chOff x="3045037" y="1058634"/>
            <a:chExt cx="6704170" cy="4251511"/>
          </a:xfrm>
        </p:grpSpPr>
        <p:pic>
          <p:nvPicPr>
            <p:cNvPr id="9" name="Picture 8">
              <a:extLst>
                <a:ext uri="{FF2B5EF4-FFF2-40B4-BE49-F238E27FC236}">
                  <a16:creationId xmlns:a16="http://schemas.microsoft.com/office/drawing/2014/main" id="{AFE52168-7F1B-02FB-98E3-255419F99E0F}"/>
                </a:ext>
              </a:extLst>
            </p:cNvPr>
            <p:cNvPicPr>
              <a:picLocks noChangeAspect="1"/>
            </p:cNvPicPr>
            <p:nvPr/>
          </p:nvPicPr>
          <p:blipFill>
            <a:blip r:embed="rId3">
              <a:extLst>
                <a:ext uri="{28A0092B-C50C-407E-A947-70E740481C1C}">
                  <a14:useLocalDpi xmlns:a14="http://schemas.microsoft.com/office/drawing/2010/main" val="0"/>
                </a:ext>
              </a:extLst>
            </a:blip>
            <a:srcRect r="21371"/>
            <a:stretch>
              <a:fillRect/>
            </a:stretch>
          </p:blipFill>
          <p:spPr>
            <a:xfrm>
              <a:off x="3045037" y="1058634"/>
              <a:ext cx="6704170" cy="4251511"/>
            </a:xfrm>
            <a:prstGeom prst="rect">
              <a:avLst/>
            </a:prstGeom>
          </p:spPr>
        </p:pic>
        <p:pic>
          <p:nvPicPr>
            <p:cNvPr id="11" name="Picture 10">
              <a:extLst>
                <a:ext uri="{FF2B5EF4-FFF2-40B4-BE49-F238E27FC236}">
                  <a16:creationId xmlns:a16="http://schemas.microsoft.com/office/drawing/2014/main" id="{6C64E64A-0061-5589-657F-F05BEE95B681}"/>
                </a:ext>
              </a:extLst>
            </p:cNvPr>
            <p:cNvPicPr>
              <a:picLocks noChangeAspect="1"/>
            </p:cNvPicPr>
            <p:nvPr/>
          </p:nvPicPr>
          <p:blipFill>
            <a:blip r:embed="rId3">
              <a:extLst>
                <a:ext uri="{28A0092B-C50C-407E-A947-70E740481C1C}">
                  <a14:useLocalDpi xmlns:a14="http://schemas.microsoft.com/office/drawing/2010/main" val="0"/>
                </a:ext>
              </a:extLst>
            </a:blip>
            <a:srcRect l="79121" t="4458" b="30475"/>
            <a:stretch>
              <a:fillRect/>
            </a:stretch>
          </p:blipFill>
          <p:spPr>
            <a:xfrm>
              <a:off x="6798629" y="1414156"/>
              <a:ext cx="1654552" cy="2571061"/>
            </a:xfrm>
            <a:prstGeom prst="rect">
              <a:avLst/>
            </a:prstGeom>
          </p:spPr>
        </p:pic>
      </p:grpSp>
      <p:sp>
        <p:nvSpPr>
          <p:cNvPr id="7" name="TextBox 6">
            <a:extLst>
              <a:ext uri="{FF2B5EF4-FFF2-40B4-BE49-F238E27FC236}">
                <a16:creationId xmlns:a16="http://schemas.microsoft.com/office/drawing/2014/main" id="{2F858079-1B0A-7B32-130A-12C03FE44BFE}"/>
              </a:ext>
            </a:extLst>
          </p:cNvPr>
          <p:cNvSpPr txBox="1"/>
          <p:nvPr/>
        </p:nvSpPr>
        <p:spPr>
          <a:xfrm>
            <a:off x="9224102" y="1252176"/>
            <a:ext cx="2874294" cy="24776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1" u="sng" strike="noStrike" kern="1200" cap="none" spc="0" normalizeH="0" baseline="0" noProof="0" dirty="0">
                <a:ln>
                  <a:noFill/>
                </a:ln>
                <a:solidFill>
                  <a:prstClr val="black"/>
                </a:solidFill>
                <a:effectLst/>
                <a:uLnTx/>
                <a:uFillTx/>
                <a:latin typeface="Arial"/>
                <a:ea typeface="+mn-ea"/>
                <a:cs typeface="+mn-cs"/>
              </a:rPr>
              <a:t>Revenue Engine</a:t>
            </a:r>
            <a:r>
              <a:rPr kumimoji="0" lang="en-US" sz="2200" b="0" i="0" u="sng"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600" b="1" i="0" u="none" strike="noStrike" kern="1200" cap="none" spc="0" normalizeH="0" baseline="0" noProof="0" dirty="0">
                <a:ln>
                  <a:noFill/>
                </a:ln>
                <a:solidFill>
                  <a:srgbClr val="FF7E0D"/>
                </a:solidFill>
                <a:effectLst/>
                <a:uLnTx/>
                <a:uFillTx/>
                <a:latin typeface="Arial"/>
                <a:ea typeface="+mn-ea"/>
                <a:cs typeface="+mn-cs"/>
              </a:rPr>
              <a:t>Dresses &amp; Jumpsuits</a:t>
            </a:r>
            <a:r>
              <a:rPr kumimoji="0" lang="en-US" sz="1600" b="0" i="0" u="none" strike="noStrike" kern="1200" cap="none" spc="0" normalizeH="0" baseline="0" noProof="0" dirty="0">
                <a:ln>
                  <a:noFill/>
                </a:ln>
                <a:solidFill>
                  <a:prstClr val="black"/>
                </a:solidFill>
                <a:effectLst/>
                <a:uLnTx/>
                <a:uFillTx/>
                <a:latin typeface="Arial"/>
                <a:ea typeface="+mn-ea"/>
                <a:cs typeface="+mn-cs"/>
              </a:rPr>
              <a:t>:</a:t>
            </a:r>
          </a:p>
          <a:p>
            <a:pPr marL="742950" lvl="1" indent="-285750">
              <a:buClr>
                <a:prstClr val="black"/>
              </a:buClr>
              <a:buFont typeface="Courier New" panose="02070309020205020404" pitchFamily="49" charset="0"/>
              <a:buChar char="o"/>
              <a:defRPr/>
            </a:pPr>
            <a:r>
              <a:rPr kumimoji="0" lang="de-DE" sz="1600" b="0" i="0" u="none" strike="noStrike" kern="1200" cap="none" spc="0" normalizeH="0" baseline="0" noProof="0" dirty="0" err="1">
                <a:ln>
                  <a:noFill/>
                </a:ln>
                <a:solidFill>
                  <a:prstClr val="black"/>
                </a:solidFill>
                <a:effectLst/>
                <a:uLnTx/>
                <a:uFillTx/>
                <a:latin typeface="Arial"/>
                <a:ea typeface="+mn-ea"/>
                <a:cs typeface="+mn-cs"/>
              </a:rPr>
              <a:t>Outlier</a:t>
            </a:r>
            <a:r>
              <a:rPr kumimoji="0" lang="de-DE" sz="1600" b="0" i="0" u="none" strike="noStrike" kern="1200" cap="none" spc="0" normalizeH="0" baseline="0" noProof="0" dirty="0">
                <a:ln>
                  <a:noFill/>
                </a:ln>
                <a:solidFill>
                  <a:prstClr val="black"/>
                </a:solidFill>
                <a:effectLst/>
                <a:uLnTx/>
                <a:uFillTx/>
                <a:latin typeface="Arial"/>
                <a:ea typeface="+mn-ea"/>
                <a:cs typeface="+mn-cs"/>
              </a:rPr>
              <a:t> in </a:t>
            </a:r>
            <a:r>
              <a:rPr kumimoji="0" lang="de-DE" sz="1600" b="1" i="0" u="none" strike="noStrike" kern="1200" cap="none" spc="0" normalizeH="0" baseline="0" noProof="0" dirty="0">
                <a:ln>
                  <a:noFill/>
                </a:ln>
                <a:solidFill>
                  <a:prstClr val="black"/>
                </a:solidFill>
                <a:effectLst/>
                <a:uLnTx/>
                <a:uFillTx/>
                <a:latin typeface="Arial"/>
                <a:ea typeface="+mn-ea"/>
                <a:cs typeface="+mn-cs"/>
              </a:rPr>
              <a:t>absolute </a:t>
            </a:r>
            <a:r>
              <a:rPr kumimoji="0" lang="de-DE" sz="1600" b="1" i="0" u="none" strike="noStrike" kern="1200" cap="none" spc="0" normalizeH="0" baseline="0" noProof="0" dirty="0" err="1">
                <a:ln>
                  <a:noFill/>
                </a:ln>
                <a:solidFill>
                  <a:prstClr val="black"/>
                </a:solidFill>
                <a:effectLst/>
                <a:uLnTx/>
                <a:uFillTx/>
                <a:latin typeface="Arial"/>
                <a:ea typeface="+mn-ea"/>
                <a:cs typeface="+mn-cs"/>
              </a:rPr>
              <a:t>volume</a:t>
            </a:r>
            <a:r>
              <a:rPr kumimoji="0" lang="de-DE" sz="1600" b="0" i="0" u="none" strike="noStrike" kern="1200" cap="none" spc="0" normalizeH="0" baseline="0" noProof="0" dirty="0">
                <a:ln>
                  <a:noFill/>
                </a:ln>
                <a:solidFill>
                  <a:prstClr val="black"/>
                </a:solidFill>
                <a:effectLst/>
                <a:uLnTx/>
                <a:uFillTx/>
                <a:latin typeface="Arial"/>
                <a:ea typeface="+mn-ea"/>
                <a:cs typeface="+mn-cs"/>
              </a:rPr>
              <a:t> (~27,000 </a:t>
            </a:r>
            <a:r>
              <a:rPr kumimoji="0" lang="de-DE" sz="1600" b="0" i="0" u="none" strike="noStrike" kern="1200" cap="none" spc="0" normalizeH="0" baseline="0" noProof="0" dirty="0" err="1">
                <a:ln>
                  <a:noFill/>
                </a:ln>
                <a:solidFill>
                  <a:prstClr val="black"/>
                </a:solidFill>
                <a:effectLst/>
                <a:uLnTx/>
                <a:uFillTx/>
                <a:latin typeface="Arial"/>
                <a:ea typeface="+mn-ea"/>
                <a:cs typeface="+mn-cs"/>
              </a:rPr>
              <a:t>rentals</a:t>
            </a:r>
            <a:endParaRPr lang="de-DE" sz="1600" dirty="0">
              <a:solidFill>
                <a:prstClr val="black"/>
              </a:solidFill>
              <a:latin typeface="Arial"/>
            </a:endParaRPr>
          </a:p>
          <a:p>
            <a:pPr marL="742950" lvl="1" indent="-285750">
              <a:buClr>
                <a:prstClr val="black"/>
              </a:buClr>
              <a:buFont typeface="Courier New" panose="02070309020205020404" pitchFamily="49" charset="0"/>
              <a:buChar char="o"/>
              <a:defRPr/>
            </a:pPr>
            <a:r>
              <a:rPr kumimoji="0" lang="en-US" sz="1600" b="0" i="0" u="none" strike="noStrike" kern="1200" cap="none" spc="0" normalizeH="0" baseline="0" noProof="0" dirty="0">
                <a:ln>
                  <a:noFill/>
                </a:ln>
                <a:solidFill>
                  <a:prstClr val="black"/>
                </a:solidFill>
                <a:effectLst/>
                <a:uLnTx/>
                <a:uFillTx/>
                <a:latin typeface="Arial"/>
                <a:ea typeface="+mn-ea"/>
                <a:cs typeface="+mn-cs"/>
              </a:rPr>
              <a:t>41.9% of </a:t>
            </a:r>
            <a:r>
              <a:rPr kumimoji="0" lang="en-US" sz="1600" b="1" i="0" u="none" strike="noStrike" kern="1200" cap="none" spc="0" normalizeH="0" baseline="0" noProof="0" dirty="0">
                <a:ln>
                  <a:noFill/>
                </a:ln>
                <a:solidFill>
                  <a:prstClr val="black"/>
                </a:solidFill>
                <a:effectLst/>
                <a:uLnTx/>
                <a:uFillTx/>
                <a:latin typeface="Arial"/>
                <a:ea typeface="+mn-ea"/>
                <a:cs typeface="+mn-cs"/>
              </a:rPr>
              <a:t>revenue</a:t>
            </a:r>
          </a:p>
          <a:p>
            <a:pPr marL="742950" lvl="1" indent="-285750">
              <a:buClr>
                <a:prstClr val="black"/>
              </a:buClr>
              <a:buFont typeface="Courier New" panose="02070309020205020404" pitchFamily="49" charset="0"/>
              <a:buChar char="o"/>
              <a:defRPr/>
            </a:pPr>
            <a:r>
              <a:rPr kumimoji="0" lang="en-US" sz="1600" b="0" i="0" u="none" strike="noStrike" kern="1200" cap="none" spc="0" normalizeH="0" baseline="0" noProof="0" dirty="0">
                <a:ln>
                  <a:noFill/>
                </a:ln>
                <a:solidFill>
                  <a:prstClr val="black"/>
                </a:solidFill>
                <a:effectLst/>
                <a:uLnTx/>
                <a:uFillTx/>
                <a:latin typeface="Arial"/>
                <a:ea typeface="+mn-ea"/>
                <a:cs typeface="+mn-cs"/>
              </a:rPr>
              <a:t>42.3% of </a:t>
            </a:r>
            <a:r>
              <a:rPr kumimoji="0" lang="en-US" sz="1600" b="1" i="0" u="none" strike="noStrike" kern="1200" cap="none" spc="0" normalizeH="0" baseline="0" noProof="0" dirty="0">
                <a:ln>
                  <a:noFill/>
                </a:ln>
                <a:solidFill>
                  <a:prstClr val="black"/>
                </a:solidFill>
                <a:effectLst/>
                <a:uLnTx/>
                <a:uFillTx/>
                <a:latin typeface="Arial"/>
                <a:ea typeface="+mn-ea"/>
                <a:cs typeface="+mn-cs"/>
              </a:rPr>
              <a:t>inventory</a:t>
            </a:r>
          </a:p>
          <a:p>
            <a:pPr marL="742950" lvl="1" indent="-285750">
              <a:buClr>
                <a:prstClr val="black"/>
              </a:buClr>
              <a:buFont typeface="Courier New" panose="02070309020205020404" pitchFamily="49" charset="0"/>
              <a:buChar char="o"/>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ROI</a:t>
            </a:r>
            <a:r>
              <a:rPr kumimoji="0" lang="en-US" sz="1600" b="0" i="0" u="none" strike="noStrike" kern="1200" cap="none" spc="0" normalizeH="0" baseline="0" noProof="0" dirty="0">
                <a:ln>
                  <a:noFill/>
                </a:ln>
                <a:solidFill>
                  <a:prstClr val="black"/>
                </a:solidFill>
                <a:effectLst/>
                <a:uLnTx/>
                <a:uFillTx/>
                <a:latin typeface="Arial"/>
                <a:ea typeface="+mn-ea"/>
                <a:cs typeface="+mn-cs"/>
              </a:rPr>
              <a:t> 2.76</a:t>
            </a:r>
          </a:p>
          <a:p>
            <a:pPr marL="742950" lvl="1" indent="-285750">
              <a:buClr>
                <a:prstClr val="black"/>
              </a:buClr>
              <a:buFont typeface="Courier New" panose="02070309020205020404" pitchFamily="49" charset="0"/>
              <a:buChar char="o"/>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Perfectly balanced </a:t>
            </a:r>
          </a:p>
        </p:txBody>
      </p:sp>
      <p:sp>
        <p:nvSpPr>
          <p:cNvPr id="10" name="TextBox 9">
            <a:extLst>
              <a:ext uri="{FF2B5EF4-FFF2-40B4-BE49-F238E27FC236}">
                <a16:creationId xmlns:a16="http://schemas.microsoft.com/office/drawing/2014/main" id="{1D79F8D8-E443-787C-D4DA-7A42ECFC8B36}"/>
              </a:ext>
            </a:extLst>
          </p:cNvPr>
          <p:cNvSpPr txBox="1"/>
          <p:nvPr/>
        </p:nvSpPr>
        <p:spPr>
          <a:xfrm>
            <a:off x="93604" y="782122"/>
            <a:ext cx="3377879" cy="5216813"/>
          </a:xfrm>
          <a:prstGeom prst="rect">
            <a:avLst/>
          </a:prstGeom>
          <a:noFill/>
        </p:spPr>
        <p:txBody>
          <a:bodyPr wrap="square">
            <a:spAutoFit/>
          </a:bodyPr>
          <a:lstStyle/>
          <a:p>
            <a:r>
              <a:rPr lang="en-US" sz="2200" b="1" i="1" u="sng" dirty="0"/>
              <a:t>Hidden White Space</a:t>
            </a:r>
          </a:p>
          <a:p>
            <a:endParaRPr lang="en-US" sz="600" b="1" i="1" dirty="0"/>
          </a:p>
          <a:p>
            <a:pPr marL="285750" indent="-285750">
              <a:buClr>
                <a:schemeClr val="tx1"/>
              </a:buClr>
              <a:buFont typeface="Wingdings" panose="05000000000000000000" pitchFamily="2" charset="2"/>
              <a:buChar char="§"/>
            </a:pPr>
            <a:r>
              <a:rPr lang="en-US" sz="1600" b="1" dirty="0">
                <a:solidFill>
                  <a:srgbClr val="1D76B3"/>
                </a:solidFill>
              </a:rPr>
              <a:t>Bags &amp; Accessories</a:t>
            </a:r>
            <a:r>
              <a:rPr lang="en-US" sz="1600" dirty="0"/>
              <a:t>: utilization rate 7.05 (71% above avg), revenue-per-item 10,139 NOK</a:t>
            </a:r>
          </a:p>
          <a:p>
            <a:pPr marL="285750" indent="-285750">
              <a:buClr>
                <a:schemeClr val="tx1"/>
              </a:buClr>
              <a:buFont typeface="Wingdings" panose="05000000000000000000" pitchFamily="2" charset="2"/>
              <a:buChar char="§"/>
            </a:pPr>
            <a:endParaRPr lang="en-US" sz="400" dirty="0"/>
          </a:p>
          <a:p>
            <a:pPr marL="742950" lvl="1" indent="-285750">
              <a:buFont typeface="Courier New" panose="02070309020205020404" pitchFamily="49" charset="0"/>
              <a:buChar char="o"/>
            </a:pPr>
            <a:r>
              <a:rPr lang="en-US" sz="1600" b="1" dirty="0"/>
              <a:t>Lowest ROI</a:t>
            </a:r>
            <a:r>
              <a:rPr lang="en-US" sz="1600" dirty="0"/>
              <a:t> (1.98): high acquisition cost makes this a capital-intensive growth lever, not an efficiency play </a:t>
            </a:r>
          </a:p>
          <a:p>
            <a:pPr marL="742950" lvl="1" indent="-285750">
              <a:buFont typeface="Courier New" panose="02070309020205020404" pitchFamily="49" charset="0"/>
              <a:buChar char="o"/>
            </a:pPr>
            <a:endParaRPr lang="en-US" sz="400" dirty="0"/>
          </a:p>
          <a:p>
            <a:pPr marL="742950" lvl="1" indent="-285750">
              <a:buFont typeface="Courier New" panose="02070309020205020404" pitchFamily="49" charset="0"/>
              <a:buChar char="o"/>
            </a:pPr>
            <a:r>
              <a:rPr lang="en-US" sz="1600" b="1" dirty="0"/>
              <a:t>Only 20% dead inventory</a:t>
            </a:r>
            <a:r>
              <a:rPr lang="en-US" sz="1600" dirty="0"/>
              <a:t>: supply is the binding constraint, not demand</a:t>
            </a:r>
          </a:p>
          <a:p>
            <a:pPr marL="285750" indent="-285750">
              <a:buFont typeface="Wingdings" panose="05000000000000000000" pitchFamily="2" charset="2"/>
              <a:buChar char="§"/>
            </a:pPr>
            <a:endParaRPr lang="en-US" sz="500" dirty="0"/>
          </a:p>
          <a:p>
            <a:pPr marL="285750" indent="-285750">
              <a:buClr>
                <a:schemeClr val="tx1"/>
              </a:buClr>
              <a:buFont typeface="Wingdings" panose="05000000000000000000" pitchFamily="2" charset="2"/>
              <a:buChar char="§"/>
            </a:pPr>
            <a:r>
              <a:rPr lang="en-US" sz="1600" b="1" dirty="0">
                <a:solidFill>
                  <a:srgbClr val="2CA02C"/>
                </a:solidFill>
              </a:rPr>
              <a:t>Jackets &amp; Coats</a:t>
            </a:r>
            <a:r>
              <a:rPr lang="en-US" sz="1600" dirty="0"/>
              <a:t>: The </a:t>
            </a:r>
            <a:r>
              <a:rPr lang="en-US" sz="1600" b="1" dirty="0"/>
              <a:t>Premium Anchor</a:t>
            </a:r>
            <a:r>
              <a:rPr lang="en-US" sz="1600" dirty="0"/>
              <a:t> commanding the highest median monthly price (1,800 NOK)</a:t>
            </a:r>
          </a:p>
          <a:p>
            <a:pPr marL="285750" indent="-285750">
              <a:buClr>
                <a:schemeClr val="tx1"/>
              </a:buClr>
              <a:buFont typeface="Wingdings" panose="05000000000000000000" pitchFamily="2" charset="2"/>
              <a:buChar char="§"/>
            </a:pPr>
            <a:endParaRPr lang="en-US" sz="400" dirty="0"/>
          </a:p>
          <a:p>
            <a:pPr marL="742950" lvl="1" indent="-285750">
              <a:buClr>
                <a:schemeClr val="tx1"/>
              </a:buClr>
              <a:buFont typeface="Courier New" panose="02070309020205020404" pitchFamily="49" charset="0"/>
              <a:buChar char="o"/>
            </a:pPr>
            <a:r>
              <a:rPr lang="en-US" sz="1600" b="1" dirty="0"/>
              <a:t>Dead Inventory</a:t>
            </a:r>
            <a:r>
              <a:rPr lang="en-US" sz="1600" dirty="0"/>
              <a:t>: never-rented rates as high as 36.7%</a:t>
            </a:r>
          </a:p>
        </p:txBody>
      </p:sp>
      <p:sp>
        <p:nvSpPr>
          <p:cNvPr id="12" name="Oval 11">
            <a:extLst>
              <a:ext uri="{FF2B5EF4-FFF2-40B4-BE49-F238E27FC236}">
                <a16:creationId xmlns:a16="http://schemas.microsoft.com/office/drawing/2014/main" id="{C5EBB814-48B5-8EB5-9321-FBE78A43D9DE}"/>
              </a:ext>
            </a:extLst>
          </p:cNvPr>
          <p:cNvSpPr/>
          <p:nvPr/>
        </p:nvSpPr>
        <p:spPr>
          <a:xfrm>
            <a:off x="4020961" y="802176"/>
            <a:ext cx="1701478" cy="90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Connector: Curved 14">
            <a:extLst>
              <a:ext uri="{FF2B5EF4-FFF2-40B4-BE49-F238E27FC236}">
                <a16:creationId xmlns:a16="http://schemas.microsoft.com/office/drawing/2014/main" id="{B3BFFAF7-EBAE-9D4A-BA88-D5620AD43F33}"/>
              </a:ext>
            </a:extLst>
          </p:cNvPr>
          <p:cNvCxnSpPr>
            <a:stCxn id="12" idx="1"/>
          </p:cNvCxnSpPr>
          <p:nvPr/>
        </p:nvCxnSpPr>
        <p:spPr>
          <a:xfrm rot="16200000" flipH="1" flipV="1">
            <a:off x="3794250" y="461661"/>
            <a:ext cx="3571" cy="948203"/>
          </a:xfrm>
          <a:prstGeom prst="curvedConnector4">
            <a:avLst>
              <a:gd name="adj1" fmla="val -2512013"/>
              <a:gd name="adj2" fmla="val 9365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7A452F0-42C2-5554-8711-EB288B626D51}"/>
              </a:ext>
            </a:extLst>
          </p:cNvPr>
          <p:cNvSpPr/>
          <p:nvPr/>
        </p:nvSpPr>
        <p:spPr>
          <a:xfrm>
            <a:off x="8274978" y="2236053"/>
            <a:ext cx="833378" cy="645376"/>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9F999A3C-E1D8-C60F-C496-1F25CBA0BE94}"/>
              </a:ext>
            </a:extLst>
          </p:cNvPr>
          <p:cNvCxnSpPr>
            <a:cxnSpLocks/>
            <a:stCxn id="18" idx="0"/>
          </p:cNvCxnSpPr>
          <p:nvPr/>
        </p:nvCxnSpPr>
        <p:spPr>
          <a:xfrm flipV="1">
            <a:off x="8691667" y="1585732"/>
            <a:ext cx="532435" cy="6503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DC3489B-AE83-6956-E663-CE24D9876C1C}"/>
              </a:ext>
            </a:extLst>
          </p:cNvPr>
          <p:cNvSpPr/>
          <p:nvPr/>
        </p:nvSpPr>
        <p:spPr>
          <a:xfrm rot="19153477">
            <a:off x="4820358" y="2907596"/>
            <a:ext cx="1010557" cy="12171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08A53EF-5E76-30D9-FB36-9C06DAB1F3B9}"/>
              </a:ext>
            </a:extLst>
          </p:cNvPr>
          <p:cNvSpPr txBox="1"/>
          <p:nvPr/>
        </p:nvSpPr>
        <p:spPr>
          <a:xfrm>
            <a:off x="7511051" y="4506219"/>
            <a:ext cx="4217043" cy="17389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1" u="sng" strike="noStrike" kern="1200" cap="none" spc="0" normalizeH="0" baseline="0" noProof="0" dirty="0">
                <a:ln>
                  <a:noFill/>
                </a:ln>
                <a:solidFill>
                  <a:prstClr val="black"/>
                </a:solidFill>
                <a:effectLst/>
                <a:uLnTx/>
                <a:uFillTx/>
                <a:latin typeface="Arial"/>
                <a:ea typeface="+mn-ea"/>
                <a:cs typeface="+mn-cs"/>
              </a:rPr>
              <a:t>Capital Workhorses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1" i="1" u="none" strike="noStrike" kern="1200" cap="none" spc="0" normalizeH="0" baseline="0" noProof="0" dirty="0">
              <a:ln>
                <a:noFill/>
              </a:ln>
              <a:solidFill>
                <a:prstClr val="black"/>
              </a:solidFill>
              <a:effectLst/>
              <a:uLnTx/>
              <a:uFillTx/>
              <a:latin typeface="Arial"/>
              <a:ea typeface="+mn-ea"/>
              <a:cs typeface="+mn-cs"/>
            </a:endParaRPr>
          </a:p>
          <a:p>
            <a:pPr marL="285750" lvl="0" indent="-285750">
              <a:buClr>
                <a:prstClr val="black"/>
              </a:buClr>
              <a:buFont typeface="Wingdings" panose="05000000000000000000" pitchFamily="2" charset="2"/>
              <a:buChar char="§"/>
              <a:defRPr/>
            </a:pPr>
            <a:r>
              <a:rPr kumimoji="0" lang="en-US" sz="1600" b="1" i="0" u="none" strike="noStrike" kern="1200" cap="none" spc="0" normalizeH="0" baseline="0" noProof="0" dirty="0">
                <a:ln>
                  <a:noFill/>
                </a:ln>
                <a:solidFill>
                  <a:srgbClr val="E999D1"/>
                </a:solidFill>
                <a:effectLst/>
                <a:uLnTx/>
                <a:uFillTx/>
                <a:latin typeface="Arial"/>
                <a:ea typeface="+mn-ea"/>
                <a:cs typeface="+mn-cs"/>
              </a:rPr>
              <a:t>Tops &amp; Blouses</a:t>
            </a:r>
            <a:r>
              <a:rPr kumimoji="0" lang="en-US" sz="1600" b="0" i="0" u="none" strike="noStrike" kern="1200" cap="none" spc="0" normalizeH="0" baseline="0" noProof="0" dirty="0">
                <a:ln>
                  <a:noFill/>
                </a:ln>
                <a:solidFill>
                  <a:prstClr val="black"/>
                </a:solidFill>
                <a:effectLst/>
                <a:uLnTx/>
                <a:uFillTx/>
                <a:latin typeface="Arial"/>
                <a:ea typeface="+mn-ea"/>
                <a:cs typeface="+mn-cs"/>
              </a:rPr>
              <a:t> (ROI 3.79) and </a:t>
            </a:r>
            <a:r>
              <a:rPr kumimoji="0" lang="en-US" sz="1600" b="1" i="0" u="none" strike="noStrike" kern="1200" cap="none" spc="0" normalizeH="0" baseline="0" noProof="0" dirty="0">
                <a:ln>
                  <a:noFill/>
                </a:ln>
                <a:solidFill>
                  <a:srgbClr val="82483C"/>
                </a:solidFill>
                <a:effectLst/>
                <a:uLnTx/>
                <a:uFillTx/>
                <a:latin typeface="Arial"/>
                <a:ea typeface="+mn-ea"/>
                <a:cs typeface="+mn-cs"/>
              </a:rPr>
              <a:t>Sweaters &amp; Knitwear</a:t>
            </a:r>
            <a:r>
              <a:rPr kumimoji="0" lang="en-US" sz="1600" b="0" i="0" u="none" strike="noStrike" kern="1200" cap="none" spc="0" normalizeH="0" baseline="0" noProof="0" dirty="0">
                <a:ln>
                  <a:noFill/>
                </a:ln>
                <a:solidFill>
                  <a:prstClr val="black"/>
                </a:solidFill>
                <a:effectLst/>
                <a:uLnTx/>
                <a:uFillTx/>
                <a:latin typeface="Arial"/>
                <a:ea typeface="+mn-ea"/>
                <a:cs typeface="+mn-cs"/>
              </a:rPr>
              <a:t> (ROI 3.59)</a:t>
            </a:r>
          </a:p>
          <a:p>
            <a:pPr marL="742950" lvl="1" indent="-285750">
              <a:buClr>
                <a:prstClr val="black"/>
              </a:buClr>
              <a:buFont typeface="Courier New" panose="02070309020205020404" pitchFamily="49" charset="0"/>
              <a:buChar char="o"/>
              <a:defRPr/>
            </a:pPr>
            <a:r>
              <a:rPr kumimoji="0" lang="en-US" sz="1600" b="0" i="0" u="none" strike="noStrike" kern="1200" cap="none" spc="0" normalizeH="0" baseline="0" noProof="0" dirty="0">
                <a:ln>
                  <a:noFill/>
                </a:ln>
                <a:solidFill>
                  <a:prstClr val="black"/>
                </a:solidFill>
                <a:effectLst/>
                <a:uLnTx/>
                <a:uFillTx/>
                <a:latin typeface="Arial"/>
                <a:ea typeface="+mn-ea"/>
                <a:cs typeface="+mn-cs"/>
              </a:rPr>
              <a:t>l</a:t>
            </a:r>
            <a:r>
              <a:rPr lang="en-US" sz="1600" dirty="0">
                <a:solidFill>
                  <a:prstClr val="black"/>
                </a:solidFill>
              </a:rPr>
              <a:t>ow cost-base and high turnover allow these to recover their cost nearly 4x over.</a:t>
            </a:r>
            <a:r>
              <a:rPr kumimoji="0" lang="en-US" sz="1600" b="0" i="0" u="none" strike="noStrike" kern="1200" cap="none" spc="0" normalizeH="0" baseline="0" noProof="0" dirty="0">
                <a:ln>
                  <a:noFill/>
                </a:ln>
                <a:solidFill>
                  <a:prstClr val="black"/>
                </a:solidFill>
                <a:effectLst/>
                <a:uLnTx/>
                <a:uFillTx/>
                <a:latin typeface="Arial"/>
                <a:ea typeface="+mn-ea"/>
                <a:cs typeface="+mn-cs"/>
              </a:rPr>
              <a:t> </a:t>
            </a:r>
          </a:p>
        </p:txBody>
      </p:sp>
      <p:cxnSp>
        <p:nvCxnSpPr>
          <p:cNvPr id="38" name="Straight Arrow Connector 37">
            <a:extLst>
              <a:ext uri="{FF2B5EF4-FFF2-40B4-BE49-F238E27FC236}">
                <a16:creationId xmlns:a16="http://schemas.microsoft.com/office/drawing/2014/main" id="{9FBC40F0-1111-7D3D-78B9-D6145B85420E}"/>
              </a:ext>
            </a:extLst>
          </p:cNvPr>
          <p:cNvCxnSpPr>
            <a:cxnSpLocks/>
          </p:cNvCxnSpPr>
          <p:nvPr/>
        </p:nvCxnSpPr>
        <p:spPr>
          <a:xfrm>
            <a:off x="5819775" y="3851910"/>
            <a:ext cx="1657473" cy="8000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8F9F06D-1B59-7EDF-EC1A-F58C167556A3}"/>
              </a:ext>
            </a:extLst>
          </p:cNvPr>
          <p:cNvSpPr txBox="1"/>
          <p:nvPr/>
        </p:nvSpPr>
        <p:spPr>
          <a:xfrm>
            <a:off x="3796036" y="4762091"/>
            <a:ext cx="2812545" cy="1846659"/>
          </a:xfrm>
          <a:prstGeom prst="rect">
            <a:avLst/>
          </a:prstGeom>
          <a:noFill/>
        </p:spPr>
        <p:txBody>
          <a:bodyPr wrap="square">
            <a:spAutoFit/>
          </a:bodyPr>
          <a:lstStyle/>
          <a:p>
            <a:r>
              <a:rPr lang="en-US" sz="2200" b="1" i="1" u="sng" dirty="0"/>
              <a:t>Structural underperformers</a:t>
            </a:r>
          </a:p>
          <a:p>
            <a:endParaRPr lang="en-US" sz="600" b="1" i="1" dirty="0"/>
          </a:p>
          <a:p>
            <a:pPr marL="285750" indent="-285750">
              <a:buClr>
                <a:schemeClr val="tx1"/>
              </a:buClr>
              <a:buFont typeface="Wingdings" panose="05000000000000000000" pitchFamily="2" charset="2"/>
              <a:buChar char="§"/>
            </a:pPr>
            <a:r>
              <a:rPr lang="en-US" sz="1600" b="1" dirty="0">
                <a:solidFill>
                  <a:srgbClr val="7A7A7A"/>
                </a:solidFill>
              </a:rPr>
              <a:t>Trousers &amp; Skirts</a:t>
            </a:r>
            <a:r>
              <a:rPr lang="en-US" sz="1600" dirty="0"/>
              <a:t>:16% of inventory, 11% of revenue, never-rented rates up to 35.8%</a:t>
            </a:r>
          </a:p>
        </p:txBody>
      </p:sp>
      <p:sp>
        <p:nvSpPr>
          <p:cNvPr id="47" name="Oval 46">
            <a:extLst>
              <a:ext uri="{FF2B5EF4-FFF2-40B4-BE49-F238E27FC236}">
                <a16:creationId xmlns:a16="http://schemas.microsoft.com/office/drawing/2014/main" id="{0E5F1541-15DB-7424-73A3-5C427BCD06B6}"/>
              </a:ext>
            </a:extLst>
          </p:cNvPr>
          <p:cNvSpPr/>
          <p:nvPr/>
        </p:nvSpPr>
        <p:spPr>
          <a:xfrm>
            <a:off x="4386849" y="3104312"/>
            <a:ext cx="368031" cy="41199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83FB2521-4453-CEEE-F140-5FA2EA27845C}"/>
              </a:ext>
            </a:extLst>
          </p:cNvPr>
          <p:cNvCxnSpPr>
            <a:stCxn id="47" idx="4"/>
          </p:cNvCxnSpPr>
          <p:nvPr/>
        </p:nvCxnSpPr>
        <p:spPr>
          <a:xfrm flipH="1">
            <a:off x="4386849" y="3516311"/>
            <a:ext cx="184016" cy="129952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1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087D-7537-4179-1CFE-342CCC86243A}"/>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AD2E5223-6089-2258-4CB6-2629BB123D5F}"/>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3473A28E-DA5A-1516-6BAF-9771CC07EE83}"/>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16D42F55-3ABF-E466-9F50-FC1F03A58B05}"/>
              </a:ext>
            </a:extLst>
          </p:cNvPr>
          <p:cNvSpPr>
            <a:spLocks noGrp="1"/>
          </p:cNvSpPr>
          <p:nvPr>
            <p:ph type="sldNum" sz="quarter" idx="12"/>
          </p:nvPr>
        </p:nvSpPr>
        <p:spPr/>
        <p:txBody>
          <a:bodyPr/>
          <a:lstStyle/>
          <a:p>
            <a:fld id="{5ACA52AF-F19D-405C-AD5F-7D94B96A5CC3}" type="slidenum">
              <a:rPr lang="de-CH" noProof="0" smtClean="0"/>
              <a:t>6</a:t>
            </a:fld>
            <a:endParaRPr lang="de-CH" noProof="0"/>
          </a:p>
        </p:txBody>
      </p:sp>
      <p:sp>
        <p:nvSpPr>
          <p:cNvPr id="25" name="Titel 1">
            <a:extLst>
              <a:ext uri="{FF2B5EF4-FFF2-40B4-BE49-F238E27FC236}">
                <a16:creationId xmlns:a16="http://schemas.microsoft.com/office/drawing/2014/main" id="{E921A688-4E33-3968-7191-F1FD6EA191B0}"/>
              </a:ext>
            </a:extLst>
          </p:cNvPr>
          <p:cNvSpPr txBox="1">
            <a:spLocks/>
          </p:cNvSpPr>
          <p:nvPr/>
        </p:nvSpPr>
        <p:spPr>
          <a:xfrm>
            <a:off x="409260" y="185398"/>
            <a:ext cx="10728325" cy="90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dirty="0"/>
              <a:t>Customer Affinity: style diversity predicts loyalty</a:t>
            </a:r>
          </a:p>
        </p:txBody>
      </p:sp>
      <p:pic>
        <p:nvPicPr>
          <p:cNvPr id="8" name="Picture 7">
            <a:extLst>
              <a:ext uri="{FF2B5EF4-FFF2-40B4-BE49-F238E27FC236}">
                <a16:creationId xmlns:a16="http://schemas.microsoft.com/office/drawing/2014/main" id="{34BD9E8B-44DA-ED0C-1DAC-85C0C8082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64" y="809018"/>
            <a:ext cx="6944396" cy="3445915"/>
          </a:xfrm>
          <a:prstGeom prst="rect">
            <a:avLst/>
          </a:prstGeom>
        </p:spPr>
      </p:pic>
      <p:sp>
        <p:nvSpPr>
          <p:cNvPr id="13" name="TextBox 12">
            <a:extLst>
              <a:ext uri="{FF2B5EF4-FFF2-40B4-BE49-F238E27FC236}">
                <a16:creationId xmlns:a16="http://schemas.microsoft.com/office/drawing/2014/main" id="{BBAF5380-3EE1-9A6A-E326-F00DEC6F158B}"/>
              </a:ext>
            </a:extLst>
          </p:cNvPr>
          <p:cNvSpPr txBox="1"/>
          <p:nvPr/>
        </p:nvSpPr>
        <p:spPr>
          <a:xfrm>
            <a:off x="7274561" y="614823"/>
            <a:ext cx="4917440" cy="3439403"/>
          </a:xfrm>
          <a:prstGeom prst="rect">
            <a:avLst/>
          </a:prstGeom>
          <a:noFill/>
        </p:spPr>
        <p:txBody>
          <a:bodyPr wrap="square" rtlCol="0">
            <a:spAutoFit/>
          </a:bodyPr>
          <a:lstStyle/>
          <a:p>
            <a:pPr marL="285750" indent="-285750">
              <a:buClr>
                <a:schemeClr val="tx1"/>
              </a:buClr>
              <a:buFont typeface="Wingdings" panose="05000000000000000000" pitchFamily="2" charset="2"/>
              <a:buChar char="Ø"/>
            </a:pPr>
            <a:r>
              <a:rPr lang="en-US" b="1" dirty="0">
                <a:solidFill>
                  <a:srgbClr val="66C2A5"/>
                </a:solidFill>
              </a:rPr>
              <a:t>Loyal</a:t>
            </a:r>
            <a:r>
              <a:rPr lang="en-US" dirty="0"/>
              <a:t> and </a:t>
            </a:r>
            <a:r>
              <a:rPr lang="en-US" b="1" dirty="0">
                <a:solidFill>
                  <a:srgbClr val="A6D854"/>
                </a:solidFill>
              </a:rPr>
              <a:t>Dormant</a:t>
            </a:r>
            <a:r>
              <a:rPr lang="en-US" dirty="0"/>
              <a:t> customers look </a:t>
            </a:r>
            <a:r>
              <a:rPr lang="en-US" b="1" dirty="0"/>
              <a:t>nearly identical</a:t>
            </a:r>
            <a:r>
              <a:rPr lang="en-US" dirty="0"/>
              <a:t> in style preference: ~39% Dresses, ~16% Jackets, ~15% Tops, ~13% Knitwear. Overall a broad engagement across 5+ categories </a:t>
            </a:r>
          </a:p>
          <a:p>
            <a:pPr marL="285750" indent="-285750">
              <a:buClr>
                <a:schemeClr val="tx1"/>
              </a:buClr>
              <a:buFont typeface="Wingdings" panose="05000000000000000000" pitchFamily="2" charset="2"/>
              <a:buChar char="Ø"/>
            </a:pPr>
            <a:endParaRPr lang="en-US" sz="700" dirty="0"/>
          </a:p>
          <a:p>
            <a:pPr marL="285750" indent="-285750">
              <a:buClr>
                <a:schemeClr val="tx1"/>
              </a:buClr>
              <a:buFont typeface="Wingdings" panose="05000000000000000000" pitchFamily="2" charset="2"/>
              <a:buChar char="Ø"/>
            </a:pPr>
            <a:r>
              <a:rPr lang="en-US" b="1" dirty="0">
                <a:solidFill>
                  <a:srgbClr val="B1B1B1"/>
                </a:solidFill>
              </a:rPr>
              <a:t>At-Risk</a:t>
            </a:r>
            <a:r>
              <a:rPr lang="en-US" dirty="0"/>
              <a:t> customers: </a:t>
            </a:r>
            <a:r>
              <a:rPr lang="en-US" b="1" dirty="0"/>
              <a:t>79% of spending concentrated in a single category </a:t>
            </a:r>
            <a:r>
              <a:rPr lang="en-US" dirty="0"/>
              <a:t>(Dresses)</a:t>
            </a:r>
          </a:p>
          <a:p>
            <a:endParaRPr lang="en-US" sz="900" dirty="0"/>
          </a:p>
          <a:p>
            <a:r>
              <a:rPr lang="en-US" b="1" i="1" u="sng" dirty="0"/>
              <a:t>Interpretation</a:t>
            </a:r>
            <a:r>
              <a:rPr lang="en-US" dirty="0"/>
              <a:t>: </a:t>
            </a:r>
            <a:r>
              <a:rPr lang="en-US" b="1" dirty="0">
                <a:solidFill>
                  <a:srgbClr val="B1B1B1"/>
                </a:solidFill>
              </a:rPr>
              <a:t>At-Risk</a:t>
            </a:r>
            <a:r>
              <a:rPr lang="en-US" dirty="0"/>
              <a:t> users come to </a:t>
            </a:r>
            <a:r>
              <a:rPr lang="en-US" dirty="0" err="1"/>
              <a:t>Vibrent</a:t>
            </a:r>
            <a:r>
              <a:rPr lang="en-US" dirty="0"/>
              <a:t> for a </a:t>
            </a:r>
            <a:r>
              <a:rPr lang="en-US" b="1" dirty="0"/>
              <a:t>one-time occasion</a:t>
            </a:r>
            <a:r>
              <a:rPr lang="en-US" dirty="0"/>
              <a:t> (a wedding, a gala), solve that need, then churn</a:t>
            </a:r>
          </a:p>
        </p:txBody>
      </p:sp>
      <p:sp>
        <p:nvSpPr>
          <p:cNvPr id="16" name="TextBox 15">
            <a:extLst>
              <a:ext uri="{FF2B5EF4-FFF2-40B4-BE49-F238E27FC236}">
                <a16:creationId xmlns:a16="http://schemas.microsoft.com/office/drawing/2014/main" id="{2FBD0106-54BC-71EB-9A35-8B58F31FB528}"/>
              </a:ext>
            </a:extLst>
          </p:cNvPr>
          <p:cNvSpPr txBox="1"/>
          <p:nvPr/>
        </p:nvSpPr>
        <p:spPr>
          <a:xfrm>
            <a:off x="8471424" y="4456509"/>
            <a:ext cx="3605940" cy="2031325"/>
          </a:xfrm>
          <a:prstGeom prst="rect">
            <a:avLst/>
          </a:prstGeom>
          <a:noFill/>
        </p:spPr>
        <p:txBody>
          <a:bodyPr wrap="square" rtlCol="0">
            <a:spAutoFit/>
          </a:bodyPr>
          <a:lstStyle/>
          <a:p>
            <a:r>
              <a:rPr lang="en-US" dirty="0"/>
              <a:t>The model derived the full behavioral pattern from just a few targeted features, confirming that engagement with specific catalog anchors, more than just broad diversity metrics, is the decisive predictor of retention</a:t>
            </a:r>
            <a:endParaRPr lang="en-US" b="1" dirty="0"/>
          </a:p>
        </p:txBody>
      </p:sp>
      <p:sp>
        <p:nvSpPr>
          <p:cNvPr id="17" name="TextBox 16">
            <a:extLst>
              <a:ext uri="{FF2B5EF4-FFF2-40B4-BE49-F238E27FC236}">
                <a16:creationId xmlns:a16="http://schemas.microsoft.com/office/drawing/2014/main" id="{517F1B99-D65F-B46B-3A16-F68A555568BB}"/>
              </a:ext>
            </a:extLst>
          </p:cNvPr>
          <p:cNvSpPr txBox="1"/>
          <p:nvPr/>
        </p:nvSpPr>
        <p:spPr>
          <a:xfrm>
            <a:off x="114636" y="4299141"/>
            <a:ext cx="3847764" cy="1923604"/>
          </a:xfrm>
          <a:prstGeom prst="rect">
            <a:avLst/>
          </a:prstGeom>
          <a:noFill/>
        </p:spPr>
        <p:txBody>
          <a:bodyPr wrap="square" rtlCol="0">
            <a:spAutoFit/>
          </a:bodyPr>
          <a:lstStyle/>
          <a:p>
            <a:r>
              <a:rPr lang="en-US" b="1" dirty="0"/>
              <a:t>Why this matters for modeling</a:t>
            </a:r>
            <a:endParaRPr lang="en-US" sz="2000" b="1" dirty="0"/>
          </a:p>
          <a:p>
            <a:endParaRPr lang="en-US" sz="500" b="1" dirty="0"/>
          </a:p>
          <a:p>
            <a:r>
              <a:rPr lang="en-US" sz="1600" dirty="0"/>
              <a:t>This behavioral insight motivated the use of Style Entropy and Cluster Affinity features: Style Entropy to capture overall diversity, individual Cluster Affinities to capture engagement with specific product categories</a:t>
            </a:r>
          </a:p>
        </p:txBody>
      </p:sp>
      <p:sp>
        <p:nvSpPr>
          <p:cNvPr id="19" name="TextBox 18">
            <a:extLst>
              <a:ext uri="{FF2B5EF4-FFF2-40B4-BE49-F238E27FC236}">
                <a16:creationId xmlns:a16="http://schemas.microsoft.com/office/drawing/2014/main" id="{E6CC9AA8-470C-4A26-52BB-B389C2499582}"/>
              </a:ext>
            </a:extLst>
          </p:cNvPr>
          <p:cNvSpPr txBox="1"/>
          <p:nvPr/>
        </p:nvSpPr>
        <p:spPr>
          <a:xfrm>
            <a:off x="4358296" y="4254933"/>
            <a:ext cx="3383537" cy="2446824"/>
          </a:xfrm>
          <a:prstGeom prst="rect">
            <a:avLst/>
          </a:prstGeom>
          <a:noFill/>
        </p:spPr>
        <p:txBody>
          <a:bodyPr wrap="square" rtlCol="0">
            <a:spAutoFit/>
          </a:bodyPr>
          <a:lstStyle/>
          <a:p>
            <a:r>
              <a:rPr lang="en-US" b="1" dirty="0"/>
              <a:t>SFS eliminated Style Entropy as redundant</a:t>
            </a:r>
          </a:p>
          <a:p>
            <a:endParaRPr lang="en-US" sz="500" dirty="0"/>
          </a:p>
          <a:p>
            <a:r>
              <a:rPr lang="en-US" sz="1600" dirty="0"/>
              <a:t>Once specific Cluster Affinities were included, the diversity signal was already captured. Not all affinities were needed either: only the economic anchors identified in the business profiling (Bags, Tops, Dresses, Jackets)</a:t>
            </a:r>
          </a:p>
        </p:txBody>
      </p:sp>
      <p:cxnSp>
        <p:nvCxnSpPr>
          <p:cNvPr id="24" name="Straight Arrow Connector 23">
            <a:extLst>
              <a:ext uri="{FF2B5EF4-FFF2-40B4-BE49-F238E27FC236}">
                <a16:creationId xmlns:a16="http://schemas.microsoft.com/office/drawing/2014/main" id="{3774F50B-D184-AB94-A086-3EC2432F24BF}"/>
              </a:ext>
            </a:extLst>
          </p:cNvPr>
          <p:cNvCxnSpPr/>
          <p:nvPr/>
        </p:nvCxnSpPr>
        <p:spPr>
          <a:xfrm>
            <a:off x="3547641" y="5472172"/>
            <a:ext cx="73953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4C3EA91-358E-CEDC-1C85-F08F1632062D}"/>
              </a:ext>
            </a:extLst>
          </p:cNvPr>
          <p:cNvCxnSpPr/>
          <p:nvPr/>
        </p:nvCxnSpPr>
        <p:spPr>
          <a:xfrm>
            <a:off x="7731889" y="5632627"/>
            <a:ext cx="73953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669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90E8-D6F4-8EB9-7944-C940CC034C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E5E5FD5-7C7A-5D8B-B864-6B4B561EAF6A}"/>
              </a:ext>
            </a:extLst>
          </p:cNvPr>
          <p:cNvSpPr>
            <a:spLocks noGrp="1"/>
          </p:cNvSpPr>
          <p:nvPr>
            <p:ph type="title"/>
          </p:nvPr>
        </p:nvSpPr>
        <p:spPr/>
        <p:txBody>
          <a:bodyPr/>
          <a:lstStyle/>
          <a:p>
            <a:r>
              <a:rPr lang="de-DE" dirty="0"/>
              <a:t>The Baseline - </a:t>
            </a:r>
            <a:r>
              <a:rPr lang="en-US" dirty="0"/>
              <a:t>Comparing RFM-based Models</a:t>
            </a:r>
          </a:p>
        </p:txBody>
      </p:sp>
      <p:sp>
        <p:nvSpPr>
          <p:cNvPr id="4" name="Datumsplatzhalter 3">
            <a:extLst>
              <a:ext uri="{FF2B5EF4-FFF2-40B4-BE49-F238E27FC236}">
                <a16:creationId xmlns:a16="http://schemas.microsoft.com/office/drawing/2014/main" id="{03C7CEAA-E7E1-33D0-A27C-755DA6D64D17}"/>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25F40C72-0A4C-15E0-04ED-E35CDAC951A2}"/>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6CB852D8-B209-4738-E27C-04B18571254A}"/>
              </a:ext>
            </a:extLst>
          </p:cNvPr>
          <p:cNvSpPr>
            <a:spLocks noGrp="1"/>
          </p:cNvSpPr>
          <p:nvPr>
            <p:ph type="sldNum" sz="quarter" idx="12"/>
          </p:nvPr>
        </p:nvSpPr>
        <p:spPr/>
        <p:txBody>
          <a:bodyPr/>
          <a:lstStyle/>
          <a:p>
            <a:fld id="{5ACA52AF-F19D-405C-AD5F-7D94B96A5CC3}" type="slidenum">
              <a:rPr lang="de-CH" noProof="0" smtClean="0"/>
              <a:t>7</a:t>
            </a:fld>
            <a:endParaRPr lang="de-CH" noProof="0"/>
          </a:p>
        </p:txBody>
      </p:sp>
      <p:sp>
        <p:nvSpPr>
          <p:cNvPr id="10" name="Inhaltsplatzhalter 9">
            <a:extLst>
              <a:ext uri="{FF2B5EF4-FFF2-40B4-BE49-F238E27FC236}">
                <a16:creationId xmlns:a16="http://schemas.microsoft.com/office/drawing/2014/main" id="{3A31A4A3-6617-7FB5-F944-46ABCB3B37EE}"/>
              </a:ext>
            </a:extLst>
          </p:cNvPr>
          <p:cNvSpPr>
            <a:spLocks noGrp="1"/>
          </p:cNvSpPr>
          <p:nvPr>
            <p:ph idx="1"/>
          </p:nvPr>
        </p:nvSpPr>
        <p:spPr>
          <a:xfrm>
            <a:off x="7779573" y="4249919"/>
            <a:ext cx="3975720" cy="1402541"/>
          </a:xfrm>
          <a:solidFill>
            <a:srgbClr val="FF7D7D"/>
          </a:solidFill>
          <a:ln w="38100">
            <a:solidFill>
              <a:srgbClr val="FF0000"/>
            </a:solidFill>
          </a:ln>
        </p:spPr>
        <p:txBody>
          <a:bodyPr anchor="ctr"/>
          <a:lstStyle/>
          <a:p>
            <a:pPr marL="182563" indent="0">
              <a:buNone/>
            </a:pPr>
            <a:r>
              <a:rPr lang="de-DE" dirty="0"/>
              <a:t>Problem: 2 different </a:t>
            </a:r>
            <a:r>
              <a:rPr lang="de-DE" dirty="0" err="1"/>
              <a:t>datasets</a:t>
            </a:r>
            <a:r>
              <a:rPr lang="de-DE" dirty="0"/>
              <a:t> used</a:t>
            </a:r>
          </a:p>
          <a:p>
            <a:pPr lvl="1"/>
            <a:r>
              <a:rPr lang="de-DE" dirty="0"/>
              <a:t>RFM Ridge &amp; </a:t>
            </a:r>
            <a:r>
              <a:rPr lang="de-DE" dirty="0" err="1"/>
              <a:t>LightGBM</a:t>
            </a:r>
            <a:r>
              <a:rPr lang="de-DE" dirty="0"/>
              <a:t> trained on post-2020 </a:t>
            </a:r>
            <a:r>
              <a:rPr lang="de-DE" dirty="0" err="1"/>
              <a:t>data</a:t>
            </a:r>
            <a:endParaRPr lang="de-DE" dirty="0"/>
          </a:p>
          <a:p>
            <a:pPr lvl="1"/>
            <a:r>
              <a:rPr lang="de-DE" dirty="0" err="1"/>
              <a:t>CLVTools</a:t>
            </a:r>
            <a:r>
              <a:rPr lang="de-DE" dirty="0"/>
              <a:t> on </a:t>
            </a:r>
            <a:r>
              <a:rPr lang="de-DE" dirty="0" err="1"/>
              <a:t>whole</a:t>
            </a:r>
            <a:r>
              <a:rPr lang="de-DE" dirty="0"/>
              <a:t> </a:t>
            </a:r>
            <a:r>
              <a:rPr lang="de-DE" dirty="0" err="1"/>
              <a:t>dataset</a:t>
            </a:r>
            <a:r>
              <a:rPr lang="de-DE" dirty="0"/>
              <a:t> </a:t>
            </a:r>
            <a:endParaRPr lang="en-US" dirty="0"/>
          </a:p>
        </p:txBody>
      </p:sp>
      <p:pic>
        <p:nvPicPr>
          <p:cNvPr id="14" name="Grafik 13">
            <a:extLst>
              <a:ext uri="{FF2B5EF4-FFF2-40B4-BE49-F238E27FC236}">
                <a16:creationId xmlns:a16="http://schemas.microsoft.com/office/drawing/2014/main" id="{4F144D59-303A-7D16-AC81-8EDD1A3A5B2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5146" y="1600765"/>
            <a:ext cx="6826280" cy="4051695"/>
          </a:xfrm>
          <a:prstGeom prst="rect">
            <a:avLst/>
          </a:prstGeom>
        </p:spPr>
      </p:pic>
      <p:sp>
        <p:nvSpPr>
          <p:cNvPr id="3" name="Inhaltsplatzhalter 9">
            <a:extLst>
              <a:ext uri="{FF2B5EF4-FFF2-40B4-BE49-F238E27FC236}">
                <a16:creationId xmlns:a16="http://schemas.microsoft.com/office/drawing/2014/main" id="{19AACD25-75AC-77FA-3B17-52C76744CAAA}"/>
              </a:ext>
            </a:extLst>
          </p:cNvPr>
          <p:cNvSpPr txBox="1">
            <a:spLocks/>
          </p:cNvSpPr>
          <p:nvPr/>
        </p:nvSpPr>
        <p:spPr>
          <a:xfrm>
            <a:off x="7779573" y="1737586"/>
            <a:ext cx="3975720" cy="2221228"/>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err="1"/>
              <a:t>CLVTools</a:t>
            </a:r>
            <a:r>
              <a:rPr lang="de-DE" dirty="0"/>
              <a:t>‘ Pareto/NBD </a:t>
            </a:r>
            <a:r>
              <a:rPr lang="de-DE" dirty="0" err="1"/>
              <a:t>model</a:t>
            </a:r>
            <a:r>
              <a:rPr lang="de-DE" dirty="0"/>
              <a:t> </a:t>
            </a:r>
            <a:r>
              <a:rPr lang="de-DE" dirty="0" err="1"/>
              <a:t>outperforms</a:t>
            </a:r>
            <a:r>
              <a:rPr lang="de-DE" dirty="0"/>
              <a:t> simple RFM-</a:t>
            </a:r>
            <a:r>
              <a:rPr lang="de-DE" dirty="0" err="1"/>
              <a:t>based</a:t>
            </a:r>
            <a:r>
              <a:rPr lang="de-DE" dirty="0"/>
              <a:t> </a:t>
            </a:r>
            <a:r>
              <a:rPr lang="de-DE" dirty="0" err="1"/>
              <a:t>models</a:t>
            </a:r>
            <a:endParaRPr lang="de-DE" dirty="0"/>
          </a:p>
          <a:p>
            <a:r>
              <a:rPr lang="de-DE" dirty="0"/>
              <a:t>Good </a:t>
            </a:r>
            <a:r>
              <a:rPr lang="de-DE" dirty="0" err="1"/>
              <a:t>starting</a:t>
            </a:r>
            <a:r>
              <a:rPr lang="de-DE" dirty="0"/>
              <a:t> </a:t>
            </a:r>
            <a:r>
              <a:rPr lang="de-DE" dirty="0" err="1"/>
              <a:t>point</a:t>
            </a:r>
            <a:r>
              <a:rPr lang="de-DE" dirty="0"/>
              <a:t> to </a:t>
            </a:r>
            <a:r>
              <a:rPr lang="de-DE" dirty="0" err="1"/>
              <a:t>compare</a:t>
            </a:r>
            <a:r>
              <a:rPr lang="de-DE" dirty="0"/>
              <a:t> </a:t>
            </a:r>
            <a:r>
              <a:rPr lang="de-DE" dirty="0" err="1"/>
              <a:t>CLVTools</a:t>
            </a:r>
            <a:r>
              <a:rPr lang="de-DE" dirty="0"/>
              <a:t> </a:t>
            </a:r>
            <a:r>
              <a:rPr lang="de-DE" dirty="0" err="1"/>
              <a:t>baseline</a:t>
            </a:r>
            <a:r>
              <a:rPr lang="de-DE" dirty="0"/>
              <a:t> </a:t>
            </a:r>
            <a:r>
              <a:rPr lang="de-DE" dirty="0" err="1"/>
              <a:t>against</a:t>
            </a:r>
            <a:r>
              <a:rPr lang="de-DE" dirty="0"/>
              <a:t> </a:t>
            </a:r>
            <a:r>
              <a:rPr lang="de-DE" dirty="0" err="1"/>
              <a:t>more</a:t>
            </a:r>
            <a:r>
              <a:rPr lang="de-DE" dirty="0"/>
              <a:t> </a:t>
            </a:r>
            <a:r>
              <a:rPr lang="de-DE" dirty="0" err="1"/>
              <a:t>advanced</a:t>
            </a:r>
            <a:r>
              <a:rPr lang="de-DE" dirty="0"/>
              <a:t> </a:t>
            </a:r>
            <a:r>
              <a:rPr lang="de-DE" dirty="0" err="1"/>
              <a:t>models</a:t>
            </a:r>
            <a:r>
              <a:rPr lang="de-DE" dirty="0"/>
              <a:t> with </a:t>
            </a:r>
            <a:r>
              <a:rPr lang="de-DE" dirty="0" err="1"/>
              <a:t>more</a:t>
            </a:r>
            <a:r>
              <a:rPr lang="de-DE" dirty="0"/>
              <a:t> </a:t>
            </a:r>
            <a:r>
              <a:rPr lang="de-DE" dirty="0" err="1"/>
              <a:t>features</a:t>
            </a:r>
            <a:endParaRPr lang="en-US" dirty="0"/>
          </a:p>
        </p:txBody>
      </p:sp>
    </p:spTree>
    <p:extLst>
      <p:ext uri="{BB962C8B-B14F-4D97-AF65-F5344CB8AC3E}">
        <p14:creationId xmlns:p14="http://schemas.microsoft.com/office/powerpoint/2010/main" val="399609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D4647-6340-A6D3-4FB0-F0843325A1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4CF02FC-3047-4B5C-A799-176506FFEC75}"/>
              </a:ext>
            </a:extLst>
          </p:cNvPr>
          <p:cNvSpPr>
            <a:spLocks noGrp="1"/>
          </p:cNvSpPr>
          <p:nvPr>
            <p:ph type="title"/>
          </p:nvPr>
        </p:nvSpPr>
        <p:spPr/>
        <p:txBody>
          <a:bodyPr/>
          <a:lstStyle/>
          <a:p>
            <a:r>
              <a:rPr lang="de-DE" dirty="0"/>
              <a:t>The Baseline - </a:t>
            </a:r>
            <a:r>
              <a:rPr lang="en-US" dirty="0" err="1"/>
              <a:t>LightGBM</a:t>
            </a:r>
            <a:r>
              <a:rPr lang="en-US" dirty="0"/>
              <a:t> Already Beats the Industry Benchmark on RFM-Features</a:t>
            </a:r>
          </a:p>
        </p:txBody>
      </p:sp>
      <p:sp>
        <p:nvSpPr>
          <p:cNvPr id="4" name="Datumsplatzhalter 3">
            <a:extLst>
              <a:ext uri="{FF2B5EF4-FFF2-40B4-BE49-F238E27FC236}">
                <a16:creationId xmlns:a16="http://schemas.microsoft.com/office/drawing/2014/main" id="{730BE25F-08CF-12D5-098D-A017042BCF79}"/>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07B4C5EC-B4D0-CB46-5FAA-B96FF38D3020}"/>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B3B88916-B099-8517-49BB-80572B5A93A0}"/>
              </a:ext>
            </a:extLst>
          </p:cNvPr>
          <p:cNvSpPr>
            <a:spLocks noGrp="1"/>
          </p:cNvSpPr>
          <p:nvPr>
            <p:ph type="sldNum" sz="quarter" idx="12"/>
          </p:nvPr>
        </p:nvSpPr>
        <p:spPr/>
        <p:txBody>
          <a:bodyPr/>
          <a:lstStyle/>
          <a:p>
            <a:fld id="{5ACA52AF-F19D-405C-AD5F-7D94B96A5CC3}" type="slidenum">
              <a:rPr lang="de-CH" noProof="0" smtClean="0"/>
              <a:t>8</a:t>
            </a:fld>
            <a:endParaRPr lang="de-CH" noProof="0"/>
          </a:p>
        </p:txBody>
      </p:sp>
      <p:sp>
        <p:nvSpPr>
          <p:cNvPr id="10" name="Inhaltsplatzhalter 9">
            <a:extLst>
              <a:ext uri="{FF2B5EF4-FFF2-40B4-BE49-F238E27FC236}">
                <a16:creationId xmlns:a16="http://schemas.microsoft.com/office/drawing/2014/main" id="{8755E392-7CBB-5EC3-5428-882110E5FFB5}"/>
              </a:ext>
            </a:extLst>
          </p:cNvPr>
          <p:cNvSpPr>
            <a:spLocks noGrp="1"/>
          </p:cNvSpPr>
          <p:nvPr>
            <p:ph idx="1"/>
          </p:nvPr>
        </p:nvSpPr>
        <p:spPr>
          <a:xfrm>
            <a:off x="7691718" y="1160351"/>
            <a:ext cx="3975720" cy="4932524"/>
          </a:xfrm>
        </p:spPr>
        <p:txBody>
          <a:bodyPr/>
          <a:lstStyle/>
          <a:p>
            <a:r>
              <a:rPr lang="en-US" b="1" dirty="0"/>
              <a:t>Ridge (4,385):</a:t>
            </a:r>
            <a:r>
              <a:rPr lang="en-US" dirty="0"/>
              <a:t> Wrong assumptions, linearity can't capture churn</a:t>
            </a:r>
          </a:p>
          <a:p>
            <a:pPr lvl="1">
              <a:buFont typeface="Wingdings" panose="05000000000000000000" pitchFamily="2" charset="2"/>
              <a:buChar char="§"/>
            </a:pPr>
            <a:r>
              <a:rPr lang="en-US" dirty="0"/>
              <a:t>Example:</a:t>
            </a:r>
          </a:p>
          <a:p>
            <a:pPr lvl="2">
              <a:buFont typeface="Courier New" panose="02070309020205020404" pitchFamily="49" charset="0"/>
              <a:buChar char="o"/>
            </a:pPr>
            <a:r>
              <a:rPr lang="en-US" dirty="0"/>
              <a:t>Recency: 245 days</a:t>
            </a:r>
          </a:p>
          <a:p>
            <a:pPr lvl="2">
              <a:buFont typeface="Courier New" panose="02070309020205020404" pitchFamily="49" charset="0"/>
              <a:buChar char="o"/>
            </a:pPr>
            <a:r>
              <a:rPr lang="en-US" dirty="0"/>
              <a:t>Frequency: 33 rentals</a:t>
            </a:r>
          </a:p>
          <a:p>
            <a:pPr lvl="2">
              <a:buFont typeface="Courier New" panose="02070309020205020404" pitchFamily="49" charset="0"/>
              <a:buChar char="o"/>
            </a:pPr>
            <a:r>
              <a:rPr lang="en-US" dirty="0"/>
              <a:t>Monetary: 55,451.33 NOK</a:t>
            </a:r>
          </a:p>
          <a:p>
            <a:pPr lvl="1">
              <a:buFont typeface="Wingdings" panose="05000000000000000000" pitchFamily="2" charset="2"/>
              <a:buChar char="§"/>
            </a:pPr>
            <a:r>
              <a:rPr lang="en-US" dirty="0"/>
              <a:t>Actual Revenue: 0 NOK</a:t>
            </a:r>
          </a:p>
          <a:p>
            <a:pPr lvl="1">
              <a:buFont typeface="Wingdings" panose="05000000000000000000" pitchFamily="2" charset="2"/>
              <a:buChar char="§"/>
            </a:pPr>
            <a:r>
              <a:rPr lang="en-US" dirty="0"/>
              <a:t>Predicted: 23,884.28 NOK</a:t>
            </a:r>
          </a:p>
          <a:p>
            <a:r>
              <a:rPr lang="en-US" b="1" dirty="0"/>
              <a:t>Pareto/NBD (3,756):</a:t>
            </a:r>
            <a:r>
              <a:rPr lang="en-US" dirty="0"/>
              <a:t> Industry benchmark, built for this problem, but constrained by fixed statistical assumptions</a:t>
            </a:r>
          </a:p>
          <a:p>
            <a:r>
              <a:rPr lang="en-US" b="1" dirty="0" err="1"/>
              <a:t>LightGBM</a:t>
            </a:r>
            <a:r>
              <a:rPr lang="en-US" b="1" dirty="0"/>
              <a:t> (2,536):</a:t>
            </a:r>
            <a:r>
              <a:rPr lang="en-US" dirty="0"/>
              <a:t> Learns churn from data directly → no assumptions needed</a:t>
            </a:r>
          </a:p>
        </p:txBody>
      </p:sp>
      <p:pic>
        <p:nvPicPr>
          <p:cNvPr id="14" name="Grafik 13">
            <a:extLst>
              <a:ext uri="{FF2B5EF4-FFF2-40B4-BE49-F238E27FC236}">
                <a16:creationId xmlns:a16="http://schemas.microsoft.com/office/drawing/2014/main" id="{C58F3C9C-C725-A9F3-0CA6-65F4A095B0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4872" y="1600765"/>
            <a:ext cx="6826828" cy="4051695"/>
          </a:xfrm>
          <a:prstGeom prst="rect">
            <a:avLst/>
          </a:prstGeom>
        </p:spPr>
      </p:pic>
      <p:sp>
        <p:nvSpPr>
          <p:cNvPr id="15" name="TextBox 9">
            <a:extLst>
              <a:ext uri="{FF2B5EF4-FFF2-40B4-BE49-F238E27FC236}">
                <a16:creationId xmlns:a16="http://schemas.microsoft.com/office/drawing/2014/main" id="{45340DE4-FDF0-8CA1-F53D-01B17105BE16}"/>
              </a:ext>
            </a:extLst>
          </p:cNvPr>
          <p:cNvSpPr txBox="1"/>
          <p:nvPr/>
        </p:nvSpPr>
        <p:spPr>
          <a:xfrm>
            <a:off x="3509874" y="1861058"/>
            <a:ext cx="1077065" cy="338554"/>
          </a:xfrm>
          <a:prstGeom prst="rect">
            <a:avLst/>
          </a:prstGeom>
          <a:noFill/>
        </p:spPr>
        <p:txBody>
          <a:bodyPr wrap="square" rtlCol="0">
            <a:spAutoFit/>
          </a:bodyPr>
          <a:lstStyle/>
          <a:p>
            <a:pPr algn="l"/>
            <a:r>
              <a:rPr lang="en-US" sz="1600" b="1" spc="0" baseline="0" dirty="0">
                <a:ln/>
                <a:solidFill>
                  <a:srgbClr val="FF0000"/>
                </a:solidFill>
                <a:latin typeface="Segoe UI"/>
                <a:cs typeface="Segoe UI"/>
                <a:sym typeface="Segoe UI"/>
                <a:rtl val="0"/>
              </a:rPr>
              <a:t>−</a:t>
            </a:r>
            <a:r>
              <a:rPr lang="en-US" sz="1600" b="1" dirty="0">
                <a:ln/>
                <a:solidFill>
                  <a:srgbClr val="FF0000"/>
                </a:solidFill>
                <a:latin typeface="Segoe UI"/>
                <a:cs typeface="Segoe UI"/>
                <a:sym typeface="Segoe UI"/>
                <a:rtl val="0"/>
              </a:rPr>
              <a:t>16.7</a:t>
            </a:r>
            <a:r>
              <a:rPr lang="en-US" sz="1600" b="1" spc="0" baseline="0" dirty="0">
                <a:ln/>
                <a:solidFill>
                  <a:srgbClr val="FF0000"/>
                </a:solidFill>
                <a:latin typeface="Segoe UI"/>
                <a:cs typeface="Segoe UI"/>
                <a:sym typeface="Segoe UI"/>
                <a:rtl val="0"/>
              </a:rPr>
              <a:t>%</a:t>
            </a:r>
          </a:p>
        </p:txBody>
      </p:sp>
      <p:cxnSp>
        <p:nvCxnSpPr>
          <p:cNvPr id="16" name="Straight Arrow Connector 12">
            <a:extLst>
              <a:ext uri="{FF2B5EF4-FFF2-40B4-BE49-F238E27FC236}">
                <a16:creationId xmlns:a16="http://schemas.microsoft.com/office/drawing/2014/main" id="{114E658D-A7BF-6A83-F27D-751C65EDAD61}"/>
              </a:ext>
            </a:extLst>
          </p:cNvPr>
          <p:cNvCxnSpPr>
            <a:cxnSpLocks/>
          </p:cNvCxnSpPr>
          <p:nvPr/>
        </p:nvCxnSpPr>
        <p:spPr>
          <a:xfrm>
            <a:off x="5262040" y="2746283"/>
            <a:ext cx="833960" cy="606410"/>
          </a:xfrm>
          <a:prstGeom prst="straightConnector1">
            <a:avLst/>
          </a:prstGeom>
          <a:ln>
            <a:solidFill>
              <a:srgbClr val="1D9E75"/>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2">
            <a:extLst>
              <a:ext uri="{FF2B5EF4-FFF2-40B4-BE49-F238E27FC236}">
                <a16:creationId xmlns:a16="http://schemas.microsoft.com/office/drawing/2014/main" id="{43B77D13-A6E2-E9CA-4C3F-9ED9651E12E6}"/>
              </a:ext>
            </a:extLst>
          </p:cNvPr>
          <p:cNvCxnSpPr>
            <a:cxnSpLocks/>
          </p:cNvCxnSpPr>
          <p:nvPr/>
        </p:nvCxnSpPr>
        <p:spPr>
          <a:xfrm flipH="1" flipV="1">
            <a:off x="3302598" y="2030335"/>
            <a:ext cx="645458" cy="338554"/>
          </a:xfrm>
          <a:prstGeom prst="straightConnector1">
            <a:avLst/>
          </a:prstGeom>
          <a:ln>
            <a:solidFill>
              <a:srgbClr val="1D9E75"/>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D2CD130B-AFD3-667E-D3E8-35BC447CCE99}"/>
              </a:ext>
            </a:extLst>
          </p:cNvPr>
          <p:cNvSpPr txBox="1"/>
          <p:nvPr/>
        </p:nvSpPr>
        <p:spPr>
          <a:xfrm>
            <a:off x="5703383" y="2818249"/>
            <a:ext cx="977116" cy="338554"/>
          </a:xfrm>
          <a:prstGeom prst="rect">
            <a:avLst/>
          </a:prstGeom>
          <a:noFill/>
        </p:spPr>
        <p:txBody>
          <a:bodyPr wrap="square" rtlCol="0">
            <a:spAutoFit/>
          </a:bodyPr>
          <a:lstStyle/>
          <a:p>
            <a:pPr algn="l"/>
            <a:r>
              <a:rPr lang="en-US" sz="1600" b="1" spc="0" baseline="0" dirty="0">
                <a:ln/>
                <a:solidFill>
                  <a:srgbClr val="00B050"/>
                </a:solidFill>
                <a:latin typeface="Segoe UI"/>
                <a:cs typeface="Segoe UI"/>
                <a:sym typeface="Segoe UI"/>
                <a:rtl val="0"/>
              </a:rPr>
              <a:t>−32,5%</a:t>
            </a:r>
          </a:p>
        </p:txBody>
      </p:sp>
    </p:spTree>
    <p:extLst>
      <p:ext uri="{BB962C8B-B14F-4D97-AF65-F5344CB8AC3E}">
        <p14:creationId xmlns:p14="http://schemas.microsoft.com/office/powerpoint/2010/main" val="4257837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759AEA-ADE0-8B5F-9FC5-40C26593B114}"/>
              </a:ext>
            </a:extLst>
          </p:cNvPr>
          <p:cNvSpPr>
            <a:spLocks noGrp="1"/>
          </p:cNvSpPr>
          <p:nvPr>
            <p:ph type="title"/>
          </p:nvPr>
        </p:nvSpPr>
        <p:spPr/>
        <p:txBody>
          <a:bodyPr/>
          <a:lstStyle/>
          <a:p>
            <a:r>
              <a:rPr lang="de-DE" dirty="0"/>
              <a:t>The Modeling Journey – </a:t>
            </a:r>
            <a:r>
              <a:rPr lang="de-DE" dirty="0" err="1"/>
              <a:t>Four</a:t>
            </a:r>
            <a:r>
              <a:rPr lang="de-DE" dirty="0"/>
              <a:t> Problems, </a:t>
            </a:r>
            <a:r>
              <a:rPr lang="de-DE" dirty="0" err="1"/>
              <a:t>Four</a:t>
            </a:r>
            <a:r>
              <a:rPr lang="de-DE" dirty="0"/>
              <a:t> Solutions, </a:t>
            </a:r>
            <a:r>
              <a:rPr lang="de-DE" dirty="0" err="1"/>
              <a:t>Three</a:t>
            </a:r>
            <a:r>
              <a:rPr lang="de-DE" dirty="0"/>
              <a:t> </a:t>
            </a:r>
            <a:r>
              <a:rPr lang="de-DE" dirty="0" err="1"/>
              <a:t>Improvements</a:t>
            </a:r>
            <a:endParaRPr lang="en-US" dirty="0"/>
          </a:p>
        </p:txBody>
      </p:sp>
      <p:sp>
        <p:nvSpPr>
          <p:cNvPr id="4" name="Datumsplatzhalter 3">
            <a:extLst>
              <a:ext uri="{FF2B5EF4-FFF2-40B4-BE49-F238E27FC236}">
                <a16:creationId xmlns:a16="http://schemas.microsoft.com/office/drawing/2014/main" id="{0C6FD19B-C7D3-84C1-8505-5608E91C6B7D}"/>
              </a:ext>
            </a:extLst>
          </p:cNvPr>
          <p:cNvSpPr>
            <a:spLocks noGrp="1"/>
          </p:cNvSpPr>
          <p:nvPr>
            <p:ph type="dt" sz="half" idx="10"/>
          </p:nvPr>
        </p:nvSpPr>
        <p:spPr/>
        <p:txBody>
          <a:bodyPr/>
          <a:lstStyle/>
          <a:p>
            <a:fld id="{1332D50A-E6CC-4D88-8908-F2129032F4C7}" type="datetime1">
              <a:rPr lang="de-CH" noProof="0" smtClean="0"/>
              <a:t>30.04.2026</a:t>
            </a:fld>
            <a:endParaRPr lang="de-CH" noProof="0"/>
          </a:p>
        </p:txBody>
      </p:sp>
      <p:sp>
        <p:nvSpPr>
          <p:cNvPr id="6" name="Foliennummernplatzhalter 5">
            <a:extLst>
              <a:ext uri="{FF2B5EF4-FFF2-40B4-BE49-F238E27FC236}">
                <a16:creationId xmlns:a16="http://schemas.microsoft.com/office/drawing/2014/main" id="{D55B950A-9322-E0B8-2BC3-CF7E094AB132}"/>
              </a:ext>
            </a:extLst>
          </p:cNvPr>
          <p:cNvSpPr>
            <a:spLocks noGrp="1"/>
          </p:cNvSpPr>
          <p:nvPr>
            <p:ph type="sldNum" sz="quarter" idx="12"/>
          </p:nvPr>
        </p:nvSpPr>
        <p:spPr/>
        <p:txBody>
          <a:bodyPr/>
          <a:lstStyle/>
          <a:p>
            <a:fld id="{5ACA52AF-F19D-405C-AD5F-7D94B96A5CC3}" type="slidenum">
              <a:rPr lang="de-CH" noProof="0" smtClean="0"/>
              <a:t>9</a:t>
            </a:fld>
            <a:endParaRPr lang="de-CH" noProof="0"/>
          </a:p>
        </p:txBody>
      </p:sp>
      <p:sp>
        <p:nvSpPr>
          <p:cNvPr id="7" name="Textplatzhalter 9">
            <a:extLst>
              <a:ext uri="{FF2B5EF4-FFF2-40B4-BE49-F238E27FC236}">
                <a16:creationId xmlns:a16="http://schemas.microsoft.com/office/drawing/2014/main" id="{3A37B601-8638-6240-48F4-199AAAA28A26}"/>
              </a:ext>
            </a:extLst>
          </p:cNvPr>
          <p:cNvSpPr txBox="1">
            <a:spLocks/>
          </p:cNvSpPr>
          <p:nvPr/>
        </p:nvSpPr>
        <p:spPr bwMode="auto">
          <a:xfrm>
            <a:off x="1080000" y="1260000"/>
            <a:ext cx="3131999" cy="684212"/>
          </a:xfrm>
          <a:custGeom>
            <a:avLst/>
            <a:gdLst>
              <a:gd name="connsiteX0" fmla="*/ 0 w 3131999"/>
              <a:gd name="connsiteY0" fmla="*/ 0 h 684212"/>
              <a:gd name="connsiteX1" fmla="*/ 2907406 w 3131999"/>
              <a:gd name="connsiteY1" fmla="*/ 0 h 684212"/>
              <a:gd name="connsiteX2" fmla="*/ 3131999 w 3131999"/>
              <a:gd name="connsiteY2" fmla="*/ 342106 h 684212"/>
              <a:gd name="connsiteX3" fmla="*/ 2907406 w 3131999"/>
              <a:gd name="connsiteY3" fmla="*/ 684212 h 684212"/>
              <a:gd name="connsiteX4" fmla="*/ 0 w 3131999"/>
              <a:gd name="connsiteY4" fmla="*/ 684212 h 684212"/>
              <a:gd name="connsiteX5" fmla="*/ 0 w 3131999"/>
              <a:gd name="connsiteY5" fmla="*/ 0 h 684212"/>
              <a:gd name="connsiteX0" fmla="*/ 0 w 3131999"/>
              <a:gd name="connsiteY0" fmla="*/ 684212 h 684212"/>
              <a:gd name="connsiteX1" fmla="*/ 2907406 w 3131999"/>
              <a:gd name="connsiteY1" fmla="*/ 0 h 684212"/>
              <a:gd name="connsiteX2" fmla="*/ 3131999 w 3131999"/>
              <a:gd name="connsiteY2" fmla="*/ 342106 h 684212"/>
              <a:gd name="connsiteX3" fmla="*/ 2907406 w 3131999"/>
              <a:gd name="connsiteY3" fmla="*/ 684212 h 684212"/>
              <a:gd name="connsiteX4" fmla="*/ 0 w 3131999"/>
              <a:gd name="connsiteY4" fmla="*/ 684212 h 684212"/>
              <a:gd name="connsiteX0" fmla="*/ 2907406 w 3131999"/>
              <a:gd name="connsiteY0" fmla="*/ 0 h 684212"/>
              <a:gd name="connsiteX1" fmla="*/ 3131999 w 3131999"/>
              <a:gd name="connsiteY1" fmla="*/ 342106 h 684212"/>
              <a:gd name="connsiteX2" fmla="*/ 2907406 w 3131999"/>
              <a:gd name="connsiteY2" fmla="*/ 684212 h 684212"/>
              <a:gd name="connsiteX3" fmla="*/ 0 w 3131999"/>
              <a:gd name="connsiteY3" fmla="*/ 684212 h 684212"/>
              <a:gd name="connsiteX4" fmla="*/ 2998846 w 3131999"/>
              <a:gd name="connsiteY4" fmla="*/ 91440 h 684212"/>
              <a:gd name="connsiteX0" fmla="*/ 2907406 w 3131999"/>
              <a:gd name="connsiteY0" fmla="*/ 0 h 684212"/>
              <a:gd name="connsiteX1" fmla="*/ 3131999 w 3131999"/>
              <a:gd name="connsiteY1" fmla="*/ 342106 h 684212"/>
              <a:gd name="connsiteX2" fmla="*/ 2907406 w 3131999"/>
              <a:gd name="connsiteY2" fmla="*/ 684212 h 684212"/>
              <a:gd name="connsiteX3" fmla="*/ 0 w 3131999"/>
              <a:gd name="connsiteY3" fmla="*/ 684212 h 684212"/>
            </a:gdLst>
            <a:ahLst/>
            <a:cxnLst>
              <a:cxn ang="0">
                <a:pos x="connsiteX0" y="connsiteY0"/>
              </a:cxn>
              <a:cxn ang="0">
                <a:pos x="connsiteX1" y="connsiteY1"/>
              </a:cxn>
              <a:cxn ang="0">
                <a:pos x="connsiteX2" y="connsiteY2"/>
              </a:cxn>
              <a:cxn ang="0">
                <a:pos x="connsiteX3" y="connsiteY3"/>
              </a:cxn>
            </a:cxnLst>
            <a:rect l="l" t="t" r="r" b="b"/>
            <a:pathLst>
              <a:path w="3131999" h="684212">
                <a:moveTo>
                  <a:pt x="2907406" y="0"/>
                </a:moveTo>
                <a:lnTo>
                  <a:pt x="3131999" y="342106"/>
                </a:lnTo>
                <a:lnTo>
                  <a:pt x="2907406" y="684212"/>
                </a:lnTo>
                <a:lnTo>
                  <a:pt x="0" y="684212"/>
                </a:lnTo>
              </a:path>
            </a:pathLst>
          </a:custGeom>
          <a:noFill/>
          <a:ln w="19050" cap="rnd">
            <a:solidFill>
              <a:srgbClr val="215CAF"/>
            </a:solidFill>
          </a:ln>
          <a:extLst>
            <a:ext uri="{909E8E84-426E-40DD-AFC4-6F175D3DCCD1}">
              <a14:hiddenFill xmlns:a14="http://schemas.microsoft.com/office/drawing/2010/main">
                <a:solidFill>
                  <a:srgbClr val="FFFFFF"/>
                </a:solidFill>
              </a14:hiddenFill>
            </a:ext>
          </a:extLst>
        </p:spPr>
        <p:txBody>
          <a:bodyPr lIns="0" anchor="ctr"/>
          <a:lstStyle>
            <a:lvl1pPr marL="720000" indent="0" algn="l"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Problem </a:t>
            </a:r>
            <a:r>
              <a:rPr lang="de-DE" dirty="0" err="1"/>
              <a:t>Identified</a:t>
            </a:r>
            <a:endParaRPr lang="de-DE" dirty="0"/>
          </a:p>
        </p:txBody>
      </p:sp>
      <p:sp>
        <p:nvSpPr>
          <p:cNvPr id="11" name="Textplatzhalter 9">
            <a:extLst>
              <a:ext uri="{FF2B5EF4-FFF2-40B4-BE49-F238E27FC236}">
                <a16:creationId xmlns:a16="http://schemas.microsoft.com/office/drawing/2014/main" id="{BE4D74C0-67D6-E35E-7893-9267BB4010AA}"/>
              </a:ext>
            </a:extLst>
          </p:cNvPr>
          <p:cNvSpPr txBox="1">
            <a:spLocks/>
          </p:cNvSpPr>
          <p:nvPr/>
        </p:nvSpPr>
        <p:spPr bwMode="auto">
          <a:xfrm>
            <a:off x="7669351" y="1260000"/>
            <a:ext cx="3131999" cy="684212"/>
          </a:xfrm>
          <a:custGeom>
            <a:avLst/>
            <a:gdLst>
              <a:gd name="connsiteX0" fmla="*/ 0 w 3131999"/>
              <a:gd name="connsiteY0" fmla="*/ 0 h 684212"/>
              <a:gd name="connsiteX1" fmla="*/ 2907406 w 3131999"/>
              <a:gd name="connsiteY1" fmla="*/ 0 h 684212"/>
              <a:gd name="connsiteX2" fmla="*/ 3131999 w 3131999"/>
              <a:gd name="connsiteY2" fmla="*/ 342106 h 684212"/>
              <a:gd name="connsiteX3" fmla="*/ 2907406 w 3131999"/>
              <a:gd name="connsiteY3" fmla="*/ 684212 h 684212"/>
              <a:gd name="connsiteX4" fmla="*/ 0 w 3131999"/>
              <a:gd name="connsiteY4" fmla="*/ 684212 h 684212"/>
              <a:gd name="connsiteX5" fmla="*/ 0 w 3131999"/>
              <a:gd name="connsiteY5" fmla="*/ 0 h 684212"/>
              <a:gd name="connsiteX0" fmla="*/ 0 w 3131999"/>
              <a:gd name="connsiteY0" fmla="*/ 684212 h 684212"/>
              <a:gd name="connsiteX1" fmla="*/ 2907406 w 3131999"/>
              <a:gd name="connsiteY1" fmla="*/ 0 h 684212"/>
              <a:gd name="connsiteX2" fmla="*/ 3131999 w 3131999"/>
              <a:gd name="connsiteY2" fmla="*/ 342106 h 684212"/>
              <a:gd name="connsiteX3" fmla="*/ 2907406 w 3131999"/>
              <a:gd name="connsiteY3" fmla="*/ 684212 h 684212"/>
              <a:gd name="connsiteX4" fmla="*/ 0 w 3131999"/>
              <a:gd name="connsiteY4" fmla="*/ 684212 h 684212"/>
              <a:gd name="connsiteX0" fmla="*/ 2907406 w 3131999"/>
              <a:gd name="connsiteY0" fmla="*/ 0 h 684212"/>
              <a:gd name="connsiteX1" fmla="*/ 3131999 w 3131999"/>
              <a:gd name="connsiteY1" fmla="*/ 342106 h 684212"/>
              <a:gd name="connsiteX2" fmla="*/ 2907406 w 3131999"/>
              <a:gd name="connsiteY2" fmla="*/ 684212 h 684212"/>
              <a:gd name="connsiteX3" fmla="*/ 0 w 3131999"/>
              <a:gd name="connsiteY3" fmla="*/ 684212 h 684212"/>
              <a:gd name="connsiteX4" fmla="*/ 2998846 w 3131999"/>
              <a:gd name="connsiteY4" fmla="*/ 91440 h 684212"/>
              <a:gd name="connsiteX0" fmla="*/ 2907406 w 3131999"/>
              <a:gd name="connsiteY0" fmla="*/ 0 h 684212"/>
              <a:gd name="connsiteX1" fmla="*/ 3131999 w 3131999"/>
              <a:gd name="connsiteY1" fmla="*/ 342106 h 684212"/>
              <a:gd name="connsiteX2" fmla="*/ 2907406 w 3131999"/>
              <a:gd name="connsiteY2" fmla="*/ 684212 h 684212"/>
              <a:gd name="connsiteX3" fmla="*/ 0 w 3131999"/>
              <a:gd name="connsiteY3" fmla="*/ 684212 h 684212"/>
            </a:gdLst>
            <a:ahLst/>
            <a:cxnLst>
              <a:cxn ang="0">
                <a:pos x="connsiteX0" y="connsiteY0"/>
              </a:cxn>
              <a:cxn ang="0">
                <a:pos x="connsiteX1" y="connsiteY1"/>
              </a:cxn>
              <a:cxn ang="0">
                <a:pos x="connsiteX2" y="connsiteY2"/>
              </a:cxn>
              <a:cxn ang="0">
                <a:pos x="connsiteX3" y="connsiteY3"/>
              </a:cxn>
            </a:cxnLst>
            <a:rect l="l" t="t" r="r" b="b"/>
            <a:pathLst>
              <a:path w="3131999" h="684212">
                <a:moveTo>
                  <a:pt x="2907406" y="0"/>
                </a:moveTo>
                <a:lnTo>
                  <a:pt x="3131999" y="342106"/>
                </a:lnTo>
                <a:lnTo>
                  <a:pt x="2907406" y="684212"/>
                </a:lnTo>
                <a:lnTo>
                  <a:pt x="0" y="684212"/>
                </a:lnTo>
              </a:path>
            </a:pathLst>
          </a:custGeom>
          <a:noFill/>
          <a:ln w="19050" cap="rnd">
            <a:solidFill>
              <a:srgbClr val="215CAF"/>
            </a:solidFill>
          </a:ln>
          <a:extLst>
            <a:ext uri="{909E8E84-426E-40DD-AFC4-6F175D3DCCD1}">
              <a14:hiddenFill xmlns:a14="http://schemas.microsoft.com/office/drawing/2010/main">
                <a:solidFill>
                  <a:srgbClr val="FFFFFF"/>
                </a:solidFill>
              </a14:hiddenFill>
            </a:ext>
          </a:extLst>
        </p:spPr>
        <p:txBody>
          <a:bodyPr lIns="0" anchor="ctr"/>
          <a:lstStyle>
            <a:lvl1pPr marL="720000" indent="0" algn="l"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MAE Impact</a:t>
            </a:r>
          </a:p>
        </p:txBody>
      </p:sp>
      <p:sp>
        <p:nvSpPr>
          <p:cNvPr id="12" name="Textplatzhalter 9">
            <a:extLst>
              <a:ext uri="{FF2B5EF4-FFF2-40B4-BE49-F238E27FC236}">
                <a16:creationId xmlns:a16="http://schemas.microsoft.com/office/drawing/2014/main" id="{96C98B6E-9473-89A0-25BA-9042C3415D10}"/>
              </a:ext>
            </a:extLst>
          </p:cNvPr>
          <p:cNvSpPr txBox="1">
            <a:spLocks/>
          </p:cNvSpPr>
          <p:nvPr/>
        </p:nvSpPr>
        <p:spPr bwMode="auto">
          <a:xfrm>
            <a:off x="4374676" y="1260000"/>
            <a:ext cx="3131999" cy="684212"/>
          </a:xfrm>
          <a:custGeom>
            <a:avLst/>
            <a:gdLst>
              <a:gd name="connsiteX0" fmla="*/ 0 w 3131999"/>
              <a:gd name="connsiteY0" fmla="*/ 0 h 684212"/>
              <a:gd name="connsiteX1" fmla="*/ 2907406 w 3131999"/>
              <a:gd name="connsiteY1" fmla="*/ 0 h 684212"/>
              <a:gd name="connsiteX2" fmla="*/ 3131999 w 3131999"/>
              <a:gd name="connsiteY2" fmla="*/ 342106 h 684212"/>
              <a:gd name="connsiteX3" fmla="*/ 2907406 w 3131999"/>
              <a:gd name="connsiteY3" fmla="*/ 684212 h 684212"/>
              <a:gd name="connsiteX4" fmla="*/ 0 w 3131999"/>
              <a:gd name="connsiteY4" fmla="*/ 684212 h 684212"/>
              <a:gd name="connsiteX5" fmla="*/ 0 w 3131999"/>
              <a:gd name="connsiteY5" fmla="*/ 0 h 684212"/>
              <a:gd name="connsiteX0" fmla="*/ 0 w 3131999"/>
              <a:gd name="connsiteY0" fmla="*/ 684212 h 684212"/>
              <a:gd name="connsiteX1" fmla="*/ 2907406 w 3131999"/>
              <a:gd name="connsiteY1" fmla="*/ 0 h 684212"/>
              <a:gd name="connsiteX2" fmla="*/ 3131999 w 3131999"/>
              <a:gd name="connsiteY2" fmla="*/ 342106 h 684212"/>
              <a:gd name="connsiteX3" fmla="*/ 2907406 w 3131999"/>
              <a:gd name="connsiteY3" fmla="*/ 684212 h 684212"/>
              <a:gd name="connsiteX4" fmla="*/ 0 w 3131999"/>
              <a:gd name="connsiteY4" fmla="*/ 684212 h 684212"/>
              <a:gd name="connsiteX0" fmla="*/ 2907406 w 3131999"/>
              <a:gd name="connsiteY0" fmla="*/ 0 h 684212"/>
              <a:gd name="connsiteX1" fmla="*/ 3131999 w 3131999"/>
              <a:gd name="connsiteY1" fmla="*/ 342106 h 684212"/>
              <a:gd name="connsiteX2" fmla="*/ 2907406 w 3131999"/>
              <a:gd name="connsiteY2" fmla="*/ 684212 h 684212"/>
              <a:gd name="connsiteX3" fmla="*/ 0 w 3131999"/>
              <a:gd name="connsiteY3" fmla="*/ 684212 h 684212"/>
              <a:gd name="connsiteX4" fmla="*/ 2998846 w 3131999"/>
              <a:gd name="connsiteY4" fmla="*/ 91440 h 684212"/>
              <a:gd name="connsiteX0" fmla="*/ 2907406 w 3131999"/>
              <a:gd name="connsiteY0" fmla="*/ 0 h 684212"/>
              <a:gd name="connsiteX1" fmla="*/ 3131999 w 3131999"/>
              <a:gd name="connsiteY1" fmla="*/ 342106 h 684212"/>
              <a:gd name="connsiteX2" fmla="*/ 2907406 w 3131999"/>
              <a:gd name="connsiteY2" fmla="*/ 684212 h 684212"/>
              <a:gd name="connsiteX3" fmla="*/ 0 w 3131999"/>
              <a:gd name="connsiteY3" fmla="*/ 684212 h 684212"/>
            </a:gdLst>
            <a:ahLst/>
            <a:cxnLst>
              <a:cxn ang="0">
                <a:pos x="connsiteX0" y="connsiteY0"/>
              </a:cxn>
              <a:cxn ang="0">
                <a:pos x="connsiteX1" y="connsiteY1"/>
              </a:cxn>
              <a:cxn ang="0">
                <a:pos x="connsiteX2" y="connsiteY2"/>
              </a:cxn>
              <a:cxn ang="0">
                <a:pos x="connsiteX3" y="connsiteY3"/>
              </a:cxn>
            </a:cxnLst>
            <a:rect l="l" t="t" r="r" b="b"/>
            <a:pathLst>
              <a:path w="3131999" h="684212">
                <a:moveTo>
                  <a:pt x="2907406" y="0"/>
                </a:moveTo>
                <a:lnTo>
                  <a:pt x="3131999" y="342106"/>
                </a:lnTo>
                <a:lnTo>
                  <a:pt x="2907406" y="684212"/>
                </a:lnTo>
                <a:lnTo>
                  <a:pt x="0" y="684212"/>
                </a:lnTo>
              </a:path>
            </a:pathLst>
          </a:custGeom>
          <a:noFill/>
          <a:ln w="19050" cap="rnd">
            <a:solidFill>
              <a:srgbClr val="215CAF"/>
            </a:solidFill>
          </a:ln>
          <a:extLst>
            <a:ext uri="{909E8E84-426E-40DD-AFC4-6F175D3DCCD1}">
              <a14:hiddenFill xmlns:a14="http://schemas.microsoft.com/office/drawing/2010/main">
                <a:solidFill>
                  <a:srgbClr val="FFFFFF"/>
                </a:solidFill>
              </a14:hiddenFill>
            </a:ext>
          </a:extLst>
        </p:spPr>
        <p:txBody>
          <a:bodyPr lIns="0" anchor="ctr"/>
          <a:lstStyle>
            <a:lvl1pPr marL="720000" indent="0" algn="l"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Solution Applied</a:t>
            </a:r>
          </a:p>
        </p:txBody>
      </p:sp>
      <p:grpSp>
        <p:nvGrpSpPr>
          <p:cNvPr id="25" name="Gruppieren 24">
            <a:extLst>
              <a:ext uri="{FF2B5EF4-FFF2-40B4-BE49-F238E27FC236}">
                <a16:creationId xmlns:a16="http://schemas.microsoft.com/office/drawing/2014/main" id="{0FE0CD6B-EE5C-9611-085D-AEF7DF7CDF8E}"/>
              </a:ext>
            </a:extLst>
          </p:cNvPr>
          <p:cNvGrpSpPr/>
          <p:nvPr/>
        </p:nvGrpSpPr>
        <p:grpSpPr>
          <a:xfrm>
            <a:off x="1080000" y="2299320"/>
            <a:ext cx="9721350" cy="540000"/>
            <a:chOff x="1080000" y="2299320"/>
            <a:chExt cx="9721350" cy="540000"/>
          </a:xfrm>
        </p:grpSpPr>
        <p:sp>
          <p:nvSpPr>
            <p:cNvPr id="13" name="Textplatzhalter 31">
              <a:extLst>
                <a:ext uri="{FF2B5EF4-FFF2-40B4-BE49-F238E27FC236}">
                  <a16:creationId xmlns:a16="http://schemas.microsoft.com/office/drawing/2014/main" id="{5744B351-07F3-B1CE-25FB-72D9403AF08E}"/>
                </a:ext>
              </a:extLst>
            </p:cNvPr>
            <p:cNvSpPr txBox="1">
              <a:spLocks/>
            </p:cNvSpPr>
            <p:nvPr/>
          </p:nvSpPr>
          <p:spPr>
            <a:xfrm>
              <a:off x="1080000" y="2299320"/>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Baseline </a:t>
              </a:r>
              <a:r>
                <a:rPr lang="de-DE" dirty="0" err="1"/>
                <a:t>soley</a:t>
              </a:r>
              <a:r>
                <a:rPr lang="de-DE" dirty="0"/>
                <a:t> </a:t>
              </a:r>
              <a:r>
                <a:rPr lang="de-DE" dirty="0" err="1"/>
                <a:t>relies</a:t>
              </a:r>
              <a:r>
                <a:rPr lang="de-DE" dirty="0"/>
                <a:t> on 3 </a:t>
              </a:r>
              <a:r>
                <a:rPr lang="de-DE" dirty="0" err="1"/>
                <a:t>features</a:t>
              </a:r>
              <a:endParaRPr lang="de-DE" dirty="0"/>
            </a:p>
          </p:txBody>
        </p:sp>
        <p:sp>
          <p:nvSpPr>
            <p:cNvPr id="14" name="Textplatzhalter 31">
              <a:extLst>
                <a:ext uri="{FF2B5EF4-FFF2-40B4-BE49-F238E27FC236}">
                  <a16:creationId xmlns:a16="http://schemas.microsoft.com/office/drawing/2014/main" id="{7EC80B23-0B3A-2979-151B-2C49047D0AF3}"/>
                </a:ext>
              </a:extLst>
            </p:cNvPr>
            <p:cNvSpPr txBox="1">
              <a:spLocks/>
            </p:cNvSpPr>
            <p:nvPr/>
          </p:nvSpPr>
          <p:spPr>
            <a:xfrm>
              <a:off x="4374675" y="2299320"/>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Feature </a:t>
              </a:r>
              <a:r>
                <a:rPr lang="de-DE" dirty="0" err="1"/>
                <a:t>engineering</a:t>
              </a:r>
              <a:r>
                <a:rPr lang="de-DE" dirty="0"/>
                <a:t> </a:t>
              </a:r>
              <a:r>
                <a:rPr lang="de-DE" dirty="0" err="1"/>
                <a:t>of</a:t>
              </a:r>
              <a:r>
                <a:rPr lang="de-DE" dirty="0"/>
                <a:t> additional 33 </a:t>
              </a:r>
              <a:r>
                <a:rPr lang="de-DE" dirty="0" err="1"/>
                <a:t>features</a:t>
              </a:r>
              <a:endParaRPr lang="de-DE" dirty="0"/>
            </a:p>
          </p:txBody>
        </p:sp>
        <p:sp>
          <p:nvSpPr>
            <p:cNvPr id="15" name="Textplatzhalter 31">
              <a:extLst>
                <a:ext uri="{FF2B5EF4-FFF2-40B4-BE49-F238E27FC236}">
                  <a16:creationId xmlns:a16="http://schemas.microsoft.com/office/drawing/2014/main" id="{D07B4449-0CFA-D297-31BB-25338E6EED90}"/>
                </a:ext>
              </a:extLst>
            </p:cNvPr>
            <p:cNvSpPr txBox="1">
              <a:spLocks/>
            </p:cNvSpPr>
            <p:nvPr/>
          </p:nvSpPr>
          <p:spPr>
            <a:xfrm>
              <a:off x="7669351" y="2299320"/>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2,536 → 3,296 NOK</a:t>
              </a:r>
            </a:p>
          </p:txBody>
        </p:sp>
      </p:grpSp>
      <p:grpSp>
        <p:nvGrpSpPr>
          <p:cNvPr id="26" name="Gruppieren 25">
            <a:extLst>
              <a:ext uri="{FF2B5EF4-FFF2-40B4-BE49-F238E27FC236}">
                <a16:creationId xmlns:a16="http://schemas.microsoft.com/office/drawing/2014/main" id="{94B29011-837E-BF3C-CCF0-78FF623A0F90}"/>
              </a:ext>
            </a:extLst>
          </p:cNvPr>
          <p:cNvGrpSpPr/>
          <p:nvPr/>
        </p:nvGrpSpPr>
        <p:grpSpPr>
          <a:xfrm>
            <a:off x="1080000" y="3355741"/>
            <a:ext cx="9721350" cy="540000"/>
            <a:chOff x="1080000" y="3194428"/>
            <a:chExt cx="9721350" cy="540000"/>
          </a:xfrm>
        </p:grpSpPr>
        <p:sp>
          <p:nvSpPr>
            <p:cNvPr id="16" name="Textplatzhalter 31">
              <a:extLst>
                <a:ext uri="{FF2B5EF4-FFF2-40B4-BE49-F238E27FC236}">
                  <a16:creationId xmlns:a16="http://schemas.microsoft.com/office/drawing/2014/main" id="{E6ED1C34-6A7C-735C-89AA-F51AC68FE057}"/>
                </a:ext>
              </a:extLst>
            </p:cNvPr>
            <p:cNvSpPr txBox="1">
              <a:spLocks/>
            </p:cNvSpPr>
            <p:nvPr/>
          </p:nvSpPr>
          <p:spPr>
            <a:xfrm>
              <a:off x="1080000" y="3194428"/>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93% </a:t>
              </a:r>
              <a:r>
                <a:rPr lang="de-DE" dirty="0" err="1"/>
                <a:t>of</a:t>
              </a:r>
              <a:r>
                <a:rPr lang="de-DE" dirty="0"/>
                <a:t> </a:t>
              </a:r>
              <a:r>
                <a:rPr lang="de-DE" dirty="0" err="1"/>
                <a:t>customers</a:t>
              </a:r>
              <a:r>
                <a:rPr lang="de-DE" dirty="0"/>
                <a:t> </a:t>
              </a:r>
              <a:r>
                <a:rPr lang="de-DE" dirty="0" err="1"/>
                <a:t>generate</a:t>
              </a:r>
              <a:r>
                <a:rPr lang="de-DE" dirty="0"/>
                <a:t> </a:t>
              </a:r>
              <a:r>
                <a:rPr lang="de-DE" dirty="0" err="1"/>
                <a:t>zero</a:t>
              </a:r>
              <a:r>
                <a:rPr lang="de-DE" dirty="0"/>
                <a:t> </a:t>
              </a:r>
              <a:r>
                <a:rPr lang="de-DE" dirty="0" err="1"/>
                <a:t>revenue</a:t>
              </a:r>
              <a:endParaRPr lang="de-DE" dirty="0"/>
            </a:p>
          </p:txBody>
        </p:sp>
        <p:sp>
          <p:nvSpPr>
            <p:cNvPr id="17" name="Textplatzhalter 31">
              <a:extLst>
                <a:ext uri="{FF2B5EF4-FFF2-40B4-BE49-F238E27FC236}">
                  <a16:creationId xmlns:a16="http://schemas.microsoft.com/office/drawing/2014/main" id="{6D24B187-DD88-F406-AA69-1018872F06DE}"/>
                </a:ext>
              </a:extLst>
            </p:cNvPr>
            <p:cNvSpPr txBox="1">
              <a:spLocks/>
            </p:cNvSpPr>
            <p:nvPr/>
          </p:nvSpPr>
          <p:spPr>
            <a:xfrm>
              <a:off x="4374675" y="3194428"/>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Tweedie </a:t>
              </a:r>
              <a:r>
                <a:rPr lang="de-DE" dirty="0" err="1"/>
                <a:t>distribution</a:t>
              </a:r>
              <a:r>
                <a:rPr lang="de-DE" dirty="0"/>
                <a:t> </a:t>
              </a:r>
              <a:r>
                <a:rPr lang="de-DE" dirty="0" err="1"/>
                <a:t>objective</a:t>
              </a:r>
              <a:r>
                <a:rPr lang="de-DE" dirty="0"/>
                <a:t> </a:t>
              </a:r>
            </a:p>
          </p:txBody>
        </p:sp>
        <p:sp>
          <p:nvSpPr>
            <p:cNvPr id="18" name="Textplatzhalter 31">
              <a:extLst>
                <a:ext uri="{FF2B5EF4-FFF2-40B4-BE49-F238E27FC236}">
                  <a16:creationId xmlns:a16="http://schemas.microsoft.com/office/drawing/2014/main" id="{BE0D14C2-54D3-C85F-DB36-591FD2CB0C5F}"/>
                </a:ext>
              </a:extLst>
            </p:cNvPr>
            <p:cNvSpPr txBox="1">
              <a:spLocks/>
            </p:cNvSpPr>
            <p:nvPr/>
          </p:nvSpPr>
          <p:spPr>
            <a:xfrm>
              <a:off x="7669351" y="3194428"/>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3,296 → 2,595 NOK</a:t>
              </a:r>
            </a:p>
          </p:txBody>
        </p:sp>
      </p:grpSp>
      <p:grpSp>
        <p:nvGrpSpPr>
          <p:cNvPr id="27" name="Gruppieren 26">
            <a:extLst>
              <a:ext uri="{FF2B5EF4-FFF2-40B4-BE49-F238E27FC236}">
                <a16:creationId xmlns:a16="http://schemas.microsoft.com/office/drawing/2014/main" id="{3451980C-B3AC-AEF9-A19F-946C23990AAA}"/>
              </a:ext>
            </a:extLst>
          </p:cNvPr>
          <p:cNvGrpSpPr/>
          <p:nvPr/>
        </p:nvGrpSpPr>
        <p:grpSpPr>
          <a:xfrm>
            <a:off x="1080000" y="4412162"/>
            <a:ext cx="9721350" cy="540000"/>
            <a:chOff x="1080000" y="4089536"/>
            <a:chExt cx="9721350" cy="540000"/>
          </a:xfrm>
        </p:grpSpPr>
        <p:sp>
          <p:nvSpPr>
            <p:cNvPr id="19" name="Textplatzhalter 31">
              <a:extLst>
                <a:ext uri="{FF2B5EF4-FFF2-40B4-BE49-F238E27FC236}">
                  <a16:creationId xmlns:a16="http://schemas.microsoft.com/office/drawing/2014/main" id="{4202EA5D-5CDD-6EEB-BDFD-1D492C1BB987}"/>
                </a:ext>
              </a:extLst>
            </p:cNvPr>
            <p:cNvSpPr txBox="1">
              <a:spLocks/>
            </p:cNvSpPr>
            <p:nvPr/>
          </p:nvSpPr>
          <p:spPr>
            <a:xfrm>
              <a:off x="1080000" y="4089536"/>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Redundant &amp; </a:t>
              </a:r>
              <a:r>
                <a:rPr lang="de-DE" dirty="0" err="1"/>
                <a:t>noisy</a:t>
              </a:r>
              <a:r>
                <a:rPr lang="de-DE" dirty="0"/>
                <a:t> </a:t>
              </a:r>
              <a:r>
                <a:rPr lang="de-DE" dirty="0" err="1"/>
                <a:t>features</a:t>
              </a:r>
              <a:endParaRPr lang="de-DE" dirty="0"/>
            </a:p>
          </p:txBody>
        </p:sp>
        <p:sp>
          <p:nvSpPr>
            <p:cNvPr id="20" name="Textplatzhalter 31">
              <a:extLst>
                <a:ext uri="{FF2B5EF4-FFF2-40B4-BE49-F238E27FC236}">
                  <a16:creationId xmlns:a16="http://schemas.microsoft.com/office/drawing/2014/main" id="{A7A6404A-B40A-9F31-E6FF-17CA4A95C62F}"/>
                </a:ext>
              </a:extLst>
            </p:cNvPr>
            <p:cNvSpPr txBox="1">
              <a:spLocks/>
            </p:cNvSpPr>
            <p:nvPr/>
          </p:nvSpPr>
          <p:spPr>
            <a:xfrm>
              <a:off x="4374675" y="4089536"/>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err="1"/>
                <a:t>Sequential</a:t>
              </a:r>
              <a:r>
                <a:rPr lang="de-DE" dirty="0"/>
                <a:t> Forward </a:t>
              </a:r>
              <a:r>
                <a:rPr lang="de-DE" dirty="0" err="1"/>
                <a:t>Selection</a:t>
              </a:r>
              <a:r>
                <a:rPr lang="de-DE" dirty="0"/>
                <a:t> (18 </a:t>
              </a:r>
              <a:r>
                <a:rPr lang="de-DE" dirty="0" err="1"/>
                <a:t>features</a:t>
              </a:r>
              <a:r>
                <a:rPr lang="de-DE" dirty="0"/>
                <a:t>)</a:t>
              </a:r>
            </a:p>
          </p:txBody>
        </p:sp>
        <p:sp>
          <p:nvSpPr>
            <p:cNvPr id="21" name="Textplatzhalter 31">
              <a:extLst>
                <a:ext uri="{FF2B5EF4-FFF2-40B4-BE49-F238E27FC236}">
                  <a16:creationId xmlns:a16="http://schemas.microsoft.com/office/drawing/2014/main" id="{EC870E93-CF03-2AB7-74CA-7537ACC07B5C}"/>
                </a:ext>
              </a:extLst>
            </p:cNvPr>
            <p:cNvSpPr txBox="1">
              <a:spLocks/>
            </p:cNvSpPr>
            <p:nvPr/>
          </p:nvSpPr>
          <p:spPr>
            <a:xfrm>
              <a:off x="7669351" y="4089536"/>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2,595 → 2,408 NOK</a:t>
              </a:r>
            </a:p>
          </p:txBody>
        </p:sp>
      </p:grpSp>
      <p:grpSp>
        <p:nvGrpSpPr>
          <p:cNvPr id="28" name="Gruppieren 27">
            <a:extLst>
              <a:ext uri="{FF2B5EF4-FFF2-40B4-BE49-F238E27FC236}">
                <a16:creationId xmlns:a16="http://schemas.microsoft.com/office/drawing/2014/main" id="{768AB2A1-9535-0F9D-44FD-41747F8BE797}"/>
              </a:ext>
            </a:extLst>
          </p:cNvPr>
          <p:cNvGrpSpPr/>
          <p:nvPr/>
        </p:nvGrpSpPr>
        <p:grpSpPr>
          <a:xfrm>
            <a:off x="1080000" y="5468583"/>
            <a:ext cx="9721350" cy="540000"/>
            <a:chOff x="1080000" y="4984644"/>
            <a:chExt cx="9721350" cy="540000"/>
          </a:xfrm>
        </p:grpSpPr>
        <p:sp>
          <p:nvSpPr>
            <p:cNvPr id="22" name="Textplatzhalter 31">
              <a:extLst>
                <a:ext uri="{FF2B5EF4-FFF2-40B4-BE49-F238E27FC236}">
                  <a16:creationId xmlns:a16="http://schemas.microsoft.com/office/drawing/2014/main" id="{B1DB0097-357C-EB16-A64C-E6F35B29F741}"/>
                </a:ext>
              </a:extLst>
            </p:cNvPr>
            <p:cNvSpPr txBox="1">
              <a:spLocks/>
            </p:cNvSpPr>
            <p:nvPr/>
          </p:nvSpPr>
          <p:spPr>
            <a:xfrm>
              <a:off x="1080000" y="4984644"/>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Latent </a:t>
              </a:r>
              <a:r>
                <a:rPr lang="de-DE" dirty="0" err="1"/>
                <a:t>churners</a:t>
              </a:r>
              <a:r>
                <a:rPr lang="de-DE" dirty="0"/>
                <a:t> </a:t>
              </a:r>
              <a:r>
                <a:rPr lang="de-DE" dirty="0" err="1"/>
                <a:t>inflate</a:t>
              </a:r>
              <a:r>
                <a:rPr lang="de-DE" dirty="0"/>
                <a:t> </a:t>
              </a:r>
              <a:r>
                <a:rPr lang="de-DE" dirty="0" err="1"/>
                <a:t>predictions</a:t>
              </a:r>
              <a:endParaRPr lang="de-DE" dirty="0"/>
            </a:p>
          </p:txBody>
        </p:sp>
        <p:sp>
          <p:nvSpPr>
            <p:cNvPr id="23" name="Textplatzhalter 31">
              <a:extLst>
                <a:ext uri="{FF2B5EF4-FFF2-40B4-BE49-F238E27FC236}">
                  <a16:creationId xmlns:a16="http://schemas.microsoft.com/office/drawing/2014/main" id="{7EC573C4-C692-2DF1-6276-61129A19C475}"/>
                </a:ext>
              </a:extLst>
            </p:cNvPr>
            <p:cNvSpPr txBox="1">
              <a:spLocks/>
            </p:cNvSpPr>
            <p:nvPr/>
          </p:nvSpPr>
          <p:spPr>
            <a:xfrm>
              <a:off x="4374675" y="4984644"/>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Hybrid Two-Stage Model</a:t>
              </a:r>
            </a:p>
          </p:txBody>
        </p:sp>
        <p:sp>
          <p:nvSpPr>
            <p:cNvPr id="24" name="Textplatzhalter 31">
              <a:extLst>
                <a:ext uri="{FF2B5EF4-FFF2-40B4-BE49-F238E27FC236}">
                  <a16:creationId xmlns:a16="http://schemas.microsoft.com/office/drawing/2014/main" id="{E6959372-BC93-2314-E245-EFA40F7D1740}"/>
                </a:ext>
              </a:extLst>
            </p:cNvPr>
            <p:cNvSpPr txBox="1">
              <a:spLocks/>
            </p:cNvSpPr>
            <p:nvPr/>
          </p:nvSpPr>
          <p:spPr>
            <a:xfrm>
              <a:off x="7669351" y="4984644"/>
              <a:ext cx="3131999" cy="540000"/>
            </a:xfrm>
            <a:prstGeom prst="rect">
              <a:avLst/>
            </a:prstGeom>
          </p:spPr>
          <p:txBody>
            <a:bodyPr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de-DE" dirty="0"/>
                <a:t>2,408 → 2,387 NOK</a:t>
              </a:r>
            </a:p>
          </p:txBody>
        </p:sp>
      </p:grpSp>
      <p:pic>
        <p:nvPicPr>
          <p:cNvPr id="29" name="Graphic 3" descr="Badge 1 with solid fill">
            <a:extLst>
              <a:ext uri="{FF2B5EF4-FFF2-40B4-BE49-F238E27FC236}">
                <a16:creationId xmlns:a16="http://schemas.microsoft.com/office/drawing/2014/main" id="{0CCA921C-9998-E2B3-9917-D5EDE52A19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8069" y="2318355"/>
            <a:ext cx="501930" cy="501930"/>
          </a:xfrm>
          <a:prstGeom prst="rect">
            <a:avLst/>
          </a:prstGeom>
        </p:spPr>
      </p:pic>
      <p:pic>
        <p:nvPicPr>
          <p:cNvPr id="30" name="Graphic 10" descr="Badge with solid fill">
            <a:extLst>
              <a:ext uri="{FF2B5EF4-FFF2-40B4-BE49-F238E27FC236}">
                <a16:creationId xmlns:a16="http://schemas.microsoft.com/office/drawing/2014/main" id="{12E32170-1A81-9AEC-DF7E-7F324A997C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069" y="3428877"/>
            <a:ext cx="501930" cy="501930"/>
          </a:xfrm>
          <a:prstGeom prst="rect">
            <a:avLst/>
          </a:prstGeom>
        </p:spPr>
      </p:pic>
      <p:pic>
        <p:nvPicPr>
          <p:cNvPr id="31" name="Graphic 13" descr="Badge 3 with solid fill">
            <a:extLst>
              <a:ext uri="{FF2B5EF4-FFF2-40B4-BE49-F238E27FC236}">
                <a16:creationId xmlns:a16="http://schemas.microsoft.com/office/drawing/2014/main" id="{A4C5F34B-C32F-DEEA-0C89-F021BE73F8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069" y="4436964"/>
            <a:ext cx="501930" cy="501930"/>
          </a:xfrm>
          <a:prstGeom prst="rect">
            <a:avLst/>
          </a:prstGeom>
        </p:spPr>
      </p:pic>
      <p:pic>
        <p:nvPicPr>
          <p:cNvPr id="37" name="Inhaltsplatzhalter 99">
            <a:extLst>
              <a:ext uri="{FF2B5EF4-FFF2-40B4-BE49-F238E27FC236}">
                <a16:creationId xmlns:a16="http://schemas.microsoft.com/office/drawing/2014/main" id="{C2C4CDEC-88EF-0A85-1C0C-236FB844422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bwMode="auto">
          <a:xfrm>
            <a:off x="1079999" y="1308382"/>
            <a:ext cx="539750" cy="539750"/>
          </a:xfrm>
          <a:prstGeom prst="rect">
            <a:avLst/>
          </a:prstGeom>
          <a:noFill/>
          <a:ln>
            <a:noFill/>
          </a:ln>
        </p:spPr>
      </p:pic>
      <p:pic>
        <p:nvPicPr>
          <p:cNvPr id="38" name="Inhaltsplatzhalter 100">
            <a:extLst>
              <a:ext uri="{FF2B5EF4-FFF2-40B4-BE49-F238E27FC236}">
                <a16:creationId xmlns:a16="http://schemas.microsoft.com/office/drawing/2014/main" id="{9FD4F576-E989-409A-3225-B28F4737FA6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74675" y="1308132"/>
            <a:ext cx="540000" cy="540000"/>
          </a:xfrm>
          <a:prstGeom prst="rect">
            <a:avLst/>
          </a:prstGeom>
        </p:spPr>
      </p:pic>
      <p:pic>
        <p:nvPicPr>
          <p:cNvPr id="39" name="Inhaltsplatzhalter 70">
            <a:extLst>
              <a:ext uri="{FF2B5EF4-FFF2-40B4-BE49-F238E27FC236}">
                <a16:creationId xmlns:a16="http://schemas.microsoft.com/office/drawing/2014/main" id="{4DDF1926-360E-B831-6BD4-4393846F064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bwMode="auto">
          <a:xfrm>
            <a:off x="7669351" y="1308132"/>
            <a:ext cx="540000" cy="540000"/>
          </a:xfrm>
          <a:prstGeom prst="rect">
            <a:avLst/>
          </a:prstGeom>
          <a:noFill/>
          <a:ln>
            <a:noFill/>
          </a:ln>
        </p:spPr>
      </p:pic>
      <p:pic>
        <p:nvPicPr>
          <p:cNvPr id="41" name="Grafik 40" descr="Marke 4 mit einfarbiger Füllung">
            <a:extLst>
              <a:ext uri="{FF2B5EF4-FFF2-40B4-BE49-F238E27FC236}">
                <a16:creationId xmlns:a16="http://schemas.microsoft.com/office/drawing/2014/main" id="{4C0F322F-B4C7-8B33-55F5-C06F2EB27AB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8069" y="5487618"/>
            <a:ext cx="501930" cy="501930"/>
          </a:xfrm>
          <a:prstGeom prst="rect">
            <a:avLst/>
          </a:prstGeom>
        </p:spPr>
      </p:pic>
      <p:sp>
        <p:nvSpPr>
          <p:cNvPr id="3" name="Fußzeilenplatzhalter 4">
            <a:extLst>
              <a:ext uri="{FF2B5EF4-FFF2-40B4-BE49-F238E27FC236}">
                <a16:creationId xmlns:a16="http://schemas.microsoft.com/office/drawing/2014/main" id="{AE61F77C-A2D2-0537-8D08-92E16D4F36E6}"/>
              </a:ext>
            </a:extLst>
          </p:cNvPr>
          <p:cNvSpPr>
            <a:spLocks noGrp="1"/>
          </p:cNvSpPr>
          <p:nvPr>
            <p:ph type="ftr" sz="quarter" idx="11"/>
          </p:nvPr>
        </p:nvSpPr>
        <p:spPr>
          <a:xfrm>
            <a:off x="2171700" y="6522444"/>
            <a:ext cx="5400000" cy="216000"/>
          </a:xfrm>
        </p:spPr>
        <p:txBody>
          <a:bodyPr/>
          <a:lstStyle/>
          <a:p>
            <a:r>
              <a:rPr lang="en-US" dirty="0"/>
              <a:t>Marketing Analytics</a:t>
            </a:r>
          </a:p>
        </p:txBody>
      </p:sp>
    </p:spTree>
    <p:extLst>
      <p:ext uri="{BB962C8B-B14F-4D97-AF65-F5344CB8AC3E}">
        <p14:creationId xmlns:p14="http://schemas.microsoft.com/office/powerpoint/2010/main" val="336547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E977-7471-22F8-F77E-8935C6C9D1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5BB34BF-1AA8-BB58-94FE-86AD528B67E8}"/>
              </a:ext>
            </a:extLst>
          </p:cNvPr>
          <p:cNvSpPr>
            <a:spLocks noGrp="1"/>
          </p:cNvSpPr>
          <p:nvPr>
            <p:ph type="title"/>
          </p:nvPr>
        </p:nvSpPr>
        <p:spPr/>
        <p:txBody>
          <a:bodyPr/>
          <a:lstStyle/>
          <a:p>
            <a:r>
              <a:rPr lang="de-DE" dirty="0"/>
              <a:t>Hybrid Two-Stage Model</a:t>
            </a:r>
            <a:endParaRPr lang="en-US" dirty="0"/>
          </a:p>
        </p:txBody>
      </p:sp>
      <p:sp>
        <p:nvSpPr>
          <p:cNvPr id="4" name="Datumsplatzhalter 3">
            <a:extLst>
              <a:ext uri="{FF2B5EF4-FFF2-40B4-BE49-F238E27FC236}">
                <a16:creationId xmlns:a16="http://schemas.microsoft.com/office/drawing/2014/main" id="{D780938C-1245-351F-95F8-BB2869E19CF7}"/>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9756A366-202E-B174-D387-92505F385B8D}"/>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904AD687-A66C-F0AD-F240-F9F30CF54042}"/>
              </a:ext>
            </a:extLst>
          </p:cNvPr>
          <p:cNvSpPr>
            <a:spLocks noGrp="1"/>
          </p:cNvSpPr>
          <p:nvPr>
            <p:ph type="sldNum" sz="quarter" idx="12"/>
          </p:nvPr>
        </p:nvSpPr>
        <p:spPr/>
        <p:txBody>
          <a:bodyPr/>
          <a:lstStyle/>
          <a:p>
            <a:fld id="{5ACA52AF-F19D-405C-AD5F-7D94B96A5CC3}" type="slidenum">
              <a:rPr lang="de-CH" noProof="0" smtClean="0"/>
              <a:t>10</a:t>
            </a:fld>
            <a:endParaRPr lang="de-CH" noProof="0"/>
          </a:p>
        </p:txBody>
      </p:sp>
      <p:sp>
        <p:nvSpPr>
          <p:cNvPr id="9" name="Ellipse 8">
            <a:extLst>
              <a:ext uri="{FF2B5EF4-FFF2-40B4-BE49-F238E27FC236}">
                <a16:creationId xmlns:a16="http://schemas.microsoft.com/office/drawing/2014/main" id="{2765AAD7-65E4-2969-61B8-4EE25F8E2071}"/>
              </a:ext>
            </a:extLst>
          </p:cNvPr>
          <p:cNvSpPr>
            <a:spLocks noChangeAspect="1"/>
          </p:cNvSpPr>
          <p:nvPr/>
        </p:nvSpPr>
        <p:spPr>
          <a:xfrm>
            <a:off x="207308" y="1817220"/>
            <a:ext cx="755377" cy="755377"/>
          </a:xfrm>
          <a:prstGeom prst="ellipse">
            <a:avLst/>
          </a:prstGeom>
          <a:solidFill>
            <a:srgbClr val="00789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Start</a:t>
            </a:r>
            <a:endParaRPr lang="en-US" sz="1200" dirty="0"/>
          </a:p>
        </p:txBody>
      </p:sp>
      <p:cxnSp>
        <p:nvCxnSpPr>
          <p:cNvPr id="18" name="Gerade Verbindung mit Pfeil 17">
            <a:extLst>
              <a:ext uri="{FF2B5EF4-FFF2-40B4-BE49-F238E27FC236}">
                <a16:creationId xmlns:a16="http://schemas.microsoft.com/office/drawing/2014/main" id="{BDD632EC-C8A7-561A-6B55-22F252CA0CFA}"/>
              </a:ext>
            </a:extLst>
          </p:cNvPr>
          <p:cNvCxnSpPr>
            <a:cxnSpLocks/>
            <a:stCxn id="9" idx="6"/>
            <a:endCxn id="7" idx="1"/>
          </p:cNvCxnSpPr>
          <p:nvPr/>
        </p:nvCxnSpPr>
        <p:spPr>
          <a:xfrm>
            <a:off x="962685" y="2194909"/>
            <a:ext cx="415728"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hteck 41">
            <a:extLst>
              <a:ext uri="{FF2B5EF4-FFF2-40B4-BE49-F238E27FC236}">
                <a16:creationId xmlns:a16="http://schemas.microsoft.com/office/drawing/2014/main" id="{7CCB5191-03BA-0A32-C37B-2D977D9E748E}"/>
              </a:ext>
            </a:extLst>
          </p:cNvPr>
          <p:cNvSpPr/>
          <p:nvPr/>
        </p:nvSpPr>
        <p:spPr>
          <a:xfrm>
            <a:off x="731837" y="4289460"/>
            <a:ext cx="5071555" cy="14248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Stage 2 trained on only 439 active customers</a:t>
            </a:r>
            <a:br>
              <a:rPr lang="en-US" dirty="0">
                <a:solidFill>
                  <a:schemeClr val="tx1"/>
                </a:solidFill>
              </a:rPr>
            </a:br>
            <a:r>
              <a:rPr lang="en-US" dirty="0">
                <a:solidFill>
                  <a:schemeClr val="tx1"/>
                </a:solidFill>
              </a:rPr>
              <a:t>→ too sparse to learn high-value behavior</a:t>
            </a:r>
          </a:p>
        </p:txBody>
      </p:sp>
      <p:sp>
        <p:nvSpPr>
          <p:cNvPr id="43" name="Rechteck 42">
            <a:extLst>
              <a:ext uri="{FF2B5EF4-FFF2-40B4-BE49-F238E27FC236}">
                <a16:creationId xmlns:a16="http://schemas.microsoft.com/office/drawing/2014/main" id="{873F69CE-E9F3-B49D-A692-D7A53460424E}"/>
              </a:ext>
            </a:extLst>
          </p:cNvPr>
          <p:cNvSpPr/>
          <p:nvPr/>
        </p:nvSpPr>
        <p:spPr>
          <a:xfrm>
            <a:off x="6388607" y="4284321"/>
            <a:ext cx="5071555" cy="14248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Can't explicitly zero out latent churners </a:t>
            </a:r>
            <a:br>
              <a:rPr lang="en-US" dirty="0">
                <a:solidFill>
                  <a:schemeClr val="tx1"/>
                </a:solidFill>
              </a:rPr>
            </a:br>
            <a:r>
              <a:rPr lang="en-US" dirty="0">
                <a:solidFill>
                  <a:schemeClr val="tx1"/>
                </a:solidFill>
              </a:rPr>
              <a:t>→ over-predicts dormant high-spenders</a:t>
            </a:r>
          </a:p>
        </p:txBody>
      </p:sp>
      <p:sp>
        <p:nvSpPr>
          <p:cNvPr id="44" name="Rechteck 43">
            <a:extLst>
              <a:ext uri="{FF2B5EF4-FFF2-40B4-BE49-F238E27FC236}">
                <a16:creationId xmlns:a16="http://schemas.microsoft.com/office/drawing/2014/main" id="{5CA01B45-B44D-B7F3-7AC6-23C1081A615E}"/>
              </a:ext>
            </a:extLst>
          </p:cNvPr>
          <p:cNvSpPr/>
          <p:nvPr/>
        </p:nvSpPr>
        <p:spPr>
          <a:xfrm>
            <a:off x="731837" y="4278060"/>
            <a:ext cx="5071554" cy="694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Why not a pure two-stage model?</a:t>
            </a:r>
          </a:p>
        </p:txBody>
      </p:sp>
      <p:sp>
        <p:nvSpPr>
          <p:cNvPr id="45" name="Rechteck 44">
            <a:extLst>
              <a:ext uri="{FF2B5EF4-FFF2-40B4-BE49-F238E27FC236}">
                <a16:creationId xmlns:a16="http://schemas.microsoft.com/office/drawing/2014/main" id="{6F8D559E-403B-8896-4830-36BCB37EEDDA}"/>
              </a:ext>
            </a:extLst>
          </p:cNvPr>
          <p:cNvSpPr/>
          <p:nvPr/>
        </p:nvSpPr>
        <p:spPr>
          <a:xfrm>
            <a:off x="6387227" y="4278060"/>
            <a:ext cx="5071554" cy="694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Why not a single-stage model alone?</a:t>
            </a:r>
          </a:p>
        </p:txBody>
      </p:sp>
      <p:sp>
        <p:nvSpPr>
          <p:cNvPr id="7" name="Rechteck: abgerundete Ecken 6">
            <a:extLst>
              <a:ext uri="{FF2B5EF4-FFF2-40B4-BE49-F238E27FC236}">
                <a16:creationId xmlns:a16="http://schemas.microsoft.com/office/drawing/2014/main" id="{1FBE4925-6C96-53F8-7164-9B2469B22402}"/>
              </a:ext>
            </a:extLst>
          </p:cNvPr>
          <p:cNvSpPr/>
          <p:nvPr/>
        </p:nvSpPr>
        <p:spPr>
          <a:xfrm>
            <a:off x="1378413" y="1817221"/>
            <a:ext cx="1800000" cy="755377"/>
          </a:xfrm>
          <a:prstGeom prst="round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All </a:t>
            </a:r>
            <a:r>
              <a:rPr lang="de-DE" sz="1200" b="1" dirty="0" err="1"/>
              <a:t>customers</a:t>
            </a:r>
            <a:endParaRPr lang="en-US" sz="1200" b="1" dirty="0"/>
          </a:p>
        </p:txBody>
      </p:sp>
      <p:sp>
        <p:nvSpPr>
          <p:cNvPr id="28" name="Rechteck 27">
            <a:extLst>
              <a:ext uri="{FF2B5EF4-FFF2-40B4-BE49-F238E27FC236}">
                <a16:creationId xmlns:a16="http://schemas.microsoft.com/office/drawing/2014/main" id="{87269859-BD14-38F5-4A93-80DC33EA81A4}"/>
              </a:ext>
            </a:extLst>
          </p:cNvPr>
          <p:cNvSpPr/>
          <p:nvPr/>
        </p:nvSpPr>
        <p:spPr>
          <a:xfrm>
            <a:off x="3686187" y="926610"/>
            <a:ext cx="1800000" cy="755377"/>
          </a:xfrm>
          <a:prstGeom prst="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err="1"/>
              <a:t>LightGBM</a:t>
            </a:r>
            <a:r>
              <a:rPr lang="de-DE" sz="1200" b="1" dirty="0"/>
              <a:t> </a:t>
            </a:r>
            <a:r>
              <a:rPr lang="de-DE" sz="1200" b="1" dirty="0" err="1"/>
              <a:t>Classifier</a:t>
            </a:r>
            <a:br>
              <a:rPr lang="de-DE" sz="1200" b="1" dirty="0"/>
            </a:br>
            <a:r>
              <a:rPr lang="de-DE" sz="1000" dirty="0" err="1"/>
              <a:t>scores</a:t>
            </a:r>
            <a:r>
              <a:rPr lang="de-DE" sz="1000" dirty="0"/>
              <a:t> </a:t>
            </a:r>
            <a:r>
              <a:rPr lang="de-DE" sz="1000" dirty="0" err="1"/>
              <a:t>churn</a:t>
            </a:r>
            <a:r>
              <a:rPr lang="de-DE" sz="1000" dirty="0"/>
              <a:t> </a:t>
            </a:r>
            <a:r>
              <a:rPr lang="de-DE" sz="1000" dirty="0" err="1"/>
              <a:t>prediction</a:t>
            </a:r>
            <a:endParaRPr lang="en-US" sz="1100" b="1" dirty="0"/>
          </a:p>
        </p:txBody>
      </p:sp>
      <p:sp>
        <p:nvSpPr>
          <p:cNvPr id="30" name="Rechteck 29">
            <a:extLst>
              <a:ext uri="{FF2B5EF4-FFF2-40B4-BE49-F238E27FC236}">
                <a16:creationId xmlns:a16="http://schemas.microsoft.com/office/drawing/2014/main" id="{5D1A89B9-C86E-62AF-40E3-6C8573A9C8C4}"/>
              </a:ext>
            </a:extLst>
          </p:cNvPr>
          <p:cNvSpPr/>
          <p:nvPr/>
        </p:nvSpPr>
        <p:spPr>
          <a:xfrm>
            <a:off x="3685733" y="2794154"/>
            <a:ext cx="1800000" cy="756000"/>
          </a:xfrm>
          <a:prstGeom prst="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err="1"/>
              <a:t>LightGBM</a:t>
            </a:r>
            <a:r>
              <a:rPr lang="de-DE" sz="1200" b="1" dirty="0"/>
              <a:t> Regressor</a:t>
            </a:r>
          </a:p>
          <a:p>
            <a:pPr algn="ctr"/>
            <a:r>
              <a:rPr lang="de-DE" sz="1000" dirty="0" err="1"/>
              <a:t>predicts</a:t>
            </a:r>
            <a:r>
              <a:rPr lang="de-DE" sz="1000" dirty="0"/>
              <a:t> clv </a:t>
            </a:r>
            <a:r>
              <a:rPr lang="de-DE" sz="1000" dirty="0" err="1"/>
              <a:t>for</a:t>
            </a:r>
            <a:r>
              <a:rPr lang="de-DE" sz="1000" dirty="0"/>
              <a:t> all</a:t>
            </a:r>
            <a:endParaRPr lang="en-US" sz="1200" dirty="0"/>
          </a:p>
        </p:txBody>
      </p:sp>
      <p:cxnSp>
        <p:nvCxnSpPr>
          <p:cNvPr id="33" name="Verbinder: gewinkelt 32">
            <a:extLst>
              <a:ext uri="{FF2B5EF4-FFF2-40B4-BE49-F238E27FC236}">
                <a16:creationId xmlns:a16="http://schemas.microsoft.com/office/drawing/2014/main" id="{EA6AFE09-5F5A-E4F1-C999-9ED52590FA01}"/>
              </a:ext>
            </a:extLst>
          </p:cNvPr>
          <p:cNvCxnSpPr>
            <a:stCxn id="7" idx="3"/>
            <a:endCxn id="28" idx="1"/>
          </p:cNvCxnSpPr>
          <p:nvPr/>
        </p:nvCxnSpPr>
        <p:spPr>
          <a:xfrm flipV="1">
            <a:off x="3178413" y="1304299"/>
            <a:ext cx="507774" cy="890611"/>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winkelt 37">
            <a:extLst>
              <a:ext uri="{FF2B5EF4-FFF2-40B4-BE49-F238E27FC236}">
                <a16:creationId xmlns:a16="http://schemas.microsoft.com/office/drawing/2014/main" id="{129F215E-8D4D-F1A1-2C01-3096367CF20E}"/>
              </a:ext>
            </a:extLst>
          </p:cNvPr>
          <p:cNvCxnSpPr>
            <a:stCxn id="7" idx="3"/>
            <a:endCxn id="30" idx="1"/>
          </p:cNvCxnSpPr>
          <p:nvPr/>
        </p:nvCxnSpPr>
        <p:spPr>
          <a:xfrm>
            <a:off x="3178413" y="2194910"/>
            <a:ext cx="507320" cy="97724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hteck: abgerundete Ecken 39">
            <a:extLst>
              <a:ext uri="{FF2B5EF4-FFF2-40B4-BE49-F238E27FC236}">
                <a16:creationId xmlns:a16="http://schemas.microsoft.com/office/drawing/2014/main" id="{2511762C-E576-3BEC-AA00-2D893404D8BD}"/>
              </a:ext>
            </a:extLst>
          </p:cNvPr>
          <p:cNvSpPr/>
          <p:nvPr/>
        </p:nvSpPr>
        <p:spPr>
          <a:xfrm>
            <a:off x="5901461" y="1817220"/>
            <a:ext cx="2663884" cy="755377"/>
          </a:xfrm>
          <a:prstGeom prst="round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Hybrid </a:t>
            </a:r>
            <a:r>
              <a:rPr lang="de-DE" sz="1200" b="1" dirty="0" err="1"/>
              <a:t>prediction</a:t>
            </a:r>
            <a:r>
              <a:rPr lang="de-DE" sz="1200" b="1" dirty="0"/>
              <a:t> </a:t>
            </a:r>
            <a:r>
              <a:rPr lang="de-DE" sz="1200" b="1" dirty="0" err="1"/>
              <a:t>combination</a:t>
            </a:r>
            <a:br>
              <a:rPr lang="de-DE" sz="1200" b="1" dirty="0"/>
            </a:br>
            <a:r>
              <a:rPr lang="de-DE" sz="1000" dirty="0" err="1"/>
              <a:t>if</a:t>
            </a:r>
            <a:r>
              <a:rPr lang="de-DE" sz="1000" dirty="0"/>
              <a:t> </a:t>
            </a:r>
            <a:r>
              <a:rPr lang="de-DE" sz="1000" dirty="0" err="1"/>
              <a:t>churned</a:t>
            </a:r>
            <a:r>
              <a:rPr lang="de-DE" sz="1000" dirty="0"/>
              <a:t> </a:t>
            </a:r>
            <a:r>
              <a:rPr lang="de-DE" sz="1000" dirty="0">
                <a:latin typeface="Segoe UI Symbol" panose="020B0502040204020203" pitchFamily="34" charset="0"/>
                <a:ea typeface="Segoe UI Symbol" panose="020B0502040204020203" pitchFamily="34" charset="0"/>
              </a:rPr>
              <a:t>→ </a:t>
            </a:r>
            <a:r>
              <a:rPr lang="de-DE" sz="1000" dirty="0">
                <a:ea typeface="Segoe UI Symbol" panose="020B0502040204020203" pitchFamily="34" charset="0"/>
              </a:rPr>
              <a:t>CLV = 0</a:t>
            </a:r>
          </a:p>
          <a:p>
            <a:pPr algn="ctr"/>
            <a:r>
              <a:rPr lang="de-DE" sz="1000" dirty="0" err="1">
                <a:ea typeface="Segoe UI Symbol" panose="020B0502040204020203" pitchFamily="34" charset="0"/>
              </a:rPr>
              <a:t>If</a:t>
            </a:r>
            <a:r>
              <a:rPr lang="de-DE" sz="1000" dirty="0">
                <a:ea typeface="Segoe UI Symbol" panose="020B0502040204020203" pitchFamily="34" charset="0"/>
              </a:rPr>
              <a:t> </a:t>
            </a:r>
            <a:r>
              <a:rPr lang="de-DE" sz="1000" dirty="0" err="1">
                <a:ea typeface="Segoe UI Symbol" panose="020B0502040204020203" pitchFamily="34" charset="0"/>
              </a:rPr>
              <a:t>active</a:t>
            </a:r>
            <a:r>
              <a:rPr lang="de-DE" sz="1000" dirty="0">
                <a:ea typeface="Segoe UI Symbol" panose="020B0502040204020203" pitchFamily="34" charset="0"/>
              </a:rPr>
              <a:t> </a:t>
            </a:r>
            <a:r>
              <a:rPr lang="de-DE" sz="1000" dirty="0">
                <a:latin typeface="Segoe UI Symbol" panose="020B0502040204020203" pitchFamily="34" charset="0"/>
                <a:ea typeface="Segoe UI Symbol" panose="020B0502040204020203" pitchFamily="34" charset="0"/>
              </a:rPr>
              <a:t>→</a:t>
            </a:r>
            <a:r>
              <a:rPr lang="de-DE" sz="1000" dirty="0">
                <a:ea typeface="Segoe UI Symbol" panose="020B0502040204020203" pitchFamily="34" charset="0"/>
              </a:rPr>
              <a:t> CLV </a:t>
            </a:r>
            <a:r>
              <a:rPr lang="de-DE" sz="1000" dirty="0" err="1">
                <a:ea typeface="Segoe UI Symbol" panose="020B0502040204020203" pitchFamily="34" charset="0"/>
              </a:rPr>
              <a:t>prediction</a:t>
            </a:r>
            <a:r>
              <a:rPr lang="de-DE" sz="1000" dirty="0">
                <a:ea typeface="Segoe UI Symbol" panose="020B0502040204020203" pitchFamily="34" charset="0"/>
              </a:rPr>
              <a:t> </a:t>
            </a:r>
            <a:r>
              <a:rPr lang="de-DE" sz="1000" dirty="0" err="1">
                <a:ea typeface="Segoe UI Symbol" panose="020B0502040204020203" pitchFamily="34" charset="0"/>
              </a:rPr>
              <a:t>of</a:t>
            </a:r>
            <a:r>
              <a:rPr lang="de-DE" sz="1000" dirty="0">
                <a:ea typeface="Segoe UI Symbol" panose="020B0502040204020203" pitchFamily="34" charset="0"/>
              </a:rPr>
              <a:t> </a:t>
            </a:r>
            <a:r>
              <a:rPr lang="de-DE" sz="1000" dirty="0" err="1">
                <a:ea typeface="Segoe UI Symbol" panose="020B0502040204020203" pitchFamily="34" charset="0"/>
              </a:rPr>
              <a:t>regressor</a:t>
            </a:r>
            <a:endParaRPr lang="en-US" sz="1200" dirty="0">
              <a:ea typeface="Segoe UI Symbol" panose="020B0502040204020203" pitchFamily="34" charset="0"/>
            </a:endParaRPr>
          </a:p>
        </p:txBody>
      </p:sp>
      <p:cxnSp>
        <p:nvCxnSpPr>
          <p:cNvPr id="47" name="Verbinder: gewinkelt 46">
            <a:extLst>
              <a:ext uri="{FF2B5EF4-FFF2-40B4-BE49-F238E27FC236}">
                <a16:creationId xmlns:a16="http://schemas.microsoft.com/office/drawing/2014/main" id="{FA9FEE98-9AD6-F8ED-2234-81DAA88AFBC8}"/>
              </a:ext>
            </a:extLst>
          </p:cNvPr>
          <p:cNvCxnSpPr>
            <a:stCxn id="28" idx="3"/>
            <a:endCxn id="40" idx="0"/>
          </p:cNvCxnSpPr>
          <p:nvPr/>
        </p:nvCxnSpPr>
        <p:spPr>
          <a:xfrm>
            <a:off x="5486187" y="1304299"/>
            <a:ext cx="1747216" cy="5129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Verbinder: gewinkelt 50">
            <a:extLst>
              <a:ext uri="{FF2B5EF4-FFF2-40B4-BE49-F238E27FC236}">
                <a16:creationId xmlns:a16="http://schemas.microsoft.com/office/drawing/2014/main" id="{70879B67-F9C2-DD5D-0728-DD69DF628FC1}"/>
              </a:ext>
            </a:extLst>
          </p:cNvPr>
          <p:cNvCxnSpPr>
            <a:stCxn id="30" idx="3"/>
            <a:endCxn id="40" idx="2"/>
          </p:cNvCxnSpPr>
          <p:nvPr/>
        </p:nvCxnSpPr>
        <p:spPr>
          <a:xfrm flipV="1">
            <a:off x="5485733" y="2572597"/>
            <a:ext cx="1747670" cy="599557"/>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hteck: abgerundete Ecken 51">
            <a:extLst>
              <a:ext uri="{FF2B5EF4-FFF2-40B4-BE49-F238E27FC236}">
                <a16:creationId xmlns:a16="http://schemas.microsoft.com/office/drawing/2014/main" id="{09B97FB7-F0A7-5381-68C3-C721B836E053}"/>
              </a:ext>
            </a:extLst>
          </p:cNvPr>
          <p:cNvSpPr/>
          <p:nvPr/>
        </p:nvSpPr>
        <p:spPr>
          <a:xfrm>
            <a:off x="8980619" y="1816916"/>
            <a:ext cx="1800000" cy="755377"/>
          </a:xfrm>
          <a:prstGeom prst="round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Final CLV </a:t>
            </a:r>
            <a:r>
              <a:rPr lang="de-DE" sz="1200" b="1" dirty="0" err="1"/>
              <a:t>prediction</a:t>
            </a:r>
            <a:endParaRPr lang="en-US" sz="1200" b="1" dirty="0"/>
          </a:p>
        </p:txBody>
      </p:sp>
      <p:cxnSp>
        <p:nvCxnSpPr>
          <p:cNvPr id="56" name="Gerade Verbindung mit Pfeil 55">
            <a:extLst>
              <a:ext uri="{FF2B5EF4-FFF2-40B4-BE49-F238E27FC236}">
                <a16:creationId xmlns:a16="http://schemas.microsoft.com/office/drawing/2014/main" id="{5D0C5AD3-22DD-119D-30A6-1D968850F850}"/>
              </a:ext>
            </a:extLst>
          </p:cNvPr>
          <p:cNvCxnSpPr>
            <a:stCxn id="40" idx="3"/>
            <a:endCxn id="52" idx="1"/>
          </p:cNvCxnSpPr>
          <p:nvPr/>
        </p:nvCxnSpPr>
        <p:spPr>
          <a:xfrm flipV="1">
            <a:off x="8565345" y="2194605"/>
            <a:ext cx="415274" cy="3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Ellipse 57">
            <a:extLst>
              <a:ext uri="{FF2B5EF4-FFF2-40B4-BE49-F238E27FC236}">
                <a16:creationId xmlns:a16="http://schemas.microsoft.com/office/drawing/2014/main" id="{9D6C7B3D-9FBD-962A-E6AD-96B0A58BC147}"/>
              </a:ext>
            </a:extLst>
          </p:cNvPr>
          <p:cNvSpPr>
            <a:spLocks noChangeAspect="1"/>
          </p:cNvSpPr>
          <p:nvPr/>
        </p:nvSpPr>
        <p:spPr>
          <a:xfrm>
            <a:off x="11195893" y="1816915"/>
            <a:ext cx="755377" cy="755377"/>
          </a:xfrm>
          <a:prstGeom prst="ellipse">
            <a:avLst/>
          </a:prstGeom>
          <a:solidFill>
            <a:srgbClr val="00789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End</a:t>
            </a:r>
            <a:endParaRPr lang="en-US" sz="1200" dirty="0"/>
          </a:p>
        </p:txBody>
      </p:sp>
      <p:cxnSp>
        <p:nvCxnSpPr>
          <p:cNvPr id="60" name="Gerade Verbindung mit Pfeil 59">
            <a:extLst>
              <a:ext uri="{FF2B5EF4-FFF2-40B4-BE49-F238E27FC236}">
                <a16:creationId xmlns:a16="http://schemas.microsoft.com/office/drawing/2014/main" id="{28FAC422-2133-3D53-A682-10E301EB8B0E}"/>
              </a:ext>
            </a:extLst>
          </p:cNvPr>
          <p:cNvCxnSpPr>
            <a:stCxn id="52" idx="3"/>
            <a:endCxn id="58" idx="2"/>
          </p:cNvCxnSpPr>
          <p:nvPr/>
        </p:nvCxnSpPr>
        <p:spPr>
          <a:xfrm flipV="1">
            <a:off x="10780619" y="2194604"/>
            <a:ext cx="415274"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6965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02F4A6-B473-4556-C899-8C1DB53ADD9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3EFBBF9-F258-7438-A0C7-15E9AA40397E}"/>
              </a:ext>
            </a:extLst>
          </p:cNvPr>
          <p:cNvSpPr>
            <a:spLocks noGrp="1"/>
          </p:cNvSpPr>
          <p:nvPr>
            <p:ph type="title"/>
          </p:nvPr>
        </p:nvSpPr>
        <p:spPr/>
        <p:txBody>
          <a:bodyPr/>
          <a:lstStyle/>
          <a:p>
            <a:r>
              <a:rPr lang="de-DE" dirty="0"/>
              <a:t>Hybrid Two-Stage Model</a:t>
            </a:r>
            <a:endParaRPr lang="en-US" dirty="0"/>
          </a:p>
        </p:txBody>
      </p:sp>
      <p:sp>
        <p:nvSpPr>
          <p:cNvPr id="4" name="Datumsplatzhalter 3">
            <a:extLst>
              <a:ext uri="{FF2B5EF4-FFF2-40B4-BE49-F238E27FC236}">
                <a16:creationId xmlns:a16="http://schemas.microsoft.com/office/drawing/2014/main" id="{242903B3-DDE1-B692-DA71-06F992BF956C}"/>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F04EE266-ACB2-232F-B8BF-F020399538D9}"/>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EAFF97AB-EC78-690C-9EA1-8315D78EA51D}"/>
              </a:ext>
            </a:extLst>
          </p:cNvPr>
          <p:cNvSpPr>
            <a:spLocks noGrp="1"/>
          </p:cNvSpPr>
          <p:nvPr>
            <p:ph type="sldNum" sz="quarter" idx="12"/>
          </p:nvPr>
        </p:nvSpPr>
        <p:spPr/>
        <p:txBody>
          <a:bodyPr/>
          <a:lstStyle/>
          <a:p>
            <a:fld id="{5ACA52AF-F19D-405C-AD5F-7D94B96A5CC3}" type="slidenum">
              <a:rPr lang="de-CH" noProof="0" smtClean="0"/>
              <a:t>11</a:t>
            </a:fld>
            <a:endParaRPr lang="de-CH" noProof="0"/>
          </a:p>
        </p:txBody>
      </p:sp>
      <p:sp>
        <p:nvSpPr>
          <p:cNvPr id="8" name="Inhaltsplatzhalter 7">
            <a:extLst>
              <a:ext uri="{FF2B5EF4-FFF2-40B4-BE49-F238E27FC236}">
                <a16:creationId xmlns:a16="http://schemas.microsoft.com/office/drawing/2014/main" id="{E213D0B8-0037-B088-4513-3B84D66357AB}"/>
              </a:ext>
            </a:extLst>
          </p:cNvPr>
          <p:cNvSpPr>
            <a:spLocks noGrp="1"/>
          </p:cNvSpPr>
          <p:nvPr>
            <p:ph idx="1"/>
          </p:nvPr>
        </p:nvSpPr>
        <p:spPr>
          <a:xfrm>
            <a:off x="731837" y="5781099"/>
            <a:ext cx="10728325" cy="598372"/>
          </a:xfrm>
        </p:spPr>
        <p:txBody>
          <a:bodyPr/>
          <a:lstStyle/>
          <a:p>
            <a:pPr marL="0" indent="0">
              <a:buNone/>
            </a:pPr>
            <a:r>
              <a:rPr lang="de-DE" dirty="0"/>
              <a:t>Architecture </a:t>
            </a:r>
            <a:r>
              <a:rPr lang="de-DE" dirty="0" err="1"/>
              <a:t>provides</a:t>
            </a:r>
            <a:r>
              <a:rPr lang="de-DE" dirty="0"/>
              <a:t> a final MAE </a:t>
            </a:r>
            <a:r>
              <a:rPr lang="de-DE" dirty="0" err="1"/>
              <a:t>of</a:t>
            </a:r>
            <a:r>
              <a:rPr lang="de-DE" dirty="0"/>
              <a:t> 2387 NOK – </a:t>
            </a:r>
            <a:r>
              <a:rPr lang="de-DE" dirty="0" err="1"/>
              <a:t>improvement</a:t>
            </a:r>
            <a:r>
              <a:rPr lang="de-DE" dirty="0"/>
              <a:t> </a:t>
            </a:r>
            <a:r>
              <a:rPr lang="de-DE" dirty="0" err="1"/>
              <a:t>by</a:t>
            </a:r>
            <a:r>
              <a:rPr lang="de-DE" dirty="0"/>
              <a:t> 6% </a:t>
            </a:r>
            <a:r>
              <a:rPr lang="de-DE" dirty="0" err="1"/>
              <a:t>compared</a:t>
            </a:r>
            <a:r>
              <a:rPr lang="de-DE" dirty="0"/>
              <a:t> to </a:t>
            </a:r>
            <a:r>
              <a:rPr lang="de-DE" dirty="0" err="1"/>
              <a:t>the</a:t>
            </a:r>
            <a:r>
              <a:rPr lang="de-DE" dirty="0"/>
              <a:t> single-stage </a:t>
            </a:r>
            <a:r>
              <a:rPr lang="de-DE" dirty="0" err="1"/>
              <a:t>model</a:t>
            </a:r>
            <a:r>
              <a:rPr lang="de-DE" dirty="0"/>
              <a:t> </a:t>
            </a:r>
            <a:endParaRPr lang="en-US" dirty="0"/>
          </a:p>
        </p:txBody>
      </p:sp>
      <p:sp>
        <p:nvSpPr>
          <p:cNvPr id="9" name="Ellipse 8">
            <a:extLst>
              <a:ext uri="{FF2B5EF4-FFF2-40B4-BE49-F238E27FC236}">
                <a16:creationId xmlns:a16="http://schemas.microsoft.com/office/drawing/2014/main" id="{C3E257BB-048F-4E32-B748-CD365B778B41}"/>
              </a:ext>
            </a:extLst>
          </p:cNvPr>
          <p:cNvSpPr>
            <a:spLocks noChangeAspect="1"/>
          </p:cNvSpPr>
          <p:nvPr/>
        </p:nvSpPr>
        <p:spPr>
          <a:xfrm>
            <a:off x="302952" y="1692912"/>
            <a:ext cx="975043" cy="975043"/>
          </a:xfrm>
          <a:prstGeom prst="ellipse">
            <a:avLst/>
          </a:prstGeom>
          <a:solidFill>
            <a:srgbClr val="007894"/>
          </a:solidFill>
          <a:ln>
            <a:solidFill>
              <a:srgbClr val="215C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Start</a:t>
            </a:r>
            <a:endParaRPr lang="en-US" dirty="0"/>
          </a:p>
        </p:txBody>
      </p:sp>
      <p:sp>
        <p:nvSpPr>
          <p:cNvPr id="11" name="Rechteck 10">
            <a:extLst>
              <a:ext uri="{FF2B5EF4-FFF2-40B4-BE49-F238E27FC236}">
                <a16:creationId xmlns:a16="http://schemas.microsoft.com/office/drawing/2014/main" id="{3E029B32-81F1-F04F-EAB0-D48B78D9BB1A}"/>
              </a:ext>
            </a:extLst>
          </p:cNvPr>
          <p:cNvSpPr/>
          <p:nvPr/>
        </p:nvSpPr>
        <p:spPr>
          <a:xfrm>
            <a:off x="1742816" y="1692912"/>
            <a:ext cx="1882141" cy="975043"/>
          </a:xfrm>
          <a:prstGeom prst="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err="1"/>
              <a:t>LightGBM</a:t>
            </a:r>
            <a:r>
              <a:rPr lang="de-DE" b="1" dirty="0"/>
              <a:t> </a:t>
            </a:r>
            <a:r>
              <a:rPr lang="de-DE" b="1" dirty="0" err="1"/>
              <a:t>Classifier</a:t>
            </a:r>
            <a:endParaRPr lang="en-US" b="1" dirty="0"/>
          </a:p>
        </p:txBody>
      </p:sp>
      <p:sp>
        <p:nvSpPr>
          <p:cNvPr id="12" name="Raute 11">
            <a:extLst>
              <a:ext uri="{FF2B5EF4-FFF2-40B4-BE49-F238E27FC236}">
                <a16:creationId xmlns:a16="http://schemas.microsoft.com/office/drawing/2014/main" id="{DED619D8-16C7-CD20-ECA8-0DD7CA3950EB}"/>
              </a:ext>
            </a:extLst>
          </p:cNvPr>
          <p:cNvSpPr/>
          <p:nvPr/>
        </p:nvSpPr>
        <p:spPr>
          <a:xfrm>
            <a:off x="4091303" y="1692912"/>
            <a:ext cx="1588322" cy="975043"/>
          </a:xfrm>
          <a:prstGeom prst="diamond">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t>Churned</a:t>
            </a:r>
            <a:r>
              <a:rPr lang="de-DE" dirty="0"/>
              <a:t>?</a:t>
            </a:r>
            <a:endParaRPr lang="en-US" dirty="0"/>
          </a:p>
        </p:txBody>
      </p:sp>
      <p:sp>
        <p:nvSpPr>
          <p:cNvPr id="15" name="Rechteck 14">
            <a:extLst>
              <a:ext uri="{FF2B5EF4-FFF2-40B4-BE49-F238E27FC236}">
                <a16:creationId xmlns:a16="http://schemas.microsoft.com/office/drawing/2014/main" id="{E2881926-AB19-A91E-5508-85CF580073EE}"/>
              </a:ext>
            </a:extLst>
          </p:cNvPr>
          <p:cNvSpPr/>
          <p:nvPr/>
        </p:nvSpPr>
        <p:spPr>
          <a:xfrm>
            <a:off x="6547177" y="950639"/>
            <a:ext cx="2346962" cy="975043"/>
          </a:xfrm>
          <a:prstGeom prst="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err="1"/>
              <a:t>LightGBM</a:t>
            </a:r>
            <a:r>
              <a:rPr lang="de-DE" b="1" dirty="0"/>
              <a:t> Regressor </a:t>
            </a:r>
            <a:endParaRPr lang="en-US" b="1" dirty="0"/>
          </a:p>
        </p:txBody>
      </p:sp>
      <p:sp>
        <p:nvSpPr>
          <p:cNvPr id="16" name="Parallelogramm 15">
            <a:extLst>
              <a:ext uri="{FF2B5EF4-FFF2-40B4-BE49-F238E27FC236}">
                <a16:creationId xmlns:a16="http://schemas.microsoft.com/office/drawing/2014/main" id="{F568A0A4-6168-4265-6EFF-0C5A7C4F4D2E}"/>
              </a:ext>
            </a:extLst>
          </p:cNvPr>
          <p:cNvSpPr/>
          <p:nvPr/>
        </p:nvSpPr>
        <p:spPr>
          <a:xfrm>
            <a:off x="6412992" y="2466102"/>
            <a:ext cx="2517723" cy="975043"/>
          </a:xfrm>
          <a:prstGeom prst="parallelogram">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Set CLV = 0 </a:t>
            </a:r>
            <a:endParaRPr lang="en-US" b="1" dirty="0"/>
          </a:p>
        </p:txBody>
      </p:sp>
      <p:cxnSp>
        <p:nvCxnSpPr>
          <p:cNvPr id="18" name="Gerade Verbindung mit Pfeil 17">
            <a:extLst>
              <a:ext uri="{FF2B5EF4-FFF2-40B4-BE49-F238E27FC236}">
                <a16:creationId xmlns:a16="http://schemas.microsoft.com/office/drawing/2014/main" id="{F82792CA-F78C-DD09-1CF5-25D60E70E4DD}"/>
              </a:ext>
            </a:extLst>
          </p:cNvPr>
          <p:cNvCxnSpPr>
            <a:stCxn id="9" idx="6"/>
          </p:cNvCxnSpPr>
          <p:nvPr/>
        </p:nvCxnSpPr>
        <p:spPr>
          <a:xfrm>
            <a:off x="1277995" y="2180434"/>
            <a:ext cx="464821" cy="0"/>
          </a:xfrm>
          <a:prstGeom prst="straightConnector1">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BDB84D9D-792E-88FC-97BE-EADBC145A01D}"/>
              </a:ext>
            </a:extLst>
          </p:cNvPr>
          <p:cNvCxnSpPr>
            <a:cxnSpLocks/>
            <a:stCxn id="11" idx="3"/>
            <a:endCxn id="12" idx="1"/>
          </p:cNvCxnSpPr>
          <p:nvPr/>
        </p:nvCxnSpPr>
        <p:spPr>
          <a:xfrm>
            <a:off x="3624957" y="2180434"/>
            <a:ext cx="466346" cy="0"/>
          </a:xfrm>
          <a:prstGeom prst="straightConnector1">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cxnSp>
        <p:nvCxnSpPr>
          <p:cNvPr id="22" name="Verbinder: gewinkelt 21">
            <a:extLst>
              <a:ext uri="{FF2B5EF4-FFF2-40B4-BE49-F238E27FC236}">
                <a16:creationId xmlns:a16="http://schemas.microsoft.com/office/drawing/2014/main" id="{CD0A2B2C-6614-7F2A-45D4-162B569F910A}"/>
              </a:ext>
            </a:extLst>
          </p:cNvPr>
          <p:cNvCxnSpPr>
            <a:cxnSpLocks/>
            <a:stCxn id="12" idx="0"/>
            <a:endCxn id="15" idx="1"/>
          </p:cNvCxnSpPr>
          <p:nvPr/>
        </p:nvCxnSpPr>
        <p:spPr>
          <a:xfrm rot="5400000" flipH="1" flipV="1">
            <a:off x="5588945" y="734681"/>
            <a:ext cx="254751" cy="1661713"/>
          </a:xfrm>
          <a:prstGeom prst="bentConnector2">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Verbinder: gewinkelt 20">
            <a:extLst>
              <a:ext uri="{FF2B5EF4-FFF2-40B4-BE49-F238E27FC236}">
                <a16:creationId xmlns:a16="http://schemas.microsoft.com/office/drawing/2014/main" id="{4C2CBF84-DF43-8204-B8F5-37438B77FA38}"/>
              </a:ext>
            </a:extLst>
          </p:cNvPr>
          <p:cNvCxnSpPr>
            <a:stCxn id="12" idx="2"/>
          </p:cNvCxnSpPr>
          <p:nvPr/>
        </p:nvCxnSpPr>
        <p:spPr>
          <a:xfrm rot="16200000" flipH="1">
            <a:off x="5573486" y="1979932"/>
            <a:ext cx="285669" cy="1661713"/>
          </a:xfrm>
          <a:prstGeom prst="bentConnector2">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sp>
        <p:nvSpPr>
          <p:cNvPr id="24" name="Textfeld 23">
            <a:extLst>
              <a:ext uri="{FF2B5EF4-FFF2-40B4-BE49-F238E27FC236}">
                <a16:creationId xmlns:a16="http://schemas.microsoft.com/office/drawing/2014/main" id="{C21825C0-E970-0100-D41E-BBE8AEB6ECF8}"/>
              </a:ext>
            </a:extLst>
          </p:cNvPr>
          <p:cNvSpPr txBox="1"/>
          <p:nvPr/>
        </p:nvSpPr>
        <p:spPr>
          <a:xfrm>
            <a:off x="5545981" y="1090811"/>
            <a:ext cx="1403927" cy="369332"/>
          </a:xfrm>
          <a:prstGeom prst="rect">
            <a:avLst/>
          </a:prstGeom>
          <a:noFill/>
          <a:ln>
            <a:noFill/>
          </a:ln>
        </p:spPr>
        <p:txBody>
          <a:bodyPr wrap="square" rtlCol="0">
            <a:spAutoFit/>
          </a:bodyPr>
          <a:lstStyle/>
          <a:p>
            <a:r>
              <a:rPr lang="de-DE" dirty="0"/>
              <a:t>NO </a:t>
            </a:r>
            <a:endParaRPr lang="en-US" dirty="0"/>
          </a:p>
        </p:txBody>
      </p:sp>
      <p:sp>
        <p:nvSpPr>
          <p:cNvPr id="25" name="Textfeld 24">
            <a:extLst>
              <a:ext uri="{FF2B5EF4-FFF2-40B4-BE49-F238E27FC236}">
                <a16:creationId xmlns:a16="http://schemas.microsoft.com/office/drawing/2014/main" id="{0B14403D-6B6B-487A-6271-0DED6F195A29}"/>
              </a:ext>
            </a:extLst>
          </p:cNvPr>
          <p:cNvSpPr txBox="1"/>
          <p:nvPr/>
        </p:nvSpPr>
        <p:spPr>
          <a:xfrm>
            <a:off x="5474207" y="2947536"/>
            <a:ext cx="1403927" cy="369332"/>
          </a:xfrm>
          <a:prstGeom prst="rect">
            <a:avLst/>
          </a:prstGeom>
          <a:noFill/>
          <a:ln>
            <a:noFill/>
          </a:ln>
        </p:spPr>
        <p:txBody>
          <a:bodyPr wrap="square" rtlCol="0">
            <a:spAutoFit/>
          </a:bodyPr>
          <a:lstStyle/>
          <a:p>
            <a:r>
              <a:rPr lang="de-DE" dirty="0"/>
              <a:t>YES </a:t>
            </a:r>
            <a:endParaRPr lang="en-US" dirty="0"/>
          </a:p>
        </p:txBody>
      </p:sp>
      <p:sp>
        <p:nvSpPr>
          <p:cNvPr id="32" name="Parallelogramm 31">
            <a:extLst>
              <a:ext uri="{FF2B5EF4-FFF2-40B4-BE49-F238E27FC236}">
                <a16:creationId xmlns:a16="http://schemas.microsoft.com/office/drawing/2014/main" id="{613951AA-513E-2A75-082F-24C4606087DF}"/>
              </a:ext>
            </a:extLst>
          </p:cNvPr>
          <p:cNvSpPr/>
          <p:nvPr/>
        </p:nvSpPr>
        <p:spPr>
          <a:xfrm>
            <a:off x="9404825" y="950638"/>
            <a:ext cx="2517723" cy="975043"/>
          </a:xfrm>
          <a:prstGeom prst="parallelogram">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err="1"/>
              <a:t>Predict</a:t>
            </a:r>
            <a:r>
              <a:rPr lang="de-DE" b="1" dirty="0"/>
              <a:t> CLV </a:t>
            </a:r>
            <a:r>
              <a:rPr lang="de-DE" b="1" dirty="0" err="1"/>
              <a:t>of</a:t>
            </a:r>
            <a:r>
              <a:rPr lang="de-DE" b="1" dirty="0"/>
              <a:t> all </a:t>
            </a:r>
            <a:r>
              <a:rPr lang="de-DE" b="1" dirty="0" err="1"/>
              <a:t>customers</a:t>
            </a:r>
            <a:endParaRPr lang="en-US" b="1" dirty="0"/>
          </a:p>
        </p:txBody>
      </p:sp>
      <p:cxnSp>
        <p:nvCxnSpPr>
          <p:cNvPr id="34" name="Gerade Verbindung mit Pfeil 33">
            <a:extLst>
              <a:ext uri="{FF2B5EF4-FFF2-40B4-BE49-F238E27FC236}">
                <a16:creationId xmlns:a16="http://schemas.microsoft.com/office/drawing/2014/main" id="{8901914F-F277-0900-0829-785BB6C19427}"/>
              </a:ext>
            </a:extLst>
          </p:cNvPr>
          <p:cNvCxnSpPr>
            <a:stCxn id="15" idx="3"/>
            <a:endCxn id="32" idx="5"/>
          </p:cNvCxnSpPr>
          <p:nvPr/>
        </p:nvCxnSpPr>
        <p:spPr>
          <a:xfrm flipV="1">
            <a:off x="8894139" y="1438160"/>
            <a:ext cx="632566" cy="1"/>
          </a:xfrm>
          <a:prstGeom prst="straightConnector1">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sp>
        <p:nvSpPr>
          <p:cNvPr id="35" name="Rechteck: abgerundete Ecken 34">
            <a:extLst>
              <a:ext uri="{FF2B5EF4-FFF2-40B4-BE49-F238E27FC236}">
                <a16:creationId xmlns:a16="http://schemas.microsoft.com/office/drawing/2014/main" id="{240656D3-A9A9-898E-D62C-D5A0D29BC1C8}"/>
              </a:ext>
            </a:extLst>
          </p:cNvPr>
          <p:cNvSpPr/>
          <p:nvPr/>
        </p:nvSpPr>
        <p:spPr>
          <a:xfrm>
            <a:off x="9404825" y="2466102"/>
            <a:ext cx="2395843" cy="975043"/>
          </a:xfrm>
          <a:prstGeom prst="roundRect">
            <a:avLst/>
          </a:prstGeom>
          <a:solidFill>
            <a:srgbClr val="0078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Combine </a:t>
            </a:r>
            <a:r>
              <a:rPr lang="de-DE" dirty="0" err="1"/>
              <a:t>predictions</a:t>
            </a:r>
            <a:endParaRPr lang="en-US" dirty="0"/>
          </a:p>
        </p:txBody>
      </p:sp>
      <p:cxnSp>
        <p:nvCxnSpPr>
          <p:cNvPr id="37" name="Gerade Verbindung mit Pfeil 36">
            <a:extLst>
              <a:ext uri="{FF2B5EF4-FFF2-40B4-BE49-F238E27FC236}">
                <a16:creationId xmlns:a16="http://schemas.microsoft.com/office/drawing/2014/main" id="{147FD4DA-6F94-6689-9864-F4EDF97601A3}"/>
              </a:ext>
            </a:extLst>
          </p:cNvPr>
          <p:cNvCxnSpPr>
            <a:cxnSpLocks/>
          </p:cNvCxnSpPr>
          <p:nvPr/>
        </p:nvCxnSpPr>
        <p:spPr>
          <a:xfrm flipH="1">
            <a:off x="10602746" y="1926290"/>
            <a:ext cx="1" cy="522000"/>
          </a:xfrm>
          <a:prstGeom prst="straightConnector1">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A60BD76F-BA83-9240-B1FC-F2703ADEE2FC}"/>
              </a:ext>
            </a:extLst>
          </p:cNvPr>
          <p:cNvCxnSpPr>
            <a:stCxn id="16" idx="2"/>
            <a:endCxn id="35" idx="1"/>
          </p:cNvCxnSpPr>
          <p:nvPr/>
        </p:nvCxnSpPr>
        <p:spPr>
          <a:xfrm>
            <a:off x="8808835" y="2953624"/>
            <a:ext cx="595990" cy="0"/>
          </a:xfrm>
          <a:prstGeom prst="straightConnector1">
            <a:avLst/>
          </a:prstGeom>
          <a:ln w="12700">
            <a:solidFill>
              <a:srgbClr val="007894"/>
            </a:solidFill>
            <a:tailEnd type="triangle"/>
          </a:ln>
        </p:spPr>
        <p:style>
          <a:lnRef idx="1">
            <a:schemeClr val="accent1"/>
          </a:lnRef>
          <a:fillRef idx="0">
            <a:schemeClr val="accent1"/>
          </a:fillRef>
          <a:effectRef idx="0">
            <a:schemeClr val="accent1"/>
          </a:effectRef>
          <a:fontRef idx="minor">
            <a:schemeClr val="tx1"/>
          </a:fontRef>
        </p:style>
      </p:cxnSp>
      <p:sp>
        <p:nvSpPr>
          <p:cNvPr id="42" name="Rechteck 41">
            <a:extLst>
              <a:ext uri="{FF2B5EF4-FFF2-40B4-BE49-F238E27FC236}">
                <a16:creationId xmlns:a16="http://schemas.microsoft.com/office/drawing/2014/main" id="{823F4C7B-1A5C-37E1-B7A6-5566D0C242B7}"/>
              </a:ext>
            </a:extLst>
          </p:cNvPr>
          <p:cNvSpPr/>
          <p:nvPr/>
        </p:nvSpPr>
        <p:spPr>
          <a:xfrm>
            <a:off x="731837" y="3706368"/>
            <a:ext cx="5071555" cy="14248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Stage 2 trained on only 439 active customers</a:t>
            </a:r>
            <a:br>
              <a:rPr lang="en-US" dirty="0">
                <a:solidFill>
                  <a:schemeClr val="tx1"/>
                </a:solidFill>
              </a:rPr>
            </a:br>
            <a:r>
              <a:rPr lang="en-US" dirty="0">
                <a:solidFill>
                  <a:schemeClr val="tx1"/>
                </a:solidFill>
              </a:rPr>
              <a:t>→ too sparse to learn high-value behavior</a:t>
            </a:r>
          </a:p>
        </p:txBody>
      </p:sp>
      <p:sp>
        <p:nvSpPr>
          <p:cNvPr id="43" name="Rechteck 42">
            <a:extLst>
              <a:ext uri="{FF2B5EF4-FFF2-40B4-BE49-F238E27FC236}">
                <a16:creationId xmlns:a16="http://schemas.microsoft.com/office/drawing/2014/main" id="{B9EFE047-0ECC-1B01-3775-1DE6D498FCE3}"/>
              </a:ext>
            </a:extLst>
          </p:cNvPr>
          <p:cNvSpPr/>
          <p:nvPr/>
        </p:nvSpPr>
        <p:spPr>
          <a:xfrm>
            <a:off x="6388607" y="3701229"/>
            <a:ext cx="5071555" cy="14248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Can't explicitly zero out latent churners </a:t>
            </a:r>
            <a:br>
              <a:rPr lang="en-US" dirty="0">
                <a:solidFill>
                  <a:schemeClr val="tx1"/>
                </a:solidFill>
              </a:rPr>
            </a:br>
            <a:r>
              <a:rPr lang="en-US" dirty="0">
                <a:solidFill>
                  <a:schemeClr val="tx1"/>
                </a:solidFill>
              </a:rPr>
              <a:t>→ over-predicts dormant high-spenders</a:t>
            </a:r>
          </a:p>
        </p:txBody>
      </p:sp>
      <p:sp>
        <p:nvSpPr>
          <p:cNvPr id="44" name="Rechteck 43">
            <a:extLst>
              <a:ext uri="{FF2B5EF4-FFF2-40B4-BE49-F238E27FC236}">
                <a16:creationId xmlns:a16="http://schemas.microsoft.com/office/drawing/2014/main" id="{1DC672C4-E9B7-A972-6435-BB44A187C494}"/>
              </a:ext>
            </a:extLst>
          </p:cNvPr>
          <p:cNvSpPr/>
          <p:nvPr/>
        </p:nvSpPr>
        <p:spPr>
          <a:xfrm>
            <a:off x="731837" y="3694968"/>
            <a:ext cx="5071554" cy="694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Why not a pure two-stage model?</a:t>
            </a:r>
          </a:p>
        </p:txBody>
      </p:sp>
      <p:sp>
        <p:nvSpPr>
          <p:cNvPr id="45" name="Rechteck 44">
            <a:extLst>
              <a:ext uri="{FF2B5EF4-FFF2-40B4-BE49-F238E27FC236}">
                <a16:creationId xmlns:a16="http://schemas.microsoft.com/office/drawing/2014/main" id="{F7F5872D-4114-113A-4E9A-FBDF04B6C59B}"/>
              </a:ext>
            </a:extLst>
          </p:cNvPr>
          <p:cNvSpPr/>
          <p:nvPr/>
        </p:nvSpPr>
        <p:spPr>
          <a:xfrm>
            <a:off x="6387227" y="3694968"/>
            <a:ext cx="5071554" cy="694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Why not a single-stage model alone?</a:t>
            </a:r>
          </a:p>
        </p:txBody>
      </p:sp>
      <p:sp>
        <p:nvSpPr>
          <p:cNvPr id="46" name="Textplatzhalter 12">
            <a:extLst>
              <a:ext uri="{FF2B5EF4-FFF2-40B4-BE49-F238E27FC236}">
                <a16:creationId xmlns:a16="http://schemas.microsoft.com/office/drawing/2014/main" id="{05C0BA3E-F604-4149-02F8-513366EF769F}"/>
              </a:ext>
            </a:extLst>
          </p:cNvPr>
          <p:cNvSpPr txBox="1">
            <a:spLocks/>
          </p:cNvSpPr>
          <p:nvPr/>
        </p:nvSpPr>
        <p:spPr bwMode="auto">
          <a:xfrm rot="5400000">
            <a:off x="5976092" y="64671"/>
            <a:ext cx="238434" cy="10726946"/>
          </a:xfrm>
          <a:custGeom>
            <a:avLst/>
            <a:gdLst>
              <a:gd name="connsiteX0" fmla="*/ 0 w 671941"/>
              <a:gd name="connsiteY0" fmla="*/ 671941 h 1343882"/>
              <a:gd name="connsiteX1" fmla="*/ 335971 w 671941"/>
              <a:gd name="connsiteY1" fmla="*/ 0 h 1343882"/>
              <a:gd name="connsiteX2" fmla="*/ 671941 w 671941"/>
              <a:gd name="connsiteY2" fmla="*/ 671941 h 1343882"/>
              <a:gd name="connsiteX3" fmla="*/ 335971 w 671941"/>
              <a:gd name="connsiteY3" fmla="*/ 1343882 h 1343882"/>
              <a:gd name="connsiteX4" fmla="*/ 0 w 671941"/>
              <a:gd name="connsiteY4" fmla="*/ 671941 h 1343882"/>
              <a:gd name="connsiteX0" fmla="*/ 333954 w 335970"/>
              <a:gd name="connsiteY0" fmla="*/ 671941 h 1343882"/>
              <a:gd name="connsiteX1" fmla="*/ 0 w 335970"/>
              <a:gd name="connsiteY1" fmla="*/ 0 h 1343882"/>
              <a:gd name="connsiteX2" fmla="*/ 335970 w 335970"/>
              <a:gd name="connsiteY2" fmla="*/ 671941 h 1343882"/>
              <a:gd name="connsiteX3" fmla="*/ 0 w 335970"/>
              <a:gd name="connsiteY3" fmla="*/ 1343882 h 1343882"/>
              <a:gd name="connsiteX4" fmla="*/ 333954 w 335970"/>
              <a:gd name="connsiteY4" fmla="*/ 671941 h 1343882"/>
              <a:gd name="connsiteX0" fmla="*/ 0 w 1068721"/>
              <a:gd name="connsiteY0" fmla="*/ 701572 h 1343882"/>
              <a:gd name="connsiteX1" fmla="*/ 732751 w 1068721"/>
              <a:gd name="connsiteY1" fmla="*/ 0 h 1343882"/>
              <a:gd name="connsiteX2" fmla="*/ 1068721 w 1068721"/>
              <a:gd name="connsiteY2" fmla="*/ 671941 h 1343882"/>
              <a:gd name="connsiteX3" fmla="*/ 732751 w 1068721"/>
              <a:gd name="connsiteY3" fmla="*/ 1343882 h 1343882"/>
              <a:gd name="connsiteX4" fmla="*/ 0 w 1068721"/>
              <a:gd name="connsiteY4" fmla="*/ 701572 h 1343882"/>
              <a:gd name="connsiteX0" fmla="*/ 0 w 335970"/>
              <a:gd name="connsiteY0" fmla="*/ 1343882 h 1343882"/>
              <a:gd name="connsiteX1" fmla="*/ 0 w 335970"/>
              <a:gd name="connsiteY1" fmla="*/ 0 h 1343882"/>
              <a:gd name="connsiteX2" fmla="*/ 335970 w 335970"/>
              <a:gd name="connsiteY2" fmla="*/ 671941 h 1343882"/>
              <a:gd name="connsiteX3" fmla="*/ 0 w 335970"/>
              <a:gd name="connsiteY3" fmla="*/ 1343882 h 1343882"/>
              <a:gd name="connsiteX0" fmla="*/ 0 w 426682"/>
              <a:gd name="connsiteY0" fmla="*/ 0 h 1343882"/>
              <a:gd name="connsiteX1" fmla="*/ 335970 w 426682"/>
              <a:gd name="connsiteY1" fmla="*/ 671941 h 1343882"/>
              <a:gd name="connsiteX2" fmla="*/ 0 w 426682"/>
              <a:gd name="connsiteY2" fmla="*/ 1343882 h 1343882"/>
              <a:gd name="connsiteX3" fmla="*/ 426682 w 426682"/>
              <a:gd name="connsiteY3" fmla="*/ 853365 h 1343882"/>
              <a:gd name="connsiteX0" fmla="*/ 0 w 335970"/>
              <a:gd name="connsiteY0" fmla="*/ 0 h 1343882"/>
              <a:gd name="connsiteX1" fmla="*/ 335970 w 335970"/>
              <a:gd name="connsiteY1" fmla="*/ 671941 h 1343882"/>
              <a:gd name="connsiteX2" fmla="*/ 0 w 335970"/>
              <a:gd name="connsiteY2" fmla="*/ 1343882 h 1343882"/>
            </a:gdLst>
            <a:ahLst/>
            <a:cxnLst>
              <a:cxn ang="0">
                <a:pos x="connsiteX0" y="connsiteY0"/>
              </a:cxn>
              <a:cxn ang="0">
                <a:pos x="connsiteX1" y="connsiteY1"/>
              </a:cxn>
              <a:cxn ang="0">
                <a:pos x="connsiteX2" y="connsiteY2"/>
              </a:cxn>
            </a:cxnLst>
            <a:rect l="l" t="t" r="r" b="b"/>
            <a:pathLst>
              <a:path w="335970" h="1343882">
                <a:moveTo>
                  <a:pt x="0" y="0"/>
                </a:moveTo>
                <a:lnTo>
                  <a:pt x="335970" y="671941"/>
                </a:lnTo>
                <a:lnTo>
                  <a:pt x="0" y="1343882"/>
                </a:lnTo>
              </a:path>
            </a:pathLst>
          </a:custGeom>
          <a:noFill/>
          <a:ln w="19050" cap="rnd">
            <a:solidFill>
              <a:srgbClr val="215CAF"/>
            </a:solidFill>
          </a:ln>
          <a:extLst>
            <a:ext uri="{909E8E84-426E-40DD-AFC4-6F175D3DCCD1}">
              <a14:hiddenFill xmlns:a14="http://schemas.microsoft.com/office/drawing/2010/main">
                <a:solidFill>
                  <a:srgbClr val="FFFFFF"/>
                </a:solidFill>
              </a14:hiddenFill>
            </a:ext>
          </a:extLst>
        </p:spPr>
        <p:txBody>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 </a:t>
            </a:r>
            <a:endParaRPr lang="de-DE" dirty="0"/>
          </a:p>
        </p:txBody>
      </p:sp>
    </p:spTree>
    <p:extLst>
      <p:ext uri="{BB962C8B-B14F-4D97-AF65-F5344CB8AC3E}">
        <p14:creationId xmlns:p14="http://schemas.microsoft.com/office/powerpoint/2010/main" val="2438526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3772CD-310C-3DD3-E54C-EE597E487929}"/>
              </a:ext>
            </a:extLst>
          </p:cNvPr>
          <p:cNvSpPr>
            <a:spLocks noGrp="1"/>
          </p:cNvSpPr>
          <p:nvPr>
            <p:ph type="title"/>
          </p:nvPr>
        </p:nvSpPr>
        <p:spPr/>
        <p:txBody>
          <a:bodyPr/>
          <a:lstStyle/>
          <a:p>
            <a:r>
              <a:rPr lang="de-DE" dirty="0"/>
              <a:t>Single-Stage </a:t>
            </a:r>
            <a:r>
              <a:rPr lang="de-DE" dirty="0" err="1"/>
              <a:t>LightGBM</a:t>
            </a:r>
            <a:r>
              <a:rPr lang="de-DE" dirty="0"/>
              <a:t> </a:t>
            </a:r>
            <a:r>
              <a:rPr lang="de-DE" dirty="0" err="1"/>
              <a:t>rediscovered</a:t>
            </a:r>
            <a:r>
              <a:rPr lang="de-DE" dirty="0"/>
              <a:t> </a:t>
            </a:r>
            <a:r>
              <a:rPr lang="de-DE" dirty="0" err="1"/>
              <a:t>the</a:t>
            </a:r>
            <a:r>
              <a:rPr lang="de-DE" dirty="0"/>
              <a:t> Segmentation</a:t>
            </a:r>
            <a:endParaRPr lang="en-US" dirty="0"/>
          </a:p>
        </p:txBody>
      </p:sp>
      <p:sp>
        <p:nvSpPr>
          <p:cNvPr id="3" name="Inhaltsplatzhalter 2">
            <a:extLst>
              <a:ext uri="{FF2B5EF4-FFF2-40B4-BE49-F238E27FC236}">
                <a16:creationId xmlns:a16="http://schemas.microsoft.com/office/drawing/2014/main" id="{B9519DF1-048C-F4AB-8C0A-ECFC50B9FE2B}"/>
              </a:ext>
            </a:extLst>
          </p:cNvPr>
          <p:cNvSpPr>
            <a:spLocks noGrp="1"/>
          </p:cNvSpPr>
          <p:nvPr>
            <p:ph idx="1"/>
          </p:nvPr>
        </p:nvSpPr>
        <p:spPr>
          <a:xfrm>
            <a:off x="731837" y="1824368"/>
            <a:ext cx="5256000" cy="3954639"/>
          </a:xfrm>
        </p:spPr>
        <p:txBody>
          <a:bodyPr/>
          <a:lstStyle/>
          <a:p>
            <a:r>
              <a:rPr lang="de-DE" dirty="0" err="1"/>
              <a:t>Recency</a:t>
            </a:r>
            <a:r>
              <a:rPr lang="de-DE" dirty="0"/>
              <a:t>, </a:t>
            </a:r>
            <a:r>
              <a:rPr lang="de-DE" dirty="0" err="1"/>
              <a:t>Monetary</a:t>
            </a:r>
            <a:r>
              <a:rPr lang="de-DE" dirty="0"/>
              <a:t>, </a:t>
            </a:r>
            <a:r>
              <a:rPr lang="de-DE" dirty="0" err="1"/>
              <a:t>Monetary</a:t>
            </a:r>
            <a:r>
              <a:rPr lang="de-DE" dirty="0"/>
              <a:t> x </a:t>
            </a:r>
            <a:r>
              <a:rPr lang="de-DE" dirty="0" err="1"/>
              <a:t>Frequency</a:t>
            </a:r>
            <a:r>
              <a:rPr lang="de-DE" dirty="0"/>
              <a:t> (RFM </a:t>
            </a:r>
            <a:r>
              <a:rPr lang="de-DE" dirty="0" err="1"/>
              <a:t>core</a:t>
            </a:r>
            <a:r>
              <a:rPr lang="de-DE" dirty="0"/>
              <a:t>)</a:t>
            </a:r>
          </a:p>
          <a:p>
            <a:r>
              <a:rPr lang="en-US" dirty="0"/>
              <a:t>Weighted revenue, avg revenue, revenue trend, </a:t>
            </a:r>
            <a:r>
              <a:rPr lang="en-US" dirty="0" err="1"/>
              <a:t>tenure_days</a:t>
            </a:r>
            <a:r>
              <a:rPr lang="en-US" dirty="0"/>
              <a:t>, </a:t>
            </a:r>
            <a:r>
              <a:rPr lang="en-US" dirty="0" err="1"/>
              <a:t>max_retail_price</a:t>
            </a:r>
            <a:r>
              <a:rPr lang="en-US" dirty="0"/>
              <a:t>, </a:t>
            </a:r>
            <a:r>
              <a:rPr lang="en-US" dirty="0" err="1"/>
              <a:t>avg_price_per_week</a:t>
            </a:r>
            <a:r>
              <a:rPr lang="en-US" dirty="0"/>
              <a:t> (behavioral depth) </a:t>
            </a:r>
          </a:p>
          <a:p>
            <a:r>
              <a:rPr lang="en-US" dirty="0"/>
              <a:t>Revenue per day, rentals per day, </a:t>
            </a:r>
            <a:r>
              <a:rPr lang="en-US" dirty="0" err="1"/>
              <a:t>pct_weekly_rentals</a:t>
            </a:r>
            <a:r>
              <a:rPr lang="en-US" dirty="0"/>
              <a:t> (velocity)</a:t>
            </a:r>
          </a:p>
          <a:p>
            <a:r>
              <a:rPr lang="en-US" dirty="0"/>
              <a:t>Summer rentals, active months (seasonality)</a:t>
            </a:r>
          </a:p>
          <a:p>
            <a:r>
              <a:rPr lang="en-US" b="1" dirty="0"/>
              <a:t>cluster_affinity_0 (Bags), </a:t>
            </a:r>
            <a:br>
              <a:rPr lang="en-US" b="1" dirty="0"/>
            </a:br>
            <a:r>
              <a:rPr lang="en-US" b="1" dirty="0"/>
              <a:t>cluster_affinity_1 (Tops), </a:t>
            </a:r>
            <a:br>
              <a:rPr lang="en-US" b="1" dirty="0"/>
            </a:br>
            <a:r>
              <a:rPr lang="en-US" b="1" dirty="0"/>
              <a:t>cluster_affinity_2 (Dresses),</a:t>
            </a:r>
            <a:br>
              <a:rPr lang="en-US" b="1" dirty="0"/>
            </a:br>
            <a:r>
              <a:rPr lang="en-US" b="1" dirty="0"/>
              <a:t>cluster_affinity_7 (Jackets)</a:t>
            </a:r>
            <a:endParaRPr lang="en-US" dirty="0"/>
          </a:p>
        </p:txBody>
      </p:sp>
      <p:sp>
        <p:nvSpPr>
          <p:cNvPr id="4" name="Datumsplatzhalter 3">
            <a:extLst>
              <a:ext uri="{FF2B5EF4-FFF2-40B4-BE49-F238E27FC236}">
                <a16:creationId xmlns:a16="http://schemas.microsoft.com/office/drawing/2014/main" id="{D889E5B2-87B5-EDF1-5E84-453FC81ED780}"/>
              </a:ext>
            </a:extLst>
          </p:cNvPr>
          <p:cNvSpPr>
            <a:spLocks noGrp="1"/>
          </p:cNvSpPr>
          <p:nvPr>
            <p:ph type="dt" sz="half" idx="10"/>
          </p:nvPr>
        </p:nvSpPr>
        <p:spPr/>
        <p:txBody>
          <a:bodyPr/>
          <a:lstStyle/>
          <a:p>
            <a:fld id="{68EF82BE-DF56-4719-B180-C3B0D509F71F}"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40EDCB64-FEAF-EFB7-C2D1-A126D04839FA}"/>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EEDC4E02-A0AA-EC0B-0957-332AE766D41D}"/>
              </a:ext>
            </a:extLst>
          </p:cNvPr>
          <p:cNvSpPr>
            <a:spLocks noGrp="1"/>
          </p:cNvSpPr>
          <p:nvPr>
            <p:ph type="sldNum" sz="quarter" idx="12"/>
          </p:nvPr>
        </p:nvSpPr>
        <p:spPr/>
        <p:txBody>
          <a:bodyPr/>
          <a:lstStyle/>
          <a:p>
            <a:fld id="{5ACA52AF-F19D-405C-AD5F-7D94B96A5CC3}" type="slidenum">
              <a:rPr lang="de-CH" noProof="0" smtClean="0"/>
              <a:t>12</a:t>
            </a:fld>
            <a:endParaRPr lang="de-CH" noProof="0"/>
          </a:p>
        </p:txBody>
      </p:sp>
      <p:sp>
        <p:nvSpPr>
          <p:cNvPr id="9" name="Textplatzhalter 31">
            <a:extLst>
              <a:ext uri="{FF2B5EF4-FFF2-40B4-BE49-F238E27FC236}">
                <a16:creationId xmlns:a16="http://schemas.microsoft.com/office/drawing/2014/main" id="{9F9E9F9D-03C6-38AB-B9B6-316881435378}"/>
              </a:ext>
            </a:extLst>
          </p:cNvPr>
          <p:cNvSpPr txBox="1">
            <a:spLocks/>
          </p:cNvSpPr>
          <p:nvPr/>
        </p:nvSpPr>
        <p:spPr>
          <a:xfrm>
            <a:off x="1080000" y="1260475"/>
            <a:ext cx="4500000" cy="358775"/>
          </a:xfrm>
          <a:prstGeom prst="rect">
            <a:avLst/>
          </a:prstGeom>
        </p:spPr>
        <p:txBody>
          <a:bodyPr anchor="ct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solidFill>
                  <a:srgbClr val="215CAF"/>
                </a:solidFill>
              </a:rPr>
              <a:t>SFS Selected Features (</a:t>
            </a:r>
            <a:r>
              <a:rPr lang="de-DE" dirty="0" err="1">
                <a:solidFill>
                  <a:srgbClr val="215CAF"/>
                </a:solidFill>
              </a:rPr>
              <a:t>grouped</a:t>
            </a:r>
            <a:r>
              <a:rPr lang="de-DE" dirty="0">
                <a:solidFill>
                  <a:srgbClr val="215CAF"/>
                </a:solidFill>
              </a:rPr>
              <a:t>)</a:t>
            </a:r>
          </a:p>
        </p:txBody>
      </p:sp>
      <p:sp>
        <p:nvSpPr>
          <p:cNvPr id="10" name="Textplatzhalter 31">
            <a:extLst>
              <a:ext uri="{FF2B5EF4-FFF2-40B4-BE49-F238E27FC236}">
                <a16:creationId xmlns:a16="http://schemas.microsoft.com/office/drawing/2014/main" id="{EAE829C4-7147-086C-D096-5C8F0B45D75E}"/>
              </a:ext>
            </a:extLst>
          </p:cNvPr>
          <p:cNvSpPr txBox="1">
            <a:spLocks/>
          </p:cNvSpPr>
          <p:nvPr/>
        </p:nvSpPr>
        <p:spPr>
          <a:xfrm>
            <a:off x="6300788" y="1260475"/>
            <a:ext cx="4500000" cy="358775"/>
          </a:xfrm>
          <a:prstGeom prst="rect">
            <a:avLst/>
          </a:prstGeom>
        </p:spPr>
        <p:txBody>
          <a:bodyPr anchor="ct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Segmentation </a:t>
            </a:r>
            <a:r>
              <a:rPr lang="de-DE" dirty="0" err="1"/>
              <a:t>Findings</a:t>
            </a:r>
            <a:endParaRPr lang="de-DE" dirty="0"/>
          </a:p>
        </p:txBody>
      </p:sp>
      <p:sp>
        <p:nvSpPr>
          <p:cNvPr id="11" name="Textplatzhalter 8">
            <a:extLst>
              <a:ext uri="{FF2B5EF4-FFF2-40B4-BE49-F238E27FC236}">
                <a16:creationId xmlns:a16="http://schemas.microsoft.com/office/drawing/2014/main" id="{70809E54-15A0-15C9-D52C-F044D298D4C9}"/>
              </a:ext>
            </a:extLst>
          </p:cNvPr>
          <p:cNvSpPr txBox="1">
            <a:spLocks/>
          </p:cNvSpPr>
          <p:nvPr/>
        </p:nvSpPr>
        <p:spPr bwMode="auto">
          <a:xfrm>
            <a:off x="1080000" y="1619250"/>
            <a:ext cx="4500000" cy="107950"/>
          </a:xfrm>
          <a:custGeom>
            <a:avLst/>
            <a:gdLst>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358775 h 358775"/>
              <a:gd name="connsiteX4" fmla="*/ 0 w 4679950"/>
              <a:gd name="connsiteY4" fmla="*/ 0 h 358775"/>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0 h 358775"/>
              <a:gd name="connsiteX0" fmla="*/ 0 w 4679950"/>
              <a:gd name="connsiteY0" fmla="*/ 0 h 0"/>
              <a:gd name="connsiteX1" fmla="*/ 4679950 w 4679950"/>
              <a:gd name="connsiteY1" fmla="*/ 0 h 0"/>
              <a:gd name="connsiteX2" fmla="*/ 0 w 4679950"/>
              <a:gd name="connsiteY2" fmla="*/ 0 h 0"/>
            </a:gdLst>
            <a:ahLst/>
            <a:cxnLst>
              <a:cxn ang="0">
                <a:pos x="connsiteX0" y="connsiteY0"/>
              </a:cxn>
              <a:cxn ang="0">
                <a:pos x="connsiteX1" y="connsiteY1"/>
              </a:cxn>
              <a:cxn ang="0">
                <a:pos x="connsiteX2" y="connsiteY2"/>
              </a:cxn>
            </a:cxnLst>
            <a:rect l="l" t="t" r="r" b="b"/>
            <a:pathLst>
              <a:path w="4679950">
                <a:moveTo>
                  <a:pt x="0" y="0"/>
                </a:moveTo>
                <a:lnTo>
                  <a:pt x="4679950" y="0"/>
                </a:lnTo>
                <a:lnTo>
                  <a:pt x="0" y="0"/>
                </a:lnTo>
                <a:close/>
              </a:path>
            </a:pathLst>
          </a:custGeom>
          <a:noFill/>
          <a:ln w="19050">
            <a:solidFill>
              <a:srgbClr val="215CAF"/>
            </a:solidFill>
          </a:ln>
          <a:extLst>
            <a:ext uri="{909E8E84-426E-40DD-AFC4-6F175D3DCCD1}">
              <a14:hiddenFill xmlns:a14="http://schemas.microsoft.com/office/drawing/2010/main">
                <a:solidFill>
                  <a:srgbClr val="FFFFFF"/>
                </a:solidFill>
              </a14:hiddenFill>
            </a:ext>
          </a:extLst>
        </p:spPr>
        <p:txBody>
          <a:bodyPr anchor="t"/>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 </a:t>
            </a:r>
            <a:endParaRPr lang="de-DE" dirty="0"/>
          </a:p>
        </p:txBody>
      </p:sp>
      <p:sp>
        <p:nvSpPr>
          <p:cNvPr id="12" name="Textplatzhalter 8">
            <a:extLst>
              <a:ext uri="{FF2B5EF4-FFF2-40B4-BE49-F238E27FC236}">
                <a16:creationId xmlns:a16="http://schemas.microsoft.com/office/drawing/2014/main" id="{4707ABA6-1E6E-D7BA-1D43-BB1CAFC1B590}"/>
              </a:ext>
            </a:extLst>
          </p:cNvPr>
          <p:cNvSpPr txBox="1">
            <a:spLocks/>
          </p:cNvSpPr>
          <p:nvPr/>
        </p:nvSpPr>
        <p:spPr bwMode="auto">
          <a:xfrm>
            <a:off x="6300738" y="1619250"/>
            <a:ext cx="4500000" cy="107950"/>
          </a:xfrm>
          <a:custGeom>
            <a:avLst/>
            <a:gdLst>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358775 h 358775"/>
              <a:gd name="connsiteX4" fmla="*/ 0 w 4679950"/>
              <a:gd name="connsiteY4" fmla="*/ 0 h 358775"/>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0 h 358775"/>
              <a:gd name="connsiteX0" fmla="*/ 0 w 4679950"/>
              <a:gd name="connsiteY0" fmla="*/ 0 h 0"/>
              <a:gd name="connsiteX1" fmla="*/ 4679950 w 4679950"/>
              <a:gd name="connsiteY1" fmla="*/ 0 h 0"/>
              <a:gd name="connsiteX2" fmla="*/ 0 w 4679950"/>
              <a:gd name="connsiteY2" fmla="*/ 0 h 0"/>
            </a:gdLst>
            <a:ahLst/>
            <a:cxnLst>
              <a:cxn ang="0">
                <a:pos x="connsiteX0" y="connsiteY0"/>
              </a:cxn>
              <a:cxn ang="0">
                <a:pos x="connsiteX1" y="connsiteY1"/>
              </a:cxn>
              <a:cxn ang="0">
                <a:pos x="connsiteX2" y="connsiteY2"/>
              </a:cxn>
            </a:cxnLst>
            <a:rect l="l" t="t" r="r" b="b"/>
            <a:pathLst>
              <a:path w="4679950">
                <a:moveTo>
                  <a:pt x="0" y="0"/>
                </a:moveTo>
                <a:lnTo>
                  <a:pt x="4679950" y="0"/>
                </a:lnTo>
                <a:lnTo>
                  <a:pt x="0" y="0"/>
                </a:lnTo>
                <a:close/>
              </a:path>
            </a:pathLst>
          </a:custGeom>
          <a:noFill/>
          <a:ln w="19050">
            <a:solidFill>
              <a:srgbClr val="215CAF"/>
            </a:solidFill>
          </a:ln>
          <a:extLst>
            <a:ext uri="{909E8E84-426E-40DD-AFC4-6F175D3DCCD1}">
              <a14:hiddenFill xmlns:a14="http://schemas.microsoft.com/office/drawing/2010/main">
                <a:solidFill>
                  <a:srgbClr val="FFFFFF"/>
                </a:solidFill>
              </a14:hiddenFill>
            </a:ext>
          </a:extLst>
        </p:spPr>
        <p:txBody>
          <a:bodyPr anchor="t"/>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 </a:t>
            </a:r>
            <a:endParaRPr lang="de-DE" dirty="0"/>
          </a:p>
        </p:txBody>
      </p:sp>
      <p:pic>
        <p:nvPicPr>
          <p:cNvPr id="14" name="Grafik 13">
            <a:extLst>
              <a:ext uri="{FF2B5EF4-FFF2-40B4-BE49-F238E27FC236}">
                <a16:creationId xmlns:a16="http://schemas.microsoft.com/office/drawing/2014/main" id="{261DD6B0-6B12-AF6B-D8CF-7B7AEF8572AA}"/>
              </a:ext>
            </a:extLst>
          </p:cNvPr>
          <p:cNvPicPr>
            <a:picLocks noChangeAspect="1"/>
          </p:cNvPicPr>
          <p:nvPr/>
        </p:nvPicPr>
        <p:blipFill>
          <a:blip r:embed="rId3"/>
          <a:stretch>
            <a:fillRect/>
          </a:stretch>
        </p:blipFill>
        <p:spPr>
          <a:xfrm>
            <a:off x="6300738" y="1824368"/>
            <a:ext cx="5558806" cy="1870192"/>
          </a:xfrm>
          <a:prstGeom prst="rect">
            <a:avLst/>
          </a:prstGeom>
        </p:spPr>
      </p:pic>
      <p:pic>
        <p:nvPicPr>
          <p:cNvPr id="16" name="Grafik 15">
            <a:extLst>
              <a:ext uri="{FF2B5EF4-FFF2-40B4-BE49-F238E27FC236}">
                <a16:creationId xmlns:a16="http://schemas.microsoft.com/office/drawing/2014/main" id="{2A1F4E20-169F-A0B4-CBD6-8014BF91EE56}"/>
              </a:ext>
            </a:extLst>
          </p:cNvPr>
          <p:cNvPicPr>
            <a:picLocks noChangeAspect="1"/>
          </p:cNvPicPr>
          <p:nvPr/>
        </p:nvPicPr>
        <p:blipFill>
          <a:blip r:embed="rId4"/>
          <a:stretch>
            <a:fillRect/>
          </a:stretch>
        </p:blipFill>
        <p:spPr>
          <a:xfrm>
            <a:off x="6096000" y="3745438"/>
            <a:ext cx="5763544" cy="2833542"/>
          </a:xfrm>
          <a:prstGeom prst="rect">
            <a:avLst/>
          </a:prstGeom>
        </p:spPr>
      </p:pic>
    </p:spTree>
    <p:extLst>
      <p:ext uri="{BB962C8B-B14F-4D97-AF65-F5344CB8AC3E}">
        <p14:creationId xmlns:p14="http://schemas.microsoft.com/office/powerpoint/2010/main" val="3437399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435D-50FC-C24A-EC2A-992FC5F4155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25BB58-C3B0-2CAD-EC81-35E542913229}"/>
              </a:ext>
            </a:extLst>
          </p:cNvPr>
          <p:cNvSpPr>
            <a:spLocks noGrp="1"/>
          </p:cNvSpPr>
          <p:nvPr>
            <p:ph type="title"/>
          </p:nvPr>
        </p:nvSpPr>
        <p:spPr/>
        <p:txBody>
          <a:bodyPr/>
          <a:lstStyle/>
          <a:p>
            <a:r>
              <a:rPr lang="de-DE" dirty="0"/>
              <a:t>The Churn Model </a:t>
            </a:r>
            <a:r>
              <a:rPr lang="de-DE" dirty="0" err="1"/>
              <a:t>Confirms</a:t>
            </a:r>
            <a:r>
              <a:rPr lang="de-DE" dirty="0"/>
              <a:t> </a:t>
            </a:r>
            <a:r>
              <a:rPr lang="de-DE" dirty="0" err="1"/>
              <a:t>the</a:t>
            </a:r>
            <a:r>
              <a:rPr lang="de-DE" dirty="0"/>
              <a:t> Story</a:t>
            </a:r>
            <a:endParaRPr lang="en-US" dirty="0"/>
          </a:p>
        </p:txBody>
      </p:sp>
      <p:sp>
        <p:nvSpPr>
          <p:cNvPr id="4" name="Datumsplatzhalter 3">
            <a:extLst>
              <a:ext uri="{FF2B5EF4-FFF2-40B4-BE49-F238E27FC236}">
                <a16:creationId xmlns:a16="http://schemas.microsoft.com/office/drawing/2014/main" id="{23360D6C-090B-C498-64ED-DE459A23CE40}"/>
              </a:ext>
            </a:extLst>
          </p:cNvPr>
          <p:cNvSpPr>
            <a:spLocks noGrp="1"/>
          </p:cNvSpPr>
          <p:nvPr>
            <p:ph type="dt" sz="half" idx="10"/>
          </p:nvPr>
        </p:nvSpPr>
        <p:spPr/>
        <p:txBody>
          <a:bodyPr/>
          <a:lstStyle/>
          <a:p>
            <a:fld id="{68EF82BE-DF56-4719-B180-C3B0D509F71F}"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5DB874DD-55C8-35C1-B57B-6298FC0DF386}"/>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391C2F00-C03B-B690-78F1-E7C0A386F2A0}"/>
              </a:ext>
            </a:extLst>
          </p:cNvPr>
          <p:cNvSpPr>
            <a:spLocks noGrp="1"/>
          </p:cNvSpPr>
          <p:nvPr>
            <p:ph type="sldNum" sz="quarter" idx="12"/>
          </p:nvPr>
        </p:nvSpPr>
        <p:spPr/>
        <p:txBody>
          <a:bodyPr/>
          <a:lstStyle/>
          <a:p>
            <a:fld id="{5ACA52AF-F19D-405C-AD5F-7D94B96A5CC3}" type="slidenum">
              <a:rPr lang="de-CH" noProof="0" smtClean="0"/>
              <a:t>13</a:t>
            </a:fld>
            <a:endParaRPr lang="de-CH" noProof="0"/>
          </a:p>
        </p:txBody>
      </p:sp>
      <p:sp>
        <p:nvSpPr>
          <p:cNvPr id="9" name="Textplatzhalter 31">
            <a:extLst>
              <a:ext uri="{FF2B5EF4-FFF2-40B4-BE49-F238E27FC236}">
                <a16:creationId xmlns:a16="http://schemas.microsoft.com/office/drawing/2014/main" id="{7B9A804A-F7B0-6EE7-6AC3-6EF298495D14}"/>
              </a:ext>
            </a:extLst>
          </p:cNvPr>
          <p:cNvSpPr txBox="1">
            <a:spLocks/>
          </p:cNvSpPr>
          <p:nvPr/>
        </p:nvSpPr>
        <p:spPr>
          <a:xfrm>
            <a:off x="1080000" y="1260475"/>
            <a:ext cx="4500000" cy="358775"/>
          </a:xfrm>
          <a:prstGeom prst="rect">
            <a:avLst/>
          </a:prstGeom>
        </p:spPr>
        <p:txBody>
          <a:bodyPr anchor="ct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solidFill>
                  <a:srgbClr val="215CAF"/>
                </a:solidFill>
              </a:rPr>
              <a:t>Churn </a:t>
            </a:r>
            <a:r>
              <a:rPr lang="de-DE" dirty="0" err="1">
                <a:solidFill>
                  <a:srgbClr val="215CAF"/>
                </a:solidFill>
              </a:rPr>
              <a:t>Classifier</a:t>
            </a:r>
            <a:r>
              <a:rPr lang="de-DE" dirty="0">
                <a:solidFill>
                  <a:srgbClr val="215CAF"/>
                </a:solidFill>
              </a:rPr>
              <a:t> Performance</a:t>
            </a:r>
          </a:p>
        </p:txBody>
      </p:sp>
      <p:sp>
        <p:nvSpPr>
          <p:cNvPr id="10" name="Textplatzhalter 31">
            <a:extLst>
              <a:ext uri="{FF2B5EF4-FFF2-40B4-BE49-F238E27FC236}">
                <a16:creationId xmlns:a16="http://schemas.microsoft.com/office/drawing/2014/main" id="{86BE7471-019E-4717-4F6D-B5D385F5BACF}"/>
              </a:ext>
            </a:extLst>
          </p:cNvPr>
          <p:cNvSpPr txBox="1">
            <a:spLocks/>
          </p:cNvSpPr>
          <p:nvPr/>
        </p:nvSpPr>
        <p:spPr>
          <a:xfrm>
            <a:off x="6300788" y="1260475"/>
            <a:ext cx="4500000" cy="358775"/>
          </a:xfrm>
          <a:prstGeom prst="rect">
            <a:avLst/>
          </a:prstGeom>
        </p:spPr>
        <p:txBody>
          <a:bodyPr anchor="ct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accent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solidFill>
                  <a:srgbClr val="215CAF"/>
                </a:solidFill>
              </a:rPr>
              <a:t>SFS Selected Features</a:t>
            </a:r>
          </a:p>
        </p:txBody>
      </p:sp>
      <p:sp>
        <p:nvSpPr>
          <p:cNvPr id="11" name="Textplatzhalter 8">
            <a:extLst>
              <a:ext uri="{FF2B5EF4-FFF2-40B4-BE49-F238E27FC236}">
                <a16:creationId xmlns:a16="http://schemas.microsoft.com/office/drawing/2014/main" id="{771096F0-B0F8-FF89-51F6-254634DD94F1}"/>
              </a:ext>
            </a:extLst>
          </p:cNvPr>
          <p:cNvSpPr txBox="1">
            <a:spLocks/>
          </p:cNvSpPr>
          <p:nvPr/>
        </p:nvSpPr>
        <p:spPr bwMode="auto">
          <a:xfrm>
            <a:off x="1080000" y="1619250"/>
            <a:ext cx="4500000" cy="107950"/>
          </a:xfrm>
          <a:custGeom>
            <a:avLst/>
            <a:gdLst>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358775 h 358775"/>
              <a:gd name="connsiteX4" fmla="*/ 0 w 4679950"/>
              <a:gd name="connsiteY4" fmla="*/ 0 h 358775"/>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0 h 358775"/>
              <a:gd name="connsiteX0" fmla="*/ 0 w 4679950"/>
              <a:gd name="connsiteY0" fmla="*/ 0 h 0"/>
              <a:gd name="connsiteX1" fmla="*/ 4679950 w 4679950"/>
              <a:gd name="connsiteY1" fmla="*/ 0 h 0"/>
              <a:gd name="connsiteX2" fmla="*/ 0 w 4679950"/>
              <a:gd name="connsiteY2" fmla="*/ 0 h 0"/>
            </a:gdLst>
            <a:ahLst/>
            <a:cxnLst>
              <a:cxn ang="0">
                <a:pos x="connsiteX0" y="connsiteY0"/>
              </a:cxn>
              <a:cxn ang="0">
                <a:pos x="connsiteX1" y="connsiteY1"/>
              </a:cxn>
              <a:cxn ang="0">
                <a:pos x="connsiteX2" y="connsiteY2"/>
              </a:cxn>
            </a:cxnLst>
            <a:rect l="l" t="t" r="r" b="b"/>
            <a:pathLst>
              <a:path w="4679950">
                <a:moveTo>
                  <a:pt x="0" y="0"/>
                </a:moveTo>
                <a:lnTo>
                  <a:pt x="4679950" y="0"/>
                </a:lnTo>
                <a:lnTo>
                  <a:pt x="0" y="0"/>
                </a:lnTo>
                <a:close/>
              </a:path>
            </a:pathLst>
          </a:custGeom>
          <a:noFill/>
          <a:ln w="19050">
            <a:solidFill>
              <a:srgbClr val="215CAF"/>
            </a:solidFill>
          </a:ln>
          <a:extLst>
            <a:ext uri="{909E8E84-426E-40DD-AFC4-6F175D3DCCD1}">
              <a14:hiddenFill xmlns:a14="http://schemas.microsoft.com/office/drawing/2010/main">
                <a:solidFill>
                  <a:srgbClr val="FFFFFF"/>
                </a:solidFill>
              </a14:hiddenFill>
            </a:ext>
          </a:extLst>
        </p:spPr>
        <p:txBody>
          <a:bodyPr anchor="t"/>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 </a:t>
            </a:r>
            <a:endParaRPr lang="de-DE" dirty="0"/>
          </a:p>
        </p:txBody>
      </p:sp>
      <p:sp>
        <p:nvSpPr>
          <p:cNvPr id="12" name="Textplatzhalter 8">
            <a:extLst>
              <a:ext uri="{FF2B5EF4-FFF2-40B4-BE49-F238E27FC236}">
                <a16:creationId xmlns:a16="http://schemas.microsoft.com/office/drawing/2014/main" id="{1A893718-FC7E-15DE-CC78-B536E264E155}"/>
              </a:ext>
            </a:extLst>
          </p:cNvPr>
          <p:cNvSpPr txBox="1">
            <a:spLocks/>
          </p:cNvSpPr>
          <p:nvPr/>
        </p:nvSpPr>
        <p:spPr bwMode="auto">
          <a:xfrm>
            <a:off x="6300738" y="1619250"/>
            <a:ext cx="4500000" cy="107950"/>
          </a:xfrm>
          <a:custGeom>
            <a:avLst/>
            <a:gdLst>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358775 h 358775"/>
              <a:gd name="connsiteX4" fmla="*/ 0 w 4679950"/>
              <a:gd name="connsiteY4" fmla="*/ 0 h 358775"/>
              <a:gd name="connsiteX0" fmla="*/ 0 w 4679950"/>
              <a:gd name="connsiteY0" fmla="*/ 0 h 358775"/>
              <a:gd name="connsiteX1" fmla="*/ 4679950 w 4679950"/>
              <a:gd name="connsiteY1" fmla="*/ 0 h 358775"/>
              <a:gd name="connsiteX2" fmla="*/ 4679950 w 4679950"/>
              <a:gd name="connsiteY2" fmla="*/ 358775 h 358775"/>
              <a:gd name="connsiteX3" fmla="*/ 0 w 4679950"/>
              <a:gd name="connsiteY3" fmla="*/ 0 h 358775"/>
              <a:gd name="connsiteX0" fmla="*/ 0 w 4679950"/>
              <a:gd name="connsiteY0" fmla="*/ 0 h 0"/>
              <a:gd name="connsiteX1" fmla="*/ 4679950 w 4679950"/>
              <a:gd name="connsiteY1" fmla="*/ 0 h 0"/>
              <a:gd name="connsiteX2" fmla="*/ 0 w 4679950"/>
              <a:gd name="connsiteY2" fmla="*/ 0 h 0"/>
            </a:gdLst>
            <a:ahLst/>
            <a:cxnLst>
              <a:cxn ang="0">
                <a:pos x="connsiteX0" y="connsiteY0"/>
              </a:cxn>
              <a:cxn ang="0">
                <a:pos x="connsiteX1" y="connsiteY1"/>
              </a:cxn>
              <a:cxn ang="0">
                <a:pos x="connsiteX2" y="connsiteY2"/>
              </a:cxn>
            </a:cxnLst>
            <a:rect l="l" t="t" r="r" b="b"/>
            <a:pathLst>
              <a:path w="4679950">
                <a:moveTo>
                  <a:pt x="0" y="0"/>
                </a:moveTo>
                <a:lnTo>
                  <a:pt x="4679950" y="0"/>
                </a:lnTo>
                <a:lnTo>
                  <a:pt x="0" y="0"/>
                </a:lnTo>
                <a:close/>
              </a:path>
            </a:pathLst>
          </a:custGeom>
          <a:noFill/>
          <a:ln w="19050">
            <a:solidFill>
              <a:srgbClr val="215CAF"/>
            </a:solidFill>
          </a:ln>
          <a:extLst>
            <a:ext uri="{909E8E84-426E-40DD-AFC4-6F175D3DCCD1}">
              <a14:hiddenFill xmlns:a14="http://schemas.microsoft.com/office/drawing/2010/main">
                <a:solidFill>
                  <a:srgbClr val="FFFFFF"/>
                </a:solidFill>
              </a14:hiddenFill>
            </a:ext>
          </a:extLst>
        </p:spPr>
        <p:txBody>
          <a:bodyPr anchor="t"/>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 </a:t>
            </a:r>
            <a:endParaRPr lang="de-DE" dirty="0"/>
          </a:p>
        </p:txBody>
      </p:sp>
      <p:pic>
        <p:nvPicPr>
          <p:cNvPr id="16" name="Grafik 15">
            <a:extLst>
              <a:ext uri="{FF2B5EF4-FFF2-40B4-BE49-F238E27FC236}">
                <a16:creationId xmlns:a16="http://schemas.microsoft.com/office/drawing/2014/main" id="{10B88883-2A0B-6A16-834D-3BD4304C5747}"/>
              </a:ext>
            </a:extLst>
          </p:cNvPr>
          <p:cNvPicPr>
            <a:picLocks noChangeAspect="1"/>
          </p:cNvPicPr>
          <p:nvPr/>
        </p:nvPicPr>
        <p:blipFill>
          <a:blip r:embed="rId3"/>
          <a:stretch>
            <a:fillRect/>
          </a:stretch>
        </p:blipFill>
        <p:spPr>
          <a:xfrm>
            <a:off x="6096000" y="3745438"/>
            <a:ext cx="5763544" cy="2833542"/>
          </a:xfrm>
          <a:prstGeom prst="rect">
            <a:avLst/>
          </a:prstGeom>
        </p:spPr>
      </p:pic>
      <p:sp>
        <p:nvSpPr>
          <p:cNvPr id="7" name="Inhaltsplatzhalter 19">
            <a:extLst>
              <a:ext uri="{FF2B5EF4-FFF2-40B4-BE49-F238E27FC236}">
                <a16:creationId xmlns:a16="http://schemas.microsoft.com/office/drawing/2014/main" id="{50F304D5-EA69-4687-B55D-8780BB25A037}"/>
              </a:ext>
            </a:extLst>
          </p:cNvPr>
          <p:cNvSpPr txBox="1">
            <a:spLocks/>
          </p:cNvSpPr>
          <p:nvPr/>
        </p:nvSpPr>
        <p:spPr>
          <a:xfrm>
            <a:off x="6204163" y="1877901"/>
            <a:ext cx="5256000" cy="2213453"/>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err="1"/>
              <a:t>Recency</a:t>
            </a:r>
            <a:endParaRPr lang="de-DE" dirty="0"/>
          </a:p>
          <a:p>
            <a:r>
              <a:rPr lang="de-DE" dirty="0" err="1"/>
              <a:t>Monetary</a:t>
            </a:r>
            <a:r>
              <a:rPr lang="de-DE" dirty="0"/>
              <a:t> x </a:t>
            </a:r>
            <a:r>
              <a:rPr lang="de-DE" dirty="0" err="1"/>
              <a:t>Frequency</a:t>
            </a:r>
            <a:endParaRPr lang="de-DE" dirty="0"/>
          </a:p>
          <a:p>
            <a:r>
              <a:rPr lang="de-DE" dirty="0" err="1"/>
              <a:t>Pct_weekly_rentals</a:t>
            </a:r>
            <a:endParaRPr lang="de-DE" dirty="0"/>
          </a:p>
          <a:p>
            <a:r>
              <a:rPr lang="de-DE" dirty="0"/>
              <a:t>cluster_affinity_6 (</a:t>
            </a:r>
            <a:r>
              <a:rPr lang="de-DE" dirty="0" err="1"/>
              <a:t>Skirts</a:t>
            </a:r>
            <a:r>
              <a:rPr lang="de-DE" dirty="0"/>
              <a:t>) </a:t>
            </a:r>
            <a:r>
              <a:rPr lang="en-US" dirty="0"/>
              <a:t>→ everyday fashion –could be a loyalty signal</a:t>
            </a:r>
            <a:endParaRPr lang="de-DE" dirty="0"/>
          </a:p>
        </p:txBody>
      </p:sp>
      <p:pic>
        <p:nvPicPr>
          <p:cNvPr id="8" name="Grafik 7">
            <a:extLst>
              <a:ext uri="{FF2B5EF4-FFF2-40B4-BE49-F238E27FC236}">
                <a16:creationId xmlns:a16="http://schemas.microsoft.com/office/drawing/2014/main" id="{3588F285-94D5-6DD4-BEE8-9AC03342101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31837" y="1877901"/>
            <a:ext cx="5256000" cy="3126413"/>
          </a:xfrm>
          <a:prstGeom prst="rect">
            <a:avLst/>
          </a:prstGeom>
        </p:spPr>
      </p:pic>
      <p:sp>
        <p:nvSpPr>
          <p:cNvPr id="17" name="Inhaltsplatzhalter 19">
            <a:extLst>
              <a:ext uri="{FF2B5EF4-FFF2-40B4-BE49-F238E27FC236}">
                <a16:creationId xmlns:a16="http://schemas.microsoft.com/office/drawing/2014/main" id="{C33CE04B-909E-1859-A592-E75C683B238E}"/>
              </a:ext>
            </a:extLst>
          </p:cNvPr>
          <p:cNvSpPr txBox="1">
            <a:spLocks/>
          </p:cNvSpPr>
          <p:nvPr/>
        </p:nvSpPr>
        <p:spPr>
          <a:xfrm>
            <a:off x="840000" y="5004315"/>
            <a:ext cx="5256000" cy="1195764"/>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dirty="0" err="1"/>
              <a:t>Assignment</a:t>
            </a:r>
            <a:r>
              <a:rPr lang="de-DE" dirty="0"/>
              <a:t> Evaluation </a:t>
            </a:r>
            <a:r>
              <a:rPr lang="de-DE" dirty="0" err="1"/>
              <a:t>Metrics</a:t>
            </a:r>
            <a:r>
              <a:rPr lang="de-DE" dirty="0"/>
              <a:t>:</a:t>
            </a:r>
          </a:p>
          <a:p>
            <a:r>
              <a:rPr lang="de-DE" dirty="0"/>
              <a:t>Total Hit Ratio (</a:t>
            </a:r>
            <a:r>
              <a:rPr lang="de-DE" dirty="0" err="1"/>
              <a:t>Accuracy</a:t>
            </a:r>
            <a:r>
              <a:rPr lang="de-DE" dirty="0"/>
              <a:t>): 96%</a:t>
            </a:r>
          </a:p>
          <a:p>
            <a:r>
              <a:rPr lang="de-DE" dirty="0"/>
              <a:t>Recall (</a:t>
            </a:r>
            <a:r>
              <a:rPr lang="de-DE" dirty="0" err="1"/>
              <a:t>Inactive</a:t>
            </a:r>
            <a:r>
              <a:rPr lang="de-DE" dirty="0"/>
              <a:t> </a:t>
            </a:r>
            <a:r>
              <a:rPr lang="de-DE" dirty="0" err="1"/>
              <a:t>customers</a:t>
            </a:r>
            <a:r>
              <a:rPr lang="de-DE" dirty="0"/>
              <a:t>): 99%</a:t>
            </a:r>
          </a:p>
        </p:txBody>
      </p:sp>
    </p:spTree>
    <p:extLst>
      <p:ext uri="{BB962C8B-B14F-4D97-AF65-F5344CB8AC3E}">
        <p14:creationId xmlns:p14="http://schemas.microsoft.com/office/powerpoint/2010/main" val="262873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A47A00-249C-434A-EAC5-62C717836070}"/>
              </a:ext>
            </a:extLst>
          </p:cNvPr>
          <p:cNvSpPr>
            <a:spLocks noGrp="1"/>
          </p:cNvSpPr>
          <p:nvPr>
            <p:ph type="title"/>
          </p:nvPr>
        </p:nvSpPr>
        <p:spPr/>
        <p:txBody>
          <a:bodyPr/>
          <a:lstStyle/>
          <a:p>
            <a:r>
              <a:rPr lang="de-DE" dirty="0" err="1"/>
              <a:t>Recommendations</a:t>
            </a:r>
            <a:r>
              <a:rPr lang="de-DE" dirty="0"/>
              <a:t> to </a:t>
            </a:r>
            <a:r>
              <a:rPr lang="de-DE" dirty="0" err="1"/>
              <a:t>Vibrent</a:t>
            </a:r>
            <a:endParaRPr lang="en-US" dirty="0"/>
          </a:p>
        </p:txBody>
      </p:sp>
      <p:sp>
        <p:nvSpPr>
          <p:cNvPr id="4" name="Datumsplatzhalter 3">
            <a:extLst>
              <a:ext uri="{FF2B5EF4-FFF2-40B4-BE49-F238E27FC236}">
                <a16:creationId xmlns:a16="http://schemas.microsoft.com/office/drawing/2014/main" id="{D8FDF408-E51C-4711-3171-1EFC56C40014}"/>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77DB9B62-7DF1-2607-A814-EB54967955C2}"/>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8316D27D-EF82-8204-43AB-60014F84F0EA}"/>
              </a:ext>
            </a:extLst>
          </p:cNvPr>
          <p:cNvSpPr>
            <a:spLocks noGrp="1"/>
          </p:cNvSpPr>
          <p:nvPr>
            <p:ph type="sldNum" sz="quarter" idx="12"/>
          </p:nvPr>
        </p:nvSpPr>
        <p:spPr/>
        <p:txBody>
          <a:bodyPr/>
          <a:lstStyle/>
          <a:p>
            <a:fld id="{5ACA52AF-F19D-405C-AD5F-7D94B96A5CC3}" type="slidenum">
              <a:rPr lang="de-CH" noProof="0" smtClean="0"/>
              <a:t>14</a:t>
            </a:fld>
            <a:endParaRPr lang="de-CH" noProof="0"/>
          </a:p>
        </p:txBody>
      </p:sp>
      <p:grpSp>
        <p:nvGrpSpPr>
          <p:cNvPr id="19" name="Gruppieren 18">
            <a:extLst>
              <a:ext uri="{FF2B5EF4-FFF2-40B4-BE49-F238E27FC236}">
                <a16:creationId xmlns:a16="http://schemas.microsoft.com/office/drawing/2014/main" id="{9CB6AD72-CC2C-0304-AD0C-0CF4AA8BF70E}"/>
              </a:ext>
            </a:extLst>
          </p:cNvPr>
          <p:cNvGrpSpPr/>
          <p:nvPr/>
        </p:nvGrpSpPr>
        <p:grpSpPr>
          <a:xfrm>
            <a:off x="731837" y="1412875"/>
            <a:ext cx="10728325" cy="1194858"/>
            <a:chOff x="731837" y="1412875"/>
            <a:chExt cx="10728325" cy="1194858"/>
          </a:xfrm>
        </p:grpSpPr>
        <p:sp>
          <p:nvSpPr>
            <p:cNvPr id="7" name="Rechteck: abgerundete Ecken 6">
              <a:extLst>
                <a:ext uri="{FF2B5EF4-FFF2-40B4-BE49-F238E27FC236}">
                  <a16:creationId xmlns:a16="http://schemas.microsoft.com/office/drawing/2014/main" id="{1EB69DE7-0668-FF16-B6B3-F6C0054EAD53}"/>
                </a:ext>
              </a:extLst>
            </p:cNvPr>
            <p:cNvSpPr/>
            <p:nvPr/>
          </p:nvSpPr>
          <p:spPr>
            <a:xfrm>
              <a:off x="731837" y="1412875"/>
              <a:ext cx="10728325" cy="1194858"/>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076325"/>
              <a:r>
                <a:rPr lang="de-DE" sz="2400" b="1" dirty="0" err="1"/>
                <a:t>Expand</a:t>
              </a:r>
              <a:r>
                <a:rPr lang="de-DE" sz="2400" b="1" dirty="0"/>
                <a:t> Bags &amp; Accessoires</a:t>
              </a:r>
            </a:p>
            <a:p>
              <a:pPr marL="1076325"/>
              <a:r>
                <a:rPr lang="en-US" dirty="0"/>
                <a:t>Highest revenue-per-item in the catalog (10,139 NOK), utilization 71% above average but lowest ROI due to acquisition cost. Growth lever, not efficiency play.</a:t>
              </a:r>
              <a:endParaRPr lang="de-DE" dirty="0"/>
            </a:p>
          </p:txBody>
        </p:sp>
        <p:pic>
          <p:nvPicPr>
            <p:cNvPr id="10" name="Grafik 9" descr="Marke 1 Silhouette">
              <a:extLst>
                <a:ext uri="{FF2B5EF4-FFF2-40B4-BE49-F238E27FC236}">
                  <a16:creationId xmlns:a16="http://schemas.microsoft.com/office/drawing/2014/main" id="{FC61B064-C6DF-B4F1-CA91-E29C56DE837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85049" y="1553104"/>
              <a:ext cx="914400" cy="914400"/>
            </a:xfrm>
            <a:prstGeom prst="rect">
              <a:avLst/>
            </a:prstGeom>
          </p:spPr>
        </p:pic>
      </p:grpSp>
      <p:grpSp>
        <p:nvGrpSpPr>
          <p:cNvPr id="20" name="Gruppieren 19">
            <a:extLst>
              <a:ext uri="{FF2B5EF4-FFF2-40B4-BE49-F238E27FC236}">
                <a16:creationId xmlns:a16="http://schemas.microsoft.com/office/drawing/2014/main" id="{2A333CD4-A0D0-E4A0-86F7-4481AB75BA64}"/>
              </a:ext>
            </a:extLst>
          </p:cNvPr>
          <p:cNvGrpSpPr/>
          <p:nvPr/>
        </p:nvGrpSpPr>
        <p:grpSpPr>
          <a:xfrm>
            <a:off x="731837" y="3060171"/>
            <a:ext cx="10728325" cy="1194858"/>
            <a:chOff x="731837" y="3116713"/>
            <a:chExt cx="10728325" cy="1194858"/>
          </a:xfrm>
        </p:grpSpPr>
        <p:sp>
          <p:nvSpPr>
            <p:cNvPr id="11" name="Rechteck: abgerundete Ecken 10">
              <a:extLst>
                <a:ext uri="{FF2B5EF4-FFF2-40B4-BE49-F238E27FC236}">
                  <a16:creationId xmlns:a16="http://schemas.microsoft.com/office/drawing/2014/main" id="{0D5A5E6D-8A90-A188-7523-62EB848413D8}"/>
                </a:ext>
              </a:extLst>
            </p:cNvPr>
            <p:cNvSpPr/>
            <p:nvPr/>
          </p:nvSpPr>
          <p:spPr>
            <a:xfrm>
              <a:off x="731837" y="3116713"/>
              <a:ext cx="10728325" cy="1194858"/>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076325"/>
              <a:r>
                <a:rPr lang="en-US" sz="2400" b="1" dirty="0"/>
                <a:t>Reallocate away from Trousers &amp; Skirts</a:t>
              </a:r>
              <a:endParaRPr lang="de-DE" sz="2400" b="1" dirty="0"/>
            </a:p>
            <a:p>
              <a:pPr marL="1076325"/>
              <a:r>
                <a:rPr lang="en-US" dirty="0"/>
                <a:t>16% of inventory, 11% of revenue. Never-rented rates up to 35.8%. Shift budget toward Tops &amp; Sweaters with an ROI exceeding 3.5x.</a:t>
              </a:r>
              <a:endParaRPr lang="de-DE" dirty="0"/>
            </a:p>
          </p:txBody>
        </p:sp>
        <p:pic>
          <p:nvPicPr>
            <p:cNvPr id="16" name="Grafik 15" descr="Abzeichen Silhouette">
              <a:extLst>
                <a:ext uri="{FF2B5EF4-FFF2-40B4-BE49-F238E27FC236}">
                  <a16:creationId xmlns:a16="http://schemas.microsoft.com/office/drawing/2014/main" id="{9C365F7B-66C5-3743-AAD4-C67E04DC849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85049" y="3256942"/>
              <a:ext cx="914400" cy="914400"/>
            </a:xfrm>
            <a:prstGeom prst="rect">
              <a:avLst/>
            </a:prstGeom>
          </p:spPr>
        </p:pic>
      </p:grpSp>
      <p:grpSp>
        <p:nvGrpSpPr>
          <p:cNvPr id="21" name="Gruppieren 20">
            <a:extLst>
              <a:ext uri="{FF2B5EF4-FFF2-40B4-BE49-F238E27FC236}">
                <a16:creationId xmlns:a16="http://schemas.microsoft.com/office/drawing/2014/main" id="{D6DE2B58-BD18-E3F5-A419-D95C8B96E1B6}"/>
              </a:ext>
            </a:extLst>
          </p:cNvPr>
          <p:cNvGrpSpPr/>
          <p:nvPr/>
        </p:nvGrpSpPr>
        <p:grpSpPr>
          <a:xfrm>
            <a:off x="731837" y="4707467"/>
            <a:ext cx="10728325" cy="1194858"/>
            <a:chOff x="731837" y="4707467"/>
            <a:chExt cx="10728325" cy="1194858"/>
          </a:xfrm>
        </p:grpSpPr>
        <p:sp>
          <p:nvSpPr>
            <p:cNvPr id="13" name="Rechteck: abgerundete Ecken 12">
              <a:extLst>
                <a:ext uri="{FF2B5EF4-FFF2-40B4-BE49-F238E27FC236}">
                  <a16:creationId xmlns:a16="http://schemas.microsoft.com/office/drawing/2014/main" id="{E044C822-A75B-328F-401D-4E6FD42DA3F3}"/>
                </a:ext>
              </a:extLst>
            </p:cNvPr>
            <p:cNvSpPr/>
            <p:nvPr/>
          </p:nvSpPr>
          <p:spPr>
            <a:xfrm>
              <a:off x="731837" y="4707467"/>
              <a:ext cx="10728325" cy="1194858"/>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076325"/>
              <a:r>
                <a:rPr lang="en-US" sz="2400" b="1" dirty="0"/>
                <a:t>Trigger a second-category nudge after the first Dress rental</a:t>
              </a:r>
              <a:endParaRPr lang="de-DE" sz="2400" b="1" dirty="0"/>
            </a:p>
            <a:p>
              <a:pPr marL="1076325"/>
              <a:r>
                <a:rPr lang="en-US" dirty="0"/>
                <a:t>At-risk customers spend 79% in a single category. One cross-category interaction changes the behavioral profile from occasion renter to subscriber.</a:t>
              </a:r>
              <a:endParaRPr lang="de-DE" dirty="0"/>
            </a:p>
          </p:txBody>
        </p:sp>
        <p:pic>
          <p:nvPicPr>
            <p:cNvPr id="18" name="Grafik 17" descr="Marke 3 Silhouette">
              <a:extLst>
                <a:ext uri="{FF2B5EF4-FFF2-40B4-BE49-F238E27FC236}">
                  <a16:creationId xmlns:a16="http://schemas.microsoft.com/office/drawing/2014/main" id="{3BE42710-EA39-EF11-8A27-095065DFFA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5049" y="4847696"/>
              <a:ext cx="914400" cy="914400"/>
            </a:xfrm>
            <a:prstGeom prst="rect">
              <a:avLst/>
            </a:prstGeom>
          </p:spPr>
        </p:pic>
      </p:grpSp>
    </p:spTree>
    <p:extLst>
      <p:ext uri="{BB962C8B-B14F-4D97-AF65-F5344CB8AC3E}">
        <p14:creationId xmlns:p14="http://schemas.microsoft.com/office/powerpoint/2010/main" val="1749823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A7920-004A-04BF-F6AF-4C834A8B6633}"/>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7E59F031-395B-CFFA-0DD9-BA45A028C8E6}"/>
              </a:ext>
            </a:extLst>
          </p:cNvPr>
          <p:cNvSpPr>
            <a:spLocks noGrp="1"/>
          </p:cNvSpPr>
          <p:nvPr>
            <p:ph type="dt" sz="half" idx="10"/>
          </p:nvPr>
        </p:nvSpPr>
        <p:spPr/>
        <p:txBody>
          <a:bodyPr/>
          <a:lstStyle/>
          <a:p>
            <a:fld id="{11B96697-4585-4368-989A-16003D150648}" type="datetime1">
              <a:rPr lang="de-CH" noProof="0" smtClean="0"/>
              <a:t>30.04.2026</a:t>
            </a:fld>
            <a:endParaRPr lang="de-CH" noProof="0"/>
          </a:p>
        </p:txBody>
      </p:sp>
      <p:sp>
        <p:nvSpPr>
          <p:cNvPr id="5" name="Fußzeilenplatzhalter 4">
            <a:extLst>
              <a:ext uri="{FF2B5EF4-FFF2-40B4-BE49-F238E27FC236}">
                <a16:creationId xmlns:a16="http://schemas.microsoft.com/office/drawing/2014/main" id="{8E18EB06-0D0A-3BB4-22AC-CBF7E7C24558}"/>
              </a:ext>
            </a:extLst>
          </p:cNvPr>
          <p:cNvSpPr>
            <a:spLocks noGrp="1"/>
          </p:cNvSpPr>
          <p:nvPr>
            <p:ph type="ftr" sz="quarter" idx="11"/>
          </p:nvPr>
        </p:nvSpPr>
        <p:spPr/>
        <p:txBody>
          <a:bodyPr/>
          <a:lstStyle/>
          <a:p>
            <a:r>
              <a:rPr lang="en-US" dirty="0"/>
              <a:t>Marketing Analytics</a:t>
            </a:r>
          </a:p>
        </p:txBody>
      </p:sp>
      <p:sp>
        <p:nvSpPr>
          <p:cNvPr id="6" name="Foliennummernplatzhalter 5">
            <a:extLst>
              <a:ext uri="{FF2B5EF4-FFF2-40B4-BE49-F238E27FC236}">
                <a16:creationId xmlns:a16="http://schemas.microsoft.com/office/drawing/2014/main" id="{A1875842-BDE0-1422-78D5-06A82BA2B59B}"/>
              </a:ext>
            </a:extLst>
          </p:cNvPr>
          <p:cNvSpPr>
            <a:spLocks noGrp="1"/>
          </p:cNvSpPr>
          <p:nvPr>
            <p:ph type="sldNum" sz="quarter" idx="12"/>
          </p:nvPr>
        </p:nvSpPr>
        <p:spPr/>
        <p:txBody>
          <a:bodyPr/>
          <a:lstStyle/>
          <a:p>
            <a:fld id="{5ACA52AF-F19D-405C-AD5F-7D94B96A5CC3}" type="slidenum">
              <a:rPr lang="de-CH" noProof="0" smtClean="0"/>
              <a:t>15</a:t>
            </a:fld>
            <a:endParaRPr lang="de-CH" noProof="0"/>
          </a:p>
        </p:txBody>
      </p:sp>
      <p:sp>
        <p:nvSpPr>
          <p:cNvPr id="8" name="Title 7">
            <a:extLst>
              <a:ext uri="{FF2B5EF4-FFF2-40B4-BE49-F238E27FC236}">
                <a16:creationId xmlns:a16="http://schemas.microsoft.com/office/drawing/2014/main" id="{A8419249-11D8-5701-A86E-CD398A5C69E3}"/>
              </a:ext>
            </a:extLst>
          </p:cNvPr>
          <p:cNvSpPr>
            <a:spLocks noGrp="1"/>
          </p:cNvSpPr>
          <p:nvPr>
            <p:ph type="title"/>
          </p:nvPr>
        </p:nvSpPr>
        <p:spPr>
          <a:xfrm>
            <a:off x="721677" y="1845311"/>
            <a:ext cx="10728325" cy="900000"/>
          </a:xfrm>
        </p:spPr>
        <p:txBody>
          <a:bodyPr/>
          <a:lstStyle/>
          <a:p>
            <a:pPr algn="ctr"/>
            <a:r>
              <a:rPr lang="it-IT" sz="4800" b="1" i="1" dirty="0"/>
              <a:t>Thank You!</a:t>
            </a:r>
            <a:br>
              <a:rPr lang="it-IT" sz="4800" b="1" i="1" dirty="0"/>
            </a:br>
            <a:br>
              <a:rPr lang="it-IT" sz="2800" b="1" i="1" dirty="0"/>
            </a:br>
            <a:r>
              <a:rPr lang="it-IT" sz="2000" b="1" i="1" dirty="0"/>
              <a:t>Group 2</a:t>
            </a:r>
            <a:br>
              <a:rPr lang="it-IT" sz="1800" b="1" i="1" dirty="0"/>
            </a:br>
            <a:br>
              <a:rPr lang="it-IT" sz="1800" b="1" i="1" dirty="0"/>
            </a:br>
            <a:r>
              <a:rPr lang="it-IT" sz="1800" i="1" dirty="0"/>
              <a:t>Constantin Cimpoes • Julius Voss</a:t>
            </a:r>
            <a:endParaRPr lang="en-US" sz="4800" i="1" dirty="0"/>
          </a:p>
        </p:txBody>
      </p:sp>
    </p:spTree>
    <p:extLst>
      <p:ext uri="{BB962C8B-B14F-4D97-AF65-F5344CB8AC3E}">
        <p14:creationId xmlns:p14="http://schemas.microsoft.com/office/powerpoint/2010/main" val="2210950879"/>
      </p:ext>
    </p:extLst>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Präsentation3" id="{9C84984C-18ED-5E49-A574-15FF8A3954B8}" vid="{0B390235-9264-874C-ABEB-5D2188FC234E}"/>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D0F59E03F3A02E49BD70E31348545014" ma:contentTypeVersion="7" ma:contentTypeDescription="Ein neues Dokument erstellen." ma:contentTypeScope="" ma:versionID="907cdc0f808be0b4bc1373a5a8f6a492">
  <xsd:schema xmlns:xsd="http://www.w3.org/2001/XMLSchema" xmlns:xs="http://www.w3.org/2001/XMLSchema" xmlns:p="http://schemas.microsoft.com/office/2006/metadata/properties" xmlns:ns2="7fd05bba-d45d-467f-a5a8-3f2970e80e4a" targetNamespace="http://schemas.microsoft.com/office/2006/metadata/properties" ma:root="true" ma:fieldsID="6eaf8534fcc486a778b01aa1a7a62fa4" ns2:_="">
    <xsd:import namespace="7fd05bba-d45d-467f-a5a8-3f2970e80e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d05bba-d45d-467f-a5a8-3f2970e80e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0CFCB78-2973-46E2-963D-C72C98C43B41}">
  <ds:schemaRefs>
    <ds:schemaRef ds:uri="http://schemas.microsoft.com/sharepoint/v3/contenttype/forms"/>
  </ds:schemaRefs>
</ds:datastoreItem>
</file>

<file path=customXml/itemProps2.xml><?xml version="1.0" encoding="utf-8"?>
<ds:datastoreItem xmlns:ds="http://schemas.openxmlformats.org/officeDocument/2006/customXml" ds:itemID="{6B7B52BC-33EF-4C54-820C-9984D5F8AFB1}">
  <ds:schemaRefs>
    <ds:schemaRef ds:uri="7fd05bba-d45d-467f-a5a8-3f2970e80e4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C3B1C8D-BA84-44B8-B31F-BF26E7BAC85C}">
  <ds:schemaRefs>
    <ds:schemaRef ds:uri="7fd05bba-d45d-467f-a5a8-3f2970e80e4a"/>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purl.org/dc/terms/"/>
    <ds:schemaRef ds:uri="http://www.w3.org/XML/1998/namespace"/>
    <ds:schemaRef ds:uri="http://purl.org/dc/elements/1.1/"/>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eth_pp_praesentation_ohne_klassifizierung</Template>
  <TotalTime>0</TotalTime>
  <Words>2012</Words>
  <Application>Microsoft Office PowerPoint</Application>
  <PresentationFormat>Widescreen</PresentationFormat>
  <Paragraphs>269</Paragraphs>
  <Slides>15</Slides>
  <Notes>15</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 Black</vt:lpstr>
      <vt:lpstr>Arial</vt:lpstr>
      <vt:lpstr>Courier New</vt:lpstr>
      <vt:lpstr>Segoe UI</vt:lpstr>
      <vt:lpstr>Segoe UI Symbol</vt:lpstr>
      <vt:lpstr>Symbol</vt:lpstr>
      <vt:lpstr>Wingdings</vt:lpstr>
      <vt:lpstr>ETH Zürich</vt:lpstr>
      <vt:lpstr>Final Presentation   Marketing Analytics</vt:lpstr>
      <vt:lpstr>Introduction &amp; Problem Setup</vt:lpstr>
      <vt:lpstr>PowerPoint Presentation</vt:lpstr>
      <vt:lpstr>PowerPoint Presentation</vt:lpstr>
      <vt:lpstr>PowerPoint Presentation</vt:lpstr>
      <vt:lpstr>PowerPoint Presentation</vt:lpstr>
      <vt:lpstr>The Baseline - Comparing RFM-based Models</vt:lpstr>
      <vt:lpstr>The Baseline - LightGBM Already Beats the Industry Benchmark on RFM-Features</vt:lpstr>
      <vt:lpstr>The Modeling Journey – Four Problems, Four Solutions, Three Improvements</vt:lpstr>
      <vt:lpstr>Hybrid Two-Stage Model</vt:lpstr>
      <vt:lpstr>Hybrid Two-Stage Model</vt:lpstr>
      <vt:lpstr>Single-Stage LightGBM rediscovered the Segmentation</vt:lpstr>
      <vt:lpstr>The Churn Model Confirms the Story</vt:lpstr>
      <vt:lpstr>Recommendations to Vibrent</vt:lpstr>
      <vt:lpstr>Thank You!  Group 2  Constantin Cimpoes • Julius Voss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Voss  Julius</dc:creator>
  <cp:lastModifiedBy>Constantin Cimpoes</cp:lastModifiedBy>
  <cp:revision>47</cp:revision>
  <dcterms:created xsi:type="dcterms:W3CDTF">2025-11-07T08:31:52Z</dcterms:created>
  <dcterms:modified xsi:type="dcterms:W3CDTF">2026-04-30T13:13:03Z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0x010100D0F59E03F3A02E49BD70E31348545014</vt:lpwstr>
  </property>
</Properties>
</file>
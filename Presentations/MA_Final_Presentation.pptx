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handoutMasterIdLst>
    <p:handoutMasterId r:id="rId21"/>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 id="121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0980" autoAdjust="0"/>
  </p:normalViewPr>
  <p:slideViewPr>
    <p:cSldViewPr snapToGrid="0">
      <p:cViewPr>
        <p:scale>
          <a:sx n="100" d="100"/>
          <a:sy n="100" d="100"/>
        </p:scale>
        <p:origin x="168" y="-922"/>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of 0.645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of 0.645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the company.</a:t>
            </a:r>
          </a:p>
          <a:p>
            <a:endParaRPr lang="en-US" dirty="0"/>
          </a:p>
          <a:p>
            <a:r>
              <a:rPr lang="en-US" dirty="0" err="1"/>
              <a:t>Vibrent</a:t>
            </a:r>
            <a:r>
              <a:rPr lang="en-US" dirty="0"/>
              <a:t> is a Norwegian fashion rental platform with 7,400 customers, almost 16,000 garments. And it’s not a standard e-commerce business.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and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and so on.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thus, overall an easier choice.</a:t>
            </a:r>
          </a:p>
          <a:p>
            <a:endParaRPr lang="en-US" dirty="0"/>
          </a:p>
          <a:p>
            <a:r>
              <a:rPr lang="en-US" dirty="0"/>
              <a:t>To find the best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a:t>
            </a:r>
          </a:p>
          <a:p>
            <a:endParaRPr lang="en-US" dirty="0"/>
          </a:p>
          <a:p>
            <a:r>
              <a:rPr lang="en-US" dirty="0"/>
              <a:t>Jackets tell a slightly different story, with the highest median rental price at 1 thousand 800 hundred NOK, but 36.7% dead inventory. In this case procurement hasn't matched demand well.</a:t>
            </a:r>
          </a:p>
          <a:p>
            <a:endParaRPr lang="en-US" dirty="0"/>
          </a:p>
          <a:p>
            <a:r>
              <a:rPr lang="en-US" dirty="0"/>
              <a:t>Then the bottom-left cluster, that's where you find Tops, Sweaters, Trousers, Skirts and Jewelry. The workhorses and the underperformers live here together.</a:t>
            </a:r>
          </a:p>
          <a:p>
            <a:endParaRPr lang="en-US" dirty="0"/>
          </a:p>
          <a:p>
            <a:r>
              <a:rPr lang="en-US" dirty="0"/>
              <a:t>Tops and Sweaters have the best ROI in the catalog, 3.79 and 3.59. Thanks to low acquisition cost and high turnover, they recover their investment nearly four times over.</a:t>
            </a:r>
          </a:p>
          <a:p>
            <a:endParaRPr lang="en-US" dirty="0"/>
          </a:p>
          <a:p>
            <a:r>
              <a:rPr lang="en-US" dirty="0"/>
              <a:t>Finally, Trousers and Skirts are the opposite, they represent 16% of inventory and 11% of revenue but have a never-rented rate of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We then dove into the customer affinity analysis, and we asked ourselves: “do loyal customers (so customers which last rental was within 180 days) and at-risk customers (customers which last rental was more than 365 days)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(customers which last rental was within 181 and 364 days), the green bars, look almost identical. Both spread their spending broadly: about 39% on dresses, 16% jackets, 15% tops, 13% knitwear. </a:t>
            </a:r>
          </a:p>
          <a:p>
            <a:r>
              <a:rPr lang="en-US" dirty="0"/>
              <a:t>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solve their specific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r>
              <a:rPr lang="en-US" dirty="0" err="1"/>
              <a:t>LigthGBM</a:t>
            </a:r>
            <a:r>
              <a:rPr lang="en-US" dirty="0"/>
              <a:t> already better than </a:t>
            </a:r>
            <a:r>
              <a:rPr lang="en-US" dirty="0" err="1"/>
              <a:t>CLVTools</a:t>
            </a:r>
            <a:r>
              <a:rPr lang="en-US" dirty="0"/>
              <a:t> on just 3 features with MAE 2500NOK…and the storyline for the presentation changed a bit.</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Wanna </a:t>
            </a:r>
            <a:r>
              <a:rPr lang="de-DE" dirty="0" err="1"/>
              <a:t>give</a:t>
            </a:r>
            <a:r>
              <a:rPr lang="de-DE" dirty="0"/>
              <a:t> </a:t>
            </a:r>
            <a:r>
              <a:rPr lang="de-DE" dirty="0" err="1"/>
              <a:t>you</a:t>
            </a:r>
            <a:r>
              <a:rPr lang="de-DE" dirty="0"/>
              <a:t> </a:t>
            </a:r>
            <a:r>
              <a:rPr lang="de-DE" dirty="0" err="1"/>
              <a:t>some</a:t>
            </a:r>
            <a:r>
              <a:rPr lang="de-DE" dirty="0"/>
              <a:t> </a:t>
            </a:r>
            <a:r>
              <a:rPr lang="de-DE" dirty="0" err="1"/>
              <a:t>insights</a:t>
            </a:r>
            <a:r>
              <a:rPr lang="de-DE" dirty="0"/>
              <a:t> on </a:t>
            </a:r>
            <a:r>
              <a:rPr lang="de-DE" dirty="0" err="1"/>
              <a:t>our</a:t>
            </a:r>
            <a:r>
              <a:rPr lang="de-DE" dirty="0"/>
              <a:t> </a:t>
            </a:r>
            <a:r>
              <a:rPr lang="de-DE" dirty="0" err="1"/>
              <a:t>modeling</a:t>
            </a:r>
            <a:r>
              <a:rPr lang="de-DE" dirty="0"/>
              <a:t> </a:t>
            </a:r>
            <a:r>
              <a:rPr lang="de-DE" dirty="0" err="1"/>
              <a:t>journey</a:t>
            </a:r>
            <a:r>
              <a:rPr lang="de-DE" dirty="0"/>
              <a:t>.</a:t>
            </a:r>
          </a:p>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The hybrid architecture is our answer to that.</a:t>
            </a:r>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19AE2-CB22-C504-1B83-E4762C05152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4A8C3A-A0B0-2695-E0BC-1923F747FC4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2932E-89F9-7FE1-BE1B-BCD7866645C0}"/>
              </a:ext>
            </a:extLst>
          </p:cNvPr>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a:extLst>
              <a:ext uri="{FF2B5EF4-FFF2-40B4-BE49-F238E27FC236}">
                <a16:creationId xmlns:a16="http://schemas.microsoft.com/office/drawing/2014/main" id="{3E35E2A0-8E24-5057-1FCD-DB9E46F4FD47}"/>
              </a:ext>
            </a:extLst>
          </p:cNvPr>
          <p:cNvSpPr>
            <a:spLocks noGrp="1"/>
          </p:cNvSpPr>
          <p:nvPr>
            <p:ph type="sldNum" sz="quarter" idx="5"/>
          </p:nvPr>
        </p:nvSpPr>
        <p:spPr/>
        <p:txBody>
          <a:bodyPr/>
          <a:lstStyle/>
          <a:p>
            <a:fld id="{F615DDFD-030C-4D5A-B33E-3A7E7538D2BE}" type="slidenum">
              <a:rPr lang="de-CH" smtClean="0"/>
              <a:t>15</a:t>
            </a:fld>
            <a:endParaRPr lang="de-CH"/>
          </a:p>
        </p:txBody>
      </p:sp>
    </p:spTree>
    <p:extLst>
      <p:ext uri="{BB962C8B-B14F-4D97-AF65-F5344CB8AC3E}">
        <p14:creationId xmlns:p14="http://schemas.microsoft.com/office/powerpoint/2010/main" val="357567905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6452" b="6452"/>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8100000" scaled="1"/>
            <a:tileRect/>
          </a:gradFill>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27477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1109181970"/>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
        <p:nvSpPr>
          <p:cNvPr id="3" name="Fußzeilenplatzhalter 4">
            <a:extLst>
              <a:ext uri="{FF2B5EF4-FFF2-40B4-BE49-F238E27FC236}">
                <a16:creationId xmlns:a16="http://schemas.microsoft.com/office/drawing/2014/main" id="{AE61F77C-A2D2-0537-8D08-92E16D4F36E6}"/>
              </a:ext>
            </a:extLst>
          </p:cNvPr>
          <p:cNvSpPr>
            <a:spLocks noGrp="1"/>
          </p:cNvSpPr>
          <p:nvPr>
            <p:ph type="ftr" sz="quarter" idx="11"/>
          </p:nvPr>
        </p:nvSpPr>
        <p:spPr>
          <a:xfrm>
            <a:off x="2171700" y="6522444"/>
            <a:ext cx="5400000" cy="216000"/>
          </a:xfrm>
        </p:spPr>
        <p:txBody>
          <a:bodyPr/>
          <a:lstStyle/>
          <a:p>
            <a:r>
              <a:rPr lang="en-US" dirty="0"/>
              <a:t>Marketing Analytics</a:t>
            </a:r>
          </a:p>
        </p:txBody>
      </p:sp>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A7920-004A-04BF-F6AF-4C834A8B6633}"/>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7E59F031-395B-CFFA-0DD9-BA45A028C8E6}"/>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8E18EB06-0D0A-3BB4-22AC-CBF7E7C24558}"/>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A1875842-BDE0-1422-78D5-06A82BA2B59B}"/>
              </a:ext>
            </a:extLst>
          </p:cNvPr>
          <p:cNvSpPr>
            <a:spLocks noGrp="1"/>
          </p:cNvSpPr>
          <p:nvPr>
            <p:ph type="sldNum" sz="quarter" idx="12"/>
          </p:nvPr>
        </p:nvSpPr>
        <p:spPr/>
        <p:txBody>
          <a:bodyPr/>
          <a:lstStyle/>
          <a:p>
            <a:fld id="{5ACA52AF-F19D-405C-AD5F-7D94B96A5CC3}" type="slidenum">
              <a:rPr lang="de-CH" noProof="0" smtClean="0"/>
              <a:t>15</a:t>
            </a:fld>
            <a:endParaRPr lang="de-CH" noProof="0"/>
          </a:p>
        </p:txBody>
      </p:sp>
      <p:sp>
        <p:nvSpPr>
          <p:cNvPr id="8" name="Title 7">
            <a:extLst>
              <a:ext uri="{FF2B5EF4-FFF2-40B4-BE49-F238E27FC236}">
                <a16:creationId xmlns:a16="http://schemas.microsoft.com/office/drawing/2014/main" id="{A8419249-11D8-5701-A86E-CD398A5C69E3}"/>
              </a:ext>
            </a:extLst>
          </p:cNvPr>
          <p:cNvSpPr>
            <a:spLocks noGrp="1"/>
          </p:cNvSpPr>
          <p:nvPr>
            <p:ph type="title"/>
          </p:nvPr>
        </p:nvSpPr>
        <p:spPr>
          <a:xfrm>
            <a:off x="721677" y="1845311"/>
            <a:ext cx="10728325" cy="900000"/>
          </a:xfrm>
        </p:spPr>
        <p:txBody>
          <a:bodyPr/>
          <a:lstStyle/>
          <a:p>
            <a:pPr algn="ctr"/>
            <a:r>
              <a:rPr lang="it-IT" sz="4800" b="1" i="1" dirty="0"/>
              <a:t>Thank You!</a:t>
            </a:r>
            <a:br>
              <a:rPr lang="it-IT" sz="4800" b="1" i="1" dirty="0"/>
            </a:br>
            <a:br>
              <a:rPr lang="it-IT" sz="2800" b="1" i="1" dirty="0"/>
            </a:br>
            <a:r>
              <a:rPr lang="it-IT" sz="2000" b="1" i="1" dirty="0"/>
              <a:t>Group 2</a:t>
            </a:r>
            <a:br>
              <a:rPr lang="it-IT" sz="1800" b="1" i="1" dirty="0"/>
            </a:br>
            <a:br>
              <a:rPr lang="it-IT" sz="1800" b="1" i="1" dirty="0"/>
            </a:br>
            <a:r>
              <a:rPr lang="it-IT" sz="1800" i="1" dirty="0"/>
              <a:t>Constantin Cimpoes • Julius Voss</a:t>
            </a:r>
            <a:endParaRPr lang="en-US" sz="4800" i="1" dirty="0"/>
          </a:p>
        </p:txBody>
      </p:sp>
    </p:spTree>
    <p:extLst>
      <p:ext uri="{BB962C8B-B14F-4D97-AF65-F5344CB8AC3E}">
        <p14:creationId xmlns:p14="http://schemas.microsoft.com/office/powerpoint/2010/main" val="2210950879"/>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E0CFCB78-2973-46E2-963D-C72C98C43B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3867</Words>
  <Application>Microsoft Office PowerPoint</Application>
  <PresentationFormat>Widescreen</PresentationFormat>
  <Paragraphs>348</Paragraphs>
  <Slides>15</Slides>
  <Notes>15</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 Presentation</vt:lpstr>
      <vt:lpstr>PowerPoint Presentation</vt:lpstr>
      <vt:lpstr>PowerPoint Presentation</vt:lpstr>
      <vt:lpstr>PowerPoint Presentation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lpstr>Thank You!  Group 2  Constantin Cimpoes • Julius Voss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42</cp:revision>
  <dcterms:created xsi:type="dcterms:W3CDTF">2025-11-07T08:31:52Z</dcterms:created>
  <dcterms:modified xsi:type="dcterms:W3CDTF">2026-04-29T13:47:23Z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
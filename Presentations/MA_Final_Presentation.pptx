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handoutMasterIdLst>
    <p:handoutMasterId r:id="rId20"/>
  </p:handoutMasterIdLst>
  <p:sldIdLst>
    <p:sldId id="256" r:id="rId5"/>
    <p:sldId id="1206" r:id="rId6"/>
    <p:sldId id="1209" r:id="rId7"/>
    <p:sldId id="1207" r:id="rId8"/>
    <p:sldId id="1211" r:id="rId9"/>
    <p:sldId id="1212" r:id="rId10"/>
    <p:sldId id="1193" r:id="rId11"/>
    <p:sldId id="1195" r:id="rId12"/>
    <p:sldId id="1196" r:id="rId13"/>
    <p:sldId id="1199" r:id="rId14"/>
    <p:sldId id="1200" r:id="rId15"/>
    <p:sldId id="1201" r:id="rId16"/>
    <p:sldId id="1203" r:id="rId17"/>
    <p:sldId id="1204" r:id="rId1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59" autoAdjust="0"/>
    <p:restoredTop sz="94248" autoAdjust="0"/>
  </p:normalViewPr>
  <p:slideViewPr>
    <p:cSldViewPr snapToGrid="0">
      <p:cViewPr>
        <p:scale>
          <a:sx n="75" d="100"/>
          <a:sy n="75" d="100"/>
        </p:scale>
        <p:origin x="1013" y="110"/>
      </p:cViewPr>
      <p:guideLst>
        <p:guide orient="horz" pos="2183"/>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29.04.2026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29.04.2026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r>
              <a:rPr lang="en-US" dirty="0"/>
              <a:t>So, let's start with the company.</a:t>
            </a:r>
          </a:p>
          <a:p>
            <a:endParaRPr lang="en-US" dirty="0"/>
          </a:p>
          <a:p>
            <a:r>
              <a:rPr lang="en-US" dirty="0" err="1"/>
              <a:t>Vibrent</a:t>
            </a:r>
            <a:r>
              <a:rPr lang="en-US" dirty="0"/>
              <a:t> is a Norwegian fashion rental platform with 7,400 customers, almost 16,000 garments. And it’s not a standard e-commerce business. Because in retail, a customer buys something, and you know exactly what that transaction is worth. In rental, there's no guaranteed repeat. A customer might rent once for a wedding and disappear. Or they might rent every month for three years. The same transaction history can mean completely different things depending on the person.</a:t>
            </a:r>
          </a:p>
          <a:p>
            <a:endParaRPr lang="en-US" dirty="0"/>
          </a:p>
          <a:p>
            <a:r>
              <a:rPr lang="en-US" dirty="0"/>
              <a:t>So predicting Customer Lifetime Value here is genuinely harder, </a:t>
            </a:r>
            <a:r>
              <a:rPr lang="en-US" dirty="0" err="1"/>
              <a:t>beacuse</a:t>
            </a:r>
            <a:r>
              <a:rPr lang="en-US" dirty="0"/>
              <a:t> it's driven by rental frequency, category preference and duration, and all of these things shift over time.</a:t>
            </a:r>
          </a:p>
          <a:p>
            <a:endParaRPr lang="en-US" dirty="0"/>
          </a:p>
          <a:p>
            <a:r>
              <a:rPr lang="en-US" dirty="0"/>
              <a:t>Now, the models the industry typically uses, like Pareto and NBD, they only look at </a:t>
            </a:r>
            <a:r>
              <a:rPr lang="en-US" i="1" dirty="0"/>
              <a:t>when</a:t>
            </a:r>
            <a:r>
              <a:rPr lang="en-US" dirty="0"/>
              <a:t> and </a:t>
            </a:r>
            <a:r>
              <a:rPr lang="en-US" i="1" dirty="0"/>
              <a:t>how often</a:t>
            </a:r>
            <a:r>
              <a:rPr lang="en-US" dirty="0"/>
              <a:t> a customer transacts. They completely ignore </a:t>
            </a:r>
            <a:r>
              <a:rPr lang="en-US" i="1" dirty="0"/>
              <a:t>what</a:t>
            </a:r>
            <a:r>
              <a:rPr lang="en-US" dirty="0"/>
              <a:t> that customer actually rents. And that feels like a gap worth exploring. Does knowing that a customer only rents dresses, versus one who rents dresses, jackets, tops, and accessories actually help you predict who stays?</a:t>
            </a:r>
          </a:p>
          <a:p>
            <a:endParaRPr lang="en-US" dirty="0"/>
          </a:p>
          <a:p>
            <a:r>
              <a:rPr lang="en-US" dirty="0"/>
              <a:t>That's the core question. And to answer it, we had three objectives: first, build a meaningful product segmentation. Second, use it to predict 12-month revenue. Third, identify churners before they go silent.</a:t>
            </a:r>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r>
              <a:rPr lang="en-US" dirty="0"/>
              <a:t>Before we get into any modeling, there's something important about this dataset that shapes every decision we made.</a:t>
            </a:r>
          </a:p>
          <a:p>
            <a:endParaRPr lang="en-US" dirty="0"/>
          </a:p>
          <a:p>
            <a:r>
              <a:rPr lang="en-US" dirty="0"/>
              <a:t>We have data from March 2016 to September 2023. 77,000 rental events, 7,400 customers. But if you plot transaction volume over time, something jumps out immediately, and you can see it right here in the chart. Around April 2020, everything changes. Median rental duration goes from 4 days to 30 days. Monthly transactions go from roughly 100 to over 2,000. </a:t>
            </a:r>
            <a:r>
              <a:rPr lang="en-US" dirty="0" err="1"/>
              <a:t>Vibrent</a:t>
            </a:r>
            <a:r>
              <a:rPr lang="en-US" dirty="0"/>
              <a:t> pivoted from a spot-rental model to a subscription model, and it's basically a different business after that point.</a:t>
            </a:r>
          </a:p>
          <a:p>
            <a:endParaRPr lang="en-US" dirty="0"/>
          </a:p>
          <a:p>
            <a:r>
              <a:rPr lang="en-US" dirty="0"/>
              <a:t>So the question is: what do you do with the pre-2020 data? The naive answer is to throw it away, train only on the subscription era. But that turns out to be a mistake, because customers who joined in 2017 carry behavioral signals that are still meaningful, like how long they've been on the platform, their early loyalty patterns and so on. When we used the full history for feature engineering but kept labels strictly post-2020, MAE dropped by 74% compared to using post-2020 data alone.</a:t>
            </a:r>
          </a:p>
          <a:p>
            <a:endParaRPr lang="en-US" dirty="0"/>
          </a:p>
          <a:p>
            <a:r>
              <a:rPr lang="en-US" dirty="0"/>
              <a:t>And then for validation, we used an expanding window split. Train on features up to September 2021, predict the following year. Then expand the window to 2022, predict 2023. The model never sees the future it's predicting. This is important because random splits would leak future transactions into past predictions</a:t>
            </a:r>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r>
              <a:rPr lang="en-US" dirty="0"/>
              <a:t>Now, to build product-level features, we first needed a meaningful segmentation of the catalog. And the question was: how do you cluster 15,000 garments in a way that actually captures style?</a:t>
            </a:r>
          </a:p>
          <a:p>
            <a:endParaRPr lang="en-US" dirty="0"/>
          </a:p>
          <a:p>
            <a:r>
              <a:rPr lang="en-US" dirty="0"/>
              <a:t>Metadata tags don't cut it. A tag says "dress.“, but an embedding captures what </a:t>
            </a:r>
            <a:r>
              <a:rPr lang="en-US" i="1" dirty="0"/>
              <a:t>kind</a:t>
            </a:r>
            <a:r>
              <a:rPr lang="en-US" dirty="0"/>
              <a:t> of dress, the silhouette, the occasion, the color palette and so on. So we used Voyage Multimodal 3.5, which integrates both the product image and the text description into a single vector. One representation per garment, no modality mismatch.</a:t>
            </a:r>
          </a:p>
          <a:p>
            <a:endParaRPr lang="en-US" dirty="0"/>
          </a:p>
          <a:p>
            <a:r>
              <a:rPr lang="en-US" dirty="0"/>
              <a:t>But you can't cluster directly on 2,048-dimensional embeddings. We tried, but HDB-SCAN put 84% of items into a single cluster. K-Means Silhouette scores were near zero. Distance metrics simply break down in that many dimensions. So we ran UMAP first to reduce to 20 dimensions, preserving both local and global structure, and </a:t>
            </a:r>
            <a:r>
              <a:rPr lang="en-US" i="1" dirty="0"/>
              <a:t>then</a:t>
            </a:r>
            <a:r>
              <a:rPr lang="en-US" dirty="0"/>
              <a:t> clustered.</a:t>
            </a:r>
          </a:p>
          <a:p>
            <a:endParaRPr lang="en-US" dirty="0"/>
          </a:p>
          <a:p>
            <a:r>
              <a:rPr lang="en-US" dirty="0"/>
              <a:t>For the algorithm, we compared K-Means, GMM, and HDB-SCAN on the reduced space. K-Means and GMM gave nearly identical assignments, and when we checked the GMM soft probabilities, over 99% of items had more than 99% confidence in a single cluster. So probabilistic modeling added nothing. K-Means is simpler, more stable, fully interpretable, thus, overall an easier choice.</a:t>
            </a:r>
          </a:p>
          <a:p>
            <a:endParaRPr lang="en-US" dirty="0"/>
          </a:p>
          <a:p>
            <a:r>
              <a:rPr lang="en-US" dirty="0"/>
              <a:t>To find the best k, we ran a grid search across cluster counts and UMAP dimensions. You can see the heatmap here,  k=8 at 20 dimensions hits the global Silhouette peak, and it's stable across 100 random initializations with a mean ARI of 0.85. So that’s what we chose.</a:t>
            </a:r>
          </a:p>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r>
              <a:rPr lang="en-US" dirty="0"/>
              <a:t>So what do those 8 clusters actually tell us about the business? We profiled each one on revenue share, inventory share, utilization, and ROI, and four distinct strategic roles emerged.</a:t>
            </a:r>
          </a:p>
          <a:p>
            <a:endParaRPr lang="en-US" dirty="0"/>
          </a:p>
          <a:p>
            <a:r>
              <a:rPr lang="en-US" dirty="0"/>
              <a:t>Looking at the chart, that large orange bubble sitting far to the right is Dresses &amp; Jumpsuits. 27,000 rentals, 41.9% of revenue, 42.3% of inventory. Revenue and inventory are almost perfectly matched. This is the platform's engine, it's doing exactly what it should be doing.</a:t>
            </a:r>
          </a:p>
          <a:p>
            <a:endParaRPr lang="en-US" dirty="0"/>
          </a:p>
          <a:p>
            <a:r>
              <a:rPr lang="en-US" dirty="0"/>
              <a:t>Up in the top left, you have two clusters sitting at high price points but low volume. Bags &amp; Accessories and Jackets &amp; Coats. These are your premium items. Bags have the highest revenue-per-item in the entire catalog, 10 thousands NOK,  and a utilization rate 71% above average. But only 421 items in stock. The demand is clearly there, supply isn't. And despite all that revenue, ROI is actually the lowest in the catalog at 1.98, because designer bags are expensive to acquire. So this is a growth lever, but a capital-intensive one.</a:t>
            </a:r>
          </a:p>
          <a:p>
            <a:endParaRPr lang="en-US" dirty="0"/>
          </a:p>
          <a:p>
            <a:r>
              <a:rPr lang="en-US" dirty="0"/>
              <a:t>Jackets tell a slightly different story, with the highest median rental price at 1 thousand 800 hundred NOK, but 36.7% dead inventory. In this case procurement hasn't matched demand well.</a:t>
            </a:r>
          </a:p>
          <a:p>
            <a:endParaRPr lang="en-US" dirty="0"/>
          </a:p>
          <a:p>
            <a:r>
              <a:rPr lang="en-US" dirty="0"/>
              <a:t>Then the bottom-left cluster, that's where you find Tops, Sweaters, Trousers, Skirts and Jewelry. The workhorses and the underperformers live here together.</a:t>
            </a:r>
          </a:p>
          <a:p>
            <a:endParaRPr lang="en-US" dirty="0"/>
          </a:p>
          <a:p>
            <a:r>
              <a:rPr lang="en-US" dirty="0"/>
              <a:t>Tops and Sweaters have the best ROI in the catalog, 3.79 and 3.59. Thanks to low acquisition cost and high turnover, they recover their investment nearly four times over.</a:t>
            </a:r>
          </a:p>
          <a:p>
            <a:endParaRPr lang="en-US" dirty="0"/>
          </a:p>
          <a:p>
            <a:r>
              <a:rPr lang="en-US" dirty="0"/>
              <a:t>Finally, Trousers and Skirts are the opposite, they represent 16% of inventory and 11% of revenue but have a never-rented rate of 35.8%.</a:t>
            </a:r>
          </a:p>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r>
              <a:rPr lang="en-US" dirty="0"/>
              <a:t>We then dove into the customer affinity analysis, and we asked ourselves: “do loyal customers (so customers which last rental was within 180 days) and at-risk customers (customers which last rental was more than 365 days) rent different </a:t>
            </a:r>
            <a:r>
              <a:rPr lang="en-US" i="1" dirty="0"/>
              <a:t>types</a:t>
            </a:r>
            <a:r>
              <a:rPr lang="en-US" dirty="0"/>
              <a:t> of things?”</a:t>
            </a:r>
          </a:p>
          <a:p>
            <a:endParaRPr lang="en-US" dirty="0"/>
          </a:p>
          <a:p>
            <a:r>
              <a:rPr lang="en-US" dirty="0"/>
              <a:t>The answer is yes, but not in the way we’d expect.</a:t>
            </a:r>
          </a:p>
          <a:p>
            <a:endParaRPr lang="en-US" dirty="0"/>
          </a:p>
          <a:p>
            <a:r>
              <a:rPr lang="en-US" dirty="0"/>
              <a:t>Looking at the chart. Loyal customers and Dormant customers (customers which last rental was within 181 and 364 days), the green bars, look almost identical. Both spread their spending broadly: about 39% on dresses, 16% jackets, 15% tops, 13% knitwear. </a:t>
            </a:r>
          </a:p>
          <a:p>
            <a:r>
              <a:rPr lang="en-US" dirty="0"/>
              <a:t>Five or more categories.</a:t>
            </a:r>
          </a:p>
          <a:p>
            <a:endParaRPr lang="en-US" dirty="0"/>
          </a:p>
          <a:p>
            <a:r>
              <a:rPr lang="en-US" dirty="0"/>
              <a:t>Now look at the grey bars, At-Risk customers. 79% of their spending goes to a single category. Dresses. Everything else barely registers.</a:t>
            </a:r>
          </a:p>
          <a:p>
            <a:endParaRPr lang="en-US" dirty="0"/>
          </a:p>
          <a:p>
            <a:r>
              <a:rPr lang="en-US" dirty="0"/>
              <a:t>What this tells you is that At-Risk users come to </a:t>
            </a:r>
            <a:r>
              <a:rPr lang="en-US" dirty="0" err="1"/>
              <a:t>Vibrent</a:t>
            </a:r>
            <a:r>
              <a:rPr lang="en-US" dirty="0"/>
              <a:t> for a specific occasion, a wedding, a gala, to solve their specific need, and then they're gone. They were never really subscribers. They were one-time event renters.</a:t>
            </a:r>
          </a:p>
          <a:p>
            <a:endParaRPr lang="en-US" dirty="0"/>
          </a:p>
          <a:p>
            <a:r>
              <a:rPr lang="en-US" dirty="0"/>
              <a:t>So loyalty isn't about </a:t>
            </a:r>
            <a:r>
              <a:rPr lang="en-US" i="1" dirty="0"/>
              <a:t>what</a:t>
            </a:r>
            <a:r>
              <a:rPr lang="en-US" dirty="0"/>
              <a:t> you rent. It's about </a:t>
            </a:r>
            <a:r>
              <a:rPr lang="en-US" i="1" dirty="0"/>
              <a:t>how broadly</a:t>
            </a:r>
            <a:r>
              <a:rPr lang="en-US" dirty="0"/>
              <a:t> you rent. A customer who engages across multiple categories has integrated </a:t>
            </a:r>
            <a:r>
              <a:rPr lang="en-US" dirty="0" err="1"/>
              <a:t>Vibrent</a:t>
            </a:r>
            <a:r>
              <a:rPr lang="en-US" dirty="0"/>
              <a:t> into their regular wardrobe. A customer stuck in one category hasn’t.</a:t>
            </a:r>
          </a:p>
          <a:p>
            <a:endParaRPr lang="en-US" dirty="0"/>
          </a:p>
          <a:p>
            <a:r>
              <a:rPr lang="en-US" dirty="0"/>
              <a:t>We formalized this as Style Entropy, the Shannon entropy across a customer's cluster affinity shares. High entropy means broad engagement, low entropy means occasion-driven risk. And this turned out to be one of the best early-warning signals for churn.</a:t>
            </a:r>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a </a:t>
            </a:r>
            <a:r>
              <a:rPr lang="de-DE" dirty="0" err="1"/>
              <a:t>lot</a:t>
            </a:r>
            <a:r>
              <a:rPr lang="de-DE" dirty="0"/>
              <a:t> did not </a:t>
            </a:r>
            <a:r>
              <a:rPr lang="de-DE" dirty="0" err="1"/>
              <a:t>work</a:t>
            </a:r>
            <a:r>
              <a:rPr lang="de-DE" dirty="0"/>
              <a:t> like log </a:t>
            </a:r>
            <a:r>
              <a:rPr lang="de-DE" dirty="0" err="1"/>
              <a:t>transformation</a:t>
            </a:r>
            <a:r>
              <a:rPr lang="de-DE" dirty="0"/>
              <a:t> </a:t>
            </a:r>
            <a:r>
              <a:rPr lang="de-DE" dirty="0" err="1"/>
              <a:t>or</a:t>
            </a:r>
            <a:r>
              <a:rPr lang="de-DE" dirty="0"/>
              <a:t> </a:t>
            </a:r>
            <a:r>
              <a:rPr lang="de-DE" dirty="0" err="1"/>
              <a:t>standardization</a:t>
            </a:r>
            <a:r>
              <a:rPr lang="de-DE" dirty="0"/>
              <a:t> </a:t>
            </a:r>
            <a:r>
              <a:rPr lang="de-DE" dirty="0" err="1"/>
              <a:t>of</a:t>
            </a:r>
            <a:r>
              <a:rPr lang="de-DE" dirty="0"/>
              <a:t> </a:t>
            </a:r>
            <a:r>
              <a:rPr lang="de-DE" dirty="0" err="1"/>
              <a:t>the</a:t>
            </a:r>
            <a:r>
              <a:rPr lang="de-DE" dirty="0"/>
              <a:t> </a:t>
            </a:r>
            <a:r>
              <a:rPr lang="de-DE" dirty="0" err="1"/>
              <a:t>dependent</a:t>
            </a:r>
            <a:r>
              <a:rPr lang="de-DE" dirty="0"/>
              <a:t> variable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r>
              <a:rPr lang="de-DE" dirty="0"/>
              <a:t>First </a:t>
            </a:r>
            <a:r>
              <a:rPr lang="de-DE" dirty="0" err="1"/>
              <a:t>thing</a:t>
            </a:r>
            <a:r>
              <a:rPr lang="de-DE" dirty="0"/>
              <a:t> </a:t>
            </a:r>
            <a:r>
              <a:rPr lang="de-DE" dirty="0" err="1"/>
              <a:t>we</a:t>
            </a:r>
            <a:r>
              <a:rPr lang="de-DE" dirty="0"/>
              <a:t> did </a:t>
            </a:r>
            <a:r>
              <a:rPr lang="de-DE" dirty="0" err="1"/>
              <a:t>where</a:t>
            </a:r>
            <a:r>
              <a:rPr lang="de-DE" dirty="0"/>
              <a:t> </a:t>
            </a:r>
            <a:r>
              <a:rPr lang="de-DE" dirty="0" err="1"/>
              <a:t>we</a:t>
            </a:r>
            <a:r>
              <a:rPr lang="de-DE" dirty="0"/>
              <a:t> </a:t>
            </a:r>
            <a:r>
              <a:rPr lang="de-DE" dirty="0" err="1"/>
              <a:t>thought</a:t>
            </a:r>
            <a:r>
              <a:rPr lang="de-DE" dirty="0"/>
              <a:t> </a:t>
            </a:r>
            <a:r>
              <a:rPr lang="de-DE" dirty="0" err="1"/>
              <a:t>it</a:t>
            </a:r>
            <a:r>
              <a:rPr lang="de-DE" dirty="0"/>
              <a:t> </a:t>
            </a:r>
            <a:r>
              <a:rPr lang="de-DE" dirty="0" err="1"/>
              <a:t>could</a:t>
            </a:r>
            <a:r>
              <a:rPr lang="de-DE" dirty="0"/>
              <a:t> </a:t>
            </a:r>
            <a:r>
              <a:rPr lang="de-DE" dirty="0" err="1"/>
              <a:t>increase</a:t>
            </a:r>
            <a:r>
              <a:rPr lang="de-DE" dirty="0"/>
              <a:t> </a:t>
            </a:r>
            <a:r>
              <a:rPr lang="de-DE" dirty="0" err="1"/>
              <a:t>performance</a:t>
            </a:r>
            <a:r>
              <a:rPr lang="de-DE" dirty="0"/>
              <a:t> </a:t>
            </a:r>
            <a:r>
              <a:rPr lang="de-DE" dirty="0" err="1"/>
              <a:t>is</a:t>
            </a:r>
            <a:r>
              <a:rPr lang="de-DE" dirty="0"/>
              <a:t> </a:t>
            </a:r>
            <a:r>
              <a:rPr lang="de-DE" dirty="0" err="1"/>
              <a:t>adding</a:t>
            </a:r>
            <a:r>
              <a:rPr lang="de-DE" dirty="0"/>
              <a:t> </a:t>
            </a:r>
            <a:r>
              <a:rPr lang="de-DE" dirty="0" err="1"/>
              <a:t>features</a:t>
            </a:r>
            <a:r>
              <a:rPr lang="de-DE" dirty="0"/>
              <a:t> so </a:t>
            </a:r>
            <a:r>
              <a:rPr lang="de-DE" dirty="0" err="1"/>
              <a:t>we</a:t>
            </a:r>
            <a:r>
              <a:rPr lang="de-DE" dirty="0"/>
              <a:t> </a:t>
            </a:r>
            <a:r>
              <a:rPr lang="de-DE" dirty="0" err="1"/>
              <a:t>engineered</a:t>
            </a:r>
            <a:r>
              <a:rPr lang="de-DE" dirty="0"/>
              <a:t> 36 </a:t>
            </a:r>
            <a:r>
              <a:rPr lang="de-DE" dirty="0" err="1"/>
              <a:t>features</a:t>
            </a:r>
            <a:r>
              <a:rPr lang="de-DE" dirty="0"/>
              <a:t> in total but </a:t>
            </a:r>
            <a:r>
              <a:rPr lang="de-DE" dirty="0" err="1"/>
              <a:t>it</a:t>
            </a:r>
            <a:r>
              <a:rPr lang="de-DE" dirty="0"/>
              <a:t> </a:t>
            </a:r>
            <a:r>
              <a:rPr lang="de-DE" dirty="0" err="1"/>
              <a:t>actually</a:t>
            </a:r>
            <a:r>
              <a:rPr lang="de-DE" dirty="0"/>
              <a:t> hurt </a:t>
            </a:r>
            <a:r>
              <a:rPr lang="de-DE" dirty="0" err="1"/>
              <a:t>the</a:t>
            </a:r>
            <a:r>
              <a:rPr lang="de-DE" dirty="0"/>
              <a:t> </a:t>
            </a:r>
            <a:r>
              <a:rPr lang="de-DE" dirty="0" err="1"/>
              <a:t>model</a:t>
            </a:r>
            <a:r>
              <a:rPr lang="de-DE" dirty="0"/>
              <a:t> and </a:t>
            </a:r>
            <a:r>
              <a:rPr lang="de-DE" dirty="0" err="1"/>
              <a:t>the</a:t>
            </a:r>
            <a:r>
              <a:rPr lang="de-DE" dirty="0"/>
              <a:t> MAE </a:t>
            </a:r>
            <a:r>
              <a:rPr lang="de-DE" dirty="0" err="1"/>
              <a:t>increased</a:t>
            </a:r>
            <a:r>
              <a:rPr lang="de-DE" dirty="0"/>
              <a:t>…but </a:t>
            </a:r>
            <a:r>
              <a:rPr lang="de-DE" dirty="0" err="1"/>
              <a:t>we</a:t>
            </a:r>
            <a:r>
              <a:rPr lang="de-DE" dirty="0"/>
              <a:t> </a:t>
            </a:r>
            <a:r>
              <a:rPr lang="de-DE" dirty="0" err="1"/>
              <a:t>are</a:t>
            </a:r>
            <a:r>
              <a:rPr lang="de-DE" dirty="0"/>
              <a:t> still </a:t>
            </a:r>
            <a:r>
              <a:rPr lang="de-DE" dirty="0" err="1"/>
              <a:t>better</a:t>
            </a:r>
            <a:r>
              <a:rPr lang="de-DE" dirty="0"/>
              <a:t> than </a:t>
            </a:r>
            <a:r>
              <a:rPr lang="de-DE" dirty="0" err="1"/>
              <a:t>the</a:t>
            </a:r>
            <a:r>
              <a:rPr lang="de-DE" dirty="0"/>
              <a:t> </a:t>
            </a:r>
            <a:r>
              <a:rPr lang="de-DE" dirty="0" err="1"/>
              <a:t>CLVTools</a:t>
            </a:r>
            <a:endParaRPr lang="de-DE" dirty="0"/>
          </a:p>
          <a:p>
            <a:endParaRPr lang="de-DE" dirty="0"/>
          </a:p>
          <a:p>
            <a:r>
              <a:rPr lang="en-US" dirty="0"/>
              <a:t>Secondly I guess everyone of us realized the same problem when testing around 90% of customers generate exactly zero revenue in the prediction window. Standard regression objectives weren’t built for that — most assume a roughly normal error distribution.  By accident I came across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a:t>
            </a:r>
            <a:r>
              <a:rPr lang="en-US"/>
              <a:t>The hybrid architecture is our answer to that.</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a:t>
            </a:r>
            <a:r>
              <a:rPr lang="en-US"/>
              <a:t>the platform</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6452" b="6452"/>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lin ang="8100000" scaled="1"/>
            <a:tileRect/>
          </a:gradFill>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17645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3033101486"/>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037554" y="3313420"/>
            <a:ext cx="3798684" cy="31393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
        <p:nvSpPr>
          <p:cNvPr id="3" name="Fußzeilenplatzhalter 4">
            <a:extLst>
              <a:ext uri="{FF2B5EF4-FFF2-40B4-BE49-F238E27FC236}">
                <a16:creationId xmlns:a16="http://schemas.microsoft.com/office/drawing/2014/main" id="{AE61F77C-A2D2-0537-8D08-92E16D4F36E6}"/>
              </a:ext>
            </a:extLst>
          </p:cNvPr>
          <p:cNvSpPr>
            <a:spLocks noGrp="1"/>
          </p:cNvSpPr>
          <p:nvPr>
            <p:ph type="ftr" sz="quarter" idx="11"/>
          </p:nvPr>
        </p:nvSpPr>
        <p:spPr>
          <a:xfrm>
            <a:off x="2171700" y="6522444"/>
            <a:ext cx="5400000" cy="216000"/>
          </a:xfrm>
        </p:spPr>
        <p:txBody>
          <a:bodyPr/>
          <a:lstStyle/>
          <a:p>
            <a:r>
              <a:rPr lang="en-US" dirty="0"/>
              <a:t>Marketing Analytics</a:t>
            </a:r>
          </a:p>
        </p:txBody>
      </p:sp>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0CFCB78-2973-46E2-963D-C72C98C43B41}">
  <ds:schemaRefs>
    <ds:schemaRef ds:uri="http://schemas.microsoft.com/sharepoint/v3/contenttype/forms"/>
  </ds:schemaRefs>
</ds:datastoreItem>
</file>

<file path=customXml/itemProps2.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3.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3725</Words>
  <Application>Microsoft Office PowerPoint</Application>
  <PresentationFormat>Widescreen</PresentationFormat>
  <Paragraphs>335</Paragraphs>
  <Slides>14</Slides>
  <Notes>14</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Aptos Black</vt:lpstr>
      <vt:lpstr>Arial</vt:lpstr>
      <vt:lpstr>Courier New</vt:lpstr>
      <vt:lpstr>Segoe UI</vt:lpstr>
      <vt:lpstr>Symbol</vt:lpstr>
      <vt:lpstr>Wingdings</vt:lpstr>
      <vt:lpstr>ETH Zürich</vt:lpstr>
      <vt:lpstr>Final Presentation   Marketing Analytics</vt:lpstr>
      <vt:lpstr>Introduction &amp; Problem Setup</vt:lpstr>
      <vt:lpstr>PowerPoint Presentation</vt:lpstr>
      <vt:lpstr>PowerPoint Presentation</vt:lpstr>
      <vt:lpstr>PowerPoint Presentation</vt:lpstr>
      <vt:lpstr>PowerPoint Presentation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Constantin Cimpoes</cp:lastModifiedBy>
  <cp:revision>36</cp:revision>
  <dcterms:created xsi:type="dcterms:W3CDTF">2025-11-07T08:31:52Z</dcterms:created>
  <dcterms:modified xsi:type="dcterms:W3CDTF">2026-04-29T12:38:09Z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
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handoutMasterIdLst>
    <p:handoutMasterId r:id="rId21"/>
  </p:handoutMasterIdLst>
  <p:sldIdLst>
    <p:sldId id="256" r:id="rId5"/>
    <p:sldId id="1206" r:id="rId6"/>
    <p:sldId id="1209" r:id="rId7"/>
    <p:sldId id="1207" r:id="rId8"/>
    <p:sldId id="1211" r:id="rId9"/>
    <p:sldId id="1212" r:id="rId10"/>
    <p:sldId id="1193" r:id="rId11"/>
    <p:sldId id="1195" r:id="rId12"/>
    <p:sldId id="1196" r:id="rId13"/>
    <p:sldId id="1214" r:id="rId14"/>
    <p:sldId id="1200" r:id="rId15"/>
    <p:sldId id="1201" r:id="rId16"/>
    <p:sldId id="1203" r:id="rId17"/>
    <p:sldId id="1204" r:id="rId18"/>
    <p:sldId id="1213" r:id="rId1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1B1B1"/>
    <a:srgbClr val="A6D854"/>
    <a:srgbClr val="66C2A5"/>
    <a:srgbClr val="2CA02C"/>
    <a:srgbClr val="FFFFFF"/>
    <a:srgbClr val="1D76B3"/>
    <a:srgbClr val="7A7A7A"/>
    <a:srgbClr val="82483C"/>
    <a:srgbClr val="E999D1"/>
    <a:srgbClr val="FF7E0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90980" autoAdjust="0"/>
  </p:normalViewPr>
  <p:slideViewPr>
    <p:cSldViewPr snapToGrid="0">
      <p:cViewPr>
        <p:scale>
          <a:sx n="73" d="100"/>
          <a:sy n="73" d="100"/>
        </p:scale>
        <p:origin x="1152" y="43"/>
      </p:cViewPr>
      <p:guideLst>
        <p:guide orient="horz" pos="2183"/>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2BA8F1-03A5-4B83-959B-8E8AB24A07A6}" type="doc">
      <dgm:prSet loTypeId="urn:microsoft.com/office/officeart/2005/8/layout/chevron2" loCatId="process" qsTypeId="urn:microsoft.com/office/officeart/2005/8/quickstyle/simple5" qsCatId="simple" csTypeId="urn:microsoft.com/office/officeart/2005/8/colors/colorful1" csCatId="colorful" phldr="1"/>
      <dgm:spPr/>
      <dgm:t>
        <a:bodyPr/>
        <a:lstStyle/>
        <a:p>
          <a:endParaRPr lang="en-US"/>
        </a:p>
      </dgm:t>
    </dgm:pt>
    <dgm:pt modelId="{A0D9B4CE-361E-4D1A-9364-F3D4B22E9A9E}">
      <dgm:prSet phldrT="[Text]"/>
      <dgm:spPr/>
      <dgm:t>
        <a:bodyPr/>
        <a:lstStyle/>
        <a:p>
          <a:pPr>
            <a:buNone/>
          </a:pPr>
          <a:r>
            <a:rPr lang="en-US" b="1" dirty="0"/>
            <a:t>Product images + descriptions</a:t>
          </a:r>
        </a:p>
      </dgm:t>
    </dgm:pt>
    <dgm:pt modelId="{AA6B5C8B-9562-4A1A-B1B7-169B1AA026E7}" type="parTrans" cxnId="{531F33BC-EC98-4EA2-9A05-2B37A6DD90A1}">
      <dgm:prSet/>
      <dgm:spPr/>
      <dgm:t>
        <a:bodyPr/>
        <a:lstStyle/>
        <a:p>
          <a:endParaRPr lang="en-US"/>
        </a:p>
      </dgm:t>
    </dgm:pt>
    <dgm:pt modelId="{E8CAA43B-4B62-4CEE-9569-2795BBDEEE02}" type="sibTrans" cxnId="{531F33BC-EC98-4EA2-9A05-2B37A6DD90A1}">
      <dgm:prSet/>
      <dgm:spPr/>
      <dgm:t>
        <a:bodyPr/>
        <a:lstStyle/>
        <a:p>
          <a:endParaRPr lang="en-US"/>
        </a:p>
      </dgm:t>
    </dgm:pt>
    <dgm:pt modelId="{1C3F4396-0F0D-4B82-A74C-3ABE315BFA85}">
      <dgm:prSet phldrT="[Text]" custT="1"/>
      <dgm:spPr/>
      <dgm:t>
        <a:bodyPr/>
        <a:lstStyle/>
        <a:p>
          <a:r>
            <a:rPr lang="en-US" sz="1400" dirty="0"/>
            <a:t>A </a:t>
          </a:r>
          <a:r>
            <a:rPr lang="en-US" sz="1400" b="1" dirty="0"/>
            <a:t>metadata</a:t>
          </a:r>
          <a:r>
            <a:rPr lang="en-US" sz="1400" dirty="0"/>
            <a:t> tag says "dress“, an </a:t>
          </a:r>
          <a:r>
            <a:rPr lang="en-US" sz="1400" b="1" dirty="0"/>
            <a:t>embedding</a:t>
          </a:r>
          <a:r>
            <a:rPr lang="en-US" sz="1400" dirty="0"/>
            <a:t> captures what kind of dress (the silhouette, color palette, occasion, vibe)</a:t>
          </a:r>
        </a:p>
      </dgm:t>
    </dgm:pt>
    <dgm:pt modelId="{E4EC9AE5-61C3-4820-9ECF-08CBB984E545}" type="parTrans" cxnId="{065ABF24-1B54-433A-A760-98C742F0E8CB}">
      <dgm:prSet/>
      <dgm:spPr/>
      <dgm:t>
        <a:bodyPr/>
        <a:lstStyle/>
        <a:p>
          <a:endParaRPr lang="en-US"/>
        </a:p>
      </dgm:t>
    </dgm:pt>
    <dgm:pt modelId="{7D33B74A-544B-435E-AA3B-4EA3F843DA75}" type="sibTrans" cxnId="{065ABF24-1B54-433A-A760-98C742F0E8CB}">
      <dgm:prSet/>
      <dgm:spPr/>
      <dgm:t>
        <a:bodyPr/>
        <a:lstStyle/>
        <a:p>
          <a:endParaRPr lang="en-US"/>
        </a:p>
      </dgm:t>
    </dgm:pt>
    <dgm:pt modelId="{5866F4CE-E9AA-485F-B098-C81A9D4B1645}">
      <dgm:prSet phldrT="[Text]"/>
      <dgm:spPr/>
      <dgm:t>
        <a:bodyPr/>
        <a:lstStyle/>
        <a:p>
          <a:pPr>
            <a:buNone/>
          </a:pPr>
          <a:r>
            <a:rPr lang="en-US" b="1" dirty="0"/>
            <a:t>Voyage 3.5 (2048-dim)</a:t>
          </a:r>
        </a:p>
      </dgm:t>
    </dgm:pt>
    <dgm:pt modelId="{130851F2-A624-43B4-9F5D-71FED199A205}" type="parTrans" cxnId="{E3BCC25A-385C-4DFF-8731-4F8E6AD6DB01}">
      <dgm:prSet/>
      <dgm:spPr/>
      <dgm:t>
        <a:bodyPr/>
        <a:lstStyle/>
        <a:p>
          <a:endParaRPr lang="en-US"/>
        </a:p>
      </dgm:t>
    </dgm:pt>
    <dgm:pt modelId="{E29AD4C6-A011-45EC-807E-F704814CA46F}" type="sibTrans" cxnId="{E3BCC25A-385C-4DFF-8731-4F8E6AD6DB01}">
      <dgm:prSet/>
      <dgm:spPr/>
      <dgm:t>
        <a:bodyPr/>
        <a:lstStyle/>
        <a:p>
          <a:endParaRPr lang="en-US"/>
        </a:p>
      </dgm:t>
    </dgm:pt>
    <dgm:pt modelId="{108A22EC-82FE-47AF-970F-6B5D6F2B1179}">
      <dgm:prSet phldrT="[Text]"/>
      <dgm:spPr/>
      <dgm:t>
        <a:bodyPr/>
        <a:lstStyle/>
        <a:p>
          <a:r>
            <a:rPr lang="en-US" dirty="0"/>
            <a:t> Why </a:t>
          </a:r>
          <a:r>
            <a:rPr lang="en-US" b="1" dirty="0"/>
            <a:t>Voyage Multimodal 3.5</a:t>
          </a:r>
          <a:r>
            <a:rPr lang="en-US" dirty="0"/>
            <a:t>: integrates both image and text in a </a:t>
          </a:r>
          <a:r>
            <a:rPr lang="en-US" b="1" dirty="0"/>
            <a:t>single interleaved vector</a:t>
          </a:r>
          <a:r>
            <a:rPr lang="en-US" dirty="0"/>
            <a:t> → one representation per garment, no modality mismatch </a:t>
          </a:r>
        </a:p>
      </dgm:t>
    </dgm:pt>
    <dgm:pt modelId="{AE1F66B8-37F8-40C8-932C-2B645B367CE5}" type="parTrans" cxnId="{F8529D6E-DFD0-4F28-8FD3-28F24F1E8B86}">
      <dgm:prSet/>
      <dgm:spPr/>
      <dgm:t>
        <a:bodyPr/>
        <a:lstStyle/>
        <a:p>
          <a:endParaRPr lang="en-US"/>
        </a:p>
      </dgm:t>
    </dgm:pt>
    <dgm:pt modelId="{87BE72CA-9D75-4C0D-A5E3-F4144F6501F7}" type="sibTrans" cxnId="{F8529D6E-DFD0-4F28-8FD3-28F24F1E8B86}">
      <dgm:prSet/>
      <dgm:spPr/>
      <dgm:t>
        <a:bodyPr/>
        <a:lstStyle/>
        <a:p>
          <a:endParaRPr lang="en-US"/>
        </a:p>
      </dgm:t>
    </dgm:pt>
    <dgm:pt modelId="{E6444267-E3BB-470A-A5B4-62E11D263DE6}">
      <dgm:prSet phldrT="[Text]"/>
      <dgm:spPr/>
      <dgm:t>
        <a:bodyPr/>
        <a:lstStyle/>
        <a:p>
          <a:r>
            <a:rPr lang="en-US" dirty="0"/>
            <a:t> Why not cluster on </a:t>
          </a:r>
          <a:r>
            <a:rPr lang="en-US" b="1" dirty="0"/>
            <a:t>raw 2,048-dim embeddings</a:t>
          </a:r>
          <a:r>
            <a:rPr lang="en-US" dirty="0"/>
            <a:t>? </a:t>
          </a:r>
          <a:r>
            <a:rPr lang="en-US" b="1" dirty="0"/>
            <a:t>Curse of dimensionality</a:t>
          </a:r>
          <a:r>
            <a:rPr lang="en-US" dirty="0"/>
            <a:t>, HDBSCAN collapsed 84% of items into one cluster. K-Means Silhouette scores near zero. Distance metrics break in high dimensions. </a:t>
          </a:r>
        </a:p>
      </dgm:t>
    </dgm:pt>
    <dgm:pt modelId="{93C1187F-3F9B-439C-B0DC-845F18F15D62}" type="parTrans" cxnId="{976797FE-BBFA-4AE5-A0D0-1C8A6284E2A8}">
      <dgm:prSet/>
      <dgm:spPr/>
      <dgm:t>
        <a:bodyPr/>
        <a:lstStyle/>
        <a:p>
          <a:endParaRPr lang="en-US"/>
        </a:p>
      </dgm:t>
    </dgm:pt>
    <dgm:pt modelId="{7445DFB1-4671-4A6E-ADC6-443F330C424B}" type="sibTrans" cxnId="{976797FE-BBFA-4AE5-A0D0-1C8A6284E2A8}">
      <dgm:prSet/>
      <dgm:spPr/>
      <dgm:t>
        <a:bodyPr/>
        <a:lstStyle/>
        <a:p>
          <a:endParaRPr lang="en-US"/>
        </a:p>
      </dgm:t>
    </dgm:pt>
    <dgm:pt modelId="{E9F6686F-AA5D-4202-B87B-0FDE8E73D0FC}">
      <dgm:prSet phldrT="[Text]"/>
      <dgm:spPr/>
      <dgm:t>
        <a:bodyPr/>
        <a:lstStyle/>
        <a:p>
          <a:pPr>
            <a:buNone/>
          </a:pPr>
          <a:r>
            <a:rPr lang="en-US" b="1" dirty="0"/>
            <a:t>UMAP (20-dim)</a:t>
          </a:r>
        </a:p>
      </dgm:t>
    </dgm:pt>
    <dgm:pt modelId="{4094DBB2-2E07-4AF1-9EEF-CAB3384AB9D8}" type="parTrans" cxnId="{DEEFA55A-F216-4801-9CF5-D25F47D27329}">
      <dgm:prSet/>
      <dgm:spPr/>
      <dgm:t>
        <a:bodyPr/>
        <a:lstStyle/>
        <a:p>
          <a:endParaRPr lang="en-US"/>
        </a:p>
      </dgm:t>
    </dgm:pt>
    <dgm:pt modelId="{9A178EFC-C0ED-482B-B02B-5C177D9B70E1}" type="sibTrans" cxnId="{DEEFA55A-F216-4801-9CF5-D25F47D27329}">
      <dgm:prSet/>
      <dgm:spPr/>
      <dgm:t>
        <a:bodyPr/>
        <a:lstStyle/>
        <a:p>
          <a:endParaRPr lang="en-US"/>
        </a:p>
      </dgm:t>
    </dgm:pt>
    <dgm:pt modelId="{0786C96B-7F0F-4107-B83A-F1D562F283E2}">
      <dgm:prSet phldrT="[Text]"/>
      <dgm:spPr/>
      <dgm:t>
        <a:bodyPr/>
        <a:lstStyle/>
        <a:p>
          <a:r>
            <a:rPr lang="en-US" dirty="0"/>
            <a:t> Why </a:t>
          </a:r>
          <a:r>
            <a:rPr lang="en-US" b="1" dirty="0"/>
            <a:t>UMAP first</a:t>
          </a:r>
          <a:r>
            <a:rPr lang="en-US" dirty="0"/>
            <a:t>? Non-linear dimensionality reduction that preserves both local and global structure. Reduces to 20 dimensions where distance is meaningful again </a:t>
          </a:r>
        </a:p>
      </dgm:t>
    </dgm:pt>
    <dgm:pt modelId="{0226DF90-B263-4B13-8EBE-DF951CB62A4A}" type="parTrans" cxnId="{6B3303EB-87B7-40FB-BF5E-F29569103E1D}">
      <dgm:prSet/>
      <dgm:spPr/>
      <dgm:t>
        <a:bodyPr/>
        <a:lstStyle/>
        <a:p>
          <a:endParaRPr lang="en-US"/>
        </a:p>
      </dgm:t>
    </dgm:pt>
    <dgm:pt modelId="{67B0706C-9B6C-43FB-863E-C5FE0F110739}" type="sibTrans" cxnId="{6B3303EB-87B7-40FB-BF5E-F29569103E1D}">
      <dgm:prSet/>
      <dgm:spPr/>
      <dgm:t>
        <a:bodyPr/>
        <a:lstStyle/>
        <a:p>
          <a:endParaRPr lang="en-US"/>
        </a:p>
      </dgm:t>
    </dgm:pt>
    <dgm:pt modelId="{C49978E1-9670-4502-92AA-C519449B4FCC}">
      <dgm:prSet/>
      <dgm:spPr/>
      <dgm:t>
        <a:bodyPr/>
        <a:lstStyle/>
        <a:p>
          <a:pPr>
            <a:buNone/>
          </a:pPr>
          <a:r>
            <a:rPr lang="en-US" b="1" dirty="0"/>
            <a:t>K-Means (k=8)</a:t>
          </a:r>
        </a:p>
      </dgm:t>
    </dgm:pt>
    <dgm:pt modelId="{8DEF5FA5-099C-4E11-8463-62D5A7EBDC96}" type="parTrans" cxnId="{408BE869-FE4C-4145-9709-E64579EEE44C}">
      <dgm:prSet/>
      <dgm:spPr/>
      <dgm:t>
        <a:bodyPr/>
        <a:lstStyle/>
        <a:p>
          <a:endParaRPr lang="en-US"/>
        </a:p>
      </dgm:t>
    </dgm:pt>
    <dgm:pt modelId="{1CF8AE49-2D92-4962-9593-3F5CA056A98F}" type="sibTrans" cxnId="{408BE869-FE4C-4145-9709-E64579EEE44C}">
      <dgm:prSet/>
      <dgm:spPr/>
      <dgm:t>
        <a:bodyPr/>
        <a:lstStyle/>
        <a:p>
          <a:endParaRPr lang="en-US"/>
        </a:p>
      </dgm:t>
    </dgm:pt>
    <dgm:pt modelId="{44FB9A1E-FBB8-43E6-B88C-8101BCA9912C}">
      <dgm:prSet/>
      <dgm:spPr/>
      <dgm:t>
        <a:bodyPr/>
        <a:lstStyle/>
        <a:p>
          <a:r>
            <a:rPr lang="en-US" dirty="0"/>
            <a:t> Why </a:t>
          </a:r>
          <a:r>
            <a:rPr lang="en-US" b="1" dirty="0"/>
            <a:t>K-Means</a:t>
          </a:r>
          <a:r>
            <a:rPr lang="en-US" dirty="0"/>
            <a:t> over </a:t>
          </a:r>
          <a:r>
            <a:rPr lang="en-US" b="1" dirty="0"/>
            <a:t>GMM</a:t>
          </a:r>
          <a:r>
            <a:rPr lang="en-US" dirty="0"/>
            <a:t>? After UMAP, over 99% of items had &gt;99% probability of belonging to a single cluster, probabilistic modeling adds no value. K-Means is simpler, more stable, fully interpretable</a:t>
          </a:r>
        </a:p>
      </dgm:t>
    </dgm:pt>
    <dgm:pt modelId="{5809F64E-0447-446A-850D-470EAB15FAFF}" type="parTrans" cxnId="{0811F5C3-DD42-4904-B83E-B97DF865BFD8}">
      <dgm:prSet/>
      <dgm:spPr/>
      <dgm:t>
        <a:bodyPr/>
        <a:lstStyle/>
        <a:p>
          <a:endParaRPr lang="en-US"/>
        </a:p>
      </dgm:t>
    </dgm:pt>
    <dgm:pt modelId="{1EAFA76C-5006-45F7-8F65-971812061ACD}" type="sibTrans" cxnId="{0811F5C3-DD42-4904-B83E-B97DF865BFD8}">
      <dgm:prSet/>
      <dgm:spPr/>
      <dgm:t>
        <a:bodyPr/>
        <a:lstStyle/>
        <a:p>
          <a:endParaRPr lang="en-US"/>
        </a:p>
      </dgm:t>
    </dgm:pt>
    <dgm:pt modelId="{8A8FB93B-266E-45B3-9908-A666F23A4FB3}">
      <dgm:prSet/>
      <dgm:spPr/>
      <dgm:t>
        <a:bodyPr/>
        <a:lstStyle/>
        <a:p>
          <a:r>
            <a:rPr lang="en-US" dirty="0"/>
            <a:t> Why </a:t>
          </a:r>
          <a:r>
            <a:rPr lang="en-US" b="1" dirty="0"/>
            <a:t>k=8</a:t>
          </a:r>
          <a:r>
            <a:rPr lang="en-US" dirty="0"/>
            <a:t>? Grid search across k=5/13 and UMAP dims 2/50. k=8 achieved the global Silhouette peak of 0.645 and mean ARI of 0.85 across 100 random initializations</a:t>
          </a:r>
        </a:p>
      </dgm:t>
    </dgm:pt>
    <dgm:pt modelId="{0E89F366-D1EE-4357-B704-8797E2586A18}" type="parTrans" cxnId="{10FAA916-5A17-49CA-893D-5ACECEB73172}">
      <dgm:prSet/>
      <dgm:spPr/>
      <dgm:t>
        <a:bodyPr/>
        <a:lstStyle/>
        <a:p>
          <a:endParaRPr lang="en-US"/>
        </a:p>
      </dgm:t>
    </dgm:pt>
    <dgm:pt modelId="{9521E298-1CB5-4AF9-847A-8E54B6380FCB}" type="sibTrans" cxnId="{10FAA916-5A17-49CA-893D-5ACECEB73172}">
      <dgm:prSet/>
      <dgm:spPr/>
      <dgm:t>
        <a:bodyPr/>
        <a:lstStyle/>
        <a:p>
          <a:endParaRPr lang="en-US"/>
        </a:p>
      </dgm:t>
    </dgm:pt>
    <dgm:pt modelId="{2508F28D-CCC7-4D1D-B808-A0DAA03298D3}" type="pres">
      <dgm:prSet presAssocID="{902BA8F1-03A5-4B83-959B-8E8AB24A07A6}" presName="linearFlow" presStyleCnt="0">
        <dgm:presLayoutVars>
          <dgm:dir/>
          <dgm:animLvl val="lvl"/>
          <dgm:resizeHandles val="exact"/>
        </dgm:presLayoutVars>
      </dgm:prSet>
      <dgm:spPr/>
    </dgm:pt>
    <dgm:pt modelId="{C78FD262-CE24-441A-903C-96FC4C3156CD}" type="pres">
      <dgm:prSet presAssocID="{A0D9B4CE-361E-4D1A-9364-F3D4B22E9A9E}" presName="composite" presStyleCnt="0"/>
      <dgm:spPr/>
    </dgm:pt>
    <dgm:pt modelId="{B006DFD3-799B-4005-BE49-C99753E3246A}" type="pres">
      <dgm:prSet presAssocID="{A0D9B4CE-361E-4D1A-9364-F3D4B22E9A9E}" presName="parentText" presStyleLbl="alignNode1" presStyleIdx="0" presStyleCnt="4">
        <dgm:presLayoutVars>
          <dgm:chMax val="1"/>
          <dgm:bulletEnabled val="1"/>
        </dgm:presLayoutVars>
      </dgm:prSet>
      <dgm:spPr/>
    </dgm:pt>
    <dgm:pt modelId="{5F454FF1-A97F-49E2-9845-2AE6FA97CBAF}" type="pres">
      <dgm:prSet presAssocID="{A0D9B4CE-361E-4D1A-9364-F3D4B22E9A9E}" presName="descendantText" presStyleLbl="alignAcc1" presStyleIdx="0" presStyleCnt="4">
        <dgm:presLayoutVars>
          <dgm:bulletEnabled val="1"/>
        </dgm:presLayoutVars>
      </dgm:prSet>
      <dgm:spPr/>
    </dgm:pt>
    <dgm:pt modelId="{363E63A7-DD3E-4DFD-A4CB-AB4AD3263832}" type="pres">
      <dgm:prSet presAssocID="{E8CAA43B-4B62-4CEE-9569-2795BBDEEE02}" presName="sp" presStyleCnt="0"/>
      <dgm:spPr/>
    </dgm:pt>
    <dgm:pt modelId="{DC8477BF-178D-4460-BBA0-A0611DF569EA}" type="pres">
      <dgm:prSet presAssocID="{5866F4CE-E9AA-485F-B098-C81A9D4B1645}" presName="composite" presStyleCnt="0"/>
      <dgm:spPr/>
    </dgm:pt>
    <dgm:pt modelId="{E3C12FB9-772D-47DF-824B-13545CFDF973}" type="pres">
      <dgm:prSet presAssocID="{5866F4CE-E9AA-485F-B098-C81A9D4B1645}" presName="parentText" presStyleLbl="alignNode1" presStyleIdx="1" presStyleCnt="4">
        <dgm:presLayoutVars>
          <dgm:chMax val="1"/>
          <dgm:bulletEnabled val="1"/>
        </dgm:presLayoutVars>
      </dgm:prSet>
      <dgm:spPr/>
    </dgm:pt>
    <dgm:pt modelId="{562C5702-D40B-43F5-955D-DDBB54EE63C1}" type="pres">
      <dgm:prSet presAssocID="{5866F4CE-E9AA-485F-B098-C81A9D4B1645}" presName="descendantText" presStyleLbl="alignAcc1" presStyleIdx="1" presStyleCnt="4">
        <dgm:presLayoutVars>
          <dgm:bulletEnabled val="1"/>
        </dgm:presLayoutVars>
      </dgm:prSet>
      <dgm:spPr/>
    </dgm:pt>
    <dgm:pt modelId="{21BF50DB-D63E-4E79-B87F-D4EE1CDC9197}" type="pres">
      <dgm:prSet presAssocID="{E29AD4C6-A011-45EC-807E-F704814CA46F}" presName="sp" presStyleCnt="0"/>
      <dgm:spPr/>
    </dgm:pt>
    <dgm:pt modelId="{202E801A-42E5-4D61-A30A-C13B45B79F70}" type="pres">
      <dgm:prSet presAssocID="{E9F6686F-AA5D-4202-B87B-0FDE8E73D0FC}" presName="composite" presStyleCnt="0"/>
      <dgm:spPr/>
    </dgm:pt>
    <dgm:pt modelId="{ADF9A38E-8B53-4E29-ADD9-52A57B13EDE0}" type="pres">
      <dgm:prSet presAssocID="{E9F6686F-AA5D-4202-B87B-0FDE8E73D0FC}" presName="parentText" presStyleLbl="alignNode1" presStyleIdx="2" presStyleCnt="4">
        <dgm:presLayoutVars>
          <dgm:chMax val="1"/>
          <dgm:bulletEnabled val="1"/>
        </dgm:presLayoutVars>
      </dgm:prSet>
      <dgm:spPr/>
    </dgm:pt>
    <dgm:pt modelId="{9477D874-CF3C-434E-8DC3-BAC23984ADFD}" type="pres">
      <dgm:prSet presAssocID="{E9F6686F-AA5D-4202-B87B-0FDE8E73D0FC}" presName="descendantText" presStyleLbl="alignAcc1" presStyleIdx="2" presStyleCnt="4">
        <dgm:presLayoutVars>
          <dgm:bulletEnabled val="1"/>
        </dgm:presLayoutVars>
      </dgm:prSet>
      <dgm:spPr/>
    </dgm:pt>
    <dgm:pt modelId="{4B8C7FD0-A6CF-4E64-8AD9-6E5EF507FC5E}" type="pres">
      <dgm:prSet presAssocID="{9A178EFC-C0ED-482B-B02B-5C177D9B70E1}" presName="sp" presStyleCnt="0"/>
      <dgm:spPr/>
    </dgm:pt>
    <dgm:pt modelId="{20149FDD-4029-4351-A003-BF350BB9925A}" type="pres">
      <dgm:prSet presAssocID="{C49978E1-9670-4502-92AA-C519449B4FCC}" presName="composite" presStyleCnt="0"/>
      <dgm:spPr/>
    </dgm:pt>
    <dgm:pt modelId="{B883275C-2092-4DD0-90D9-83F9E957DB32}" type="pres">
      <dgm:prSet presAssocID="{C49978E1-9670-4502-92AA-C519449B4FCC}" presName="parentText" presStyleLbl="alignNode1" presStyleIdx="3" presStyleCnt="4">
        <dgm:presLayoutVars>
          <dgm:chMax val="1"/>
          <dgm:bulletEnabled val="1"/>
        </dgm:presLayoutVars>
      </dgm:prSet>
      <dgm:spPr/>
    </dgm:pt>
    <dgm:pt modelId="{93841DBD-3CE2-48BF-9C1E-FB6615FCB39A}" type="pres">
      <dgm:prSet presAssocID="{C49978E1-9670-4502-92AA-C519449B4FCC}" presName="descendantText" presStyleLbl="alignAcc1" presStyleIdx="3" presStyleCnt="4">
        <dgm:presLayoutVars>
          <dgm:bulletEnabled val="1"/>
        </dgm:presLayoutVars>
      </dgm:prSet>
      <dgm:spPr/>
    </dgm:pt>
  </dgm:ptLst>
  <dgm:cxnLst>
    <dgm:cxn modelId="{10FAA916-5A17-49CA-893D-5ACECEB73172}" srcId="{C49978E1-9670-4502-92AA-C519449B4FCC}" destId="{8A8FB93B-266E-45B3-9908-A666F23A4FB3}" srcOrd="1" destOrd="0" parTransId="{0E89F366-D1EE-4357-B704-8797E2586A18}" sibTransId="{9521E298-1CB5-4AF9-847A-8E54B6380FCB}"/>
    <dgm:cxn modelId="{065ABF24-1B54-433A-A760-98C742F0E8CB}" srcId="{A0D9B4CE-361E-4D1A-9364-F3D4B22E9A9E}" destId="{1C3F4396-0F0D-4B82-A74C-3ABE315BFA85}" srcOrd="0" destOrd="0" parTransId="{E4EC9AE5-61C3-4820-9ECF-08CBB984E545}" sibTransId="{7D33B74A-544B-435E-AA3B-4EA3F843DA75}"/>
    <dgm:cxn modelId="{408BE869-FE4C-4145-9709-E64579EEE44C}" srcId="{902BA8F1-03A5-4B83-959B-8E8AB24A07A6}" destId="{C49978E1-9670-4502-92AA-C519449B4FCC}" srcOrd="3" destOrd="0" parTransId="{8DEF5FA5-099C-4E11-8463-62D5A7EBDC96}" sibTransId="{1CF8AE49-2D92-4962-9593-3F5CA056A98F}"/>
    <dgm:cxn modelId="{10B8614D-F307-4B51-B26C-2BA9ACEB9EF1}" type="presOf" srcId="{0786C96B-7F0F-4107-B83A-F1D562F283E2}" destId="{9477D874-CF3C-434E-8DC3-BAC23984ADFD}" srcOrd="0" destOrd="0" presId="urn:microsoft.com/office/officeart/2005/8/layout/chevron2"/>
    <dgm:cxn modelId="{08E6D74D-784F-40C5-9141-918BD0E34162}" type="presOf" srcId="{A0D9B4CE-361E-4D1A-9364-F3D4B22E9A9E}" destId="{B006DFD3-799B-4005-BE49-C99753E3246A}" srcOrd="0" destOrd="0" presId="urn:microsoft.com/office/officeart/2005/8/layout/chevron2"/>
    <dgm:cxn modelId="{F8529D6E-DFD0-4F28-8FD3-28F24F1E8B86}" srcId="{5866F4CE-E9AA-485F-B098-C81A9D4B1645}" destId="{108A22EC-82FE-47AF-970F-6B5D6F2B1179}" srcOrd="0" destOrd="0" parTransId="{AE1F66B8-37F8-40C8-932C-2B645B367CE5}" sibTransId="{87BE72CA-9D75-4C0D-A5E3-F4144F6501F7}"/>
    <dgm:cxn modelId="{C9C62A70-382D-42A5-9EC4-60DA5C854E7D}" type="presOf" srcId="{C49978E1-9670-4502-92AA-C519449B4FCC}" destId="{B883275C-2092-4DD0-90D9-83F9E957DB32}" srcOrd="0" destOrd="0" presId="urn:microsoft.com/office/officeart/2005/8/layout/chevron2"/>
    <dgm:cxn modelId="{FFE03F53-B47E-4F9B-A7D2-57B5A834F0D2}" type="presOf" srcId="{8A8FB93B-266E-45B3-9908-A666F23A4FB3}" destId="{93841DBD-3CE2-48BF-9C1E-FB6615FCB39A}" srcOrd="0" destOrd="1" presId="urn:microsoft.com/office/officeart/2005/8/layout/chevron2"/>
    <dgm:cxn modelId="{BDEF5374-E6FD-4AD9-B36E-4987FF5C73E5}" type="presOf" srcId="{E9F6686F-AA5D-4202-B87B-0FDE8E73D0FC}" destId="{ADF9A38E-8B53-4E29-ADD9-52A57B13EDE0}" srcOrd="0" destOrd="0" presId="urn:microsoft.com/office/officeart/2005/8/layout/chevron2"/>
    <dgm:cxn modelId="{DEEFA55A-F216-4801-9CF5-D25F47D27329}" srcId="{902BA8F1-03A5-4B83-959B-8E8AB24A07A6}" destId="{E9F6686F-AA5D-4202-B87B-0FDE8E73D0FC}" srcOrd="2" destOrd="0" parTransId="{4094DBB2-2E07-4AF1-9EEF-CAB3384AB9D8}" sibTransId="{9A178EFC-C0ED-482B-B02B-5C177D9B70E1}"/>
    <dgm:cxn modelId="{E3BCC25A-385C-4DFF-8731-4F8E6AD6DB01}" srcId="{902BA8F1-03A5-4B83-959B-8E8AB24A07A6}" destId="{5866F4CE-E9AA-485F-B098-C81A9D4B1645}" srcOrd="1" destOrd="0" parTransId="{130851F2-A624-43B4-9F5D-71FED199A205}" sibTransId="{E29AD4C6-A011-45EC-807E-F704814CA46F}"/>
    <dgm:cxn modelId="{14D38C84-43C8-4816-B2E6-25D5D0B12A0B}" type="presOf" srcId="{E6444267-E3BB-470A-A5B4-62E11D263DE6}" destId="{562C5702-D40B-43F5-955D-DDBB54EE63C1}" srcOrd="0" destOrd="1" presId="urn:microsoft.com/office/officeart/2005/8/layout/chevron2"/>
    <dgm:cxn modelId="{CD16559B-D4D7-4241-AB94-45DE29689747}" type="presOf" srcId="{108A22EC-82FE-47AF-970F-6B5D6F2B1179}" destId="{562C5702-D40B-43F5-955D-DDBB54EE63C1}" srcOrd="0" destOrd="0" presId="urn:microsoft.com/office/officeart/2005/8/layout/chevron2"/>
    <dgm:cxn modelId="{531F33BC-EC98-4EA2-9A05-2B37A6DD90A1}" srcId="{902BA8F1-03A5-4B83-959B-8E8AB24A07A6}" destId="{A0D9B4CE-361E-4D1A-9364-F3D4B22E9A9E}" srcOrd="0" destOrd="0" parTransId="{AA6B5C8B-9562-4A1A-B1B7-169B1AA026E7}" sibTransId="{E8CAA43B-4B62-4CEE-9569-2795BBDEEE02}"/>
    <dgm:cxn modelId="{0811F5C3-DD42-4904-B83E-B97DF865BFD8}" srcId="{C49978E1-9670-4502-92AA-C519449B4FCC}" destId="{44FB9A1E-FBB8-43E6-B88C-8101BCA9912C}" srcOrd="0" destOrd="0" parTransId="{5809F64E-0447-446A-850D-470EAB15FAFF}" sibTransId="{1EAFA76C-5006-45F7-8F65-971812061ACD}"/>
    <dgm:cxn modelId="{AC398DC8-39B0-43DD-BE95-4AA617CC2670}" type="presOf" srcId="{5866F4CE-E9AA-485F-B098-C81A9D4B1645}" destId="{E3C12FB9-772D-47DF-824B-13545CFDF973}" srcOrd="0" destOrd="0" presId="urn:microsoft.com/office/officeart/2005/8/layout/chevron2"/>
    <dgm:cxn modelId="{E97A30D7-9808-4149-9BA1-97C826D9E13E}" type="presOf" srcId="{902BA8F1-03A5-4B83-959B-8E8AB24A07A6}" destId="{2508F28D-CCC7-4D1D-B808-A0DAA03298D3}" srcOrd="0" destOrd="0" presId="urn:microsoft.com/office/officeart/2005/8/layout/chevron2"/>
    <dgm:cxn modelId="{E96296DC-C852-4A69-A3EC-170825C9FEC5}" type="presOf" srcId="{1C3F4396-0F0D-4B82-A74C-3ABE315BFA85}" destId="{5F454FF1-A97F-49E2-9845-2AE6FA97CBAF}" srcOrd="0" destOrd="0" presId="urn:microsoft.com/office/officeart/2005/8/layout/chevron2"/>
    <dgm:cxn modelId="{9C87B4E6-C59E-46D6-B842-6AC16841A135}" type="presOf" srcId="{44FB9A1E-FBB8-43E6-B88C-8101BCA9912C}" destId="{93841DBD-3CE2-48BF-9C1E-FB6615FCB39A}" srcOrd="0" destOrd="0" presId="urn:microsoft.com/office/officeart/2005/8/layout/chevron2"/>
    <dgm:cxn modelId="{6B3303EB-87B7-40FB-BF5E-F29569103E1D}" srcId="{E9F6686F-AA5D-4202-B87B-0FDE8E73D0FC}" destId="{0786C96B-7F0F-4107-B83A-F1D562F283E2}" srcOrd="0" destOrd="0" parTransId="{0226DF90-B263-4B13-8EBE-DF951CB62A4A}" sibTransId="{67B0706C-9B6C-43FB-863E-C5FE0F110739}"/>
    <dgm:cxn modelId="{976797FE-BBFA-4AE5-A0D0-1C8A6284E2A8}" srcId="{5866F4CE-E9AA-485F-B098-C81A9D4B1645}" destId="{E6444267-E3BB-470A-A5B4-62E11D263DE6}" srcOrd="1" destOrd="0" parTransId="{93C1187F-3F9B-439C-B0DC-845F18F15D62}" sibTransId="{7445DFB1-4671-4A6E-ADC6-443F330C424B}"/>
    <dgm:cxn modelId="{EF3A4A2E-7BFE-41E5-95AA-486F78E730D7}" type="presParOf" srcId="{2508F28D-CCC7-4D1D-B808-A0DAA03298D3}" destId="{C78FD262-CE24-441A-903C-96FC4C3156CD}" srcOrd="0" destOrd="0" presId="urn:microsoft.com/office/officeart/2005/8/layout/chevron2"/>
    <dgm:cxn modelId="{530788C9-4B90-4DCE-B5F6-E1B96EAC7B93}" type="presParOf" srcId="{C78FD262-CE24-441A-903C-96FC4C3156CD}" destId="{B006DFD3-799B-4005-BE49-C99753E3246A}" srcOrd="0" destOrd="0" presId="urn:microsoft.com/office/officeart/2005/8/layout/chevron2"/>
    <dgm:cxn modelId="{09B54DD3-7D63-472F-8CF2-B08C38BDAAA8}" type="presParOf" srcId="{C78FD262-CE24-441A-903C-96FC4C3156CD}" destId="{5F454FF1-A97F-49E2-9845-2AE6FA97CBAF}" srcOrd="1" destOrd="0" presId="urn:microsoft.com/office/officeart/2005/8/layout/chevron2"/>
    <dgm:cxn modelId="{BD508698-6AE0-4D7B-87C9-7923E75FFB57}" type="presParOf" srcId="{2508F28D-CCC7-4D1D-B808-A0DAA03298D3}" destId="{363E63A7-DD3E-4DFD-A4CB-AB4AD3263832}" srcOrd="1" destOrd="0" presId="urn:microsoft.com/office/officeart/2005/8/layout/chevron2"/>
    <dgm:cxn modelId="{86F12290-3E63-4B02-AF23-F22B3ADA767C}" type="presParOf" srcId="{2508F28D-CCC7-4D1D-B808-A0DAA03298D3}" destId="{DC8477BF-178D-4460-BBA0-A0611DF569EA}" srcOrd="2" destOrd="0" presId="urn:microsoft.com/office/officeart/2005/8/layout/chevron2"/>
    <dgm:cxn modelId="{B80DC1AD-B897-41BC-A964-67922E804FDC}" type="presParOf" srcId="{DC8477BF-178D-4460-BBA0-A0611DF569EA}" destId="{E3C12FB9-772D-47DF-824B-13545CFDF973}" srcOrd="0" destOrd="0" presId="urn:microsoft.com/office/officeart/2005/8/layout/chevron2"/>
    <dgm:cxn modelId="{3E01A206-64D9-4134-96AE-DA1F23ED867F}" type="presParOf" srcId="{DC8477BF-178D-4460-BBA0-A0611DF569EA}" destId="{562C5702-D40B-43F5-955D-DDBB54EE63C1}" srcOrd="1" destOrd="0" presId="urn:microsoft.com/office/officeart/2005/8/layout/chevron2"/>
    <dgm:cxn modelId="{6879836B-6E4C-4BAA-AEDF-00A712949576}" type="presParOf" srcId="{2508F28D-CCC7-4D1D-B808-A0DAA03298D3}" destId="{21BF50DB-D63E-4E79-B87F-D4EE1CDC9197}" srcOrd="3" destOrd="0" presId="urn:microsoft.com/office/officeart/2005/8/layout/chevron2"/>
    <dgm:cxn modelId="{3B020C3F-708B-44CB-868F-D452039D906F}" type="presParOf" srcId="{2508F28D-CCC7-4D1D-B808-A0DAA03298D3}" destId="{202E801A-42E5-4D61-A30A-C13B45B79F70}" srcOrd="4" destOrd="0" presId="urn:microsoft.com/office/officeart/2005/8/layout/chevron2"/>
    <dgm:cxn modelId="{F3DEB5F6-CFCD-4289-B6EE-C67F0FAC2D5D}" type="presParOf" srcId="{202E801A-42E5-4D61-A30A-C13B45B79F70}" destId="{ADF9A38E-8B53-4E29-ADD9-52A57B13EDE0}" srcOrd="0" destOrd="0" presId="urn:microsoft.com/office/officeart/2005/8/layout/chevron2"/>
    <dgm:cxn modelId="{D4BD05DF-E989-45D7-A1FA-5F3BF2061663}" type="presParOf" srcId="{202E801A-42E5-4D61-A30A-C13B45B79F70}" destId="{9477D874-CF3C-434E-8DC3-BAC23984ADFD}" srcOrd="1" destOrd="0" presId="urn:microsoft.com/office/officeart/2005/8/layout/chevron2"/>
    <dgm:cxn modelId="{9C21BE3A-8664-43DF-BD26-3FA66C6DE228}" type="presParOf" srcId="{2508F28D-CCC7-4D1D-B808-A0DAA03298D3}" destId="{4B8C7FD0-A6CF-4E64-8AD9-6E5EF507FC5E}" srcOrd="5" destOrd="0" presId="urn:microsoft.com/office/officeart/2005/8/layout/chevron2"/>
    <dgm:cxn modelId="{ED34183D-BE54-44CA-BDBD-7B71784A2627}" type="presParOf" srcId="{2508F28D-CCC7-4D1D-B808-A0DAA03298D3}" destId="{20149FDD-4029-4351-A003-BF350BB9925A}" srcOrd="6" destOrd="0" presId="urn:microsoft.com/office/officeart/2005/8/layout/chevron2"/>
    <dgm:cxn modelId="{4C1BEA0A-3A23-4B37-B1E6-B499469434D8}" type="presParOf" srcId="{20149FDD-4029-4351-A003-BF350BB9925A}" destId="{B883275C-2092-4DD0-90D9-83F9E957DB32}" srcOrd="0" destOrd="0" presId="urn:microsoft.com/office/officeart/2005/8/layout/chevron2"/>
    <dgm:cxn modelId="{1DFB48FF-419D-40B9-9F6B-D5A248DBF9DB}" type="presParOf" srcId="{20149FDD-4029-4351-A003-BF350BB9925A}" destId="{93841DBD-3CE2-48BF-9C1E-FB6615FCB39A}" srcOrd="1" destOrd="0" presId="urn:microsoft.com/office/officeart/2005/8/layout/chevron2"/>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06DFD3-799B-4005-BE49-C99753E3246A}">
      <dsp:nvSpPr>
        <dsp:cNvPr id="0" name=""/>
        <dsp:cNvSpPr/>
      </dsp:nvSpPr>
      <dsp:spPr>
        <a:xfrm rot="5400000">
          <a:off x="-227639" y="228988"/>
          <a:ext cx="1517599" cy="1062319"/>
        </a:xfrm>
        <a:prstGeom prst="chevron">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Product images + descriptions</a:t>
          </a:r>
        </a:p>
      </dsp:txBody>
      <dsp:txXfrm rot="-5400000">
        <a:off x="2" y="532508"/>
        <a:ext cx="1062319" cy="455280"/>
      </dsp:txXfrm>
    </dsp:sp>
    <dsp:sp modelId="{5F454FF1-A97F-49E2-9845-2AE6FA97CBAF}">
      <dsp:nvSpPr>
        <dsp:cNvPr id="0" name=""/>
        <dsp:cNvSpPr/>
      </dsp:nvSpPr>
      <dsp:spPr>
        <a:xfrm rot="5400000">
          <a:off x="3735561" y="-2671893"/>
          <a:ext cx="986439" cy="6332923"/>
        </a:xfrm>
        <a:prstGeom prst="round2Same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A </a:t>
          </a:r>
          <a:r>
            <a:rPr lang="en-US" sz="1400" b="1" kern="1200" dirty="0"/>
            <a:t>metadata</a:t>
          </a:r>
          <a:r>
            <a:rPr lang="en-US" sz="1400" kern="1200" dirty="0"/>
            <a:t> tag says "dress“, an </a:t>
          </a:r>
          <a:r>
            <a:rPr lang="en-US" sz="1400" b="1" kern="1200" dirty="0"/>
            <a:t>embedding</a:t>
          </a:r>
          <a:r>
            <a:rPr lang="en-US" sz="1400" kern="1200" dirty="0"/>
            <a:t> captures what kind of dress (the silhouette, color palette, occasion, vibe)</a:t>
          </a:r>
        </a:p>
      </dsp:txBody>
      <dsp:txXfrm rot="-5400000">
        <a:off x="1062319" y="49503"/>
        <a:ext cx="6284769" cy="890131"/>
      </dsp:txXfrm>
    </dsp:sp>
    <dsp:sp modelId="{E3C12FB9-772D-47DF-824B-13545CFDF973}">
      <dsp:nvSpPr>
        <dsp:cNvPr id="0" name=""/>
        <dsp:cNvSpPr/>
      </dsp:nvSpPr>
      <dsp:spPr>
        <a:xfrm rot="5400000">
          <a:off x="-227639" y="1602467"/>
          <a:ext cx="1517599" cy="1062319"/>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Voyage 3.5 (2048-dim)</a:t>
          </a:r>
        </a:p>
      </dsp:txBody>
      <dsp:txXfrm rot="-5400000">
        <a:off x="2" y="1905987"/>
        <a:ext cx="1062319" cy="455280"/>
      </dsp:txXfrm>
    </dsp:sp>
    <dsp:sp modelId="{562C5702-D40B-43F5-955D-DDBB54EE63C1}">
      <dsp:nvSpPr>
        <dsp:cNvPr id="0" name=""/>
        <dsp:cNvSpPr/>
      </dsp:nvSpPr>
      <dsp:spPr>
        <a:xfrm rot="5400000">
          <a:off x="3735561" y="-1298414"/>
          <a:ext cx="986439" cy="6332923"/>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Voyage Multimodal 3.5</a:t>
          </a:r>
          <a:r>
            <a:rPr lang="en-US" sz="1200" kern="1200" dirty="0"/>
            <a:t>: integrates both image and text in a </a:t>
          </a:r>
          <a:r>
            <a:rPr lang="en-US" sz="1200" b="1" kern="1200" dirty="0"/>
            <a:t>single interleaved vector</a:t>
          </a:r>
          <a:r>
            <a:rPr lang="en-US" sz="1200" kern="1200" dirty="0"/>
            <a:t> → one representation per garment, no modality mismatch </a:t>
          </a:r>
        </a:p>
        <a:p>
          <a:pPr marL="114300" lvl="1" indent="-114300" algn="l" defTabSz="533400">
            <a:lnSpc>
              <a:spcPct val="90000"/>
            </a:lnSpc>
            <a:spcBef>
              <a:spcPct val="0"/>
            </a:spcBef>
            <a:spcAft>
              <a:spcPct val="15000"/>
            </a:spcAft>
            <a:buChar char="•"/>
          </a:pPr>
          <a:r>
            <a:rPr lang="en-US" sz="1200" kern="1200" dirty="0"/>
            <a:t> Why not cluster on </a:t>
          </a:r>
          <a:r>
            <a:rPr lang="en-US" sz="1200" b="1" kern="1200" dirty="0"/>
            <a:t>raw 2,048-dim embeddings</a:t>
          </a:r>
          <a:r>
            <a:rPr lang="en-US" sz="1200" kern="1200" dirty="0"/>
            <a:t>? </a:t>
          </a:r>
          <a:r>
            <a:rPr lang="en-US" sz="1200" b="1" kern="1200" dirty="0"/>
            <a:t>Curse of dimensionality</a:t>
          </a:r>
          <a:r>
            <a:rPr lang="en-US" sz="1200" kern="1200" dirty="0"/>
            <a:t>, HDBSCAN collapsed 84% of items into one cluster. K-Means Silhouette scores near zero. Distance metrics break in high dimensions. </a:t>
          </a:r>
        </a:p>
      </dsp:txBody>
      <dsp:txXfrm rot="-5400000">
        <a:off x="1062319" y="1422982"/>
        <a:ext cx="6284769" cy="890131"/>
      </dsp:txXfrm>
    </dsp:sp>
    <dsp:sp modelId="{ADF9A38E-8B53-4E29-ADD9-52A57B13EDE0}">
      <dsp:nvSpPr>
        <dsp:cNvPr id="0" name=""/>
        <dsp:cNvSpPr/>
      </dsp:nvSpPr>
      <dsp:spPr>
        <a:xfrm rot="5400000">
          <a:off x="-227639" y="2975945"/>
          <a:ext cx="1517599" cy="1062319"/>
        </a:xfrm>
        <a:prstGeom prst="chevron">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UMAP (20-dim)</a:t>
          </a:r>
        </a:p>
      </dsp:txBody>
      <dsp:txXfrm rot="-5400000">
        <a:off x="2" y="3279465"/>
        <a:ext cx="1062319" cy="455280"/>
      </dsp:txXfrm>
    </dsp:sp>
    <dsp:sp modelId="{9477D874-CF3C-434E-8DC3-BAC23984ADFD}">
      <dsp:nvSpPr>
        <dsp:cNvPr id="0" name=""/>
        <dsp:cNvSpPr/>
      </dsp:nvSpPr>
      <dsp:spPr>
        <a:xfrm rot="5400000">
          <a:off x="3735561" y="75063"/>
          <a:ext cx="986439" cy="6332923"/>
        </a:xfrm>
        <a:prstGeom prst="round2Same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UMAP first</a:t>
          </a:r>
          <a:r>
            <a:rPr lang="en-US" sz="1200" kern="1200" dirty="0"/>
            <a:t>? Non-linear dimensionality reduction that preserves both local and global structure. Reduces to 20 dimensions where distance is meaningful again </a:t>
          </a:r>
        </a:p>
      </dsp:txBody>
      <dsp:txXfrm rot="-5400000">
        <a:off x="1062319" y="2796459"/>
        <a:ext cx="6284769" cy="890131"/>
      </dsp:txXfrm>
    </dsp:sp>
    <dsp:sp modelId="{B883275C-2092-4DD0-90D9-83F9E957DB32}">
      <dsp:nvSpPr>
        <dsp:cNvPr id="0" name=""/>
        <dsp:cNvSpPr/>
      </dsp:nvSpPr>
      <dsp:spPr>
        <a:xfrm rot="5400000">
          <a:off x="-227639" y="4349423"/>
          <a:ext cx="1517599" cy="1062319"/>
        </a:xfrm>
        <a:prstGeom prst="chevron">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K-Means (k=8)</a:t>
          </a:r>
        </a:p>
      </dsp:txBody>
      <dsp:txXfrm rot="-5400000">
        <a:off x="2" y="4652943"/>
        <a:ext cx="1062319" cy="455280"/>
      </dsp:txXfrm>
    </dsp:sp>
    <dsp:sp modelId="{93841DBD-3CE2-48BF-9C1E-FB6615FCB39A}">
      <dsp:nvSpPr>
        <dsp:cNvPr id="0" name=""/>
        <dsp:cNvSpPr/>
      </dsp:nvSpPr>
      <dsp:spPr>
        <a:xfrm rot="5400000">
          <a:off x="3735561" y="1448541"/>
          <a:ext cx="986439" cy="6332923"/>
        </a:xfrm>
        <a:prstGeom prst="round2Same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K-Means</a:t>
          </a:r>
          <a:r>
            <a:rPr lang="en-US" sz="1200" kern="1200" dirty="0"/>
            <a:t> over </a:t>
          </a:r>
          <a:r>
            <a:rPr lang="en-US" sz="1200" b="1" kern="1200" dirty="0"/>
            <a:t>GMM</a:t>
          </a:r>
          <a:r>
            <a:rPr lang="en-US" sz="1200" kern="1200" dirty="0"/>
            <a:t>? After UMAP, over 99% of items had &gt;99% probability of belonging to a single cluster, probabilistic modeling adds no value. K-Means is simpler, more stable, fully interpretable</a:t>
          </a:r>
        </a:p>
        <a:p>
          <a:pPr marL="114300" lvl="1" indent="-114300" algn="l" defTabSz="533400">
            <a:lnSpc>
              <a:spcPct val="90000"/>
            </a:lnSpc>
            <a:spcBef>
              <a:spcPct val="0"/>
            </a:spcBef>
            <a:spcAft>
              <a:spcPct val="15000"/>
            </a:spcAft>
            <a:buChar char="•"/>
          </a:pPr>
          <a:r>
            <a:rPr lang="en-US" sz="1200" kern="1200" dirty="0"/>
            <a:t> Why </a:t>
          </a:r>
          <a:r>
            <a:rPr lang="en-US" sz="1200" b="1" kern="1200" dirty="0"/>
            <a:t>k=8</a:t>
          </a:r>
          <a:r>
            <a:rPr lang="en-US" sz="1200" kern="1200" dirty="0"/>
            <a:t>? Grid search across k=5/13 and UMAP dims 2/50. k=8 achieved the global Silhouette peak of 0.645 and mean ARI of 0.85 across 100 random initializations</a:t>
          </a:r>
        </a:p>
      </dsp:txBody>
      <dsp:txXfrm rot="-5400000">
        <a:off x="1062319" y="4169937"/>
        <a:ext cx="6284769" cy="89013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8AF70A90-CA7E-49EB-AB17-C37FEDD07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5A7711EA-1FBE-4E98-9D43-C2D65C45D0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68ABEA4-9216-4FDF-AAE1-D8632908A8EC}" type="datetimeFigureOut">
              <a:rPr lang="de-CH" smtClean="0"/>
              <a:t>30.04.2026</a:t>
            </a:fld>
            <a:endParaRPr lang="de-CH"/>
          </a:p>
        </p:txBody>
      </p:sp>
      <p:sp>
        <p:nvSpPr>
          <p:cNvPr id="4" name="Fußzeilenplatzhalter 3">
            <a:extLst>
              <a:ext uri="{FF2B5EF4-FFF2-40B4-BE49-F238E27FC236}">
                <a16:creationId xmlns:a16="http://schemas.microsoft.com/office/drawing/2014/main" id="{82CCD3C8-8930-4E0E-A891-B770724F2B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A7798FB5-86BC-42DA-9D05-F96D484814F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685DCD-866D-47AE-A236-118539F53379}" type="slidenum">
              <a:rPr lang="de-CH" smtClean="0"/>
              <a:t>‹Nr.›</a:t>
            </a:fld>
            <a:endParaRPr lang="de-CH"/>
          </a:p>
        </p:txBody>
      </p:sp>
    </p:spTree>
    <p:extLst>
      <p:ext uri="{BB962C8B-B14F-4D97-AF65-F5344CB8AC3E}">
        <p14:creationId xmlns:p14="http://schemas.microsoft.com/office/powerpoint/2010/main" val="1423227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78A90D-FE7E-41AF-B03D-808D82937CB9}" type="datetimeFigureOut">
              <a:rPr lang="de-CH" smtClean="0"/>
              <a:t>30.04.2026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5DDFD-030C-4D5A-B33E-3A7E7538D2BE}" type="slidenum">
              <a:rPr lang="de-CH" smtClean="0"/>
              <a:t>‹Nr.›</a:t>
            </a:fld>
            <a:endParaRPr lang="de-CH"/>
          </a:p>
        </p:txBody>
      </p:sp>
    </p:spTree>
    <p:extLst>
      <p:ext uri="{BB962C8B-B14F-4D97-AF65-F5344CB8AC3E}">
        <p14:creationId xmlns:p14="http://schemas.microsoft.com/office/powerpoint/2010/main" val="44149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5DDFD-030C-4D5A-B33E-3A7E7538D2BE}" type="slidenum">
              <a:rPr lang="de-CH" smtClean="0"/>
              <a:t>1</a:t>
            </a:fld>
            <a:endParaRPr lang="de-CH"/>
          </a:p>
        </p:txBody>
      </p:sp>
    </p:spTree>
    <p:extLst>
      <p:ext uri="{BB962C8B-B14F-4D97-AF65-F5344CB8AC3E}">
        <p14:creationId xmlns:p14="http://schemas.microsoft.com/office/powerpoint/2010/main" val="3836580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D0B4B-0EA0-40F2-46F9-FC3EC6AFE57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BF85FCF-AB5C-065B-699C-618247C16BC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6CDD816-5711-CEC4-451B-9617D41F5887}"/>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CC629A9F-CEAE-DE3E-3822-DC495AB03CA9}"/>
              </a:ext>
            </a:extLst>
          </p:cNvPr>
          <p:cNvSpPr>
            <a:spLocks noGrp="1"/>
          </p:cNvSpPr>
          <p:nvPr>
            <p:ph type="sldNum" sz="quarter" idx="5"/>
          </p:nvPr>
        </p:nvSpPr>
        <p:spPr/>
        <p:txBody>
          <a:bodyPr/>
          <a:lstStyle/>
          <a:p>
            <a:fld id="{F615DDFD-030C-4D5A-B33E-3A7E7538D2BE}" type="slidenum">
              <a:rPr lang="de-CH" smtClean="0"/>
              <a:t>2</a:t>
            </a:fld>
            <a:endParaRPr lang="de-CH"/>
          </a:p>
        </p:txBody>
      </p:sp>
    </p:spTree>
    <p:extLst>
      <p:ext uri="{BB962C8B-B14F-4D97-AF65-F5344CB8AC3E}">
        <p14:creationId xmlns:p14="http://schemas.microsoft.com/office/powerpoint/2010/main" val="39948316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87578-49A4-ABA9-C7CC-AEDF375E0C3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8505AC3-BDE8-7AE8-221A-69944532AA2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7D00EFF-543F-07BB-4E38-1EBF0854B7AB}"/>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CCAAFE24-5D80-CE8F-B9EB-E6D75D58ABA0}"/>
              </a:ext>
            </a:extLst>
          </p:cNvPr>
          <p:cNvSpPr>
            <a:spLocks noGrp="1"/>
          </p:cNvSpPr>
          <p:nvPr>
            <p:ph type="sldNum" sz="quarter" idx="5"/>
          </p:nvPr>
        </p:nvSpPr>
        <p:spPr/>
        <p:txBody>
          <a:bodyPr/>
          <a:lstStyle/>
          <a:p>
            <a:fld id="{F615DDFD-030C-4D5A-B33E-3A7E7538D2BE}" type="slidenum">
              <a:rPr lang="de-CH" smtClean="0"/>
              <a:t>3</a:t>
            </a:fld>
            <a:endParaRPr lang="de-CH"/>
          </a:p>
        </p:txBody>
      </p:sp>
    </p:spTree>
    <p:extLst>
      <p:ext uri="{BB962C8B-B14F-4D97-AF65-F5344CB8AC3E}">
        <p14:creationId xmlns:p14="http://schemas.microsoft.com/office/powerpoint/2010/main" val="25705310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32F20-EF5E-7A29-05D5-89628C89104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545CD42-789C-F341-4C8A-E9A5C62AB9D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2415DD9-F2BE-83FF-DD9B-DCF90B461BBE}"/>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42AAFC21-448D-6018-9C42-9E5B8F5BD23D}"/>
              </a:ext>
            </a:extLst>
          </p:cNvPr>
          <p:cNvSpPr>
            <a:spLocks noGrp="1"/>
          </p:cNvSpPr>
          <p:nvPr>
            <p:ph type="sldNum" sz="quarter" idx="5"/>
          </p:nvPr>
        </p:nvSpPr>
        <p:spPr/>
        <p:txBody>
          <a:bodyPr/>
          <a:lstStyle/>
          <a:p>
            <a:fld id="{F615DDFD-030C-4D5A-B33E-3A7E7538D2BE}" type="slidenum">
              <a:rPr lang="de-CH" smtClean="0"/>
              <a:t>4</a:t>
            </a:fld>
            <a:endParaRPr lang="de-CH"/>
          </a:p>
        </p:txBody>
      </p:sp>
    </p:spTree>
    <p:extLst>
      <p:ext uri="{BB962C8B-B14F-4D97-AF65-F5344CB8AC3E}">
        <p14:creationId xmlns:p14="http://schemas.microsoft.com/office/powerpoint/2010/main" val="42437002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64339-939C-D81B-7920-77E18100324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82021DA-CFAA-A36F-82D8-CD91966FCFE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26BAC6B-05AA-F5D8-102B-7B713FC514F1}"/>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F29670DA-9B0D-EC4A-1B21-899ED9C5EA08}"/>
              </a:ext>
            </a:extLst>
          </p:cNvPr>
          <p:cNvSpPr>
            <a:spLocks noGrp="1"/>
          </p:cNvSpPr>
          <p:nvPr>
            <p:ph type="sldNum" sz="quarter" idx="5"/>
          </p:nvPr>
        </p:nvSpPr>
        <p:spPr/>
        <p:txBody>
          <a:bodyPr/>
          <a:lstStyle/>
          <a:p>
            <a:fld id="{F615DDFD-030C-4D5A-B33E-3A7E7538D2BE}" type="slidenum">
              <a:rPr lang="de-CH" smtClean="0"/>
              <a:t>5</a:t>
            </a:fld>
            <a:endParaRPr lang="de-CH"/>
          </a:p>
        </p:txBody>
      </p:sp>
    </p:spTree>
    <p:extLst>
      <p:ext uri="{BB962C8B-B14F-4D97-AF65-F5344CB8AC3E}">
        <p14:creationId xmlns:p14="http://schemas.microsoft.com/office/powerpoint/2010/main" val="2408165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A5A68-03C3-D8B8-C876-C6B69F2A627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7B58494-555D-9888-7E6F-92D86CD825B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B16DBC7-8814-6FC3-6F4E-BD179ED2A8E2}"/>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08CDE469-3496-379F-B3D0-64DC92F0ED78}"/>
              </a:ext>
            </a:extLst>
          </p:cNvPr>
          <p:cNvSpPr>
            <a:spLocks noGrp="1"/>
          </p:cNvSpPr>
          <p:nvPr>
            <p:ph type="sldNum" sz="quarter" idx="5"/>
          </p:nvPr>
        </p:nvSpPr>
        <p:spPr/>
        <p:txBody>
          <a:bodyPr/>
          <a:lstStyle/>
          <a:p>
            <a:fld id="{F615DDFD-030C-4D5A-B33E-3A7E7538D2BE}" type="slidenum">
              <a:rPr lang="de-CH" smtClean="0"/>
              <a:t>6</a:t>
            </a:fld>
            <a:endParaRPr lang="de-CH"/>
          </a:p>
        </p:txBody>
      </p:sp>
    </p:spTree>
    <p:extLst>
      <p:ext uri="{BB962C8B-B14F-4D97-AF65-F5344CB8AC3E}">
        <p14:creationId xmlns:p14="http://schemas.microsoft.com/office/powerpoint/2010/main" val="32642088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AE75B-5055-D8D6-7C89-4BE3AB440DE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6D042FD-0C7A-1112-66BF-BEFF658FC6B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9775242A-1EB1-48B8-3738-118802B1C538}"/>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C615551E-A870-7E24-235F-183DD6B114A8}"/>
              </a:ext>
            </a:extLst>
          </p:cNvPr>
          <p:cNvSpPr>
            <a:spLocks noGrp="1"/>
          </p:cNvSpPr>
          <p:nvPr>
            <p:ph type="sldNum" sz="quarter" idx="5"/>
          </p:nvPr>
        </p:nvSpPr>
        <p:spPr/>
        <p:txBody>
          <a:bodyPr/>
          <a:lstStyle/>
          <a:p>
            <a:fld id="{F615DDFD-030C-4D5A-B33E-3A7E7538D2BE}" type="slidenum">
              <a:rPr lang="de-CH" smtClean="0"/>
              <a:t>7</a:t>
            </a:fld>
            <a:endParaRPr lang="de-CH"/>
          </a:p>
        </p:txBody>
      </p:sp>
    </p:spTree>
    <p:extLst>
      <p:ext uri="{BB962C8B-B14F-4D97-AF65-F5344CB8AC3E}">
        <p14:creationId xmlns:p14="http://schemas.microsoft.com/office/powerpoint/2010/main" val="876370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2CBA0-C2F7-F23C-8517-4434EE5A08E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986D3AB-5CB8-9850-D397-C3C8FC891AC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C65A79D-C063-B58E-F732-95D95A09BCA7}"/>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B5AADF57-EDFF-298F-BFBF-1B0215C53467}"/>
              </a:ext>
            </a:extLst>
          </p:cNvPr>
          <p:cNvSpPr>
            <a:spLocks noGrp="1"/>
          </p:cNvSpPr>
          <p:nvPr>
            <p:ph type="sldNum" sz="quarter" idx="5"/>
          </p:nvPr>
        </p:nvSpPr>
        <p:spPr/>
        <p:txBody>
          <a:bodyPr/>
          <a:lstStyle/>
          <a:p>
            <a:fld id="{F615DDFD-030C-4D5A-B33E-3A7E7538D2BE}" type="slidenum">
              <a:rPr lang="de-CH" smtClean="0"/>
              <a:t>8</a:t>
            </a:fld>
            <a:endParaRPr lang="de-CH"/>
          </a:p>
        </p:txBody>
      </p:sp>
    </p:spTree>
    <p:extLst>
      <p:ext uri="{BB962C8B-B14F-4D97-AF65-F5344CB8AC3E}">
        <p14:creationId xmlns:p14="http://schemas.microsoft.com/office/powerpoint/2010/main" val="40739158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9</a:t>
            </a:fld>
            <a:endParaRPr lang="de-CH"/>
          </a:p>
        </p:txBody>
      </p:sp>
    </p:spTree>
    <p:extLst>
      <p:ext uri="{BB962C8B-B14F-4D97-AF65-F5344CB8AC3E}">
        <p14:creationId xmlns:p14="http://schemas.microsoft.com/office/powerpoint/2010/main" val="5550295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5F5E2-DA88-2E9F-35F1-788C71BDAD93}"/>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AFF42CE-C5F1-C521-FE61-2491E6F7D61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A91F7B4-CABA-A731-4F50-F3A01261BB2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Foliennummernplatzhalter 3">
            <a:extLst>
              <a:ext uri="{FF2B5EF4-FFF2-40B4-BE49-F238E27FC236}">
                <a16:creationId xmlns:a16="http://schemas.microsoft.com/office/drawing/2014/main" id="{30B20E9F-D742-40E1-0F53-597202FF98F4}"/>
              </a:ext>
            </a:extLst>
          </p:cNvPr>
          <p:cNvSpPr>
            <a:spLocks noGrp="1"/>
          </p:cNvSpPr>
          <p:nvPr>
            <p:ph type="sldNum" sz="quarter" idx="5"/>
          </p:nvPr>
        </p:nvSpPr>
        <p:spPr/>
        <p:txBody>
          <a:bodyPr/>
          <a:lstStyle/>
          <a:p>
            <a:fld id="{F615DDFD-030C-4D5A-B33E-3A7E7538D2BE}" type="slidenum">
              <a:rPr lang="de-CH" smtClean="0"/>
              <a:t>10</a:t>
            </a:fld>
            <a:endParaRPr lang="de-CH"/>
          </a:p>
        </p:txBody>
      </p:sp>
    </p:spTree>
    <p:extLst>
      <p:ext uri="{BB962C8B-B14F-4D97-AF65-F5344CB8AC3E}">
        <p14:creationId xmlns:p14="http://schemas.microsoft.com/office/powerpoint/2010/main" val="16024860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F98BF-76C3-B5E8-17D6-D32E23069DC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9835055-F42F-C092-B85F-66D9C924519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82DFEB8-1400-22CD-24F3-7EAB9B08BFD4}"/>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993DC389-1253-4E84-EF85-DC93751C0EC7}"/>
              </a:ext>
            </a:extLst>
          </p:cNvPr>
          <p:cNvSpPr>
            <a:spLocks noGrp="1"/>
          </p:cNvSpPr>
          <p:nvPr>
            <p:ph type="sldNum" sz="quarter" idx="5"/>
          </p:nvPr>
        </p:nvSpPr>
        <p:spPr/>
        <p:txBody>
          <a:bodyPr/>
          <a:lstStyle/>
          <a:p>
            <a:fld id="{F615DDFD-030C-4D5A-B33E-3A7E7538D2BE}" type="slidenum">
              <a:rPr lang="de-CH" smtClean="0"/>
              <a:t>11</a:t>
            </a:fld>
            <a:endParaRPr lang="de-CH"/>
          </a:p>
        </p:txBody>
      </p:sp>
    </p:spTree>
    <p:extLst>
      <p:ext uri="{BB962C8B-B14F-4D97-AF65-F5344CB8AC3E}">
        <p14:creationId xmlns:p14="http://schemas.microsoft.com/office/powerpoint/2010/main" val="2219307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model didn't need all 8 clusters — just the ones that matter economically</a:t>
            </a:r>
          </a:p>
          <a:p>
            <a:endParaRPr lang="en-US" dirty="0"/>
          </a:p>
          <a:p>
            <a:r>
              <a:rPr lang="en-US" dirty="0"/>
              <a:t>I want to flag something that connects directly back to Constantin's segmentation work. When Sequential Forward Selection chose which features to keep, it didn't retain all eight cluster affinities — it kept exactly four. And those four are Bags, Tops, Dresses, and Jackets — the precise clusters that the business profiling identified as the economic anchors of </a:t>
            </a:r>
            <a:r>
              <a:rPr lang="en-US"/>
              <a:t>the platform</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12</a:t>
            </a:fld>
            <a:endParaRPr lang="de-CH"/>
          </a:p>
        </p:txBody>
      </p:sp>
    </p:spTree>
    <p:extLst>
      <p:ext uri="{BB962C8B-B14F-4D97-AF65-F5344CB8AC3E}">
        <p14:creationId xmlns:p14="http://schemas.microsoft.com/office/powerpoint/2010/main" val="901618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F995B-8CAC-C44C-6096-9A891D234B6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72E027-A0A3-A178-160E-5618DD19F96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9FA8226-DD59-C7A6-B1DC-1BF90F0852BF}"/>
              </a:ext>
            </a:extLst>
          </p:cNvPr>
          <p:cNvSpPr>
            <a:spLocks noGrp="1"/>
          </p:cNvSpPr>
          <p:nvPr>
            <p:ph type="body" idx="1"/>
          </p:nvPr>
        </p:nvSpPr>
        <p:spPr/>
        <p:txBody>
          <a:bodyPr/>
          <a:lstStyle/>
          <a:p>
            <a:r>
              <a:rPr lang="en-US" i="0" dirty="0"/>
              <a:t>The churn classifier was built separately from the revenue model, using its own feature selection process. So it independently chose its own set of four predictors. And again you can see it uses RFM which seem to be strong predictors for churn too and one of them is Cluster 6 - Skirts</a:t>
            </a:r>
          </a:p>
          <a:p>
            <a:endParaRPr lang="en-US" i="0" dirty="0"/>
          </a:p>
          <a:p>
            <a:r>
              <a:rPr lang="en-US" i="0" dirty="0"/>
              <a:t>Here's why that matters: customers who engage with everyday fashion staples are less likely to churn. Customers who concentrate on Dresses or Bags — occasion wear — are the ones solving a one-time need and leaving. The classifier found that signal on its own, without being told anything about the affinity analysis. Two completely separate methods, same conclusion."</a:t>
            </a:r>
          </a:p>
          <a:p>
            <a:endParaRPr lang="en-US" i="0" dirty="0"/>
          </a:p>
        </p:txBody>
      </p:sp>
      <p:sp>
        <p:nvSpPr>
          <p:cNvPr id="4" name="Foliennummernplatzhalter 3">
            <a:extLst>
              <a:ext uri="{FF2B5EF4-FFF2-40B4-BE49-F238E27FC236}">
                <a16:creationId xmlns:a16="http://schemas.microsoft.com/office/drawing/2014/main" id="{6A9DF0DD-92E8-4F7E-C365-13890BA86449}"/>
              </a:ext>
            </a:extLst>
          </p:cNvPr>
          <p:cNvSpPr>
            <a:spLocks noGrp="1"/>
          </p:cNvSpPr>
          <p:nvPr>
            <p:ph type="sldNum" sz="quarter" idx="5"/>
          </p:nvPr>
        </p:nvSpPr>
        <p:spPr/>
        <p:txBody>
          <a:bodyPr/>
          <a:lstStyle/>
          <a:p>
            <a:fld id="{F615DDFD-030C-4D5A-B33E-3A7E7538D2BE}" type="slidenum">
              <a:rPr lang="de-CH" smtClean="0"/>
              <a:t>13</a:t>
            </a:fld>
            <a:endParaRPr lang="de-CH"/>
          </a:p>
        </p:txBody>
      </p:sp>
    </p:spTree>
    <p:extLst>
      <p:ext uri="{BB962C8B-B14F-4D97-AF65-F5344CB8AC3E}">
        <p14:creationId xmlns:p14="http://schemas.microsoft.com/office/powerpoint/2010/main" val="3147808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de-DE" dirty="0"/>
          </a:p>
          <a:p>
            <a:endParaRPr lang="de-DE" dirty="0"/>
          </a:p>
          <a:p>
            <a:r>
              <a:rPr lang="de-DE" dirty="0"/>
              <a:t>Bags: high </a:t>
            </a:r>
            <a:r>
              <a:rPr lang="de-DE" dirty="0" err="1"/>
              <a:t>utilization</a:t>
            </a:r>
            <a:r>
              <a:rPr lang="de-DE" dirty="0"/>
              <a:t> – </a:t>
            </a:r>
            <a:r>
              <a:rPr lang="de-DE" dirty="0" err="1"/>
              <a:t>maybe</a:t>
            </a:r>
            <a:r>
              <a:rPr lang="de-DE" dirty="0"/>
              <a:t> </a:t>
            </a:r>
            <a:r>
              <a:rPr lang="de-DE" dirty="0" err="1"/>
              <a:t>increase</a:t>
            </a:r>
            <a:r>
              <a:rPr lang="de-DE" dirty="0"/>
              <a:t> </a:t>
            </a:r>
            <a:r>
              <a:rPr lang="de-DE" dirty="0" err="1"/>
              <a:t>price</a:t>
            </a:r>
            <a:r>
              <a:rPr lang="de-DE" dirty="0"/>
              <a:t> </a:t>
            </a:r>
            <a:r>
              <a:rPr lang="de-DE" dirty="0" err="1"/>
              <a:t>sligthly</a:t>
            </a:r>
            <a:r>
              <a:rPr lang="de-DE" dirty="0"/>
              <a:t>, </a:t>
            </a:r>
            <a:r>
              <a:rPr lang="de-DE" dirty="0" err="1"/>
              <a:t>buy</a:t>
            </a:r>
            <a:r>
              <a:rPr lang="de-DE" dirty="0"/>
              <a:t> </a:t>
            </a:r>
            <a:r>
              <a:rPr lang="de-DE" dirty="0" err="1"/>
              <a:t>similar</a:t>
            </a:r>
            <a:r>
              <a:rPr lang="de-DE" dirty="0"/>
              <a:t> </a:t>
            </a:r>
            <a:r>
              <a:rPr lang="de-DE" dirty="0" err="1"/>
              <a:t>bags</a:t>
            </a:r>
            <a:r>
              <a:rPr lang="de-DE" dirty="0"/>
              <a:t> to </a:t>
            </a:r>
            <a:r>
              <a:rPr lang="de-DE" dirty="0" err="1"/>
              <a:t>does</a:t>
            </a:r>
            <a:r>
              <a:rPr lang="de-DE" dirty="0"/>
              <a:t> </a:t>
            </a:r>
            <a:r>
              <a:rPr lang="de-DE" dirty="0" err="1"/>
              <a:t>rented</a:t>
            </a:r>
            <a:r>
              <a:rPr lang="de-DE" dirty="0"/>
              <a:t> </a:t>
            </a:r>
            <a:r>
              <a:rPr lang="de-DE" dirty="0" err="1"/>
              <a:t>often</a:t>
            </a:r>
            <a:r>
              <a:rPr lang="de-DE" dirty="0"/>
              <a:t> – they have </a:t>
            </a:r>
            <a:r>
              <a:rPr lang="de-DE" dirty="0" err="1"/>
              <a:t>higher</a:t>
            </a:r>
            <a:r>
              <a:rPr lang="de-DE" dirty="0"/>
              <a:t> </a:t>
            </a:r>
            <a:r>
              <a:rPr lang="de-DE" dirty="0" err="1"/>
              <a:t>utiliasation</a:t>
            </a:r>
            <a:r>
              <a:rPr lang="de-DE" dirty="0"/>
              <a:t> and </a:t>
            </a:r>
            <a:r>
              <a:rPr lang="de-DE" dirty="0" err="1"/>
              <a:t>better</a:t>
            </a:r>
            <a:r>
              <a:rPr lang="de-DE" dirty="0"/>
              <a:t> ROI</a:t>
            </a:r>
          </a:p>
          <a:p>
            <a:endParaRPr lang="de-DE" dirty="0"/>
          </a:p>
          <a:p>
            <a:r>
              <a:rPr lang="de-DE" dirty="0"/>
              <a:t>Shift </a:t>
            </a:r>
            <a:r>
              <a:rPr lang="de-DE" dirty="0" err="1"/>
              <a:t>away</a:t>
            </a:r>
            <a:r>
              <a:rPr lang="de-DE" dirty="0"/>
              <a:t> </a:t>
            </a:r>
            <a:r>
              <a:rPr lang="de-DE" dirty="0" err="1"/>
              <a:t>from</a:t>
            </a:r>
            <a:r>
              <a:rPr lang="de-DE" dirty="0"/>
              <a:t> </a:t>
            </a:r>
            <a:r>
              <a:rPr lang="de-DE" dirty="0" err="1"/>
              <a:t>trousers</a:t>
            </a:r>
            <a:r>
              <a:rPr lang="de-DE" dirty="0"/>
              <a:t> and </a:t>
            </a:r>
            <a:r>
              <a:rPr lang="de-DE" dirty="0" err="1"/>
              <a:t>skirts</a:t>
            </a:r>
            <a:r>
              <a:rPr lang="de-DE" dirty="0"/>
              <a:t> – </a:t>
            </a:r>
            <a:r>
              <a:rPr lang="de-DE" dirty="0" err="1"/>
              <a:t>since</a:t>
            </a:r>
            <a:r>
              <a:rPr lang="de-DE" dirty="0"/>
              <a:t> high </a:t>
            </a:r>
            <a:r>
              <a:rPr lang="de-DE" dirty="0" err="1"/>
              <a:t>share</a:t>
            </a:r>
            <a:r>
              <a:rPr lang="de-DE" dirty="0"/>
              <a:t> </a:t>
            </a:r>
            <a:r>
              <a:rPr lang="de-DE" dirty="0" err="1"/>
              <a:t>of</a:t>
            </a:r>
            <a:r>
              <a:rPr lang="de-DE" dirty="0"/>
              <a:t> </a:t>
            </a:r>
            <a:r>
              <a:rPr lang="de-DE" dirty="0" err="1"/>
              <a:t>never</a:t>
            </a:r>
            <a:r>
              <a:rPr lang="de-DE" dirty="0"/>
              <a:t> </a:t>
            </a:r>
            <a:r>
              <a:rPr lang="de-DE" dirty="0" err="1"/>
              <a:t>rented</a:t>
            </a:r>
            <a:r>
              <a:rPr lang="de-DE" dirty="0"/>
              <a:t> </a:t>
            </a:r>
            <a:r>
              <a:rPr lang="de-DE" dirty="0" err="1"/>
              <a:t>items</a:t>
            </a:r>
            <a:r>
              <a:rPr lang="de-DE" dirty="0"/>
              <a:t> – shift </a:t>
            </a:r>
            <a:r>
              <a:rPr lang="de-DE" dirty="0" err="1"/>
              <a:t>towards</a:t>
            </a:r>
            <a:r>
              <a:rPr lang="de-DE" dirty="0"/>
              <a:t> </a:t>
            </a:r>
            <a:r>
              <a:rPr lang="de-DE" dirty="0" err="1"/>
              <a:t>tops</a:t>
            </a:r>
            <a:r>
              <a:rPr lang="de-DE" dirty="0"/>
              <a:t> and </a:t>
            </a:r>
            <a:r>
              <a:rPr lang="de-DE" dirty="0" err="1"/>
              <a:t>sweaters</a:t>
            </a:r>
            <a:r>
              <a:rPr lang="de-DE" dirty="0"/>
              <a:t> with </a:t>
            </a:r>
            <a:r>
              <a:rPr lang="de-DE" dirty="0" err="1"/>
              <a:t>higher</a:t>
            </a:r>
            <a:r>
              <a:rPr lang="de-DE" dirty="0"/>
              <a:t> </a:t>
            </a:r>
            <a:r>
              <a:rPr lang="de-DE" dirty="0" err="1"/>
              <a:t>roi</a:t>
            </a:r>
            <a:endParaRPr lang="de-DE" dirty="0"/>
          </a:p>
          <a:p>
            <a:endParaRPr lang="de-DE" dirty="0"/>
          </a:p>
          <a:p>
            <a:r>
              <a:rPr lang="de-DE" dirty="0"/>
              <a:t>Dress </a:t>
            </a:r>
            <a:r>
              <a:rPr lang="de-DE" dirty="0" err="1"/>
              <a:t>rental</a:t>
            </a:r>
            <a:r>
              <a:rPr lang="de-DE" dirty="0"/>
              <a:t> </a:t>
            </a:r>
            <a:r>
              <a:rPr lang="de-DE" dirty="0" err="1"/>
              <a:t>seems</a:t>
            </a:r>
            <a:r>
              <a:rPr lang="de-DE" dirty="0"/>
              <a:t> to </a:t>
            </a:r>
            <a:r>
              <a:rPr lang="de-DE" dirty="0" err="1"/>
              <a:t>be</a:t>
            </a:r>
            <a:r>
              <a:rPr lang="de-DE" dirty="0"/>
              <a:t> a good </a:t>
            </a:r>
            <a:r>
              <a:rPr lang="de-DE" dirty="0" err="1"/>
              <a:t>churn</a:t>
            </a:r>
            <a:r>
              <a:rPr lang="de-DE" dirty="0"/>
              <a:t> </a:t>
            </a:r>
            <a:r>
              <a:rPr lang="de-DE" dirty="0" err="1"/>
              <a:t>predictor</a:t>
            </a:r>
            <a:r>
              <a:rPr lang="de-DE" dirty="0"/>
              <a:t> – so </a:t>
            </a:r>
            <a:r>
              <a:rPr lang="de-DE" dirty="0" err="1"/>
              <a:t>goal</a:t>
            </a:r>
            <a:r>
              <a:rPr lang="de-DE" dirty="0"/>
              <a:t> </a:t>
            </a:r>
            <a:r>
              <a:rPr lang="de-DE" dirty="0" err="1"/>
              <a:t>should</a:t>
            </a:r>
            <a:r>
              <a:rPr lang="de-DE" dirty="0"/>
              <a:t> </a:t>
            </a:r>
            <a:r>
              <a:rPr lang="de-DE" dirty="0" err="1"/>
              <a:t>be</a:t>
            </a:r>
            <a:r>
              <a:rPr lang="de-DE" dirty="0"/>
              <a:t> to </a:t>
            </a:r>
            <a:r>
              <a:rPr lang="de-DE" dirty="0" err="1"/>
              <a:t>get</a:t>
            </a:r>
            <a:r>
              <a:rPr lang="de-DE" dirty="0"/>
              <a:t> </a:t>
            </a:r>
            <a:r>
              <a:rPr lang="de-DE" dirty="0" err="1"/>
              <a:t>customers</a:t>
            </a:r>
            <a:r>
              <a:rPr lang="de-DE" dirty="0"/>
              <a:t> to </a:t>
            </a:r>
            <a:r>
              <a:rPr lang="de-DE" dirty="0" err="1"/>
              <a:t>rent</a:t>
            </a:r>
            <a:r>
              <a:rPr lang="de-DE" dirty="0"/>
              <a:t> </a:t>
            </a:r>
            <a:r>
              <a:rPr lang="de-DE" dirty="0" err="1"/>
              <a:t>from</a:t>
            </a:r>
            <a:r>
              <a:rPr lang="de-DE" dirty="0"/>
              <a:t> </a:t>
            </a:r>
            <a:r>
              <a:rPr lang="de-DE" dirty="0" err="1"/>
              <a:t>everyday</a:t>
            </a:r>
            <a:r>
              <a:rPr lang="de-DE" dirty="0"/>
              <a:t> </a:t>
            </a:r>
            <a:r>
              <a:rPr lang="de-DE" dirty="0" err="1"/>
              <a:t>clothes</a:t>
            </a:r>
            <a:r>
              <a:rPr lang="de-DE" dirty="0"/>
              <a:t> </a:t>
            </a:r>
            <a:r>
              <a:rPr lang="de-DE" dirty="0" err="1"/>
              <a:t>categories</a:t>
            </a:r>
            <a:r>
              <a:rPr lang="de-DE" dirty="0"/>
              <a:t> to </a:t>
            </a:r>
            <a:r>
              <a:rPr lang="de-DE" dirty="0" err="1"/>
              <a:t>get</a:t>
            </a:r>
            <a:r>
              <a:rPr lang="de-DE" dirty="0"/>
              <a:t> </a:t>
            </a:r>
            <a:r>
              <a:rPr lang="de-DE" dirty="0" err="1"/>
              <a:t>them</a:t>
            </a:r>
            <a:r>
              <a:rPr lang="de-DE" dirty="0"/>
              <a:t> </a:t>
            </a:r>
            <a:r>
              <a:rPr lang="de-DE" dirty="0" err="1"/>
              <a:t>away</a:t>
            </a:r>
            <a:r>
              <a:rPr lang="de-DE" dirty="0"/>
              <a:t> </a:t>
            </a:r>
            <a:r>
              <a:rPr lang="de-DE" dirty="0" err="1"/>
              <a:t>from</a:t>
            </a:r>
            <a:r>
              <a:rPr lang="de-DE" dirty="0"/>
              <a:t> </a:t>
            </a:r>
            <a:r>
              <a:rPr lang="de-DE" dirty="0" err="1"/>
              <a:t>the</a:t>
            </a:r>
            <a:r>
              <a:rPr lang="de-DE" dirty="0"/>
              <a:t> </a:t>
            </a:r>
            <a:r>
              <a:rPr lang="de-DE" dirty="0" err="1"/>
              <a:t>special</a:t>
            </a:r>
            <a:r>
              <a:rPr lang="de-DE" dirty="0"/>
              <a:t> </a:t>
            </a:r>
            <a:r>
              <a:rPr lang="de-DE" dirty="0" err="1"/>
              <a:t>occasion</a:t>
            </a:r>
            <a:r>
              <a:rPr lang="de-DE" dirty="0"/>
              <a:t> </a:t>
            </a:r>
            <a:r>
              <a:rPr lang="de-DE" dirty="0" err="1"/>
              <a:t>rents</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14</a:t>
            </a:fld>
            <a:endParaRPr lang="de-CH"/>
          </a:p>
        </p:txBody>
      </p:sp>
    </p:spTree>
    <p:extLst>
      <p:ext uri="{BB962C8B-B14F-4D97-AF65-F5344CB8AC3E}">
        <p14:creationId xmlns:p14="http://schemas.microsoft.com/office/powerpoint/2010/main" val="17196108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19AE2-CB22-C504-1B83-E4762C05152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D4A8C3A-A0B0-2695-E0BC-1923F747FC4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432932E-89F9-7FE1-BE1B-BCD7866645C0}"/>
              </a:ext>
            </a:extLst>
          </p:cNvPr>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de-DE" dirty="0"/>
          </a:p>
          <a:p>
            <a:endParaRPr lang="de-DE" dirty="0"/>
          </a:p>
          <a:p>
            <a:r>
              <a:rPr lang="de-DE" dirty="0"/>
              <a:t>Bags: high </a:t>
            </a:r>
            <a:r>
              <a:rPr lang="de-DE" dirty="0" err="1"/>
              <a:t>utilization</a:t>
            </a:r>
            <a:r>
              <a:rPr lang="de-DE" dirty="0"/>
              <a:t> – </a:t>
            </a:r>
            <a:r>
              <a:rPr lang="de-DE" dirty="0" err="1"/>
              <a:t>maybe</a:t>
            </a:r>
            <a:r>
              <a:rPr lang="de-DE" dirty="0"/>
              <a:t> </a:t>
            </a:r>
            <a:r>
              <a:rPr lang="de-DE" dirty="0" err="1"/>
              <a:t>increase</a:t>
            </a:r>
            <a:r>
              <a:rPr lang="de-DE" dirty="0"/>
              <a:t> </a:t>
            </a:r>
            <a:r>
              <a:rPr lang="de-DE" dirty="0" err="1"/>
              <a:t>price</a:t>
            </a:r>
            <a:r>
              <a:rPr lang="de-DE" dirty="0"/>
              <a:t> </a:t>
            </a:r>
            <a:r>
              <a:rPr lang="de-DE" dirty="0" err="1"/>
              <a:t>sligthly</a:t>
            </a:r>
            <a:r>
              <a:rPr lang="de-DE" dirty="0"/>
              <a:t>, </a:t>
            </a:r>
            <a:r>
              <a:rPr lang="de-DE" dirty="0" err="1"/>
              <a:t>buy</a:t>
            </a:r>
            <a:r>
              <a:rPr lang="de-DE" dirty="0"/>
              <a:t> </a:t>
            </a:r>
            <a:r>
              <a:rPr lang="de-DE" dirty="0" err="1"/>
              <a:t>similar</a:t>
            </a:r>
            <a:r>
              <a:rPr lang="de-DE" dirty="0"/>
              <a:t> </a:t>
            </a:r>
            <a:r>
              <a:rPr lang="de-DE" dirty="0" err="1"/>
              <a:t>bags</a:t>
            </a:r>
            <a:r>
              <a:rPr lang="de-DE" dirty="0"/>
              <a:t> to </a:t>
            </a:r>
            <a:r>
              <a:rPr lang="de-DE" dirty="0" err="1"/>
              <a:t>does</a:t>
            </a:r>
            <a:r>
              <a:rPr lang="de-DE" dirty="0"/>
              <a:t> </a:t>
            </a:r>
            <a:r>
              <a:rPr lang="de-DE" dirty="0" err="1"/>
              <a:t>rented</a:t>
            </a:r>
            <a:r>
              <a:rPr lang="de-DE" dirty="0"/>
              <a:t> </a:t>
            </a:r>
            <a:r>
              <a:rPr lang="de-DE" dirty="0" err="1"/>
              <a:t>often</a:t>
            </a:r>
            <a:r>
              <a:rPr lang="de-DE" dirty="0"/>
              <a:t> – they have </a:t>
            </a:r>
            <a:r>
              <a:rPr lang="de-DE" dirty="0" err="1"/>
              <a:t>higher</a:t>
            </a:r>
            <a:r>
              <a:rPr lang="de-DE" dirty="0"/>
              <a:t> </a:t>
            </a:r>
            <a:r>
              <a:rPr lang="de-DE" dirty="0" err="1"/>
              <a:t>utiliasation</a:t>
            </a:r>
            <a:r>
              <a:rPr lang="de-DE" dirty="0"/>
              <a:t> and </a:t>
            </a:r>
            <a:r>
              <a:rPr lang="de-DE" dirty="0" err="1"/>
              <a:t>better</a:t>
            </a:r>
            <a:r>
              <a:rPr lang="de-DE" dirty="0"/>
              <a:t> ROI</a:t>
            </a:r>
          </a:p>
          <a:p>
            <a:endParaRPr lang="de-DE" dirty="0"/>
          </a:p>
          <a:p>
            <a:r>
              <a:rPr lang="de-DE" dirty="0"/>
              <a:t>Shift </a:t>
            </a:r>
            <a:r>
              <a:rPr lang="de-DE" dirty="0" err="1"/>
              <a:t>away</a:t>
            </a:r>
            <a:r>
              <a:rPr lang="de-DE" dirty="0"/>
              <a:t> </a:t>
            </a:r>
            <a:r>
              <a:rPr lang="de-DE" dirty="0" err="1"/>
              <a:t>from</a:t>
            </a:r>
            <a:r>
              <a:rPr lang="de-DE" dirty="0"/>
              <a:t> </a:t>
            </a:r>
            <a:r>
              <a:rPr lang="de-DE" dirty="0" err="1"/>
              <a:t>trousers</a:t>
            </a:r>
            <a:r>
              <a:rPr lang="de-DE" dirty="0"/>
              <a:t> and </a:t>
            </a:r>
            <a:r>
              <a:rPr lang="de-DE" dirty="0" err="1"/>
              <a:t>skirts</a:t>
            </a:r>
            <a:r>
              <a:rPr lang="de-DE" dirty="0"/>
              <a:t> – </a:t>
            </a:r>
            <a:r>
              <a:rPr lang="de-DE" dirty="0" err="1"/>
              <a:t>since</a:t>
            </a:r>
            <a:r>
              <a:rPr lang="de-DE" dirty="0"/>
              <a:t> high </a:t>
            </a:r>
            <a:r>
              <a:rPr lang="de-DE" dirty="0" err="1"/>
              <a:t>share</a:t>
            </a:r>
            <a:r>
              <a:rPr lang="de-DE" dirty="0"/>
              <a:t> </a:t>
            </a:r>
            <a:r>
              <a:rPr lang="de-DE" dirty="0" err="1"/>
              <a:t>of</a:t>
            </a:r>
            <a:r>
              <a:rPr lang="de-DE" dirty="0"/>
              <a:t> </a:t>
            </a:r>
            <a:r>
              <a:rPr lang="de-DE" dirty="0" err="1"/>
              <a:t>never</a:t>
            </a:r>
            <a:r>
              <a:rPr lang="de-DE" dirty="0"/>
              <a:t> </a:t>
            </a:r>
            <a:r>
              <a:rPr lang="de-DE" dirty="0" err="1"/>
              <a:t>rented</a:t>
            </a:r>
            <a:r>
              <a:rPr lang="de-DE" dirty="0"/>
              <a:t> </a:t>
            </a:r>
            <a:r>
              <a:rPr lang="de-DE" dirty="0" err="1"/>
              <a:t>items</a:t>
            </a:r>
            <a:r>
              <a:rPr lang="de-DE" dirty="0"/>
              <a:t> – shift </a:t>
            </a:r>
            <a:r>
              <a:rPr lang="de-DE" dirty="0" err="1"/>
              <a:t>towards</a:t>
            </a:r>
            <a:r>
              <a:rPr lang="de-DE" dirty="0"/>
              <a:t> </a:t>
            </a:r>
            <a:r>
              <a:rPr lang="de-DE" dirty="0" err="1"/>
              <a:t>tops</a:t>
            </a:r>
            <a:r>
              <a:rPr lang="de-DE" dirty="0"/>
              <a:t> and </a:t>
            </a:r>
            <a:r>
              <a:rPr lang="de-DE" dirty="0" err="1"/>
              <a:t>sweaters</a:t>
            </a:r>
            <a:r>
              <a:rPr lang="de-DE" dirty="0"/>
              <a:t> with </a:t>
            </a:r>
            <a:r>
              <a:rPr lang="de-DE" dirty="0" err="1"/>
              <a:t>higher</a:t>
            </a:r>
            <a:r>
              <a:rPr lang="de-DE" dirty="0"/>
              <a:t> </a:t>
            </a:r>
            <a:r>
              <a:rPr lang="de-DE" dirty="0" err="1"/>
              <a:t>roi</a:t>
            </a:r>
            <a:endParaRPr lang="de-DE" dirty="0"/>
          </a:p>
          <a:p>
            <a:endParaRPr lang="de-DE" dirty="0"/>
          </a:p>
          <a:p>
            <a:r>
              <a:rPr lang="de-DE" dirty="0"/>
              <a:t>Dress </a:t>
            </a:r>
            <a:r>
              <a:rPr lang="de-DE" dirty="0" err="1"/>
              <a:t>rental</a:t>
            </a:r>
            <a:r>
              <a:rPr lang="de-DE" dirty="0"/>
              <a:t> </a:t>
            </a:r>
            <a:r>
              <a:rPr lang="de-DE" dirty="0" err="1"/>
              <a:t>seems</a:t>
            </a:r>
            <a:r>
              <a:rPr lang="de-DE" dirty="0"/>
              <a:t> to </a:t>
            </a:r>
            <a:r>
              <a:rPr lang="de-DE" dirty="0" err="1"/>
              <a:t>be</a:t>
            </a:r>
            <a:r>
              <a:rPr lang="de-DE" dirty="0"/>
              <a:t> a good </a:t>
            </a:r>
            <a:r>
              <a:rPr lang="de-DE" dirty="0" err="1"/>
              <a:t>churn</a:t>
            </a:r>
            <a:r>
              <a:rPr lang="de-DE" dirty="0"/>
              <a:t> </a:t>
            </a:r>
            <a:r>
              <a:rPr lang="de-DE" dirty="0" err="1"/>
              <a:t>predictor</a:t>
            </a:r>
            <a:r>
              <a:rPr lang="de-DE" dirty="0"/>
              <a:t> – so </a:t>
            </a:r>
            <a:r>
              <a:rPr lang="de-DE" dirty="0" err="1"/>
              <a:t>goal</a:t>
            </a:r>
            <a:r>
              <a:rPr lang="de-DE" dirty="0"/>
              <a:t> </a:t>
            </a:r>
            <a:r>
              <a:rPr lang="de-DE" dirty="0" err="1"/>
              <a:t>should</a:t>
            </a:r>
            <a:r>
              <a:rPr lang="de-DE" dirty="0"/>
              <a:t> </a:t>
            </a:r>
            <a:r>
              <a:rPr lang="de-DE" dirty="0" err="1"/>
              <a:t>be</a:t>
            </a:r>
            <a:r>
              <a:rPr lang="de-DE" dirty="0"/>
              <a:t> to </a:t>
            </a:r>
            <a:r>
              <a:rPr lang="de-DE" dirty="0" err="1"/>
              <a:t>get</a:t>
            </a:r>
            <a:r>
              <a:rPr lang="de-DE" dirty="0"/>
              <a:t> </a:t>
            </a:r>
            <a:r>
              <a:rPr lang="de-DE" dirty="0" err="1"/>
              <a:t>customers</a:t>
            </a:r>
            <a:r>
              <a:rPr lang="de-DE" dirty="0"/>
              <a:t> to </a:t>
            </a:r>
            <a:r>
              <a:rPr lang="de-DE" dirty="0" err="1"/>
              <a:t>rent</a:t>
            </a:r>
            <a:r>
              <a:rPr lang="de-DE" dirty="0"/>
              <a:t> </a:t>
            </a:r>
            <a:r>
              <a:rPr lang="de-DE" dirty="0" err="1"/>
              <a:t>from</a:t>
            </a:r>
            <a:r>
              <a:rPr lang="de-DE" dirty="0"/>
              <a:t> </a:t>
            </a:r>
            <a:r>
              <a:rPr lang="de-DE" dirty="0" err="1"/>
              <a:t>everyday</a:t>
            </a:r>
            <a:r>
              <a:rPr lang="de-DE" dirty="0"/>
              <a:t> </a:t>
            </a:r>
            <a:r>
              <a:rPr lang="de-DE" dirty="0" err="1"/>
              <a:t>clothes</a:t>
            </a:r>
            <a:r>
              <a:rPr lang="de-DE" dirty="0"/>
              <a:t> </a:t>
            </a:r>
            <a:r>
              <a:rPr lang="de-DE" dirty="0" err="1"/>
              <a:t>categories</a:t>
            </a:r>
            <a:r>
              <a:rPr lang="de-DE" dirty="0"/>
              <a:t> to </a:t>
            </a:r>
            <a:r>
              <a:rPr lang="de-DE" dirty="0" err="1"/>
              <a:t>get</a:t>
            </a:r>
            <a:r>
              <a:rPr lang="de-DE" dirty="0"/>
              <a:t> </a:t>
            </a:r>
            <a:r>
              <a:rPr lang="de-DE" dirty="0" err="1"/>
              <a:t>them</a:t>
            </a:r>
            <a:r>
              <a:rPr lang="de-DE" dirty="0"/>
              <a:t> </a:t>
            </a:r>
            <a:r>
              <a:rPr lang="de-DE" dirty="0" err="1"/>
              <a:t>away</a:t>
            </a:r>
            <a:r>
              <a:rPr lang="de-DE" dirty="0"/>
              <a:t> </a:t>
            </a:r>
            <a:r>
              <a:rPr lang="de-DE" dirty="0" err="1"/>
              <a:t>from</a:t>
            </a:r>
            <a:r>
              <a:rPr lang="de-DE" dirty="0"/>
              <a:t> </a:t>
            </a:r>
            <a:r>
              <a:rPr lang="de-DE" dirty="0" err="1"/>
              <a:t>the</a:t>
            </a:r>
            <a:r>
              <a:rPr lang="de-DE" dirty="0"/>
              <a:t> </a:t>
            </a:r>
            <a:r>
              <a:rPr lang="de-DE" dirty="0" err="1"/>
              <a:t>special</a:t>
            </a:r>
            <a:r>
              <a:rPr lang="de-DE" dirty="0"/>
              <a:t> </a:t>
            </a:r>
            <a:r>
              <a:rPr lang="de-DE" dirty="0" err="1"/>
              <a:t>occasion</a:t>
            </a:r>
            <a:r>
              <a:rPr lang="de-DE" dirty="0"/>
              <a:t> </a:t>
            </a:r>
            <a:r>
              <a:rPr lang="de-DE" dirty="0" err="1"/>
              <a:t>rents</a:t>
            </a:r>
            <a:endParaRPr lang="en-US" dirty="0"/>
          </a:p>
        </p:txBody>
      </p:sp>
      <p:sp>
        <p:nvSpPr>
          <p:cNvPr id="4" name="Foliennummernplatzhalter 3">
            <a:extLst>
              <a:ext uri="{FF2B5EF4-FFF2-40B4-BE49-F238E27FC236}">
                <a16:creationId xmlns:a16="http://schemas.microsoft.com/office/drawing/2014/main" id="{3E35E2A0-8E24-5057-1FCD-DB9E46F4FD47}"/>
              </a:ext>
            </a:extLst>
          </p:cNvPr>
          <p:cNvSpPr>
            <a:spLocks noGrp="1"/>
          </p:cNvSpPr>
          <p:nvPr>
            <p:ph type="sldNum" sz="quarter" idx="5"/>
          </p:nvPr>
        </p:nvSpPr>
        <p:spPr/>
        <p:txBody>
          <a:bodyPr/>
          <a:lstStyle/>
          <a:p>
            <a:fld id="{F615DDFD-030C-4D5A-B33E-3A7E7538D2BE}" type="slidenum">
              <a:rPr lang="de-CH" smtClean="0"/>
              <a:t>15</a:t>
            </a:fld>
            <a:endParaRPr lang="de-CH"/>
          </a:p>
        </p:txBody>
      </p:sp>
    </p:spTree>
    <p:extLst>
      <p:ext uri="{BB962C8B-B14F-4D97-AF65-F5344CB8AC3E}">
        <p14:creationId xmlns:p14="http://schemas.microsoft.com/office/powerpoint/2010/main" val="357567905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01">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1"/>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Bildplatzhalter 8">
            <a:extLst>
              <a:ext uri="{FF2B5EF4-FFF2-40B4-BE49-F238E27FC236}">
                <a16:creationId xmlns:a16="http://schemas.microsoft.com/office/drawing/2014/main" id="{C3C296D1-2CD0-479F-A866-6EC741D2293B}"/>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4" name="Textplatzhalter 3">
            <a:extLst>
              <a:ext uri="{FF2B5EF4-FFF2-40B4-BE49-F238E27FC236}">
                <a16:creationId xmlns:a16="http://schemas.microsoft.com/office/drawing/2014/main" id="{EE41BE31-9613-4103-99FF-7DCFF643B329}"/>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6" name="Textplatzhalter 5">
            <a:extLst>
              <a:ext uri="{FF2B5EF4-FFF2-40B4-BE49-F238E27FC236}">
                <a16:creationId xmlns:a16="http://schemas.microsoft.com/office/drawing/2014/main" id="{EDEB298C-798E-4D73-9DD6-F896C06530C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4293381049"/>
      </p:ext>
    </p:extLst>
  </p:cSld>
  <p:clrMapOvr>
    <a:masterClrMapping/>
  </p:clrMapOvr>
  <p:extLst>
    <p:ext uri="{DCECCB84-F9BA-43D5-87BE-67443E8EF086}">
      <p15:sldGuideLst xmlns:p15="http://schemas.microsoft.com/office/powerpoint/2012/main">
        <p15:guide id="2" pos="3840" userDrawn="1">
          <p15:clr>
            <a:srgbClr val="FBAE40"/>
          </p15:clr>
        </p15:guide>
        <p15:guide id="3" orient="horz" pos="640" userDrawn="1">
          <p15:clr>
            <a:srgbClr val="FBAE40"/>
          </p15:clr>
        </p15:guide>
        <p15:guide id="4" orient="horz" pos="3952" userDrawn="1">
          <p15:clr>
            <a:srgbClr val="FBAE40"/>
          </p15:clr>
        </p15:guide>
        <p15:guide id="5" pos="610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02">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8A01615F-450E-43D0-B554-DA3FBD48DF34}"/>
              </a:ext>
            </a:extLst>
          </p:cNvPr>
          <p:cNvSpPr>
            <a:spLocks noGrp="1"/>
          </p:cNvSpPr>
          <p:nvPr>
            <p:ph type="pic" sz="quarter" idx="11"/>
          </p:nvPr>
        </p:nvSpPr>
        <p:spPr>
          <a:xfrm>
            <a:off x="731838" y="1016000"/>
            <a:ext cx="10728325" cy="5256000"/>
          </a:xfrm>
        </p:spPr>
        <p:txBody>
          <a:bodyPr lIns="0" tIns="0" rIns="558000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6504000" y="2957494"/>
            <a:ext cx="5688000" cy="2268000"/>
          </a:xfrm>
          <a:solidFill>
            <a:schemeClr val="accent6"/>
          </a:solidFill>
        </p:spPr>
        <p:txBody>
          <a:bodyPr lIns="324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Textplatzhalter 3">
            <a:extLst>
              <a:ext uri="{FF2B5EF4-FFF2-40B4-BE49-F238E27FC236}">
                <a16:creationId xmlns:a16="http://schemas.microsoft.com/office/drawing/2014/main" id="{003A487C-8977-4264-A8A1-D6C1DB604682}"/>
              </a:ext>
            </a:extLst>
          </p:cNvPr>
          <p:cNvSpPr>
            <a:spLocks noGrp="1"/>
          </p:cNvSpPr>
          <p:nvPr>
            <p:ph type="body" sz="quarter" idx="13"/>
          </p:nvPr>
        </p:nvSpPr>
        <p:spPr>
          <a:xfrm>
            <a:off x="6845210" y="4639666"/>
            <a:ext cx="4320000" cy="46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3" name="Bildplatzhalter 8">
            <a:extLst>
              <a:ext uri="{FF2B5EF4-FFF2-40B4-BE49-F238E27FC236}">
                <a16:creationId xmlns:a16="http://schemas.microsoft.com/office/drawing/2014/main" id="{E91D3734-CD8F-4F94-A813-570EF31C4732}"/>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547D2927-4A99-4714-8EBA-F773EAA26308}"/>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10024114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03">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62D94F76-218E-49F2-87F8-05982912ED18}"/>
              </a:ext>
            </a:extLst>
          </p:cNvPr>
          <p:cNvSpPr/>
          <p:nvPr userDrawn="1"/>
        </p:nvSpPr>
        <p:spPr>
          <a:xfrm>
            <a:off x="731838" y="1016000"/>
            <a:ext cx="10728325" cy="5257800"/>
          </a:xfrm>
          <a:prstGeom prst="rect">
            <a:avLst/>
          </a:prstGeom>
          <a:solidFill>
            <a:srgbClr val="8E67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1" y="1940405"/>
            <a:ext cx="10188000" cy="3420000"/>
          </a:xfrm>
          <a:solidFill>
            <a:schemeClr val="accent3"/>
          </a:solidFill>
          <a:ln>
            <a:noFill/>
          </a:ln>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7" name="Textplatzhalter 3">
            <a:extLst>
              <a:ext uri="{FF2B5EF4-FFF2-40B4-BE49-F238E27FC236}">
                <a16:creationId xmlns:a16="http://schemas.microsoft.com/office/drawing/2014/main" id="{0503E57F-F89F-431B-8D38-7CC97B7C201A}"/>
              </a:ext>
            </a:extLst>
          </p:cNvPr>
          <p:cNvSpPr>
            <a:spLocks noGrp="1"/>
          </p:cNvSpPr>
          <p:nvPr>
            <p:ph type="body" sz="quarter" idx="13"/>
          </p:nvPr>
        </p:nvSpPr>
        <p:spPr>
          <a:xfrm>
            <a:off x="1078516" y="4217884"/>
            <a:ext cx="864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2" name="Bildplatzhalter 8">
            <a:extLst>
              <a:ext uri="{FF2B5EF4-FFF2-40B4-BE49-F238E27FC236}">
                <a16:creationId xmlns:a16="http://schemas.microsoft.com/office/drawing/2014/main" id="{1BEB6197-C509-4752-B57E-CEE955F5D926}"/>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4ADF7DEC-21BD-45CA-9E91-B9F58A69F62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3924069494"/>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0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731837" y="1016000"/>
            <a:ext cx="10728326" cy="5256000"/>
          </a:xfrm>
          <a:solidFill>
            <a:schemeClr val="accent6"/>
          </a:solidFill>
          <a:ln>
            <a:noFill/>
          </a:ln>
        </p:spPr>
        <p:txBody>
          <a:bodyPr lIns="324000" tIns="11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6" name="Textplatzhalter 3">
            <a:extLst>
              <a:ext uri="{FF2B5EF4-FFF2-40B4-BE49-F238E27FC236}">
                <a16:creationId xmlns:a16="http://schemas.microsoft.com/office/drawing/2014/main" id="{5FCAD79B-EF47-46A0-9575-229F3DAA72F5}"/>
              </a:ext>
            </a:extLst>
          </p:cNvPr>
          <p:cNvSpPr>
            <a:spLocks noGrp="1"/>
          </p:cNvSpPr>
          <p:nvPr>
            <p:ph type="body" sz="quarter" idx="13"/>
          </p:nvPr>
        </p:nvSpPr>
        <p:spPr>
          <a:xfrm>
            <a:off x="1078515" y="5122625"/>
            <a:ext cx="10044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8" name="Bildplatzhalter 8">
            <a:extLst>
              <a:ext uri="{FF2B5EF4-FFF2-40B4-BE49-F238E27FC236}">
                <a16:creationId xmlns:a16="http://schemas.microsoft.com/office/drawing/2014/main" id="{72236FC6-C8FF-43C1-86B9-BF112345926F}"/>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7" name="Textplatzhalter 5">
            <a:extLst>
              <a:ext uri="{FF2B5EF4-FFF2-40B4-BE49-F238E27FC236}">
                <a16:creationId xmlns:a16="http://schemas.microsoft.com/office/drawing/2014/main" id="{789A3267-E086-4EC3-A0BB-F8ECD01A5C7E}"/>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732532068"/>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04 – Uni Zürich">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2"/>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4" name="Grafik 3">
            <a:extLst>
              <a:ext uri="{FF2B5EF4-FFF2-40B4-BE49-F238E27FC236}">
                <a16:creationId xmlns:a16="http://schemas.microsoft.com/office/drawing/2014/main" id="{793E2EDD-B19F-478D-BB03-AD55EC1E86B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7672" y="228020"/>
            <a:ext cx="3679200" cy="552508"/>
          </a:xfrm>
          <a:prstGeom prst="rect">
            <a:avLst/>
          </a:prstGeom>
        </p:spPr>
      </p:pic>
      <p:sp>
        <p:nvSpPr>
          <p:cNvPr id="7" name="Textplatzhalter 3">
            <a:extLst>
              <a:ext uri="{FF2B5EF4-FFF2-40B4-BE49-F238E27FC236}">
                <a16:creationId xmlns:a16="http://schemas.microsoft.com/office/drawing/2014/main" id="{D364BCB8-820F-4C3A-BA37-7048A4C8D4C3}"/>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1" name="Bildplatzhalter 8">
            <a:extLst>
              <a:ext uri="{FF2B5EF4-FFF2-40B4-BE49-F238E27FC236}">
                <a16:creationId xmlns:a16="http://schemas.microsoft.com/office/drawing/2014/main" id="{A73913C2-8DFE-4F15-B2DB-2A6D5C267009}"/>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9" name="Textplatzhalter 5">
            <a:extLst>
              <a:ext uri="{FF2B5EF4-FFF2-40B4-BE49-F238E27FC236}">
                <a16:creationId xmlns:a16="http://schemas.microsoft.com/office/drawing/2014/main" id="{791A1AD7-DB7D-4C75-BEFB-EB6D34D3B2AB}"/>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278925752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lvl1pPr marL="539750" indent="-539750">
              <a:buFont typeface="+mj-lt"/>
              <a:buAutoNum type="arabicPeriod"/>
              <a:defRPr/>
            </a:lvl1pPr>
            <a:lvl2pPr marL="1079500" indent="-539750">
              <a:buFont typeface="+mj-lt"/>
              <a:buAutoNum type="arabicPeriod"/>
              <a:defRPr/>
            </a:lvl2pPr>
            <a:lvl3pPr marL="1612900" indent="-533400">
              <a:buFont typeface="+mj-lt"/>
              <a:buAutoNum type="arabicPeriod"/>
              <a:defRPr/>
            </a:lvl3pPr>
            <a:lvl4pPr marL="2152650" indent="-539750">
              <a:buFont typeface="+mj-lt"/>
              <a:buAutoNum type="arabicPeriod"/>
              <a:defRPr/>
            </a:lvl4pPr>
            <a:lvl5pPr marL="2692400" indent="-539750">
              <a:buFont typeface="+mj-lt"/>
              <a:buAutoNum type="arabicPeriod"/>
              <a:defRPr/>
            </a:lvl5p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332D50A-E6CC-4D88-8908-F2129032F4C7}"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2221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1888753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mit Fussn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A01E762-278A-4155-9BEB-7C2CB2386E92}"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Textplatzhalter 10">
            <a:extLst>
              <a:ext uri="{FF2B5EF4-FFF2-40B4-BE49-F238E27FC236}">
                <a16:creationId xmlns:a16="http://schemas.microsoft.com/office/drawing/2014/main" id="{2F6D94FA-21C6-4AE0-AA4F-3A077810ED93}"/>
              </a:ext>
            </a:extLst>
          </p:cNvPr>
          <p:cNvSpPr>
            <a:spLocks noGrp="1"/>
          </p:cNvSpPr>
          <p:nvPr>
            <p:ph type="body" sz="quarter" idx="13"/>
          </p:nvPr>
        </p:nvSpPr>
        <p:spPr>
          <a:xfrm>
            <a:off x="731836" y="5570135"/>
            <a:ext cx="5364164" cy="721233"/>
          </a:xfrm>
        </p:spPr>
        <p:txBody>
          <a:bodyPr anchor="b" anchorCtr="0"/>
          <a:lstStyle>
            <a:lvl1pPr marL="179388" indent="-179388">
              <a:spcBef>
                <a:spcPts val="0"/>
              </a:spcBef>
              <a:buFont typeface="+mj-lt"/>
              <a:buAutoNum type="arabicPeriod"/>
              <a:defRPr sz="800"/>
            </a:lvl1pPr>
            <a:lvl2pPr marL="266700" indent="0">
              <a:buNone/>
              <a:defRPr sz="800"/>
            </a:lvl2pPr>
            <a:lvl3pPr marL="538163" indent="0">
              <a:buNone/>
              <a:defRPr sz="800"/>
            </a:lvl3pPr>
            <a:lvl4pPr marL="804862" indent="0">
              <a:buNone/>
              <a:defRPr sz="800"/>
            </a:lvl4pPr>
            <a:lvl5pPr marL="1076325" indent="0">
              <a:buNone/>
              <a:defRPr sz="800"/>
            </a:lvl5pPr>
          </a:lstStyle>
          <a:p>
            <a:pPr lvl="0"/>
            <a:r>
              <a:rPr lang="de-DE" noProof="0"/>
              <a:t>Mastertextformat bearbeiten</a:t>
            </a:r>
          </a:p>
        </p:txBody>
      </p:sp>
    </p:spTree>
    <p:extLst>
      <p:ext uri="{BB962C8B-B14F-4D97-AF65-F5344CB8AC3E}">
        <p14:creationId xmlns:p14="http://schemas.microsoft.com/office/powerpoint/2010/main" val="426001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ischenslide">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a:xfrm>
            <a:off x="731837" y="2224781"/>
            <a:ext cx="10728325" cy="1260000"/>
          </a:xfrm>
        </p:spPr>
        <p:txBody>
          <a:bodyPr/>
          <a:lstStyle>
            <a:lvl1pPr>
              <a:lnSpc>
                <a:spcPct val="100000"/>
              </a:lnSpc>
              <a:defRPr sz="3600">
                <a:solidFill>
                  <a:schemeClr val="bg1"/>
                </a:solidFill>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lvl1pPr>
              <a:defRPr>
                <a:solidFill>
                  <a:schemeClr val="bg1"/>
                </a:solidFill>
              </a:defRPr>
            </a:lvl1pPr>
          </a:lstStyle>
          <a:p>
            <a:fld id="{6C4EAFE7-317E-4912-B75C-DD6945F82242}"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lvl1pPr>
              <a:defRPr>
                <a:solidFill>
                  <a:schemeClr val="bg1"/>
                </a:solidFill>
              </a:defRPr>
            </a:lvl1p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lvl1pPr>
              <a:defRPr>
                <a:solidFill>
                  <a:schemeClr val="bg1"/>
                </a:solidFill>
              </a:defRPr>
            </a:lvl1pPr>
          </a:lstStyle>
          <a:p>
            <a:fld id="{5ACA52AF-F19D-405C-AD5F-7D94B96A5CC3}" type="slidenum">
              <a:rPr lang="de-CH" noProof="0" smtClean="0"/>
              <a:pPr/>
              <a:t>‹Nr.›</a:t>
            </a:fld>
            <a:endParaRPr lang="de-CH" noProof="0"/>
          </a:p>
        </p:txBody>
      </p:sp>
      <p:grpSp>
        <p:nvGrpSpPr>
          <p:cNvPr id="10" name="Grafik 6">
            <a:extLst>
              <a:ext uri="{FF2B5EF4-FFF2-40B4-BE49-F238E27FC236}">
                <a16:creationId xmlns:a16="http://schemas.microsoft.com/office/drawing/2014/main" id="{7F7C476A-2849-4D68-9FA2-3A5CFC13C833}"/>
              </a:ext>
            </a:extLst>
          </p:cNvPr>
          <p:cNvGrpSpPr/>
          <p:nvPr/>
        </p:nvGrpSpPr>
        <p:grpSpPr>
          <a:xfrm>
            <a:off x="731837" y="6507088"/>
            <a:ext cx="984462" cy="162000"/>
            <a:chOff x="731837" y="6507088"/>
            <a:chExt cx="984462" cy="162000"/>
          </a:xfrm>
          <a:solidFill>
            <a:schemeClr val="bg1"/>
          </a:solidFill>
        </p:grpSpPr>
        <p:grpSp>
          <p:nvGrpSpPr>
            <p:cNvPr id="12" name="Grafik 6">
              <a:extLst>
                <a:ext uri="{FF2B5EF4-FFF2-40B4-BE49-F238E27FC236}">
                  <a16:creationId xmlns:a16="http://schemas.microsoft.com/office/drawing/2014/main" id="{7F7C476A-2849-4D68-9FA2-3A5CFC13C833}"/>
                </a:ext>
              </a:extLst>
            </p:cNvPr>
            <p:cNvGrpSpPr/>
            <p:nvPr/>
          </p:nvGrpSpPr>
          <p:grpSpPr>
            <a:xfrm>
              <a:off x="1266489" y="6555186"/>
              <a:ext cx="197463" cy="110963"/>
              <a:chOff x="1266489" y="6555186"/>
              <a:chExt cx="197463" cy="110963"/>
            </a:xfrm>
            <a:grpFill/>
          </p:grpSpPr>
          <p:sp>
            <p:nvSpPr>
              <p:cNvPr id="13" name="Freihandform: Form 12">
                <a:extLst>
                  <a:ext uri="{FF2B5EF4-FFF2-40B4-BE49-F238E27FC236}">
                    <a16:creationId xmlns:a16="http://schemas.microsoft.com/office/drawing/2014/main" id="{18BB0752-F87C-44D9-A9A5-97AF1DEDA1AE}"/>
                  </a:ext>
                </a:extLst>
              </p:cNvPr>
              <p:cNvSpPr/>
              <p:nvPr/>
            </p:nvSpPr>
            <p:spPr>
              <a:xfrm>
                <a:off x="1266489" y="6556934"/>
                <a:ext cx="95902" cy="109216"/>
              </a:xfrm>
              <a:custGeom>
                <a:avLst/>
                <a:gdLst>
                  <a:gd name="connsiteX0" fmla="*/ 66742 w 95902"/>
                  <a:gd name="connsiteY0" fmla="*/ 65797 h 109216"/>
                  <a:gd name="connsiteX1" fmla="*/ 35339 w 95902"/>
                  <a:gd name="connsiteY1" fmla="*/ 95082 h 109216"/>
                  <a:gd name="connsiteX2" fmla="*/ 15953 w 95902"/>
                  <a:gd name="connsiteY2" fmla="*/ 79537 h 109216"/>
                  <a:gd name="connsiteX3" fmla="*/ 15899 w 95902"/>
                  <a:gd name="connsiteY3" fmla="*/ 76265 h 109216"/>
                  <a:gd name="connsiteX4" fmla="*/ 16896 w 95902"/>
                  <a:gd name="connsiteY4" fmla="*/ 66295 h 109216"/>
                  <a:gd name="connsiteX5" fmla="*/ 30230 w 95902"/>
                  <a:gd name="connsiteY5" fmla="*/ 0 h 109216"/>
                  <a:gd name="connsiteX6" fmla="*/ 30230 w 95902"/>
                  <a:gd name="connsiteY6" fmla="*/ 0 h 109216"/>
                  <a:gd name="connsiteX7" fmla="*/ 14528 w 95902"/>
                  <a:gd name="connsiteY7" fmla="*/ 0 h 109216"/>
                  <a:gd name="connsiteX8" fmla="*/ 1194 w 95902"/>
                  <a:gd name="connsiteY8" fmla="*/ 67791 h 109216"/>
                  <a:gd name="connsiteX9" fmla="*/ 1194 w 95902"/>
                  <a:gd name="connsiteY9" fmla="*/ 68788 h 109216"/>
                  <a:gd name="connsiteX10" fmla="*/ 73 w 95902"/>
                  <a:gd name="connsiteY10" fmla="*/ 78508 h 109216"/>
                  <a:gd name="connsiteX11" fmla="*/ 26638 w 95902"/>
                  <a:gd name="connsiteY11" fmla="*/ 109122 h 109216"/>
                  <a:gd name="connsiteX12" fmla="*/ 29980 w 95902"/>
                  <a:gd name="connsiteY12" fmla="*/ 109163 h 109216"/>
                  <a:gd name="connsiteX13" fmla="*/ 61384 w 95902"/>
                  <a:gd name="connsiteY13" fmla="*/ 96702 h 109216"/>
                  <a:gd name="connsiteX14" fmla="*/ 59265 w 95902"/>
                  <a:gd name="connsiteY14" fmla="*/ 107917 h 109216"/>
                  <a:gd name="connsiteX15" fmla="*/ 59265 w 95902"/>
                  <a:gd name="connsiteY15" fmla="*/ 107917 h 109216"/>
                  <a:gd name="connsiteX16" fmla="*/ 74842 w 95902"/>
                  <a:gd name="connsiteY16" fmla="*/ 107917 h 109216"/>
                  <a:gd name="connsiteX17" fmla="*/ 95902 w 95902"/>
                  <a:gd name="connsiteY17" fmla="*/ 0 h 109216"/>
                  <a:gd name="connsiteX18" fmla="*/ 95902 w 95902"/>
                  <a:gd name="connsiteY18" fmla="*/ 0 h 109216"/>
                  <a:gd name="connsiteX19" fmla="*/ 79951 w 95902"/>
                  <a:gd name="connsiteY19" fmla="*/ 0 h 109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5902" h="109216">
                    <a:moveTo>
                      <a:pt x="66742" y="65797"/>
                    </a:moveTo>
                    <a:cubicBezTo>
                      <a:pt x="65228" y="82115"/>
                      <a:pt x="51723" y="94709"/>
                      <a:pt x="35339" y="95082"/>
                    </a:cubicBezTo>
                    <a:cubicBezTo>
                      <a:pt x="25692" y="96142"/>
                      <a:pt x="17013" y="89183"/>
                      <a:pt x="15953" y="79537"/>
                    </a:cubicBezTo>
                    <a:cubicBezTo>
                      <a:pt x="15833" y="78450"/>
                      <a:pt x="15814" y="77355"/>
                      <a:pt x="15899" y="76265"/>
                    </a:cubicBezTo>
                    <a:cubicBezTo>
                      <a:pt x="15976" y="72921"/>
                      <a:pt x="16309" y="69588"/>
                      <a:pt x="16896" y="66295"/>
                    </a:cubicBezTo>
                    <a:lnTo>
                      <a:pt x="30230" y="0"/>
                    </a:lnTo>
                    <a:lnTo>
                      <a:pt x="30230" y="0"/>
                    </a:lnTo>
                    <a:lnTo>
                      <a:pt x="14528" y="0"/>
                    </a:lnTo>
                    <a:lnTo>
                      <a:pt x="1194" y="67791"/>
                    </a:lnTo>
                    <a:lnTo>
                      <a:pt x="1194" y="68788"/>
                    </a:lnTo>
                    <a:cubicBezTo>
                      <a:pt x="472" y="71978"/>
                      <a:pt x="95" y="75237"/>
                      <a:pt x="73" y="78508"/>
                    </a:cubicBezTo>
                    <a:cubicBezTo>
                      <a:pt x="-1045" y="94298"/>
                      <a:pt x="10848" y="108004"/>
                      <a:pt x="26638" y="109122"/>
                    </a:cubicBezTo>
                    <a:cubicBezTo>
                      <a:pt x="27751" y="109200"/>
                      <a:pt x="28866" y="109214"/>
                      <a:pt x="29980" y="109163"/>
                    </a:cubicBezTo>
                    <a:cubicBezTo>
                      <a:pt x="41760" y="109765"/>
                      <a:pt x="53221" y="105218"/>
                      <a:pt x="61384" y="96702"/>
                    </a:cubicBezTo>
                    <a:lnTo>
                      <a:pt x="59265" y="107917"/>
                    </a:lnTo>
                    <a:lnTo>
                      <a:pt x="59265" y="107917"/>
                    </a:lnTo>
                    <a:lnTo>
                      <a:pt x="74842" y="107917"/>
                    </a:lnTo>
                    <a:lnTo>
                      <a:pt x="95902" y="0"/>
                    </a:lnTo>
                    <a:lnTo>
                      <a:pt x="95902" y="0"/>
                    </a:lnTo>
                    <a:lnTo>
                      <a:pt x="79951" y="0"/>
                    </a:lnTo>
                    <a:close/>
                  </a:path>
                </a:pathLst>
              </a:custGeom>
              <a:grpFill/>
              <a:ln w="12419" cap="flat">
                <a:noFill/>
                <a:prstDash val="solid"/>
                <a:miter/>
              </a:ln>
            </p:spPr>
            <p:txBody>
              <a:bodyPr rtlCol="0" anchor="ctr"/>
              <a:lstStyle/>
              <a:p>
                <a:endParaRPr lang="de-CH" noProof="0"/>
              </a:p>
            </p:txBody>
          </p:sp>
          <p:sp>
            <p:nvSpPr>
              <p:cNvPr id="14" name="Freihandform: Form 13">
                <a:extLst>
                  <a:ext uri="{FF2B5EF4-FFF2-40B4-BE49-F238E27FC236}">
                    <a16:creationId xmlns:a16="http://schemas.microsoft.com/office/drawing/2014/main" id="{ED44DE23-7081-4AC9-BF06-502BEC71C004}"/>
                  </a:ext>
                </a:extLst>
              </p:cNvPr>
              <p:cNvSpPr/>
              <p:nvPr/>
            </p:nvSpPr>
            <p:spPr>
              <a:xfrm>
                <a:off x="1376472" y="6555186"/>
                <a:ext cx="87480" cy="109664"/>
              </a:xfrm>
              <a:custGeom>
                <a:avLst/>
                <a:gdLst>
                  <a:gd name="connsiteX0" fmla="*/ 64302 w 87480"/>
                  <a:gd name="connsiteY0" fmla="*/ 3 h 109664"/>
                  <a:gd name="connsiteX1" fmla="*/ 34518 w 87480"/>
                  <a:gd name="connsiteY1" fmla="*/ 14209 h 109664"/>
                  <a:gd name="connsiteX2" fmla="*/ 36886 w 87480"/>
                  <a:gd name="connsiteY2" fmla="*/ 1747 h 109664"/>
                  <a:gd name="connsiteX3" fmla="*/ 36886 w 87480"/>
                  <a:gd name="connsiteY3" fmla="*/ 1747 h 109664"/>
                  <a:gd name="connsiteX4" fmla="*/ 21434 w 87480"/>
                  <a:gd name="connsiteY4" fmla="*/ 1747 h 109664"/>
                  <a:gd name="connsiteX5" fmla="*/ 0 w 87480"/>
                  <a:gd name="connsiteY5" fmla="*/ 109664 h 109664"/>
                  <a:gd name="connsiteX6" fmla="*/ 0 w 87480"/>
                  <a:gd name="connsiteY6" fmla="*/ 109664 h 109664"/>
                  <a:gd name="connsiteX7" fmla="*/ 15826 w 87480"/>
                  <a:gd name="connsiteY7" fmla="*/ 109664 h 109664"/>
                  <a:gd name="connsiteX8" fmla="*/ 28288 w 87480"/>
                  <a:gd name="connsiteY8" fmla="*/ 43493 h 109664"/>
                  <a:gd name="connsiteX9" fmla="*/ 59940 w 87480"/>
                  <a:gd name="connsiteY9" fmla="*/ 14209 h 109664"/>
                  <a:gd name="connsiteX10" fmla="*/ 75019 w 87480"/>
                  <a:gd name="connsiteY10" fmla="*/ 21810 h 109664"/>
                  <a:gd name="connsiteX11" fmla="*/ 75019 w 87480"/>
                  <a:gd name="connsiteY11" fmla="*/ 21810 h 109664"/>
                  <a:gd name="connsiteX12" fmla="*/ 87480 w 87480"/>
                  <a:gd name="connsiteY12" fmla="*/ 10346 h 109664"/>
                  <a:gd name="connsiteX13" fmla="*/ 87480 w 87480"/>
                  <a:gd name="connsiteY13" fmla="*/ 10346 h 109664"/>
                  <a:gd name="connsiteX14" fmla="*/ 63928 w 87480"/>
                  <a:gd name="connsiteY14" fmla="*/ 252 h 109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480" h="109664">
                    <a:moveTo>
                      <a:pt x="64302" y="3"/>
                    </a:moveTo>
                    <a:cubicBezTo>
                      <a:pt x="52709" y="-136"/>
                      <a:pt x="41706" y="5111"/>
                      <a:pt x="34518" y="14209"/>
                    </a:cubicBezTo>
                    <a:lnTo>
                      <a:pt x="36886" y="1747"/>
                    </a:lnTo>
                    <a:lnTo>
                      <a:pt x="36886" y="1747"/>
                    </a:lnTo>
                    <a:lnTo>
                      <a:pt x="21434" y="1747"/>
                    </a:lnTo>
                    <a:lnTo>
                      <a:pt x="0" y="109664"/>
                    </a:lnTo>
                    <a:lnTo>
                      <a:pt x="0" y="109664"/>
                    </a:lnTo>
                    <a:lnTo>
                      <a:pt x="15826" y="109664"/>
                    </a:lnTo>
                    <a:lnTo>
                      <a:pt x="28288" y="43493"/>
                    </a:lnTo>
                    <a:cubicBezTo>
                      <a:pt x="30515" y="27438"/>
                      <a:pt x="43760" y="15183"/>
                      <a:pt x="59940" y="14209"/>
                    </a:cubicBezTo>
                    <a:cubicBezTo>
                      <a:pt x="65919" y="14072"/>
                      <a:pt x="71573" y="16922"/>
                      <a:pt x="75019" y="21810"/>
                    </a:cubicBezTo>
                    <a:lnTo>
                      <a:pt x="75019" y="21810"/>
                    </a:lnTo>
                    <a:lnTo>
                      <a:pt x="87480" y="10346"/>
                    </a:lnTo>
                    <a:lnTo>
                      <a:pt x="87480" y="10346"/>
                    </a:lnTo>
                    <a:cubicBezTo>
                      <a:pt x="81552" y="3603"/>
                      <a:pt x="72899" y="-105"/>
                      <a:pt x="63928" y="252"/>
                    </a:cubicBezTo>
                  </a:path>
                </a:pathLst>
              </a:custGeom>
              <a:grpFill/>
              <a:ln w="12419" cap="flat">
                <a:noFill/>
                <a:prstDash val="solid"/>
                <a:miter/>
              </a:ln>
            </p:spPr>
            <p:txBody>
              <a:bodyPr rtlCol="0" anchor="ctr"/>
              <a:lstStyle/>
              <a:p>
                <a:endParaRPr lang="de-CH" noProof="0"/>
              </a:p>
            </p:txBody>
          </p:sp>
        </p:grpSp>
        <p:sp>
          <p:nvSpPr>
            <p:cNvPr id="15" name="Freihandform: Form 14">
              <a:extLst>
                <a:ext uri="{FF2B5EF4-FFF2-40B4-BE49-F238E27FC236}">
                  <a16:creationId xmlns:a16="http://schemas.microsoft.com/office/drawing/2014/main" id="{18C24FD2-AEE2-43CA-8EB3-8E646C2E5E46}"/>
                </a:ext>
              </a:extLst>
            </p:cNvPr>
            <p:cNvSpPr/>
            <p:nvPr/>
          </p:nvSpPr>
          <p:spPr>
            <a:xfrm>
              <a:off x="1159517" y="6556560"/>
              <a:ext cx="96452" cy="108166"/>
            </a:xfrm>
            <a:custGeom>
              <a:avLst/>
              <a:gdLst>
                <a:gd name="connsiteX0" fmla="*/ 23303 w 96452"/>
                <a:gd name="connsiteY0" fmla="*/ 0 h 108166"/>
                <a:gd name="connsiteX1" fmla="*/ 20562 w 96452"/>
                <a:gd name="connsiteY1" fmla="*/ 13708 h 108166"/>
                <a:gd name="connsiteX2" fmla="*/ 20562 w 96452"/>
                <a:gd name="connsiteY2" fmla="*/ 13957 h 108166"/>
                <a:gd name="connsiteX3" fmla="*/ 74271 w 96452"/>
                <a:gd name="connsiteY3" fmla="*/ 13957 h 108166"/>
                <a:gd name="connsiteX4" fmla="*/ 2742 w 96452"/>
                <a:gd name="connsiteY4" fmla="*/ 94957 h 108166"/>
                <a:gd name="connsiteX5" fmla="*/ 2617 w 96452"/>
                <a:gd name="connsiteY5" fmla="*/ 94957 h 108166"/>
                <a:gd name="connsiteX6" fmla="*/ 0 w 96452"/>
                <a:gd name="connsiteY6" fmla="*/ 108166 h 108166"/>
                <a:gd name="connsiteX7" fmla="*/ 76265 w 96452"/>
                <a:gd name="connsiteY7" fmla="*/ 108166 h 108166"/>
                <a:gd name="connsiteX8" fmla="*/ 79006 w 96452"/>
                <a:gd name="connsiteY8" fmla="*/ 94209 h 108166"/>
                <a:gd name="connsiteX9" fmla="*/ 21932 w 96452"/>
                <a:gd name="connsiteY9" fmla="*/ 94209 h 108166"/>
                <a:gd name="connsiteX10" fmla="*/ 93835 w 96452"/>
                <a:gd name="connsiteY10" fmla="*/ 13209 h 108166"/>
                <a:gd name="connsiteX11" fmla="*/ 93835 w 96452"/>
                <a:gd name="connsiteY11" fmla="*/ 13209 h 108166"/>
                <a:gd name="connsiteX12" fmla="*/ 96452 w 96452"/>
                <a:gd name="connsiteY12" fmla="*/ 0 h 108166"/>
                <a:gd name="connsiteX13" fmla="*/ 23303 w 96452"/>
                <a:gd name="connsiteY13"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6452" h="108166">
                  <a:moveTo>
                    <a:pt x="23303" y="0"/>
                  </a:moveTo>
                  <a:lnTo>
                    <a:pt x="20562" y="13708"/>
                  </a:lnTo>
                  <a:lnTo>
                    <a:pt x="20562" y="13957"/>
                  </a:lnTo>
                  <a:lnTo>
                    <a:pt x="74271" y="13957"/>
                  </a:lnTo>
                  <a:lnTo>
                    <a:pt x="2742" y="94957"/>
                  </a:lnTo>
                  <a:lnTo>
                    <a:pt x="2617" y="94957"/>
                  </a:lnTo>
                  <a:lnTo>
                    <a:pt x="0" y="108166"/>
                  </a:lnTo>
                  <a:lnTo>
                    <a:pt x="76265" y="108166"/>
                  </a:lnTo>
                  <a:lnTo>
                    <a:pt x="79006" y="94209"/>
                  </a:lnTo>
                  <a:lnTo>
                    <a:pt x="21932" y="94209"/>
                  </a:lnTo>
                  <a:lnTo>
                    <a:pt x="93835" y="13209"/>
                  </a:lnTo>
                  <a:lnTo>
                    <a:pt x="93835" y="13209"/>
                  </a:lnTo>
                  <a:lnTo>
                    <a:pt x="96452" y="0"/>
                  </a:lnTo>
                  <a:lnTo>
                    <a:pt x="23303" y="0"/>
                  </a:lnTo>
                  <a:close/>
                </a:path>
              </a:pathLst>
            </a:custGeom>
            <a:grpFill/>
            <a:ln w="12419" cap="flat">
              <a:noFill/>
              <a:prstDash val="solid"/>
              <a:miter/>
            </a:ln>
          </p:spPr>
          <p:txBody>
            <a:bodyPr rtlCol="0" anchor="ctr"/>
            <a:lstStyle/>
            <a:p>
              <a:endParaRPr lang="de-CH" noProof="0"/>
            </a:p>
          </p:txBody>
        </p:sp>
        <p:sp>
          <p:nvSpPr>
            <p:cNvPr id="16" name="Freihandform: Form 15">
              <a:extLst>
                <a:ext uri="{FF2B5EF4-FFF2-40B4-BE49-F238E27FC236}">
                  <a16:creationId xmlns:a16="http://schemas.microsoft.com/office/drawing/2014/main" id="{AEE7F6F4-4D2C-45B3-A061-9606B2BD36A7}"/>
                </a:ext>
              </a:extLst>
            </p:cNvPr>
            <p:cNvSpPr/>
            <p:nvPr/>
          </p:nvSpPr>
          <p:spPr>
            <a:xfrm>
              <a:off x="1466445" y="6556560"/>
              <a:ext cx="37259" cy="108166"/>
            </a:xfrm>
            <a:custGeom>
              <a:avLst/>
              <a:gdLst>
                <a:gd name="connsiteX0" fmla="*/ 21683 w 37259"/>
                <a:gd name="connsiteY0" fmla="*/ 0 h 108166"/>
                <a:gd name="connsiteX1" fmla="*/ 0 w 37259"/>
                <a:gd name="connsiteY1" fmla="*/ 107917 h 108166"/>
                <a:gd name="connsiteX2" fmla="*/ 0 w 37259"/>
                <a:gd name="connsiteY2" fmla="*/ 108166 h 108166"/>
                <a:gd name="connsiteX3" fmla="*/ 15702 w 37259"/>
                <a:gd name="connsiteY3" fmla="*/ 108166 h 108166"/>
                <a:gd name="connsiteX4" fmla="*/ 37260 w 37259"/>
                <a:gd name="connsiteY4" fmla="*/ 0 h 108166"/>
                <a:gd name="connsiteX5" fmla="*/ 21683 w 37259"/>
                <a:gd name="connsiteY5"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259" h="108166">
                  <a:moveTo>
                    <a:pt x="21683" y="0"/>
                  </a:moveTo>
                  <a:lnTo>
                    <a:pt x="0" y="107917"/>
                  </a:lnTo>
                  <a:lnTo>
                    <a:pt x="0" y="108166"/>
                  </a:lnTo>
                  <a:lnTo>
                    <a:pt x="15702" y="108166"/>
                  </a:lnTo>
                  <a:lnTo>
                    <a:pt x="37260" y="0"/>
                  </a:lnTo>
                  <a:lnTo>
                    <a:pt x="21683" y="0"/>
                  </a:lnTo>
                  <a:close/>
                </a:path>
              </a:pathLst>
            </a:custGeom>
            <a:grpFill/>
            <a:ln w="12419" cap="flat">
              <a:noFill/>
              <a:prstDash val="solid"/>
              <a:miter/>
            </a:ln>
          </p:spPr>
          <p:txBody>
            <a:bodyPr rtlCol="0" anchor="ctr"/>
            <a:lstStyle/>
            <a:p>
              <a:endParaRPr lang="de-CH" noProof="0"/>
            </a:p>
          </p:txBody>
        </p:sp>
        <p:grpSp>
          <p:nvGrpSpPr>
            <p:cNvPr id="17" name="Grafik 6">
              <a:extLst>
                <a:ext uri="{FF2B5EF4-FFF2-40B4-BE49-F238E27FC236}">
                  <a16:creationId xmlns:a16="http://schemas.microsoft.com/office/drawing/2014/main" id="{7F7C476A-2849-4D68-9FA2-3A5CFC13C833}"/>
                </a:ext>
              </a:extLst>
            </p:cNvPr>
            <p:cNvGrpSpPr/>
            <p:nvPr/>
          </p:nvGrpSpPr>
          <p:grpSpPr>
            <a:xfrm>
              <a:off x="1518879" y="6507337"/>
              <a:ext cx="191395" cy="158803"/>
              <a:chOff x="1518879" y="6507337"/>
              <a:chExt cx="191395" cy="158803"/>
            </a:xfrm>
            <a:grpFill/>
          </p:grpSpPr>
          <p:sp>
            <p:nvSpPr>
              <p:cNvPr id="18" name="Freihandform: Form 17">
                <a:extLst>
                  <a:ext uri="{FF2B5EF4-FFF2-40B4-BE49-F238E27FC236}">
                    <a16:creationId xmlns:a16="http://schemas.microsoft.com/office/drawing/2014/main" id="{B2186F78-5D28-4695-8B1C-5A3F1A53AAB3}"/>
                  </a:ext>
                </a:extLst>
              </p:cNvPr>
              <p:cNvSpPr/>
              <p:nvPr/>
            </p:nvSpPr>
            <p:spPr>
              <a:xfrm>
                <a:off x="1614114" y="6507337"/>
                <a:ext cx="96160" cy="157638"/>
              </a:xfrm>
              <a:custGeom>
                <a:avLst/>
                <a:gdLst>
                  <a:gd name="connsiteX0" fmla="*/ 66046 w 96160"/>
                  <a:gd name="connsiteY0" fmla="*/ 47852 h 157638"/>
                  <a:gd name="connsiteX1" fmla="*/ 35142 w 96160"/>
                  <a:gd name="connsiteY1" fmla="*/ 60314 h 157638"/>
                  <a:gd name="connsiteX2" fmla="*/ 47603 w 96160"/>
                  <a:gd name="connsiteY2" fmla="*/ 0 h 157638"/>
                  <a:gd name="connsiteX3" fmla="*/ 31652 w 96160"/>
                  <a:gd name="connsiteY3" fmla="*/ 0 h 157638"/>
                  <a:gd name="connsiteX4" fmla="*/ 0 w 96160"/>
                  <a:gd name="connsiteY4" fmla="*/ 157389 h 157638"/>
                  <a:gd name="connsiteX5" fmla="*/ 15701 w 96160"/>
                  <a:gd name="connsiteY5" fmla="*/ 157389 h 157638"/>
                  <a:gd name="connsiteX6" fmla="*/ 28911 w 96160"/>
                  <a:gd name="connsiteY6" fmla="*/ 91218 h 157638"/>
                  <a:gd name="connsiteX7" fmla="*/ 60563 w 96160"/>
                  <a:gd name="connsiteY7" fmla="*/ 62058 h 157638"/>
                  <a:gd name="connsiteX8" fmla="*/ 79837 w 96160"/>
                  <a:gd name="connsiteY8" fmla="*/ 77742 h 157638"/>
                  <a:gd name="connsiteX9" fmla="*/ 79878 w 96160"/>
                  <a:gd name="connsiteY9" fmla="*/ 80875 h 157638"/>
                  <a:gd name="connsiteX10" fmla="*/ 78757 w 96160"/>
                  <a:gd name="connsiteY10" fmla="*/ 90969 h 157638"/>
                  <a:gd name="connsiteX11" fmla="*/ 65423 w 96160"/>
                  <a:gd name="connsiteY11" fmla="*/ 157638 h 157638"/>
                  <a:gd name="connsiteX12" fmla="*/ 81125 w 96160"/>
                  <a:gd name="connsiteY12" fmla="*/ 157638 h 157638"/>
                  <a:gd name="connsiteX13" fmla="*/ 94957 w 96160"/>
                  <a:gd name="connsiteY13" fmla="*/ 89474 h 157638"/>
                  <a:gd name="connsiteX14" fmla="*/ 96078 w 96160"/>
                  <a:gd name="connsiteY14" fmla="*/ 78757 h 157638"/>
                  <a:gd name="connsiteX15" fmla="*/ 69522 w 96160"/>
                  <a:gd name="connsiteY15" fmla="*/ 47902 h 157638"/>
                  <a:gd name="connsiteX16" fmla="*/ 66046 w 96160"/>
                  <a:gd name="connsiteY16" fmla="*/ 47852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6160" h="157638">
                    <a:moveTo>
                      <a:pt x="66046" y="47852"/>
                    </a:moveTo>
                    <a:cubicBezTo>
                      <a:pt x="54431" y="47363"/>
                      <a:pt x="43168" y="51904"/>
                      <a:pt x="35142" y="60314"/>
                    </a:cubicBezTo>
                    <a:lnTo>
                      <a:pt x="47603" y="0"/>
                    </a:lnTo>
                    <a:lnTo>
                      <a:pt x="31652" y="0"/>
                    </a:lnTo>
                    <a:lnTo>
                      <a:pt x="0" y="157389"/>
                    </a:lnTo>
                    <a:lnTo>
                      <a:pt x="15701" y="157389"/>
                    </a:lnTo>
                    <a:lnTo>
                      <a:pt x="28911" y="91218"/>
                    </a:lnTo>
                    <a:cubicBezTo>
                      <a:pt x="30603" y="74910"/>
                      <a:pt x="44170" y="62411"/>
                      <a:pt x="60563" y="62058"/>
                    </a:cubicBezTo>
                    <a:cubicBezTo>
                      <a:pt x="70216" y="61067"/>
                      <a:pt x="78845" y="68088"/>
                      <a:pt x="79837" y="77742"/>
                    </a:cubicBezTo>
                    <a:cubicBezTo>
                      <a:pt x="79945" y="78783"/>
                      <a:pt x="79958" y="79832"/>
                      <a:pt x="79878" y="80875"/>
                    </a:cubicBezTo>
                    <a:cubicBezTo>
                      <a:pt x="79822" y="84268"/>
                      <a:pt x="79446" y="87647"/>
                      <a:pt x="78757" y="90969"/>
                    </a:cubicBezTo>
                    <a:lnTo>
                      <a:pt x="65423" y="157638"/>
                    </a:lnTo>
                    <a:lnTo>
                      <a:pt x="81125" y="157638"/>
                    </a:lnTo>
                    <a:lnTo>
                      <a:pt x="94957" y="89474"/>
                    </a:lnTo>
                    <a:cubicBezTo>
                      <a:pt x="95657" y="85943"/>
                      <a:pt x="96034" y="82356"/>
                      <a:pt x="96078" y="78757"/>
                    </a:cubicBezTo>
                    <a:cubicBezTo>
                      <a:pt x="97265" y="62903"/>
                      <a:pt x="85375" y="49089"/>
                      <a:pt x="69522" y="47902"/>
                    </a:cubicBezTo>
                    <a:cubicBezTo>
                      <a:pt x="68365" y="47815"/>
                      <a:pt x="67205" y="47799"/>
                      <a:pt x="66046" y="47852"/>
                    </a:cubicBezTo>
                  </a:path>
                </a:pathLst>
              </a:custGeom>
              <a:grpFill/>
              <a:ln w="12419" cap="flat">
                <a:noFill/>
                <a:prstDash val="solid"/>
                <a:miter/>
              </a:ln>
            </p:spPr>
            <p:txBody>
              <a:bodyPr rtlCol="0" anchor="ctr"/>
              <a:lstStyle/>
              <a:p>
                <a:endParaRPr lang="de-CH" noProof="0"/>
              </a:p>
            </p:txBody>
          </p:sp>
          <p:sp>
            <p:nvSpPr>
              <p:cNvPr id="19" name="Freihandform: Form 18">
                <a:extLst>
                  <a:ext uri="{FF2B5EF4-FFF2-40B4-BE49-F238E27FC236}">
                    <a16:creationId xmlns:a16="http://schemas.microsoft.com/office/drawing/2014/main" id="{1FE5475E-83C3-4BE3-BBF1-FAE9A6986B3F}"/>
                  </a:ext>
                </a:extLst>
              </p:cNvPr>
              <p:cNvSpPr/>
              <p:nvPr/>
            </p:nvSpPr>
            <p:spPr>
              <a:xfrm>
                <a:off x="1518879" y="6555189"/>
                <a:ext cx="87882" cy="110951"/>
              </a:xfrm>
              <a:custGeom>
                <a:avLst/>
                <a:gdLst>
                  <a:gd name="connsiteX0" fmla="*/ 56853 w 87882"/>
                  <a:gd name="connsiteY0" fmla="*/ 0 h 110951"/>
                  <a:gd name="connsiteX1" fmla="*/ 1649 w 87882"/>
                  <a:gd name="connsiteY1" fmla="*/ 55329 h 110951"/>
                  <a:gd name="connsiteX2" fmla="*/ 153 w 87882"/>
                  <a:gd name="connsiteY2" fmla="*/ 71903 h 110951"/>
                  <a:gd name="connsiteX3" fmla="*/ 32484 w 87882"/>
                  <a:gd name="connsiteY3" fmla="*/ 110801 h 110951"/>
                  <a:gd name="connsiteX4" fmla="*/ 37538 w 87882"/>
                  <a:gd name="connsiteY4" fmla="*/ 110908 h 110951"/>
                  <a:gd name="connsiteX5" fmla="*/ 73552 w 87882"/>
                  <a:gd name="connsiteY5" fmla="*/ 95705 h 110951"/>
                  <a:gd name="connsiteX6" fmla="*/ 73552 w 87882"/>
                  <a:gd name="connsiteY6" fmla="*/ 95705 h 110951"/>
                  <a:gd name="connsiteX7" fmla="*/ 64455 w 87882"/>
                  <a:gd name="connsiteY7" fmla="*/ 84614 h 110951"/>
                  <a:gd name="connsiteX8" fmla="*/ 64455 w 87882"/>
                  <a:gd name="connsiteY8" fmla="*/ 84614 h 110951"/>
                  <a:gd name="connsiteX9" fmla="*/ 64455 w 87882"/>
                  <a:gd name="connsiteY9" fmla="*/ 84614 h 110951"/>
                  <a:gd name="connsiteX10" fmla="*/ 38535 w 87882"/>
                  <a:gd name="connsiteY10" fmla="*/ 97075 h 110951"/>
                  <a:gd name="connsiteX11" fmla="*/ 15233 w 87882"/>
                  <a:gd name="connsiteY11" fmla="*/ 75551 h 110951"/>
                  <a:gd name="connsiteX12" fmla="*/ 15356 w 87882"/>
                  <a:gd name="connsiteY12" fmla="*/ 72152 h 110951"/>
                  <a:gd name="connsiteX13" fmla="*/ 17101 w 87882"/>
                  <a:gd name="connsiteY13" fmla="*/ 55952 h 110951"/>
                  <a:gd name="connsiteX14" fmla="*/ 31058 w 87882"/>
                  <a:gd name="connsiteY14" fmla="*/ 25048 h 110951"/>
                  <a:gd name="connsiteX15" fmla="*/ 55233 w 87882"/>
                  <a:gd name="connsiteY15" fmla="*/ 14206 h 110951"/>
                  <a:gd name="connsiteX16" fmla="*/ 76293 w 87882"/>
                  <a:gd name="connsiteY16" fmla="*/ 26668 h 110951"/>
                  <a:gd name="connsiteX17" fmla="*/ 76293 w 87882"/>
                  <a:gd name="connsiteY17" fmla="*/ 26668 h 110951"/>
                  <a:gd name="connsiteX18" fmla="*/ 87883 w 87882"/>
                  <a:gd name="connsiteY18" fmla="*/ 16823 h 110951"/>
                  <a:gd name="connsiteX19" fmla="*/ 87883 w 87882"/>
                  <a:gd name="connsiteY19" fmla="*/ 16823 h 110951"/>
                  <a:gd name="connsiteX20" fmla="*/ 56729 w 87882"/>
                  <a:gd name="connsiteY20" fmla="*/ 748 h 110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82" h="110951">
                    <a:moveTo>
                      <a:pt x="56853" y="0"/>
                    </a:moveTo>
                    <a:cubicBezTo>
                      <a:pt x="28192" y="0"/>
                      <a:pt x="8129" y="20188"/>
                      <a:pt x="1649" y="55329"/>
                    </a:cubicBezTo>
                    <a:cubicBezTo>
                      <a:pt x="671" y="60800"/>
                      <a:pt x="170" y="66345"/>
                      <a:pt x="153" y="71903"/>
                    </a:cubicBezTo>
                    <a:cubicBezTo>
                      <a:pt x="-1660" y="91572"/>
                      <a:pt x="12814" y="108987"/>
                      <a:pt x="32484" y="110801"/>
                    </a:cubicBezTo>
                    <a:cubicBezTo>
                      <a:pt x="34163" y="110955"/>
                      <a:pt x="35853" y="110991"/>
                      <a:pt x="37538" y="110908"/>
                    </a:cubicBezTo>
                    <a:cubicBezTo>
                      <a:pt x="51112" y="110955"/>
                      <a:pt x="64118" y="105465"/>
                      <a:pt x="73552" y="95705"/>
                    </a:cubicBezTo>
                    <a:lnTo>
                      <a:pt x="73552" y="95705"/>
                    </a:lnTo>
                    <a:lnTo>
                      <a:pt x="64455" y="84614"/>
                    </a:lnTo>
                    <a:lnTo>
                      <a:pt x="64455" y="84614"/>
                    </a:lnTo>
                    <a:lnTo>
                      <a:pt x="64455" y="84614"/>
                    </a:lnTo>
                    <a:cubicBezTo>
                      <a:pt x="58138" y="92466"/>
                      <a:pt x="48613" y="97045"/>
                      <a:pt x="38535" y="97075"/>
                    </a:cubicBezTo>
                    <a:cubicBezTo>
                      <a:pt x="26157" y="97566"/>
                      <a:pt x="15724" y="87929"/>
                      <a:pt x="15233" y="75551"/>
                    </a:cubicBezTo>
                    <a:cubicBezTo>
                      <a:pt x="15188" y="74416"/>
                      <a:pt x="15229" y="73280"/>
                      <a:pt x="15356" y="72152"/>
                    </a:cubicBezTo>
                    <a:cubicBezTo>
                      <a:pt x="15424" y="66709"/>
                      <a:pt x="16008" y="61285"/>
                      <a:pt x="17101" y="55952"/>
                    </a:cubicBezTo>
                    <a:cubicBezTo>
                      <a:pt x="18838" y="44568"/>
                      <a:pt x="23666" y="33878"/>
                      <a:pt x="31058" y="25048"/>
                    </a:cubicBezTo>
                    <a:cubicBezTo>
                      <a:pt x="37213" y="18167"/>
                      <a:pt x="46002" y="14225"/>
                      <a:pt x="55233" y="14206"/>
                    </a:cubicBezTo>
                    <a:cubicBezTo>
                      <a:pt x="64085" y="13892"/>
                      <a:pt x="72308" y="18758"/>
                      <a:pt x="76293" y="26668"/>
                    </a:cubicBezTo>
                    <a:lnTo>
                      <a:pt x="76293" y="26668"/>
                    </a:lnTo>
                    <a:lnTo>
                      <a:pt x="87883" y="16823"/>
                    </a:lnTo>
                    <a:lnTo>
                      <a:pt x="87883" y="16823"/>
                    </a:lnTo>
                    <a:cubicBezTo>
                      <a:pt x="81104" y="6298"/>
                      <a:pt x="69235" y="174"/>
                      <a:pt x="56729" y="748"/>
                    </a:cubicBezTo>
                  </a:path>
                </a:pathLst>
              </a:custGeom>
              <a:grpFill/>
              <a:ln w="12419" cap="flat">
                <a:noFill/>
                <a:prstDash val="solid"/>
                <a:miter/>
              </a:ln>
            </p:spPr>
            <p:txBody>
              <a:bodyPr rtlCol="0" anchor="ctr"/>
              <a:lstStyle/>
              <a:p>
                <a:endParaRPr lang="de-CH" noProof="0"/>
              </a:p>
            </p:txBody>
          </p:sp>
        </p:grpSp>
        <p:sp>
          <p:nvSpPr>
            <p:cNvPr id="20" name="Freihandform: Form 19">
              <a:extLst>
                <a:ext uri="{FF2B5EF4-FFF2-40B4-BE49-F238E27FC236}">
                  <a16:creationId xmlns:a16="http://schemas.microsoft.com/office/drawing/2014/main" id="{41B77B6E-E7CB-412B-95AC-A9322C6799BB}"/>
                </a:ext>
              </a:extLst>
            </p:cNvPr>
            <p:cNvSpPr/>
            <p:nvPr/>
          </p:nvSpPr>
          <p:spPr>
            <a:xfrm>
              <a:off x="1493985"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1" name="Freihandform: Form 20">
              <a:extLst>
                <a:ext uri="{FF2B5EF4-FFF2-40B4-BE49-F238E27FC236}">
                  <a16:creationId xmlns:a16="http://schemas.microsoft.com/office/drawing/2014/main" id="{832E5C1A-13CE-49A6-B590-B6EAA5F9E1AD}"/>
                </a:ext>
              </a:extLst>
            </p:cNvPr>
            <p:cNvSpPr/>
            <p:nvPr/>
          </p:nvSpPr>
          <p:spPr>
            <a:xfrm>
              <a:off x="1340708"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2" name="Freihandform: Form 21">
              <a:extLst>
                <a:ext uri="{FF2B5EF4-FFF2-40B4-BE49-F238E27FC236}">
                  <a16:creationId xmlns:a16="http://schemas.microsoft.com/office/drawing/2014/main" id="{63AE00B0-780F-4053-8FE9-B7D321217AFF}"/>
                </a:ext>
              </a:extLst>
            </p:cNvPr>
            <p:cNvSpPr/>
            <p:nvPr/>
          </p:nvSpPr>
          <p:spPr>
            <a:xfrm>
              <a:off x="1298712" y="6507088"/>
              <a:ext cx="19689" cy="19689"/>
            </a:xfrm>
            <a:custGeom>
              <a:avLst/>
              <a:gdLst>
                <a:gd name="connsiteX0" fmla="*/ 3988 w 19689"/>
                <a:gd name="connsiteY0" fmla="*/ 0 h 19689"/>
                <a:gd name="connsiteX1" fmla="*/ 0 w 19689"/>
                <a:gd name="connsiteY1" fmla="*/ 19689 h 19689"/>
                <a:gd name="connsiteX2" fmla="*/ 15702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702"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3" name="Freihandform: Form 22">
              <a:extLst>
                <a:ext uri="{FF2B5EF4-FFF2-40B4-BE49-F238E27FC236}">
                  <a16:creationId xmlns:a16="http://schemas.microsoft.com/office/drawing/2014/main" id="{2406CEAF-7399-4CCB-A322-03F0BA2532F5}"/>
                </a:ext>
              </a:extLst>
            </p:cNvPr>
            <p:cNvSpPr/>
            <p:nvPr/>
          </p:nvSpPr>
          <p:spPr>
            <a:xfrm>
              <a:off x="731837" y="6507088"/>
              <a:ext cx="417960" cy="157638"/>
            </a:xfrm>
            <a:custGeom>
              <a:avLst/>
              <a:gdLst>
                <a:gd name="connsiteX0" fmla="*/ 368612 w 417960"/>
                <a:gd name="connsiteY0" fmla="*/ 0 h 157638"/>
                <a:gd name="connsiteX1" fmla="*/ 356151 w 417960"/>
                <a:gd name="connsiteY1" fmla="*/ 61062 h 157638"/>
                <a:gd name="connsiteX2" fmla="*/ 320760 w 417960"/>
                <a:gd name="connsiteY2" fmla="*/ 61062 h 157638"/>
                <a:gd name="connsiteX3" fmla="*/ 333222 w 417960"/>
                <a:gd name="connsiteY3" fmla="*/ 0 h 157638"/>
                <a:gd name="connsiteX4" fmla="*/ 31652 w 417960"/>
                <a:gd name="connsiteY4" fmla="*/ 0 h 157638"/>
                <a:gd name="connsiteX5" fmla="*/ 0 w 417960"/>
                <a:gd name="connsiteY5" fmla="*/ 157638 h 157638"/>
                <a:gd name="connsiteX6" fmla="*/ 120254 w 417960"/>
                <a:gd name="connsiteY6" fmla="*/ 157638 h 157638"/>
                <a:gd name="connsiteX7" fmla="*/ 128105 w 417960"/>
                <a:gd name="connsiteY7" fmla="*/ 118260 h 157638"/>
                <a:gd name="connsiteX8" fmla="*/ 57074 w 417960"/>
                <a:gd name="connsiteY8" fmla="*/ 118260 h 157638"/>
                <a:gd name="connsiteX9" fmla="*/ 61435 w 417960"/>
                <a:gd name="connsiteY9" fmla="*/ 96577 h 157638"/>
                <a:gd name="connsiteX10" fmla="*/ 132342 w 417960"/>
                <a:gd name="connsiteY10" fmla="*/ 96577 h 157638"/>
                <a:gd name="connsiteX11" fmla="*/ 139569 w 417960"/>
                <a:gd name="connsiteY11" fmla="*/ 61062 h 157638"/>
                <a:gd name="connsiteX12" fmla="*/ 68538 w 417960"/>
                <a:gd name="connsiteY12" fmla="*/ 61062 h 157638"/>
                <a:gd name="connsiteX13" fmla="*/ 72900 w 417960"/>
                <a:gd name="connsiteY13" fmla="*/ 39378 h 157638"/>
                <a:gd name="connsiteX14" fmla="*/ 185303 w 417960"/>
                <a:gd name="connsiteY14" fmla="*/ 39378 h 157638"/>
                <a:gd name="connsiteX15" fmla="*/ 161626 w 417960"/>
                <a:gd name="connsiteY15" fmla="*/ 157638 h 157638"/>
                <a:gd name="connsiteX16" fmla="*/ 210849 w 417960"/>
                <a:gd name="connsiteY16" fmla="*/ 157638 h 157638"/>
                <a:gd name="connsiteX17" fmla="*/ 234651 w 417960"/>
                <a:gd name="connsiteY17" fmla="*/ 39378 h 157638"/>
                <a:gd name="connsiteX18" fmla="*/ 276023 w 417960"/>
                <a:gd name="connsiteY18" fmla="*/ 39378 h 157638"/>
                <a:gd name="connsiteX19" fmla="*/ 252222 w 417960"/>
                <a:gd name="connsiteY19" fmla="*/ 157638 h 157638"/>
                <a:gd name="connsiteX20" fmla="*/ 301569 w 417960"/>
                <a:gd name="connsiteY20" fmla="*/ 157638 h 157638"/>
                <a:gd name="connsiteX21" fmla="*/ 313657 w 417960"/>
                <a:gd name="connsiteY21" fmla="*/ 96577 h 157638"/>
                <a:gd name="connsiteX22" fmla="*/ 349172 w 417960"/>
                <a:gd name="connsiteY22" fmla="*/ 96577 h 157638"/>
                <a:gd name="connsiteX23" fmla="*/ 336960 w 417960"/>
                <a:gd name="connsiteY23" fmla="*/ 157638 h 157638"/>
                <a:gd name="connsiteX24" fmla="*/ 386308 w 417960"/>
                <a:gd name="connsiteY24" fmla="*/ 157638 h 157638"/>
                <a:gd name="connsiteX25" fmla="*/ 417960 w 417960"/>
                <a:gd name="connsiteY25" fmla="*/ 0 h 157638"/>
                <a:gd name="connsiteX26" fmla="*/ 368612 w 417960"/>
                <a:gd name="connsiteY26" fmla="*/ 0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17960" h="157638">
                  <a:moveTo>
                    <a:pt x="368612" y="0"/>
                  </a:moveTo>
                  <a:lnTo>
                    <a:pt x="356151" y="61062"/>
                  </a:lnTo>
                  <a:lnTo>
                    <a:pt x="320760" y="61062"/>
                  </a:lnTo>
                  <a:lnTo>
                    <a:pt x="333222" y="0"/>
                  </a:lnTo>
                  <a:lnTo>
                    <a:pt x="31652" y="0"/>
                  </a:lnTo>
                  <a:lnTo>
                    <a:pt x="0" y="157638"/>
                  </a:lnTo>
                  <a:lnTo>
                    <a:pt x="120254" y="157638"/>
                  </a:lnTo>
                  <a:lnTo>
                    <a:pt x="128105" y="118260"/>
                  </a:lnTo>
                  <a:lnTo>
                    <a:pt x="57074" y="118260"/>
                  </a:lnTo>
                  <a:lnTo>
                    <a:pt x="61435" y="96577"/>
                  </a:lnTo>
                  <a:lnTo>
                    <a:pt x="132342" y="96577"/>
                  </a:lnTo>
                  <a:lnTo>
                    <a:pt x="139569" y="61062"/>
                  </a:lnTo>
                  <a:lnTo>
                    <a:pt x="68538" y="61062"/>
                  </a:lnTo>
                  <a:lnTo>
                    <a:pt x="72900" y="39378"/>
                  </a:lnTo>
                  <a:lnTo>
                    <a:pt x="185303" y="39378"/>
                  </a:lnTo>
                  <a:lnTo>
                    <a:pt x="161626" y="157638"/>
                  </a:lnTo>
                  <a:lnTo>
                    <a:pt x="210849" y="157638"/>
                  </a:lnTo>
                  <a:lnTo>
                    <a:pt x="234651" y="39378"/>
                  </a:lnTo>
                  <a:lnTo>
                    <a:pt x="276023" y="39378"/>
                  </a:lnTo>
                  <a:lnTo>
                    <a:pt x="252222" y="157638"/>
                  </a:lnTo>
                  <a:lnTo>
                    <a:pt x="301569" y="157638"/>
                  </a:lnTo>
                  <a:lnTo>
                    <a:pt x="313657" y="96577"/>
                  </a:lnTo>
                  <a:lnTo>
                    <a:pt x="349172" y="96577"/>
                  </a:lnTo>
                  <a:lnTo>
                    <a:pt x="336960" y="157638"/>
                  </a:lnTo>
                  <a:lnTo>
                    <a:pt x="386308" y="157638"/>
                  </a:lnTo>
                  <a:lnTo>
                    <a:pt x="417960" y="0"/>
                  </a:lnTo>
                  <a:lnTo>
                    <a:pt x="368612" y="0"/>
                  </a:lnTo>
                  <a:close/>
                </a:path>
              </a:pathLst>
            </a:custGeom>
            <a:grpFill/>
            <a:ln w="12419" cap="flat">
              <a:noFill/>
              <a:prstDash val="solid"/>
              <a:miter/>
            </a:ln>
          </p:spPr>
          <p:txBody>
            <a:bodyPr rtlCol="0" anchor="ctr"/>
            <a:lstStyle/>
            <a:p>
              <a:endParaRPr lang="de-CH" noProof="0"/>
            </a:p>
          </p:txBody>
        </p:sp>
      </p:grpSp>
    </p:spTree>
    <p:extLst>
      <p:ext uri="{BB962C8B-B14F-4D97-AF65-F5344CB8AC3E}">
        <p14:creationId xmlns:p14="http://schemas.microsoft.com/office/powerpoint/2010/main" val="37168353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lvl1pPr>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C47C2547-0B26-4181-9958-0F74634B97A1}"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1412874"/>
            <a:ext cx="10728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9438521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 full page">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4A533879-9C0F-4F94-919F-30B833E8871A}"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260350"/>
            <a:ext cx="10728000" cy="6012524"/>
          </a:xfrm>
        </p:spPr>
        <p:txBody>
          <a:bodyPr tIns="21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8420483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zwei Spal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6204163" y="1412875"/>
            <a:ext cx="5256000" cy="48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68EF82BE-DF56-4719-B180-C3B0D509F71F}"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040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3996394784"/>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2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5121800"/>
            <a:ext cx="5255999"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E1B9425-7348-43E2-B0E9-6A2A48F5FA8A}"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9" name="Bildplatzhalter 10">
            <a:extLst>
              <a:ext uri="{FF2B5EF4-FFF2-40B4-BE49-F238E27FC236}">
                <a16:creationId xmlns:a16="http://schemas.microsoft.com/office/drawing/2014/main" id="{1AAB6914-2518-430D-BF4C-14EA51B61410}"/>
              </a:ext>
            </a:extLst>
          </p:cNvPr>
          <p:cNvSpPr>
            <a:spLocks noGrp="1"/>
          </p:cNvSpPr>
          <p:nvPr>
            <p:ph type="pic" sz="quarter" idx="14"/>
          </p:nvPr>
        </p:nvSpPr>
        <p:spPr>
          <a:xfrm>
            <a:off x="6204162"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12" name="Inhaltsplatzhalter 2">
            <a:extLst>
              <a:ext uri="{FF2B5EF4-FFF2-40B4-BE49-F238E27FC236}">
                <a16:creationId xmlns:a16="http://schemas.microsoft.com/office/drawing/2014/main" id="{5092EEFB-079B-4C38-A665-E52B9837601B}"/>
              </a:ext>
            </a:extLst>
          </p:cNvPr>
          <p:cNvSpPr>
            <a:spLocks noGrp="1"/>
          </p:cNvSpPr>
          <p:nvPr>
            <p:ph idx="15"/>
          </p:nvPr>
        </p:nvSpPr>
        <p:spPr>
          <a:xfrm>
            <a:off x="6204162" y="5121800"/>
            <a:ext cx="5256001"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Tree>
    <p:extLst>
      <p:ext uri="{BB962C8B-B14F-4D97-AF65-F5344CB8AC3E}">
        <p14:creationId xmlns:p14="http://schemas.microsoft.com/office/powerpoint/2010/main" val="1085750778"/>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3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4166439"/>
            <a:ext cx="10728327" cy="2124401"/>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0F7782B2-018B-4FD3-AD95-2F64EDE0E9D6}"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3" name="Bildplatzhalter 10">
            <a:extLst>
              <a:ext uri="{FF2B5EF4-FFF2-40B4-BE49-F238E27FC236}">
                <a16:creationId xmlns:a16="http://schemas.microsoft.com/office/drawing/2014/main" id="{36793346-BF6B-42A8-ADE0-3AA3DC3B239A}"/>
              </a:ext>
            </a:extLst>
          </p:cNvPr>
          <p:cNvSpPr>
            <a:spLocks noGrp="1"/>
          </p:cNvSpPr>
          <p:nvPr>
            <p:ph type="pic" sz="quarter" idx="16"/>
          </p:nvPr>
        </p:nvSpPr>
        <p:spPr>
          <a:xfrm>
            <a:off x="8040162" y="1414800"/>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4" name="Bildplatzhalter 10">
            <a:extLst>
              <a:ext uri="{FF2B5EF4-FFF2-40B4-BE49-F238E27FC236}">
                <a16:creationId xmlns:a16="http://schemas.microsoft.com/office/drawing/2014/main" id="{FE637F68-618E-43EB-B240-4BFA26852FC5}"/>
              </a:ext>
            </a:extLst>
          </p:cNvPr>
          <p:cNvSpPr>
            <a:spLocks noGrp="1"/>
          </p:cNvSpPr>
          <p:nvPr>
            <p:ph type="pic" sz="quarter" idx="17"/>
          </p:nvPr>
        </p:nvSpPr>
        <p:spPr>
          <a:xfrm>
            <a:off x="4385999" y="1414800"/>
            <a:ext cx="3420000" cy="2484000"/>
          </a:xfrm>
        </p:spPr>
        <p:txBody>
          <a:bodyPr tIns="3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252988954"/>
      </p:ext>
    </p:extLst>
  </p:cSld>
  <p:clrMapOvr>
    <a:masterClrMapping/>
  </p:clrMapOvr>
  <p:extLst>
    <p:ext uri="{DCECCB84-F9BA-43D5-87BE-67443E8EF086}">
      <p15:sldGuideLst xmlns:p15="http://schemas.microsoft.com/office/powerpoint/2012/main">
        <p15:guide id="1" orient="horz" pos="3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Tabel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
          </a:xfrm>
        </p:spPr>
        <p:txBody>
          <a:bodyPr/>
          <a:lstStyle>
            <a:lvl1pPr marL="0" indent="0">
              <a:buNone/>
              <a:defRPr b="1"/>
            </a:lvl1pPr>
            <a:lvl2pPr marL="266700" indent="0">
              <a:buNone/>
              <a:defRPr b="1"/>
            </a:lvl2pPr>
            <a:lvl3pPr marL="538163" indent="0">
              <a:buNone/>
              <a:defRPr b="1"/>
            </a:lvl3pPr>
            <a:lvl4pPr marL="804862" indent="0">
              <a:buNone/>
              <a:defRPr b="1"/>
            </a:lvl4pPr>
            <a:lvl5pPr marL="1076325" indent="0">
              <a:buNone/>
              <a:defRPr b="1"/>
            </a:lvl5pPr>
          </a:lstStyle>
          <a:p>
            <a:pPr lvl="0"/>
            <a:r>
              <a:rPr lang="de-DE" noProof="0"/>
              <a:t>Mastertextformat bearbeiten</a:t>
            </a:r>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D0A0FED0-443D-411A-B8E4-0668A8890EE3}"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9" name="Tabellenplatzhalter 8">
            <a:extLst>
              <a:ext uri="{FF2B5EF4-FFF2-40B4-BE49-F238E27FC236}">
                <a16:creationId xmlns:a16="http://schemas.microsoft.com/office/drawing/2014/main" id="{A1D947E6-CC00-458E-BDE1-B0877E30333C}"/>
              </a:ext>
            </a:extLst>
          </p:cNvPr>
          <p:cNvSpPr>
            <a:spLocks noGrp="1"/>
          </p:cNvSpPr>
          <p:nvPr>
            <p:ph type="tbl" sz="quarter" idx="13"/>
          </p:nvPr>
        </p:nvSpPr>
        <p:spPr>
          <a:xfrm>
            <a:off x="731838" y="2061398"/>
            <a:ext cx="10728325" cy="4212401"/>
          </a:xfrm>
        </p:spPr>
        <p:txBody>
          <a:bodyPr tIns="1260000"/>
          <a:lstStyle>
            <a:lvl1pPr marL="0" indent="0" algn="ctr">
              <a:spcBef>
                <a:spcPts val="0"/>
              </a:spcBef>
              <a:buNone/>
              <a:defRPr sz="1400"/>
            </a:lvl1pPr>
          </a:lstStyle>
          <a:p>
            <a:r>
              <a:rPr lang="de-DE" noProof="0"/>
              <a:t>Tabelle durch Klicken auf Symbol hinzufügen</a:t>
            </a:r>
            <a:endParaRPr lang="de-CH" noProof="0"/>
          </a:p>
        </p:txBody>
      </p:sp>
    </p:spTree>
    <p:extLst>
      <p:ext uri="{BB962C8B-B14F-4D97-AF65-F5344CB8AC3E}">
        <p14:creationId xmlns:p14="http://schemas.microsoft.com/office/powerpoint/2010/main" val="2928661315"/>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hlussfolie">
    <p:bg>
      <p:bgPr>
        <a:solidFill>
          <a:schemeClr val="bg1"/>
        </a:solidFill>
        <a:effectLst/>
      </p:bgPr>
    </p:bg>
    <p:spTree>
      <p:nvGrpSpPr>
        <p:cNvPr id="1" name=""/>
        <p:cNvGrpSpPr/>
        <p:nvPr/>
      </p:nvGrpSpPr>
      <p:grpSpPr>
        <a:xfrm>
          <a:off x="0" y="0"/>
          <a:ext cx="0" cy="0"/>
          <a:chOff x="0" y="0"/>
          <a:chExt cx="0" cy="0"/>
        </a:xfrm>
      </p:grpSpPr>
      <p:sp>
        <p:nvSpPr>
          <p:cNvPr id="20" name="Inhaltsplatzhalter 2">
            <a:extLst>
              <a:ext uri="{FF2B5EF4-FFF2-40B4-BE49-F238E27FC236}">
                <a16:creationId xmlns:a16="http://schemas.microsoft.com/office/drawing/2014/main" id="{394B20FF-3667-40DF-92A1-C6CF3BBCA26D}"/>
              </a:ext>
            </a:extLst>
          </p:cNvPr>
          <p:cNvSpPr>
            <a:spLocks noGrp="1"/>
          </p:cNvSpPr>
          <p:nvPr>
            <p:ph idx="1"/>
          </p:nvPr>
        </p:nvSpPr>
        <p:spPr>
          <a:xfrm>
            <a:off x="731837" y="2135492"/>
            <a:ext cx="10728325" cy="3960000"/>
          </a:xfrm>
        </p:spPr>
        <p:txBody>
          <a:bodyPr/>
          <a:lstStyle>
            <a:lvl1pPr marL="0" indent="0">
              <a:spcBef>
                <a:spcPts val="0"/>
              </a:spcBef>
              <a:buNone/>
              <a:defRPr>
                <a:solidFill>
                  <a:schemeClr val="tx1"/>
                </a:solidFill>
              </a:defRPr>
            </a:lvl1pPr>
            <a:lvl2pPr marL="266700" indent="0">
              <a:buNone/>
              <a:defRPr>
                <a:solidFill>
                  <a:schemeClr val="bg1"/>
                </a:solidFill>
              </a:defRPr>
            </a:lvl2pPr>
            <a:lvl3pPr marL="540000" indent="0">
              <a:buNone/>
              <a:defRPr>
                <a:solidFill>
                  <a:schemeClr val="bg1"/>
                </a:solidFill>
              </a:defRPr>
            </a:lvl3pPr>
            <a:lvl4pPr marL="808537" indent="0">
              <a:buNone/>
              <a:defRPr>
                <a:solidFill>
                  <a:schemeClr val="bg1"/>
                </a:solidFill>
              </a:defRPr>
            </a:lvl4pPr>
            <a:lvl5pPr marL="1080000" indent="0">
              <a:buNone/>
              <a:defRPr>
                <a:solidFill>
                  <a:schemeClr val="bg1"/>
                </a:solidFill>
              </a:defRPr>
            </a:lvl5pPr>
          </a:lstStyle>
          <a:p>
            <a:pPr lvl="0"/>
            <a:r>
              <a:rPr lang="de-DE" noProof="0"/>
              <a:t>Mastertextformat bearbeiten</a:t>
            </a:r>
          </a:p>
        </p:txBody>
      </p:sp>
      <p:sp>
        <p:nvSpPr>
          <p:cNvPr id="21" name="Bildplatzhalter 8">
            <a:extLst>
              <a:ext uri="{FF2B5EF4-FFF2-40B4-BE49-F238E27FC236}">
                <a16:creationId xmlns:a16="http://schemas.microsoft.com/office/drawing/2014/main" id="{794484F1-3B7F-46CE-AD0B-2310A557A990}"/>
              </a:ext>
            </a:extLst>
          </p:cNvPr>
          <p:cNvSpPr>
            <a:spLocks noGrp="1"/>
          </p:cNvSpPr>
          <p:nvPr>
            <p:ph type="pic" sz="quarter" idx="12"/>
          </p:nvPr>
        </p:nvSpPr>
        <p:spPr>
          <a:xfrm>
            <a:off x="10200163" y="6489088"/>
            <a:ext cx="1260000" cy="180000"/>
          </a:xfrm>
        </p:spPr>
        <p:txBody>
          <a:bodyPr/>
          <a:lstStyle>
            <a:lvl1pPr marL="0" indent="0" algn="l">
              <a:buNone/>
              <a:defRPr sz="700">
                <a:solidFill>
                  <a:schemeClr val="tx1"/>
                </a:solidFill>
              </a:defRPr>
            </a:lvl1pPr>
          </a:lstStyle>
          <a:p>
            <a:r>
              <a:rPr lang="de-DE" noProof="0"/>
              <a:t>Bild durch Klicken auf Symbol hinzufügen</a:t>
            </a:r>
            <a:endParaRPr lang="de-CH" noProof="0"/>
          </a:p>
        </p:txBody>
      </p:sp>
      <p:pic>
        <p:nvPicPr>
          <p:cNvPr id="22" name="Grafik 21">
            <a:extLst>
              <a:ext uri="{FF2B5EF4-FFF2-40B4-BE49-F238E27FC236}">
                <a16:creationId xmlns:a16="http://schemas.microsoft.com/office/drawing/2014/main" id="{F900572E-A73E-42BE-96FA-38ADC4E79FD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Tree>
    <p:extLst>
      <p:ext uri="{BB962C8B-B14F-4D97-AF65-F5344CB8AC3E}">
        <p14:creationId xmlns:p14="http://schemas.microsoft.com/office/powerpoint/2010/main" val="1752670339"/>
      </p:ext>
    </p:extLst>
  </p:cSld>
  <p:clrMapOvr>
    <a:masterClrMapping/>
  </p:clrMapOvr>
  <p:extLst>
    <p:ext uri="{DCECCB84-F9BA-43D5-87BE-67443E8EF086}">
      <p15:sldGuideLst xmlns:p15="http://schemas.microsoft.com/office/powerpoint/2012/main">
        <p15:guide id="1" pos="6698">
          <p15:clr>
            <a:srgbClr val="FBAE40"/>
          </p15:clr>
        </p15:guide>
        <p15:guide id="3" orient="horz" pos="640">
          <p15:clr>
            <a:srgbClr val="FBAE40"/>
          </p15:clr>
        </p15:guide>
        <p15:guide id="4" orient="horz" pos="395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9CEF804-E58C-481B-A606-7D35AF68FF55}"/>
              </a:ext>
            </a:extLst>
          </p:cNvPr>
          <p:cNvSpPr>
            <a:spLocks noGrp="1"/>
          </p:cNvSpPr>
          <p:nvPr>
            <p:ph type="title"/>
          </p:nvPr>
        </p:nvSpPr>
        <p:spPr>
          <a:xfrm>
            <a:off x="731837" y="260351"/>
            <a:ext cx="10728325" cy="900000"/>
          </a:xfrm>
          <a:prstGeom prst="rect">
            <a:avLst/>
          </a:prstGeom>
        </p:spPr>
        <p:txBody>
          <a:bodyPr vert="horz" lIns="0" tIns="0" rIns="0" bIns="0" rtlCol="0" anchor="t" anchorCtr="0">
            <a:noAutofit/>
          </a:bodyPr>
          <a:lstStyle/>
          <a:p>
            <a:r>
              <a:rPr lang="de-CH" noProof="0"/>
              <a:t>Mastertitelformat bearbeiten</a:t>
            </a:r>
          </a:p>
        </p:txBody>
      </p:sp>
      <p:sp>
        <p:nvSpPr>
          <p:cNvPr id="3" name="Textplatzhalter 2">
            <a:extLst>
              <a:ext uri="{FF2B5EF4-FFF2-40B4-BE49-F238E27FC236}">
                <a16:creationId xmlns:a16="http://schemas.microsoft.com/office/drawing/2014/main" id="{65C6EC0D-393C-42F2-B6A7-B19C9B098F2D}"/>
              </a:ext>
            </a:extLst>
          </p:cNvPr>
          <p:cNvSpPr>
            <a:spLocks noGrp="1"/>
          </p:cNvSpPr>
          <p:nvPr>
            <p:ph type="body" idx="1"/>
          </p:nvPr>
        </p:nvSpPr>
        <p:spPr>
          <a:xfrm>
            <a:off x="731837" y="1412875"/>
            <a:ext cx="10728325" cy="4680000"/>
          </a:xfrm>
          <a:prstGeom prst="rect">
            <a:avLst/>
          </a:prstGeom>
        </p:spPr>
        <p:txBody>
          <a:bodyPr vert="horz" lIns="0" tIns="0" rIns="0" bIns="0" rtlCol="0">
            <a:noAutofit/>
          </a:bodyPr>
          <a:lstStyle/>
          <a:p>
            <a:pPr lvl="0"/>
            <a:r>
              <a:rPr lang="de-CH" noProof="0"/>
              <a:t>Mastertextformat bearbeiten</a:t>
            </a:r>
          </a:p>
          <a:p>
            <a:pPr lvl="1"/>
            <a:r>
              <a:rPr lang="de-CH" noProof="0"/>
              <a:t>Zweite Ebene</a:t>
            </a:r>
          </a:p>
          <a:p>
            <a:pPr lvl="2"/>
            <a:r>
              <a:rPr lang="de-CH" noProof="0"/>
              <a:t>Dritte Ebene</a:t>
            </a:r>
          </a:p>
          <a:p>
            <a:pPr lvl="3"/>
            <a:r>
              <a:rPr lang="de-CH" noProof="0"/>
              <a:t>Vierte Ebene</a:t>
            </a:r>
          </a:p>
          <a:p>
            <a:pPr lvl="4"/>
            <a:r>
              <a:rPr lang="de-CH" noProof="0"/>
              <a:t>Fünfte Ebene</a:t>
            </a:r>
          </a:p>
        </p:txBody>
      </p:sp>
      <p:sp>
        <p:nvSpPr>
          <p:cNvPr id="4" name="Datumsplatzhalter 3">
            <a:extLst>
              <a:ext uri="{FF2B5EF4-FFF2-40B4-BE49-F238E27FC236}">
                <a16:creationId xmlns:a16="http://schemas.microsoft.com/office/drawing/2014/main" id="{37C96E51-36C9-4BEE-A761-33378A0DF03D}"/>
              </a:ext>
            </a:extLst>
          </p:cNvPr>
          <p:cNvSpPr>
            <a:spLocks noGrp="1"/>
          </p:cNvSpPr>
          <p:nvPr>
            <p:ph type="dt" sz="half" idx="2"/>
          </p:nvPr>
        </p:nvSpPr>
        <p:spPr>
          <a:xfrm>
            <a:off x="10473692" y="6522444"/>
            <a:ext cx="612000" cy="216000"/>
          </a:xfrm>
          <a:prstGeom prst="rect">
            <a:avLst/>
          </a:prstGeom>
        </p:spPr>
        <p:txBody>
          <a:bodyPr vert="horz" lIns="0" tIns="0" rIns="0" bIns="0" rtlCol="0" anchor="ctr"/>
          <a:lstStyle>
            <a:lvl1pPr algn="l">
              <a:defRPr sz="800">
                <a:solidFill>
                  <a:schemeClr val="tx1"/>
                </a:solidFill>
              </a:defRPr>
            </a:lvl1pPr>
          </a:lstStyle>
          <a:p>
            <a:fld id="{4A358CF3-A22A-46C1-A4E5-5810212466EF}"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411EC403-6E63-4450-AFDD-66CA49D6CCBE}"/>
              </a:ext>
            </a:extLst>
          </p:cNvPr>
          <p:cNvSpPr>
            <a:spLocks noGrp="1"/>
          </p:cNvSpPr>
          <p:nvPr>
            <p:ph type="ftr" sz="quarter" idx="3"/>
          </p:nvPr>
        </p:nvSpPr>
        <p:spPr>
          <a:xfrm>
            <a:off x="2171700" y="6522444"/>
            <a:ext cx="5400000" cy="216000"/>
          </a:xfrm>
          <a:prstGeom prst="rect">
            <a:avLst/>
          </a:prstGeom>
        </p:spPr>
        <p:txBody>
          <a:bodyPr vert="horz" lIns="0" tIns="0" rIns="0" bIns="0" rtlCol="0" anchor="ctr"/>
          <a:lstStyle>
            <a:lvl1pPr algn="l">
              <a:defRPr sz="800">
                <a:solidFill>
                  <a:schemeClr val="tx1"/>
                </a:solidFill>
              </a:defRPr>
            </a:lvl1pPr>
          </a:lstStyle>
          <a:p>
            <a:endParaRPr lang="de-CH" noProof="0"/>
          </a:p>
        </p:txBody>
      </p:sp>
      <p:sp>
        <p:nvSpPr>
          <p:cNvPr id="6" name="Foliennummernplatzhalter 5">
            <a:extLst>
              <a:ext uri="{FF2B5EF4-FFF2-40B4-BE49-F238E27FC236}">
                <a16:creationId xmlns:a16="http://schemas.microsoft.com/office/drawing/2014/main" id="{7FDFCC57-7DDC-4B2C-A6BE-862DAF9C9F11}"/>
              </a:ext>
            </a:extLst>
          </p:cNvPr>
          <p:cNvSpPr>
            <a:spLocks noGrp="1"/>
          </p:cNvSpPr>
          <p:nvPr>
            <p:ph type="sldNum" sz="quarter" idx="4"/>
          </p:nvPr>
        </p:nvSpPr>
        <p:spPr>
          <a:xfrm>
            <a:off x="11137585" y="6522444"/>
            <a:ext cx="322577" cy="216000"/>
          </a:xfrm>
          <a:prstGeom prst="rect">
            <a:avLst/>
          </a:prstGeom>
        </p:spPr>
        <p:txBody>
          <a:bodyPr vert="horz" lIns="0" tIns="0" rIns="0" bIns="0" rtlCol="0" anchor="ctr"/>
          <a:lstStyle>
            <a:lvl1pPr algn="r">
              <a:defRPr sz="800">
                <a:solidFill>
                  <a:schemeClr val="tx1"/>
                </a:solidFill>
              </a:defRPr>
            </a:lvl1pPr>
          </a:lstStyle>
          <a:p>
            <a:fld id="{5ACA52AF-F19D-405C-AD5F-7D94B96A5CC3}" type="slidenum">
              <a:rPr lang="de-CH" noProof="0" smtClean="0"/>
              <a:pPr/>
              <a:t>‹Nr.›</a:t>
            </a:fld>
            <a:endParaRPr lang="de-CH" noProof="0"/>
          </a:p>
        </p:txBody>
      </p:sp>
    </p:spTree>
    <p:extLst>
      <p:ext uri="{BB962C8B-B14F-4D97-AF65-F5344CB8AC3E}">
        <p14:creationId xmlns:p14="http://schemas.microsoft.com/office/powerpoint/2010/main" val="40960627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0"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p:txStyles>
    <p:titleStyle>
      <a:lvl1pPr algn="l" defTabSz="914400"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61" userDrawn="1">
          <p15:clr>
            <a:srgbClr val="F26B43"/>
          </p15:clr>
        </p15:guide>
        <p15:guide id="3" pos="7219" userDrawn="1">
          <p15:clr>
            <a:srgbClr val="F26B43"/>
          </p15:clr>
        </p15:guide>
        <p15:guide id="4" orient="horz" pos="164" userDrawn="1">
          <p15:clr>
            <a:srgbClr val="F26B43"/>
          </p15:clr>
        </p15:guide>
        <p15:guide id="5" orient="horz" pos="890" userDrawn="1">
          <p15:clr>
            <a:srgbClr val="F26B43"/>
          </p15:clr>
        </p15:guide>
        <p15:guide id="6" orient="horz" pos="4201" userDrawn="1">
          <p15:clr>
            <a:srgbClr val="F26B43"/>
          </p15:clr>
        </p15:guide>
        <p15:guide id="7"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 Id="rId9" Type="http://schemas.openxmlformats.org/officeDocument/2006/relationships/image" Target="../media/image1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4.svg"/><Relationship Id="rId4" Type="http://schemas.openxmlformats.org/officeDocument/2006/relationships/image" Target="../media/image23.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ildplatzhalter 18">
            <a:extLst>
              <a:ext uri="{FF2B5EF4-FFF2-40B4-BE49-F238E27FC236}">
                <a16:creationId xmlns:a16="http://schemas.microsoft.com/office/drawing/2014/main" id="{882FF669-564A-4497-A386-BA8B28F256B8}"/>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6452" b="6452"/>
          <a:stretch/>
        </p:blipFill>
        <p:spPr/>
      </p:pic>
      <p:sp>
        <p:nvSpPr>
          <p:cNvPr id="3" name="Titel 2">
            <a:extLst>
              <a:ext uri="{FF2B5EF4-FFF2-40B4-BE49-F238E27FC236}">
                <a16:creationId xmlns:a16="http://schemas.microsoft.com/office/drawing/2014/main" id="{AC1FB292-90C1-439C-8480-EB4116CF2374}"/>
              </a:ext>
            </a:extLst>
          </p:cNvPr>
          <p:cNvSpPr>
            <a:spLocks noGrp="1"/>
          </p:cNvSpPr>
          <p:nvPr>
            <p:ph type="ctrTitle"/>
          </p:nvPr>
        </p:nvSpPr>
        <p:spPr>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8100000" scaled="1"/>
            <a:tileRect/>
          </a:gradFill>
        </p:spPr>
        <p:txBody>
          <a:bodyPr/>
          <a:lstStyle/>
          <a:p>
            <a:r>
              <a:rPr lang="de-DE" sz="3200" b="1" noProof="0" dirty="0">
                <a:ea typeface="+mj-lt"/>
                <a:cs typeface="+mj-lt"/>
              </a:rPr>
              <a:t>Final </a:t>
            </a:r>
            <a:r>
              <a:rPr lang="de-DE" sz="3200" b="1" noProof="0" dirty="0" err="1">
                <a:ea typeface="+mj-lt"/>
                <a:cs typeface="+mj-lt"/>
              </a:rPr>
              <a:t>Presentation</a:t>
            </a:r>
            <a:r>
              <a:rPr lang="de-DE" sz="3200" b="1" noProof="0" dirty="0">
                <a:ea typeface="+mj-lt"/>
                <a:cs typeface="+mj-lt"/>
              </a:rPr>
              <a:t> </a:t>
            </a:r>
            <a:br>
              <a:rPr lang="de-DE" sz="2800" b="1" noProof="0" dirty="0">
                <a:ea typeface="+mj-lt"/>
                <a:cs typeface="+mj-lt"/>
              </a:rPr>
            </a:br>
            <a:br>
              <a:rPr lang="de-DE" sz="1050" b="1" noProof="0" dirty="0">
                <a:ea typeface="+mj-lt"/>
                <a:cs typeface="+mj-lt"/>
              </a:rPr>
            </a:br>
            <a:r>
              <a:rPr lang="de-DE" sz="2400" b="1" i="1" noProof="0" dirty="0">
                <a:ea typeface="+mj-lt"/>
                <a:cs typeface="+mj-lt"/>
              </a:rPr>
              <a:t>Marketing Analytics</a:t>
            </a:r>
            <a:endParaRPr lang="en-US" sz="2800" b="1" i="1" noProof="0" dirty="0">
              <a:ea typeface="+mj-lt"/>
              <a:cs typeface="+mj-lt"/>
            </a:endParaRPr>
          </a:p>
        </p:txBody>
      </p:sp>
      <p:sp>
        <p:nvSpPr>
          <p:cNvPr id="2" name="Bildplatzhalter 1">
            <a:extLst>
              <a:ext uri="{FF2B5EF4-FFF2-40B4-BE49-F238E27FC236}">
                <a16:creationId xmlns:a16="http://schemas.microsoft.com/office/drawing/2014/main" id="{11ADABBC-2742-48DB-BA2B-E411F07CEE7C}"/>
              </a:ext>
            </a:extLst>
          </p:cNvPr>
          <p:cNvSpPr>
            <a:spLocks noGrp="1"/>
          </p:cNvSpPr>
          <p:nvPr>
            <p:ph type="pic" sz="quarter" idx="12"/>
          </p:nvPr>
        </p:nvSpPr>
        <p:spPr/>
        <p:txBody>
          <a:bodyPr/>
          <a:lstStyle/>
          <a:p>
            <a:endParaRPr lang="en-US" noProof="0"/>
          </a:p>
        </p:txBody>
      </p:sp>
      <p:sp>
        <p:nvSpPr>
          <p:cNvPr id="6" name="Textplatzhalter 5">
            <a:extLst>
              <a:ext uri="{FF2B5EF4-FFF2-40B4-BE49-F238E27FC236}">
                <a16:creationId xmlns:a16="http://schemas.microsoft.com/office/drawing/2014/main" id="{4171C1F6-869F-40B1-8975-92FF2042F4CD}"/>
              </a:ext>
            </a:extLst>
          </p:cNvPr>
          <p:cNvSpPr>
            <a:spLocks noGrp="1"/>
          </p:cNvSpPr>
          <p:nvPr>
            <p:ph type="body" sz="quarter" idx="13"/>
          </p:nvPr>
        </p:nvSpPr>
        <p:spPr>
          <a:xfrm>
            <a:off x="1069186" y="3774694"/>
            <a:ext cx="4680000" cy="1008000"/>
          </a:xfrm>
        </p:spPr>
        <p:txBody>
          <a:bodyPr vert="horz" lIns="0" tIns="0" rIns="0" bIns="0" rtlCol="0" anchor="t">
            <a:noAutofit/>
          </a:bodyPr>
          <a:lstStyle/>
          <a:p>
            <a:r>
              <a:rPr lang="en-US" b="1" noProof="0" dirty="0">
                <a:cs typeface="+mn-lt"/>
              </a:rPr>
              <a:t>Group 2:</a:t>
            </a:r>
          </a:p>
          <a:p>
            <a:endParaRPr lang="en-US" sz="1000" b="1" noProof="0" dirty="0">
              <a:cs typeface="+mn-lt"/>
            </a:endParaRPr>
          </a:p>
          <a:p>
            <a:r>
              <a:rPr lang="en-US" sz="1600" b="1" noProof="0" dirty="0">
                <a:cs typeface="+mn-lt"/>
              </a:rPr>
              <a:t>Constantin </a:t>
            </a:r>
            <a:r>
              <a:rPr lang="en-US" sz="1600" b="1" noProof="0" dirty="0" err="1">
                <a:cs typeface="+mn-lt"/>
              </a:rPr>
              <a:t>Cimpoes</a:t>
            </a:r>
            <a:r>
              <a:rPr lang="en-US" sz="1600" b="1" noProof="0" dirty="0">
                <a:cs typeface="+mn-lt"/>
              </a:rPr>
              <a:t>, Julius Voss</a:t>
            </a:r>
          </a:p>
        </p:txBody>
      </p:sp>
      <p:sp>
        <p:nvSpPr>
          <p:cNvPr id="9" name="Textplatzhalter 8">
            <a:extLst>
              <a:ext uri="{FF2B5EF4-FFF2-40B4-BE49-F238E27FC236}">
                <a16:creationId xmlns:a16="http://schemas.microsoft.com/office/drawing/2014/main" id="{C6B18E6F-BDD9-4B0B-9B9E-C25187E0E1F2}"/>
              </a:ext>
            </a:extLst>
          </p:cNvPr>
          <p:cNvSpPr>
            <a:spLocks noGrp="1"/>
          </p:cNvSpPr>
          <p:nvPr>
            <p:ph type="body" sz="quarter" idx="16"/>
          </p:nvPr>
        </p:nvSpPr>
        <p:spPr/>
        <p:txBody>
          <a:bodyPr/>
          <a:lstStyle/>
          <a:p>
            <a:r>
              <a:rPr lang="en-US" dirty="0"/>
              <a:t>Marketing Analytics</a:t>
            </a:r>
          </a:p>
        </p:txBody>
      </p:sp>
    </p:spTree>
    <p:extLst>
      <p:ext uri="{BB962C8B-B14F-4D97-AF65-F5344CB8AC3E}">
        <p14:creationId xmlns:p14="http://schemas.microsoft.com/office/powerpoint/2010/main" val="3536168811"/>
      </p:ext>
    </p:extLst>
  </p:cSld>
  <p:clrMapOvr>
    <a:masterClrMapping/>
  </p:clrMapOvr>
  <mc:AlternateContent xmlns:mc="http://schemas.openxmlformats.org/markup-compatibility/2006" xmlns:p14="http://schemas.microsoft.com/office/powerpoint/2010/main">
    <mc:Choice Requires="p14">
      <p:transition spd="slow" p14:dur="2000" advTm="14102"/>
    </mc:Choice>
    <mc:Fallback xmlns="">
      <p:transition spd="slow" advTm="1410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E4FEA-8533-AA4C-EC68-55BCD7F91F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AADCB5-84F2-7905-AA24-FBC93FACEF1F}"/>
              </a:ext>
            </a:extLst>
          </p:cNvPr>
          <p:cNvSpPr>
            <a:spLocks noGrp="1"/>
          </p:cNvSpPr>
          <p:nvPr>
            <p:ph type="title"/>
          </p:nvPr>
        </p:nvSpPr>
        <p:spPr>
          <a:xfrm>
            <a:off x="339788" y="178788"/>
            <a:ext cx="10728325" cy="900000"/>
          </a:xfrm>
        </p:spPr>
        <p:txBody>
          <a:bodyPr/>
          <a:lstStyle/>
          <a:p>
            <a:r>
              <a:rPr lang="en-US" dirty="0"/>
              <a:t>Introduction &amp; Problem Setup</a:t>
            </a:r>
          </a:p>
        </p:txBody>
      </p:sp>
      <p:sp>
        <p:nvSpPr>
          <p:cNvPr id="4" name="Datumsplatzhalter 3">
            <a:extLst>
              <a:ext uri="{FF2B5EF4-FFF2-40B4-BE49-F238E27FC236}">
                <a16:creationId xmlns:a16="http://schemas.microsoft.com/office/drawing/2014/main" id="{E4471ABE-9CCA-2783-5430-173CD9A5BDAB}"/>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F412B12A-5AC2-FE4B-A3FA-03800885E76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732EFAA0-41D0-3DB8-04E6-23F8E33E02D7}"/>
              </a:ext>
            </a:extLst>
          </p:cNvPr>
          <p:cNvSpPr>
            <a:spLocks noGrp="1"/>
          </p:cNvSpPr>
          <p:nvPr>
            <p:ph type="sldNum" sz="quarter" idx="12"/>
          </p:nvPr>
        </p:nvSpPr>
        <p:spPr/>
        <p:txBody>
          <a:bodyPr/>
          <a:lstStyle/>
          <a:p>
            <a:fld id="{5ACA52AF-F19D-405C-AD5F-7D94B96A5CC3}" type="slidenum">
              <a:rPr lang="de-CH" noProof="0" smtClean="0"/>
              <a:t>2</a:t>
            </a:fld>
            <a:endParaRPr lang="de-CH" noProof="0"/>
          </a:p>
        </p:txBody>
      </p:sp>
      <p:sp>
        <p:nvSpPr>
          <p:cNvPr id="3" name="TextBox 2">
            <a:extLst>
              <a:ext uri="{FF2B5EF4-FFF2-40B4-BE49-F238E27FC236}">
                <a16:creationId xmlns:a16="http://schemas.microsoft.com/office/drawing/2014/main" id="{80C951BB-CB32-4E95-B5F8-BE70D8D9D0B0}"/>
              </a:ext>
            </a:extLst>
          </p:cNvPr>
          <p:cNvSpPr txBox="1"/>
          <p:nvPr/>
        </p:nvSpPr>
        <p:spPr>
          <a:xfrm>
            <a:off x="1123887" y="894298"/>
            <a:ext cx="10378642" cy="2585323"/>
          </a:xfrm>
          <a:prstGeom prst="rect">
            <a:avLst/>
          </a:prstGeom>
          <a:noFill/>
        </p:spPr>
        <p:txBody>
          <a:bodyPr wrap="square" numCol="2" spcCol="1080000" rtlCol="0">
            <a:spAutoFit/>
          </a:bodyPr>
          <a:lstStyle/>
          <a:p>
            <a:pPr marL="285750" indent="-285750">
              <a:buClr>
                <a:srgbClr val="215CAF"/>
              </a:buClr>
              <a:buFont typeface="Wingdings" panose="05000000000000000000" pitchFamily="2" charset="2"/>
              <a:buChar char="Ø"/>
            </a:pPr>
            <a:r>
              <a:rPr lang="en-US" b="1" dirty="0" err="1"/>
              <a:t>Vibrent</a:t>
            </a:r>
            <a:r>
              <a:rPr lang="en-US" dirty="0"/>
              <a:t>: Norwegian fashion rental platform (high-frequency, high-churn business), 7,400 customers, 15,649 garments</a:t>
            </a:r>
          </a:p>
          <a:p>
            <a:endParaRPr lang="en-US" dirty="0"/>
          </a:p>
          <a:p>
            <a:pPr marL="285750" indent="-285750">
              <a:buClr>
                <a:srgbClr val="215CAF"/>
              </a:buClr>
              <a:buFont typeface="Wingdings" panose="05000000000000000000" pitchFamily="2" charset="2"/>
              <a:buChar char="Ø"/>
            </a:pPr>
            <a:r>
              <a:rPr lang="en-US" b="1" dirty="0"/>
              <a:t>CLV in rental ≠ discrete purchases</a:t>
            </a:r>
            <a:r>
              <a:rPr lang="en-US" dirty="0"/>
              <a:t>. It's driven by rental frequency, category preference, and duration </a:t>
            </a:r>
          </a:p>
          <a:p>
            <a:pPr marL="285750" indent="-285750">
              <a:buSzPct val="110000"/>
              <a:buFont typeface="Wingdings" panose="05000000000000000000" pitchFamily="2" charset="2"/>
              <a:buChar char="Ø"/>
            </a:pPr>
            <a:endParaRPr lang="en-US" dirty="0"/>
          </a:p>
          <a:p>
            <a:pPr marL="285750" indent="-285750">
              <a:buClr>
                <a:srgbClr val="B7352D"/>
              </a:buClr>
              <a:buSzPct val="110000"/>
              <a:buFont typeface="Wingdings" panose="05000000000000000000" pitchFamily="2" charset="2"/>
              <a:buChar char="Ø"/>
            </a:pPr>
            <a:r>
              <a:rPr lang="en-US" dirty="0"/>
              <a:t>Conventional models use only transactions, they </a:t>
            </a:r>
            <a:r>
              <a:rPr lang="en-US" b="1" dirty="0"/>
              <a:t>ignore what customers rent </a:t>
            </a:r>
          </a:p>
          <a:p>
            <a:pPr marL="285750" indent="-285750">
              <a:buFont typeface="Wingdings" panose="05000000000000000000" pitchFamily="2" charset="2"/>
              <a:buChar char="Ø"/>
            </a:pPr>
            <a:endParaRPr lang="en-US" dirty="0"/>
          </a:p>
          <a:p>
            <a:endParaRPr lang="en-US" dirty="0"/>
          </a:p>
          <a:p>
            <a:pPr marL="285750" indent="-285750">
              <a:buClr>
                <a:srgbClr val="B7352D"/>
              </a:buClr>
              <a:buFont typeface="Wingdings" panose="05000000000000000000" pitchFamily="2" charset="2"/>
              <a:buChar char="Ø"/>
            </a:pPr>
            <a:r>
              <a:rPr lang="en-US" b="1" dirty="0"/>
              <a:t>Research gap</a:t>
            </a:r>
            <a:r>
              <a:rPr lang="en-US" dirty="0"/>
              <a:t>: Does product-level intelligence improve customer-level revenue predictions and churn predictions?</a:t>
            </a:r>
          </a:p>
        </p:txBody>
      </p:sp>
      <p:grpSp>
        <p:nvGrpSpPr>
          <p:cNvPr id="20" name="Group 19">
            <a:extLst>
              <a:ext uri="{FF2B5EF4-FFF2-40B4-BE49-F238E27FC236}">
                <a16:creationId xmlns:a16="http://schemas.microsoft.com/office/drawing/2014/main" id="{AA1C4CD4-A110-DF1E-30FD-AB23DE7E4EB6}"/>
              </a:ext>
            </a:extLst>
          </p:cNvPr>
          <p:cNvGrpSpPr/>
          <p:nvPr/>
        </p:nvGrpSpPr>
        <p:grpSpPr>
          <a:xfrm>
            <a:off x="347240" y="3611300"/>
            <a:ext cx="7222604" cy="2743201"/>
            <a:chOff x="6310190" y="842989"/>
            <a:chExt cx="6313372" cy="2743201"/>
          </a:xfrm>
        </p:grpSpPr>
        <p:sp>
          <p:nvSpPr>
            <p:cNvPr id="9" name="TextBox 8">
              <a:extLst>
                <a:ext uri="{FF2B5EF4-FFF2-40B4-BE49-F238E27FC236}">
                  <a16:creationId xmlns:a16="http://schemas.microsoft.com/office/drawing/2014/main" id="{D337B51F-EC9D-55EC-1B2F-3359E5022A1E}"/>
                </a:ext>
              </a:extLst>
            </p:cNvPr>
            <p:cNvSpPr txBox="1"/>
            <p:nvPr/>
          </p:nvSpPr>
          <p:spPr>
            <a:xfrm>
              <a:off x="8358175" y="981974"/>
              <a:ext cx="1979455" cy="584775"/>
            </a:xfrm>
            <a:prstGeom prst="rect">
              <a:avLst/>
            </a:prstGeom>
            <a:gradFill flip="none" rotWithShape="1">
              <a:gsLst>
                <a:gs pos="0">
                  <a:srgbClr val="DFDA00">
                    <a:tint val="66000"/>
                    <a:satMod val="160000"/>
                  </a:srgbClr>
                </a:gs>
                <a:gs pos="50000">
                  <a:srgbClr val="DFDA00">
                    <a:tint val="44500"/>
                    <a:satMod val="160000"/>
                  </a:srgbClr>
                </a:gs>
                <a:gs pos="100000">
                  <a:srgbClr val="DFDA00">
                    <a:tint val="23500"/>
                    <a:satMod val="160000"/>
                  </a:srgbClr>
                </a:gs>
              </a:gsLst>
              <a:lin ang="8100000" scaled="1"/>
              <a:tileRect/>
            </a:gradFill>
          </p:spPr>
          <p:txBody>
            <a:bodyPr wrap="none" rtlCol="0">
              <a:spAutoFit/>
            </a:bodyPr>
            <a:lstStyle/>
            <a:p>
              <a:pPr algn="ctr"/>
              <a:r>
                <a:rPr lang="it-IT" sz="3200" b="1" dirty="0" err="1">
                  <a:latin typeface="Aptos Black" panose="020F0502020204030204" pitchFamily="34" charset="0"/>
                  <a:cs typeface="Aharoni" panose="020F0502020204030204" pitchFamily="2" charset="-79"/>
                </a:rPr>
                <a:t>Objectives</a:t>
              </a:r>
              <a:endParaRPr lang="en-US" sz="3200" b="1" dirty="0">
                <a:latin typeface="Aptos Black" panose="020F0502020204030204" pitchFamily="34" charset="0"/>
                <a:cs typeface="Aharoni" panose="020F0502020204030204" pitchFamily="2" charset="-79"/>
              </a:endParaRPr>
            </a:p>
          </p:txBody>
        </p:sp>
        <p:sp>
          <p:nvSpPr>
            <p:cNvPr id="13" name="TextBox 12">
              <a:extLst>
                <a:ext uri="{FF2B5EF4-FFF2-40B4-BE49-F238E27FC236}">
                  <a16:creationId xmlns:a16="http://schemas.microsoft.com/office/drawing/2014/main" id="{2E5F35AB-165D-7213-21B6-8D2C52A7B80B}"/>
                </a:ext>
              </a:extLst>
            </p:cNvPr>
            <p:cNvSpPr txBox="1"/>
            <p:nvPr/>
          </p:nvSpPr>
          <p:spPr>
            <a:xfrm>
              <a:off x="6394821" y="1698513"/>
              <a:ext cx="6228741" cy="1754326"/>
            </a:xfrm>
            <a:prstGeom prst="rect">
              <a:avLst/>
            </a:prstGeom>
            <a:noFill/>
          </p:spPr>
          <p:txBody>
            <a:bodyPr wrap="square" rtlCol="0">
              <a:spAutoFit/>
            </a:bodyPr>
            <a:lstStyle/>
            <a:p>
              <a:pPr marL="342900" indent="-342900">
                <a:buFont typeface="+mj-lt"/>
                <a:buAutoNum type="arabicParenR"/>
              </a:pPr>
              <a:r>
                <a:rPr lang="en-US" b="1" dirty="0"/>
                <a:t>Product Segmentation </a:t>
              </a:r>
              <a:r>
                <a:rPr lang="en-US" dirty="0"/>
                <a:t>→ Build a semantically meaningful product segmentation</a:t>
              </a:r>
            </a:p>
            <a:p>
              <a:pPr marL="342900" indent="-342900">
                <a:buFont typeface="+mj-lt"/>
                <a:buAutoNum type="arabicParenR"/>
              </a:pPr>
              <a:endParaRPr lang="en-US" dirty="0"/>
            </a:p>
            <a:p>
              <a:pPr marL="342900" indent="-342900">
                <a:buFont typeface="+mj-lt"/>
                <a:buAutoNum type="arabicParenR"/>
              </a:pPr>
              <a:r>
                <a:rPr lang="en-US" b="1" dirty="0"/>
                <a:t>Revenue Prediction</a:t>
              </a:r>
              <a:r>
                <a:rPr lang="en-US" dirty="0"/>
                <a:t> → Predict 12-month customer revenue</a:t>
              </a:r>
            </a:p>
            <a:p>
              <a:pPr marL="342900" indent="-342900">
                <a:buFont typeface="+mj-lt"/>
                <a:buAutoNum type="arabicParenR"/>
              </a:pPr>
              <a:endParaRPr lang="en-US" dirty="0"/>
            </a:p>
            <a:p>
              <a:pPr marL="342900" indent="-342900">
                <a:buFont typeface="+mj-lt"/>
                <a:buAutoNum type="arabicParenR"/>
              </a:pPr>
              <a:r>
                <a:rPr lang="en-US" b="1" dirty="0"/>
                <a:t>Churn Identification </a:t>
              </a:r>
              <a:r>
                <a:rPr lang="en-US" dirty="0"/>
                <a:t>→ Identify churners before they go silent</a:t>
              </a:r>
            </a:p>
          </p:txBody>
        </p:sp>
        <p:sp>
          <p:nvSpPr>
            <p:cNvPr id="19" name="Rectangle 18">
              <a:extLst>
                <a:ext uri="{FF2B5EF4-FFF2-40B4-BE49-F238E27FC236}">
                  <a16:creationId xmlns:a16="http://schemas.microsoft.com/office/drawing/2014/main" id="{9B6E61EB-6C64-622D-EBCA-0C12944094C2}"/>
                </a:ext>
              </a:extLst>
            </p:cNvPr>
            <p:cNvSpPr/>
            <p:nvPr/>
          </p:nvSpPr>
          <p:spPr>
            <a:xfrm>
              <a:off x="6310190" y="842989"/>
              <a:ext cx="6152083" cy="2743201"/>
            </a:xfrm>
            <a:prstGeom prst="rect">
              <a:avLst/>
            </a:prstGeom>
            <a:noFill/>
            <a:ln>
              <a:solidFill>
                <a:schemeClr val="tx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3E6FDC46-6E2A-9445-42AF-08AD9BD4FD5F}"/>
              </a:ext>
            </a:extLst>
          </p:cNvPr>
          <p:cNvSpPr txBox="1"/>
          <p:nvPr/>
        </p:nvSpPr>
        <p:spPr>
          <a:xfrm>
            <a:off x="689470" y="589710"/>
            <a:ext cx="6094140" cy="369332"/>
          </a:xfrm>
          <a:prstGeom prst="rect">
            <a:avLst/>
          </a:prstGeom>
          <a:noFill/>
        </p:spPr>
        <p:txBody>
          <a:bodyPr wrap="square">
            <a:spAutoFit/>
          </a:bodyPr>
          <a:lstStyle/>
          <a:p>
            <a:r>
              <a:rPr lang="en-US" b="1" i="1" dirty="0">
                <a:solidFill>
                  <a:srgbClr val="215CAF"/>
                </a:solidFill>
              </a:rPr>
              <a:t>Context</a:t>
            </a:r>
          </a:p>
        </p:txBody>
      </p:sp>
      <p:sp>
        <p:nvSpPr>
          <p:cNvPr id="10" name="TextBox 9">
            <a:extLst>
              <a:ext uri="{FF2B5EF4-FFF2-40B4-BE49-F238E27FC236}">
                <a16:creationId xmlns:a16="http://schemas.microsoft.com/office/drawing/2014/main" id="{0043CCDD-94B3-1DBF-13ED-3214F3186DFD}"/>
              </a:ext>
            </a:extLst>
          </p:cNvPr>
          <p:cNvSpPr txBox="1"/>
          <p:nvPr/>
        </p:nvSpPr>
        <p:spPr>
          <a:xfrm>
            <a:off x="6453769" y="597368"/>
            <a:ext cx="6094140" cy="369332"/>
          </a:xfrm>
          <a:prstGeom prst="rect">
            <a:avLst/>
          </a:prstGeom>
          <a:noFill/>
        </p:spPr>
        <p:txBody>
          <a:bodyPr wrap="square">
            <a:spAutoFit/>
          </a:bodyPr>
          <a:lstStyle/>
          <a:p>
            <a:r>
              <a:rPr lang="en-US" b="1" i="1" dirty="0">
                <a:solidFill>
                  <a:srgbClr val="B7352D"/>
                </a:solidFill>
              </a:rPr>
              <a:t>The Problem</a:t>
            </a:r>
          </a:p>
        </p:txBody>
      </p:sp>
      <p:sp>
        <p:nvSpPr>
          <p:cNvPr id="15" name="Arrow: Right 14">
            <a:extLst>
              <a:ext uri="{FF2B5EF4-FFF2-40B4-BE49-F238E27FC236}">
                <a16:creationId xmlns:a16="http://schemas.microsoft.com/office/drawing/2014/main" id="{C3EC8355-12B2-813A-D25A-B45CDA44C7B2}"/>
              </a:ext>
            </a:extLst>
          </p:cNvPr>
          <p:cNvSpPr/>
          <p:nvPr/>
        </p:nvSpPr>
        <p:spPr>
          <a:xfrm>
            <a:off x="7600617" y="4828478"/>
            <a:ext cx="828000" cy="288000"/>
          </a:xfrm>
          <a:prstGeom prst="rightArrow">
            <a:avLst/>
          </a:prstGeom>
          <a:gradFill flip="none" rotWithShape="1">
            <a:gsLst>
              <a:gs pos="0">
                <a:srgbClr val="FFFF00">
                  <a:tint val="66000"/>
                  <a:satMod val="160000"/>
                </a:srgbClr>
              </a:gs>
              <a:gs pos="50000">
                <a:srgbClr val="FFFF00">
                  <a:tint val="44500"/>
                  <a:satMod val="160000"/>
                </a:srgbClr>
              </a:gs>
              <a:gs pos="100000">
                <a:srgbClr val="FFFF00">
                  <a:tint val="23500"/>
                  <a:satMod val="160000"/>
                </a:srgbClr>
              </a:gs>
            </a:gsLst>
            <a:path path="circle">
              <a:fillToRect l="100000" t="100000"/>
            </a:path>
            <a:tileRect r="-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BF57282-EFF7-7733-E025-C101B9ABCC94}"/>
              </a:ext>
            </a:extLst>
          </p:cNvPr>
          <p:cNvSpPr txBox="1"/>
          <p:nvPr/>
        </p:nvSpPr>
        <p:spPr>
          <a:xfrm>
            <a:off x="8459390" y="3669133"/>
            <a:ext cx="3607304" cy="2677656"/>
          </a:xfrm>
          <a:prstGeom prst="rect">
            <a:avLst/>
          </a:prstGeom>
          <a:noFill/>
        </p:spPr>
        <p:txBody>
          <a:bodyPr wrap="square" rtlCol="0">
            <a:spAutoFit/>
          </a:bodyPr>
          <a:lstStyle/>
          <a:p>
            <a:pPr algn="ctr"/>
            <a:r>
              <a:rPr lang="en-US" sz="2400" b="1" i="1" dirty="0"/>
              <a:t>Fashion rental needs a smarter CLV model because if you don't know which customers are coming back, you can't decide what to buy or who to target</a:t>
            </a:r>
          </a:p>
        </p:txBody>
      </p:sp>
    </p:spTree>
    <p:extLst>
      <p:ext uri="{BB962C8B-B14F-4D97-AF65-F5344CB8AC3E}">
        <p14:creationId xmlns:p14="http://schemas.microsoft.com/office/powerpoint/2010/main" val="106652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C06B-0E51-EEF4-8E72-8E5979171921}"/>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8122B-60D8-D969-B2E1-ABAD96EF9395}"/>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49849114-7260-7D8D-3E51-B169720CA7D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2296BB-EE3E-CDEA-A6B0-C603ADCF1638}"/>
              </a:ext>
            </a:extLst>
          </p:cNvPr>
          <p:cNvSpPr>
            <a:spLocks noGrp="1"/>
          </p:cNvSpPr>
          <p:nvPr>
            <p:ph type="sldNum" sz="quarter" idx="12"/>
          </p:nvPr>
        </p:nvSpPr>
        <p:spPr/>
        <p:txBody>
          <a:bodyPr/>
          <a:lstStyle/>
          <a:p>
            <a:fld id="{5ACA52AF-F19D-405C-AD5F-7D94B96A5CC3}" type="slidenum">
              <a:rPr lang="de-CH" noProof="0" smtClean="0"/>
              <a:t>3</a:t>
            </a:fld>
            <a:endParaRPr lang="de-CH" noProof="0"/>
          </a:p>
        </p:txBody>
      </p:sp>
      <p:pic>
        <p:nvPicPr>
          <p:cNvPr id="23" name="Picture 22">
            <a:extLst>
              <a:ext uri="{FF2B5EF4-FFF2-40B4-BE49-F238E27FC236}">
                <a16:creationId xmlns:a16="http://schemas.microsoft.com/office/drawing/2014/main" id="{8A43F329-3E81-CB62-78E3-6BA849AFC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640" y="3265246"/>
            <a:ext cx="5400000" cy="3221436"/>
          </a:xfrm>
          <a:prstGeom prst="rect">
            <a:avLst/>
          </a:prstGeom>
        </p:spPr>
      </p:pic>
      <p:sp>
        <p:nvSpPr>
          <p:cNvPr id="24" name="TextBox 23">
            <a:extLst>
              <a:ext uri="{FF2B5EF4-FFF2-40B4-BE49-F238E27FC236}">
                <a16:creationId xmlns:a16="http://schemas.microsoft.com/office/drawing/2014/main" id="{053DEFC8-6BC6-8B66-A1DC-5EB8A93BDE6A}"/>
              </a:ext>
            </a:extLst>
          </p:cNvPr>
          <p:cNvSpPr txBox="1"/>
          <p:nvPr/>
        </p:nvSpPr>
        <p:spPr>
          <a:xfrm>
            <a:off x="154593" y="1439367"/>
            <a:ext cx="5586449" cy="1954381"/>
          </a:xfrm>
          <a:prstGeom prst="rect">
            <a:avLst/>
          </a:prstGeom>
          <a:noFill/>
        </p:spPr>
        <p:txBody>
          <a:bodyPr wrap="square" rtlCol="0">
            <a:spAutoFit/>
          </a:bodyPr>
          <a:lstStyle/>
          <a:p>
            <a:pPr marL="285750" indent="-285750">
              <a:buFont typeface="Wingdings" panose="05000000000000000000" pitchFamily="2" charset="2"/>
              <a:buChar char="q"/>
            </a:pPr>
            <a:r>
              <a:rPr lang="en-US" b="1" dirty="0"/>
              <a:t>April 2020 structural break</a:t>
            </a:r>
            <a:r>
              <a:rPr lang="en-US" dirty="0"/>
              <a:t>: </a:t>
            </a:r>
            <a:br>
              <a:rPr lang="en-US" dirty="0"/>
            </a:br>
            <a:r>
              <a:rPr lang="en-US" dirty="0"/>
              <a:t>spot-rental → subscription model </a:t>
            </a:r>
            <a:br>
              <a:rPr lang="en-US" dirty="0"/>
            </a:br>
            <a:endParaRPr lang="en-US" sz="400" dirty="0"/>
          </a:p>
          <a:p>
            <a:pPr marL="742950" lvl="1" indent="-285750">
              <a:buFont typeface="Courier New" panose="02070309020205020404" pitchFamily="49" charset="0"/>
              <a:buChar char="o"/>
            </a:pPr>
            <a:r>
              <a:rPr lang="en-US" sz="1600" b="1" dirty="0"/>
              <a:t>Median duration</a:t>
            </a:r>
            <a:r>
              <a:rPr lang="en-US" sz="1600" dirty="0"/>
              <a:t>: </a:t>
            </a:r>
            <a:br>
              <a:rPr lang="en-US" sz="1600" dirty="0"/>
            </a:br>
            <a:r>
              <a:rPr lang="en-US" sz="1600" dirty="0"/>
              <a:t>4 days → 30 days </a:t>
            </a:r>
          </a:p>
          <a:p>
            <a:pPr marL="742950" lvl="1" indent="-285750">
              <a:buFont typeface="Courier New" panose="02070309020205020404" pitchFamily="49" charset="0"/>
              <a:buChar char="o"/>
            </a:pPr>
            <a:endParaRPr lang="en-US" sz="600" dirty="0"/>
          </a:p>
          <a:p>
            <a:pPr marL="742950" lvl="1" indent="-285750">
              <a:buFont typeface="Courier New" panose="02070309020205020404" pitchFamily="49" charset="0"/>
              <a:buChar char="o"/>
            </a:pPr>
            <a:r>
              <a:rPr lang="en-US" sz="1600" b="1" dirty="0"/>
              <a:t>Monthly transactions</a:t>
            </a:r>
            <a:r>
              <a:rPr lang="en-US" sz="1600" dirty="0"/>
              <a:t>: </a:t>
            </a:r>
            <a:br>
              <a:rPr lang="en-US" sz="1600" dirty="0"/>
            </a:br>
            <a:r>
              <a:rPr lang="en-US" sz="1600" dirty="0"/>
              <a:t>~100 → ~2,000 </a:t>
            </a:r>
          </a:p>
          <a:p>
            <a:pPr marL="285750" indent="-285750">
              <a:buFont typeface="Wingdings" panose="05000000000000000000" pitchFamily="2" charset="2"/>
              <a:buChar char="ü"/>
            </a:pPr>
            <a:endParaRPr lang="en-US" sz="1100" b="1" dirty="0"/>
          </a:p>
        </p:txBody>
      </p:sp>
      <p:sp>
        <p:nvSpPr>
          <p:cNvPr id="25" name="Titel 1">
            <a:extLst>
              <a:ext uri="{FF2B5EF4-FFF2-40B4-BE49-F238E27FC236}">
                <a16:creationId xmlns:a16="http://schemas.microsoft.com/office/drawing/2014/main" id="{62894E07-EB0E-C21C-8DF0-CB3754AA31FE}"/>
              </a:ext>
            </a:extLst>
          </p:cNvPr>
          <p:cNvSpPr txBox="1">
            <a:spLocks/>
          </p:cNvSpPr>
          <p:nvPr/>
        </p:nvSpPr>
        <p:spPr>
          <a:xfrm>
            <a:off x="386088" y="15563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Data &amp; The April 2020 Structural Break</a:t>
            </a:r>
          </a:p>
        </p:txBody>
      </p:sp>
      <p:sp>
        <p:nvSpPr>
          <p:cNvPr id="26" name="TextBox 25">
            <a:extLst>
              <a:ext uri="{FF2B5EF4-FFF2-40B4-BE49-F238E27FC236}">
                <a16:creationId xmlns:a16="http://schemas.microsoft.com/office/drawing/2014/main" id="{1AB8CD89-BDEF-89A2-1802-80EC6192341C}"/>
              </a:ext>
            </a:extLst>
          </p:cNvPr>
          <p:cNvSpPr txBox="1"/>
          <p:nvPr/>
        </p:nvSpPr>
        <p:spPr>
          <a:xfrm>
            <a:off x="386089" y="709812"/>
            <a:ext cx="4795028" cy="584775"/>
          </a:xfrm>
          <a:prstGeom prst="rect">
            <a:avLst/>
          </a:prstGeom>
          <a:noFill/>
          <a:ln w="19050">
            <a:solidFill>
              <a:schemeClr val="tx2"/>
            </a:solidFill>
          </a:ln>
        </p:spPr>
        <p:txBody>
          <a:bodyPr wrap="square" rtlCol="0">
            <a:spAutoFit/>
          </a:bodyPr>
          <a:lstStyle/>
          <a:p>
            <a:pPr algn="ctr"/>
            <a:r>
              <a:rPr lang="en-US" sz="1600" b="1" dirty="0"/>
              <a:t>March 2016 – September 2023</a:t>
            </a:r>
          </a:p>
          <a:p>
            <a:pPr algn="ctr"/>
            <a:r>
              <a:rPr lang="en-US" sz="1600" b="1" dirty="0"/>
              <a:t>77,100 rental events | 7,400 customers </a:t>
            </a:r>
          </a:p>
        </p:txBody>
      </p:sp>
      <p:sp>
        <p:nvSpPr>
          <p:cNvPr id="30" name="TextBox 29">
            <a:extLst>
              <a:ext uri="{FF2B5EF4-FFF2-40B4-BE49-F238E27FC236}">
                <a16:creationId xmlns:a16="http://schemas.microsoft.com/office/drawing/2014/main" id="{E106B471-13BA-C468-F7E8-7874A8182EE3}"/>
              </a:ext>
            </a:extLst>
          </p:cNvPr>
          <p:cNvSpPr txBox="1"/>
          <p:nvPr/>
        </p:nvSpPr>
        <p:spPr>
          <a:xfrm>
            <a:off x="2171700" y="6319777"/>
            <a:ext cx="184731" cy="369332"/>
          </a:xfrm>
          <a:prstGeom prst="rect">
            <a:avLst/>
          </a:prstGeom>
          <a:noFill/>
        </p:spPr>
        <p:txBody>
          <a:bodyPr wrap="none" rtlCol="0">
            <a:spAutoFit/>
          </a:bodyPr>
          <a:lstStyle/>
          <a:p>
            <a:endParaRPr lang="en-US" dirty="0"/>
          </a:p>
        </p:txBody>
      </p:sp>
      <p:sp>
        <p:nvSpPr>
          <p:cNvPr id="38" name="TextBox 37">
            <a:extLst>
              <a:ext uri="{FF2B5EF4-FFF2-40B4-BE49-F238E27FC236}">
                <a16:creationId xmlns:a16="http://schemas.microsoft.com/office/drawing/2014/main" id="{B255A6BD-D04B-33F8-C948-1DCCC368450E}"/>
              </a:ext>
            </a:extLst>
          </p:cNvPr>
          <p:cNvSpPr txBox="1"/>
          <p:nvPr/>
        </p:nvSpPr>
        <p:spPr>
          <a:xfrm>
            <a:off x="5636870" y="1237030"/>
            <a:ext cx="6439339" cy="2000548"/>
          </a:xfrm>
          <a:prstGeom prst="rect">
            <a:avLst/>
          </a:prstGeom>
          <a:noFill/>
          <a:ln w="28575">
            <a:solidFill>
              <a:schemeClr val="bg1"/>
            </a:solidFill>
          </a:ln>
        </p:spPr>
        <p:txBody>
          <a:bodyPr wrap="square" rtlCol="0">
            <a:spAutoFit/>
          </a:bodyPr>
          <a:lstStyle/>
          <a:p>
            <a:pPr marL="285750" indent="-285750">
              <a:buFont typeface="Wingdings" panose="05000000000000000000" pitchFamily="2" charset="2"/>
              <a:buChar char="Ø"/>
            </a:pPr>
            <a:r>
              <a:rPr lang="en-US" b="1" u="sng" dirty="0">
                <a:solidFill>
                  <a:srgbClr val="B7352D"/>
                </a:solidFill>
              </a:rPr>
              <a:t>Problem</a:t>
            </a:r>
            <a:r>
              <a:rPr lang="en-US" b="1" dirty="0"/>
              <a:t>:</a:t>
            </a:r>
            <a:r>
              <a:rPr lang="en-US" dirty="0"/>
              <a:t> throwing away pre-2020 data entirely </a:t>
            </a:r>
            <a:r>
              <a:rPr lang="en-US" b="1" dirty="0"/>
              <a:t>loses deep behavioral context</a:t>
            </a:r>
            <a:r>
              <a:rPr lang="en-US" dirty="0"/>
              <a:t> (tenure, early loyalty signals) </a:t>
            </a:r>
          </a:p>
          <a:p>
            <a:pPr marL="285750" indent="-285750">
              <a:buFont typeface="Wingdings" panose="05000000000000000000" pitchFamily="2" charset="2"/>
              <a:buChar char="Ø"/>
            </a:pPr>
            <a:endParaRPr lang="en-US" sz="800" dirty="0"/>
          </a:p>
          <a:p>
            <a:pPr marL="285750" indent="-285750">
              <a:buFont typeface="Wingdings" panose="05000000000000000000" pitchFamily="2" charset="2"/>
              <a:buChar char="Ø"/>
            </a:pPr>
            <a:r>
              <a:rPr lang="en-US" b="1" u="sng" dirty="0">
                <a:solidFill>
                  <a:srgbClr val="215CAF"/>
                </a:solidFill>
              </a:rPr>
              <a:t>Solution</a:t>
            </a:r>
            <a:r>
              <a:rPr lang="en-US" b="1" dirty="0">
                <a:solidFill>
                  <a:srgbClr val="215CAF"/>
                </a:solidFill>
              </a:rPr>
              <a:t>:</a:t>
            </a:r>
            <a:r>
              <a:rPr lang="en-US" dirty="0"/>
              <a:t> </a:t>
            </a:r>
            <a:r>
              <a:rPr lang="en-US" b="1" dirty="0"/>
              <a:t>features engineered</a:t>
            </a:r>
            <a:r>
              <a:rPr lang="en-US" dirty="0"/>
              <a:t> on full history 2016–2023, </a:t>
            </a:r>
            <a:r>
              <a:rPr lang="en-US" b="1" dirty="0"/>
              <a:t>labels</a:t>
            </a:r>
            <a:r>
              <a:rPr lang="en-US" dirty="0"/>
              <a:t> strictly from post-2020 periods </a:t>
            </a:r>
          </a:p>
          <a:p>
            <a:pPr marL="285750" indent="-285750">
              <a:buFont typeface="Wingdings" panose="05000000000000000000" pitchFamily="2" charset="2"/>
              <a:buChar char="Ø"/>
            </a:pPr>
            <a:endParaRPr lang="en-US" sz="700" b="1" dirty="0"/>
          </a:p>
          <a:p>
            <a:pPr marL="285750" indent="-285750">
              <a:buFont typeface="Wingdings" panose="05000000000000000000" pitchFamily="2" charset="2"/>
              <a:buChar char="Ø"/>
            </a:pPr>
            <a:r>
              <a:rPr lang="en-US" b="1" u="sng" dirty="0">
                <a:solidFill>
                  <a:srgbClr val="00B050"/>
                </a:solidFill>
              </a:rPr>
              <a:t>Results</a:t>
            </a:r>
            <a:r>
              <a:rPr lang="en-US" b="1" dirty="0">
                <a:solidFill>
                  <a:srgbClr val="00B050"/>
                </a:solidFill>
              </a:rPr>
              <a:t>:</a:t>
            </a:r>
            <a:r>
              <a:rPr lang="en-US" dirty="0"/>
              <a:t> using full history reduces MAE by </a:t>
            </a:r>
            <a:r>
              <a:rPr lang="en-US" b="1" dirty="0"/>
              <a:t>74%</a:t>
            </a:r>
            <a:r>
              <a:rPr lang="en-US" dirty="0"/>
              <a:t> vs. post-2020 data alone (12,674 → 3,296 NOK)</a:t>
            </a:r>
          </a:p>
        </p:txBody>
      </p:sp>
      <p:sp>
        <p:nvSpPr>
          <p:cNvPr id="3" name="TextBox 2">
            <a:extLst>
              <a:ext uri="{FF2B5EF4-FFF2-40B4-BE49-F238E27FC236}">
                <a16:creationId xmlns:a16="http://schemas.microsoft.com/office/drawing/2014/main" id="{C546E585-B7D3-5E01-8435-2EF3CD719B56}"/>
              </a:ext>
            </a:extLst>
          </p:cNvPr>
          <p:cNvSpPr txBox="1"/>
          <p:nvPr/>
        </p:nvSpPr>
        <p:spPr>
          <a:xfrm>
            <a:off x="6342928" y="155947"/>
            <a:ext cx="5733282" cy="923330"/>
          </a:xfrm>
          <a:prstGeom prst="rect">
            <a:avLst/>
          </a:prstGeom>
          <a:noFill/>
        </p:spPr>
        <p:txBody>
          <a:bodyPr wrap="square">
            <a:spAutoFit/>
          </a:bodyPr>
          <a:lstStyle/>
          <a:p>
            <a:pPr lvl="1">
              <a:buSzPct val="200000"/>
            </a:pPr>
            <a:r>
              <a:rPr lang="en-US" b="1" dirty="0"/>
              <a:t>Why it matters:</a:t>
            </a:r>
            <a:r>
              <a:rPr lang="en-US" dirty="0"/>
              <a:t> A model trained on pre-2020 data learns the wrong business. Labels and model evaluation must use only post-2020 dynamics</a:t>
            </a:r>
          </a:p>
        </p:txBody>
      </p:sp>
      <p:grpSp>
        <p:nvGrpSpPr>
          <p:cNvPr id="10" name="Group 9">
            <a:extLst>
              <a:ext uri="{FF2B5EF4-FFF2-40B4-BE49-F238E27FC236}">
                <a16:creationId xmlns:a16="http://schemas.microsoft.com/office/drawing/2014/main" id="{4C97B938-B3A0-DCF5-BCCC-6F06FAF398DB}"/>
              </a:ext>
            </a:extLst>
          </p:cNvPr>
          <p:cNvGrpSpPr/>
          <p:nvPr/>
        </p:nvGrpSpPr>
        <p:grpSpPr>
          <a:xfrm>
            <a:off x="5578995" y="3436291"/>
            <a:ext cx="6497214" cy="2662267"/>
            <a:chOff x="5578995" y="3436291"/>
            <a:chExt cx="6497214" cy="2662267"/>
          </a:xfrm>
        </p:grpSpPr>
        <p:sp>
          <p:nvSpPr>
            <p:cNvPr id="39" name="TextBox 38">
              <a:extLst>
                <a:ext uri="{FF2B5EF4-FFF2-40B4-BE49-F238E27FC236}">
                  <a16:creationId xmlns:a16="http://schemas.microsoft.com/office/drawing/2014/main" id="{9807A180-9F9E-F7CA-4FDC-8E1A03078D26}"/>
                </a:ext>
              </a:extLst>
            </p:cNvPr>
            <p:cNvSpPr txBox="1"/>
            <p:nvPr/>
          </p:nvSpPr>
          <p:spPr>
            <a:xfrm>
              <a:off x="5636870" y="3805623"/>
              <a:ext cx="6439339" cy="2292935"/>
            </a:xfrm>
            <a:prstGeom prst="rect">
              <a:avLst/>
            </a:prstGeom>
            <a:noFill/>
            <a:ln w="28575">
              <a:solidFill>
                <a:schemeClr val="tx1"/>
              </a:solidFill>
            </a:ln>
          </p:spPr>
          <p:txBody>
            <a:bodyPr wrap="square" rtlCol="0">
              <a:spAutoFit/>
            </a:bodyPr>
            <a:lstStyle/>
            <a:p>
              <a:r>
                <a:rPr lang="en-US" sz="1600" b="1" dirty="0">
                  <a:solidFill>
                    <a:srgbClr val="FFC000"/>
                  </a:solidFill>
                </a:rPr>
                <a:t>Train:</a:t>
              </a:r>
              <a:r>
                <a:rPr lang="en-US" sz="1600" dirty="0"/>
                <a:t> </a:t>
              </a:r>
              <a:r>
                <a:rPr lang="en-US" sz="1600" b="1" dirty="0"/>
                <a:t>features</a:t>
              </a:r>
              <a:r>
                <a:rPr lang="en-US" sz="1600" dirty="0"/>
                <a:t> up to Sep 2021 → </a:t>
              </a:r>
              <a:r>
                <a:rPr lang="en-US" sz="1600" b="1" dirty="0"/>
                <a:t>labels</a:t>
              </a:r>
              <a:r>
                <a:rPr lang="en-US" sz="1600" dirty="0"/>
                <a:t> Sep 2021–2022 </a:t>
              </a:r>
              <a:br>
                <a:rPr lang="en-US" sz="1600" dirty="0"/>
              </a:br>
              <a:r>
                <a:rPr lang="en-US" sz="1600" dirty="0"/>
                <a:t>(n = 5,943) </a:t>
              </a:r>
            </a:p>
            <a:p>
              <a:endParaRPr lang="en-US" sz="800" dirty="0"/>
            </a:p>
            <a:p>
              <a:r>
                <a:rPr lang="en-US" sz="1600" b="1" dirty="0">
                  <a:solidFill>
                    <a:srgbClr val="A30774"/>
                  </a:solidFill>
                </a:rPr>
                <a:t>Test:</a:t>
              </a:r>
              <a:r>
                <a:rPr lang="en-US" sz="1600" dirty="0"/>
                <a:t> </a:t>
              </a:r>
              <a:r>
                <a:rPr lang="en-US" sz="1600" b="1" dirty="0"/>
                <a:t>features</a:t>
              </a:r>
              <a:r>
                <a:rPr lang="en-US" sz="1600" dirty="0"/>
                <a:t> up to Sep 2022 → </a:t>
              </a:r>
              <a:r>
                <a:rPr lang="en-US" sz="1600" b="1" dirty="0"/>
                <a:t>labels</a:t>
              </a:r>
              <a:r>
                <a:rPr lang="en-US" sz="1600" dirty="0"/>
                <a:t> Sep 2022–2023 </a:t>
              </a:r>
              <a:br>
                <a:rPr lang="en-US" sz="1600" dirty="0"/>
              </a:br>
              <a:r>
                <a:rPr lang="en-US" sz="1600" dirty="0"/>
                <a:t>(n = 6,809) </a:t>
              </a:r>
            </a:p>
            <a:p>
              <a:endParaRPr lang="en-US" sz="800" dirty="0"/>
            </a:p>
            <a:p>
              <a:r>
                <a:rPr lang="en-US" sz="1600" b="1" dirty="0">
                  <a:solidFill>
                    <a:srgbClr val="007894"/>
                  </a:solidFill>
                </a:rPr>
                <a:t>Submission:</a:t>
              </a:r>
              <a:r>
                <a:rPr lang="en-US" sz="1600" dirty="0"/>
                <a:t> </a:t>
              </a:r>
              <a:r>
                <a:rPr lang="en-US" sz="1600" b="1" dirty="0"/>
                <a:t>features</a:t>
              </a:r>
              <a:r>
                <a:rPr lang="en-US" sz="1600" dirty="0"/>
                <a:t> up to Sep 2023 → </a:t>
              </a:r>
              <a:r>
                <a:rPr lang="en-US" sz="1600" b="1" dirty="0"/>
                <a:t>predict</a:t>
              </a:r>
              <a:r>
                <a:rPr lang="en-US" sz="1600" dirty="0"/>
                <a:t> Sep 2023–2024 </a:t>
              </a:r>
            </a:p>
            <a:p>
              <a:endParaRPr lang="en-US" sz="1050" i="1" u="sng" dirty="0"/>
            </a:p>
            <a:p>
              <a:r>
                <a:rPr lang="en-US" sz="1600" i="1" u="sng" dirty="0"/>
                <a:t>Window expands forward in time, thus the model never sees the future it is predicting</a:t>
              </a:r>
            </a:p>
          </p:txBody>
        </p:sp>
        <p:sp>
          <p:nvSpPr>
            <p:cNvPr id="7" name="TextBox 6">
              <a:extLst>
                <a:ext uri="{FF2B5EF4-FFF2-40B4-BE49-F238E27FC236}">
                  <a16:creationId xmlns:a16="http://schemas.microsoft.com/office/drawing/2014/main" id="{3224CC86-23B5-9514-B859-E919E885F5B5}"/>
                </a:ext>
              </a:extLst>
            </p:cNvPr>
            <p:cNvSpPr txBox="1"/>
            <p:nvPr/>
          </p:nvSpPr>
          <p:spPr>
            <a:xfrm>
              <a:off x="5578995" y="3436291"/>
              <a:ext cx="2395960" cy="369332"/>
            </a:xfrm>
            <a:prstGeom prst="rect">
              <a:avLst/>
            </a:prstGeom>
            <a:noFill/>
          </p:spPr>
          <p:txBody>
            <a:bodyPr wrap="square" rtlCol="0">
              <a:spAutoFit/>
            </a:bodyPr>
            <a:lstStyle/>
            <a:p>
              <a:r>
                <a:rPr lang="en-US" b="1" i="1" dirty="0"/>
                <a:t>Temporal validation</a:t>
              </a:r>
            </a:p>
          </p:txBody>
        </p:sp>
      </p:grpSp>
      <p:sp>
        <p:nvSpPr>
          <p:cNvPr id="11" name="TextBox 10">
            <a:extLst>
              <a:ext uri="{FF2B5EF4-FFF2-40B4-BE49-F238E27FC236}">
                <a16:creationId xmlns:a16="http://schemas.microsoft.com/office/drawing/2014/main" id="{8F52B19C-3F10-F38D-3D02-D7812D8F9124}"/>
              </a:ext>
            </a:extLst>
          </p:cNvPr>
          <p:cNvSpPr txBox="1"/>
          <p:nvPr/>
        </p:nvSpPr>
        <p:spPr>
          <a:xfrm>
            <a:off x="6342927" y="171295"/>
            <a:ext cx="466794" cy="646331"/>
          </a:xfrm>
          <a:prstGeom prst="rect">
            <a:avLst/>
          </a:prstGeom>
          <a:noFill/>
        </p:spPr>
        <p:txBody>
          <a:bodyPr wrap="none" rtlCol="0">
            <a:spAutoFit/>
          </a:bodyPr>
          <a:lstStyle/>
          <a:p>
            <a:r>
              <a:rPr lang="it-IT" sz="3600" b="1" dirty="0"/>
              <a:t>?</a:t>
            </a:r>
            <a:endParaRPr lang="en-US" sz="3600" b="1" dirty="0"/>
          </a:p>
        </p:txBody>
      </p:sp>
    </p:spTree>
    <p:extLst>
      <p:ext uri="{BB962C8B-B14F-4D97-AF65-F5344CB8AC3E}">
        <p14:creationId xmlns:p14="http://schemas.microsoft.com/office/powerpoint/2010/main" val="2336495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2C49C-5C77-105B-29B8-A7771E564C1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F77FF210-75CD-C881-D375-2A483BF04641}"/>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05E1541E-A40C-C9CB-302E-5FBD64F029B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56A4B7E2-B4D9-A180-E5C2-215C6AB14D18}"/>
              </a:ext>
            </a:extLst>
          </p:cNvPr>
          <p:cNvSpPr>
            <a:spLocks noGrp="1"/>
          </p:cNvSpPr>
          <p:nvPr>
            <p:ph type="sldNum" sz="quarter" idx="12"/>
          </p:nvPr>
        </p:nvSpPr>
        <p:spPr/>
        <p:txBody>
          <a:bodyPr/>
          <a:lstStyle/>
          <a:p>
            <a:fld id="{5ACA52AF-F19D-405C-AD5F-7D94B96A5CC3}" type="slidenum">
              <a:rPr lang="de-CH" noProof="0" smtClean="0"/>
              <a:t>4</a:t>
            </a:fld>
            <a:endParaRPr lang="de-CH" noProof="0"/>
          </a:p>
        </p:txBody>
      </p:sp>
      <p:sp>
        <p:nvSpPr>
          <p:cNvPr id="25" name="Titel 1">
            <a:extLst>
              <a:ext uri="{FF2B5EF4-FFF2-40B4-BE49-F238E27FC236}">
                <a16:creationId xmlns:a16="http://schemas.microsoft.com/office/drawing/2014/main" id="{8508A2B9-C77D-4584-88FE-6F4C4728270F}"/>
              </a:ext>
            </a:extLst>
          </p:cNvPr>
          <p:cNvSpPr txBox="1">
            <a:spLocks/>
          </p:cNvSpPr>
          <p:nvPr/>
        </p:nvSpPr>
        <p:spPr>
          <a:xfrm>
            <a:off x="274776" y="158634"/>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The Clustering Pipeline</a:t>
            </a:r>
          </a:p>
        </p:txBody>
      </p:sp>
      <p:graphicFrame>
        <p:nvGraphicFramePr>
          <p:cNvPr id="8" name="Diagram 7">
            <a:extLst>
              <a:ext uri="{FF2B5EF4-FFF2-40B4-BE49-F238E27FC236}">
                <a16:creationId xmlns:a16="http://schemas.microsoft.com/office/drawing/2014/main" id="{085E26FE-A008-8352-1AF2-FC3A8106A068}"/>
              </a:ext>
            </a:extLst>
          </p:cNvPr>
          <p:cNvGraphicFramePr/>
          <p:nvPr>
            <p:extLst>
              <p:ext uri="{D42A27DB-BD31-4B8C-83A1-F6EECF244321}">
                <p14:modId xmlns:p14="http://schemas.microsoft.com/office/powerpoint/2010/main" val="1109181970"/>
              </p:ext>
            </p:extLst>
          </p:nvPr>
        </p:nvGraphicFramePr>
        <p:xfrm>
          <a:off x="176457" y="747530"/>
          <a:ext cx="7395243" cy="56407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Picture 9">
            <a:extLst>
              <a:ext uri="{FF2B5EF4-FFF2-40B4-BE49-F238E27FC236}">
                <a16:creationId xmlns:a16="http://schemas.microsoft.com/office/drawing/2014/main" id="{92684321-A276-3AA2-C4D4-C092EB378C4D}"/>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037554" y="3313420"/>
            <a:ext cx="3798684" cy="3139346"/>
          </a:xfrm>
          <a:prstGeom prst="rect">
            <a:avLst/>
          </a:prstGeom>
        </p:spPr>
      </p:pic>
      <p:grpSp>
        <p:nvGrpSpPr>
          <p:cNvPr id="14" name="Group 13">
            <a:extLst>
              <a:ext uri="{FF2B5EF4-FFF2-40B4-BE49-F238E27FC236}">
                <a16:creationId xmlns:a16="http://schemas.microsoft.com/office/drawing/2014/main" id="{3CA6266E-CE26-A52A-6454-C690450C9CA7}"/>
              </a:ext>
            </a:extLst>
          </p:cNvPr>
          <p:cNvGrpSpPr/>
          <p:nvPr/>
        </p:nvGrpSpPr>
        <p:grpSpPr>
          <a:xfrm>
            <a:off x="7846675" y="608634"/>
            <a:ext cx="4180443" cy="2635108"/>
            <a:chOff x="7800582" y="3648983"/>
            <a:chExt cx="4180443" cy="2635108"/>
          </a:xfrm>
        </p:grpSpPr>
        <p:pic>
          <p:nvPicPr>
            <p:cNvPr id="12" name="Picture 11">
              <a:extLst>
                <a:ext uri="{FF2B5EF4-FFF2-40B4-BE49-F238E27FC236}">
                  <a16:creationId xmlns:a16="http://schemas.microsoft.com/office/drawing/2014/main" id="{DDFAF275-75CA-EA77-B191-9F92701C25A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800582" y="3648983"/>
              <a:ext cx="4180443" cy="2635108"/>
            </a:xfrm>
            <a:prstGeom prst="rect">
              <a:avLst/>
            </a:prstGeom>
          </p:spPr>
        </p:pic>
        <p:sp>
          <p:nvSpPr>
            <p:cNvPr id="13" name="Oval 12">
              <a:extLst>
                <a:ext uri="{FF2B5EF4-FFF2-40B4-BE49-F238E27FC236}">
                  <a16:creationId xmlns:a16="http://schemas.microsoft.com/office/drawing/2014/main" id="{B0D7A4A0-06F4-8909-4BE5-F262DFC9829D}"/>
                </a:ext>
              </a:extLst>
            </p:cNvPr>
            <p:cNvSpPr/>
            <p:nvPr/>
          </p:nvSpPr>
          <p:spPr>
            <a:xfrm>
              <a:off x="9225022" y="4653020"/>
              <a:ext cx="522000" cy="520861"/>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1848C135-1C00-2148-F921-7BC6A8EC220E}"/>
              </a:ext>
            </a:extLst>
          </p:cNvPr>
          <p:cNvSpPr txBox="1"/>
          <p:nvPr/>
        </p:nvSpPr>
        <p:spPr>
          <a:xfrm>
            <a:off x="3960034" y="6230334"/>
            <a:ext cx="3813865" cy="400110"/>
          </a:xfrm>
          <a:prstGeom prst="rect">
            <a:avLst/>
          </a:prstGeom>
          <a:noFill/>
        </p:spPr>
        <p:txBody>
          <a:bodyPr wrap="none" rtlCol="0">
            <a:spAutoFit/>
          </a:bodyPr>
          <a:lstStyle/>
          <a:p>
            <a:r>
              <a:rPr lang="en-US" sz="2000" b="1" dirty="0"/>
              <a:t>	  8 coherent segments</a:t>
            </a:r>
          </a:p>
        </p:txBody>
      </p:sp>
      <p:sp>
        <p:nvSpPr>
          <p:cNvPr id="16" name="TextBox 15">
            <a:extLst>
              <a:ext uri="{FF2B5EF4-FFF2-40B4-BE49-F238E27FC236}">
                <a16:creationId xmlns:a16="http://schemas.microsoft.com/office/drawing/2014/main" id="{15B46C78-0DCC-C412-3234-286DAE28812E}"/>
              </a:ext>
            </a:extLst>
          </p:cNvPr>
          <p:cNvSpPr txBox="1"/>
          <p:nvPr/>
        </p:nvSpPr>
        <p:spPr>
          <a:xfrm>
            <a:off x="3879009" y="6241909"/>
            <a:ext cx="1142236" cy="369332"/>
          </a:xfrm>
          <a:prstGeom prst="rect">
            <a:avLst/>
          </a:prstGeom>
          <a:gradFill flip="none" rotWithShape="1">
            <a:gsLst>
              <a:gs pos="0">
                <a:srgbClr val="D5D000">
                  <a:tint val="66000"/>
                  <a:satMod val="160000"/>
                </a:srgbClr>
              </a:gs>
              <a:gs pos="50000">
                <a:srgbClr val="D5D000">
                  <a:tint val="44500"/>
                  <a:satMod val="160000"/>
                </a:srgbClr>
              </a:gs>
              <a:gs pos="100000">
                <a:srgbClr val="D5D000">
                  <a:tint val="23500"/>
                  <a:satMod val="160000"/>
                </a:srgbClr>
              </a:gs>
            </a:gsLst>
            <a:lin ang="10800000" scaled="1"/>
            <a:tileRect/>
          </a:gradFill>
        </p:spPr>
        <p:txBody>
          <a:bodyPr wrap="none" rtlCol="0">
            <a:spAutoFit/>
          </a:bodyPr>
          <a:lstStyle/>
          <a:p>
            <a:r>
              <a:rPr lang="it-IT" b="1" dirty="0"/>
              <a:t>RESULT:</a:t>
            </a:r>
            <a:endParaRPr lang="en-US" dirty="0"/>
          </a:p>
        </p:txBody>
      </p:sp>
    </p:spTree>
    <p:extLst>
      <p:ext uri="{BB962C8B-B14F-4D97-AF65-F5344CB8AC3E}">
        <p14:creationId xmlns:p14="http://schemas.microsoft.com/office/powerpoint/2010/main" val="1143225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5A0B2-401A-47B3-C8E8-F1EEEAFFD3EF}"/>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5F281D0B-D0F7-1487-D8A5-6ACC7D269028}"/>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7FDF7C63-FC6D-19D8-41CA-8F4FE4B4CE6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222E101-6203-328B-9933-724829DDC043}"/>
              </a:ext>
            </a:extLst>
          </p:cNvPr>
          <p:cNvSpPr>
            <a:spLocks noGrp="1"/>
          </p:cNvSpPr>
          <p:nvPr>
            <p:ph type="sldNum" sz="quarter" idx="12"/>
          </p:nvPr>
        </p:nvSpPr>
        <p:spPr/>
        <p:txBody>
          <a:bodyPr/>
          <a:lstStyle/>
          <a:p>
            <a:fld id="{5ACA52AF-F19D-405C-AD5F-7D94B96A5CC3}" type="slidenum">
              <a:rPr lang="de-CH" noProof="0" smtClean="0"/>
              <a:t>5</a:t>
            </a:fld>
            <a:endParaRPr lang="de-CH" noProof="0"/>
          </a:p>
        </p:txBody>
      </p:sp>
      <p:sp>
        <p:nvSpPr>
          <p:cNvPr id="25" name="Titel 1">
            <a:extLst>
              <a:ext uri="{FF2B5EF4-FFF2-40B4-BE49-F238E27FC236}">
                <a16:creationId xmlns:a16="http://schemas.microsoft.com/office/drawing/2014/main" id="{352C5B5D-10A0-3BCD-4502-EF9623605D3D}"/>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Business Profiling: four strategic roles</a:t>
            </a:r>
          </a:p>
        </p:txBody>
      </p:sp>
      <p:grpSp>
        <p:nvGrpSpPr>
          <p:cNvPr id="2" name="Group 1">
            <a:extLst>
              <a:ext uri="{FF2B5EF4-FFF2-40B4-BE49-F238E27FC236}">
                <a16:creationId xmlns:a16="http://schemas.microsoft.com/office/drawing/2014/main" id="{DA932616-0C2E-968E-C7A4-089BF06A0FA4}"/>
              </a:ext>
            </a:extLst>
          </p:cNvPr>
          <p:cNvGrpSpPr>
            <a:grpSpLocks noChangeAspect="1"/>
          </p:cNvGrpSpPr>
          <p:nvPr/>
        </p:nvGrpSpPr>
        <p:grpSpPr>
          <a:xfrm>
            <a:off x="3471483" y="782122"/>
            <a:ext cx="5603070" cy="3553238"/>
            <a:chOff x="3045037" y="1058634"/>
            <a:chExt cx="6704170" cy="4251511"/>
          </a:xfrm>
        </p:grpSpPr>
        <p:pic>
          <p:nvPicPr>
            <p:cNvPr id="9" name="Picture 8">
              <a:extLst>
                <a:ext uri="{FF2B5EF4-FFF2-40B4-BE49-F238E27FC236}">
                  <a16:creationId xmlns:a16="http://schemas.microsoft.com/office/drawing/2014/main" id="{AFE52168-7F1B-02FB-98E3-255419F99E0F}"/>
                </a:ext>
              </a:extLst>
            </p:cNvPr>
            <p:cNvPicPr>
              <a:picLocks noChangeAspect="1"/>
            </p:cNvPicPr>
            <p:nvPr/>
          </p:nvPicPr>
          <p:blipFill>
            <a:blip r:embed="rId3">
              <a:extLst>
                <a:ext uri="{28A0092B-C50C-407E-A947-70E740481C1C}">
                  <a14:useLocalDpi xmlns:a14="http://schemas.microsoft.com/office/drawing/2010/main" val="0"/>
                </a:ext>
              </a:extLst>
            </a:blip>
            <a:srcRect r="21371"/>
            <a:stretch>
              <a:fillRect/>
            </a:stretch>
          </p:blipFill>
          <p:spPr>
            <a:xfrm>
              <a:off x="3045037" y="1058634"/>
              <a:ext cx="6704170" cy="4251511"/>
            </a:xfrm>
            <a:prstGeom prst="rect">
              <a:avLst/>
            </a:prstGeom>
          </p:spPr>
        </p:pic>
        <p:pic>
          <p:nvPicPr>
            <p:cNvPr id="11" name="Picture 10">
              <a:extLst>
                <a:ext uri="{FF2B5EF4-FFF2-40B4-BE49-F238E27FC236}">
                  <a16:creationId xmlns:a16="http://schemas.microsoft.com/office/drawing/2014/main" id="{6C64E64A-0061-5589-657F-F05BEE95B681}"/>
                </a:ext>
              </a:extLst>
            </p:cNvPr>
            <p:cNvPicPr>
              <a:picLocks noChangeAspect="1"/>
            </p:cNvPicPr>
            <p:nvPr/>
          </p:nvPicPr>
          <p:blipFill>
            <a:blip r:embed="rId3">
              <a:extLst>
                <a:ext uri="{28A0092B-C50C-407E-A947-70E740481C1C}">
                  <a14:useLocalDpi xmlns:a14="http://schemas.microsoft.com/office/drawing/2010/main" val="0"/>
                </a:ext>
              </a:extLst>
            </a:blip>
            <a:srcRect l="79121" t="4458" b="30475"/>
            <a:stretch>
              <a:fillRect/>
            </a:stretch>
          </p:blipFill>
          <p:spPr>
            <a:xfrm>
              <a:off x="6798629" y="1414156"/>
              <a:ext cx="1654552" cy="2571061"/>
            </a:xfrm>
            <a:prstGeom prst="rect">
              <a:avLst/>
            </a:prstGeom>
          </p:spPr>
        </p:pic>
      </p:grpSp>
      <p:sp>
        <p:nvSpPr>
          <p:cNvPr id="7" name="TextBox 6">
            <a:extLst>
              <a:ext uri="{FF2B5EF4-FFF2-40B4-BE49-F238E27FC236}">
                <a16:creationId xmlns:a16="http://schemas.microsoft.com/office/drawing/2014/main" id="{2F858079-1B0A-7B32-130A-12C03FE44BFE}"/>
              </a:ext>
            </a:extLst>
          </p:cNvPr>
          <p:cNvSpPr txBox="1"/>
          <p:nvPr/>
        </p:nvSpPr>
        <p:spPr>
          <a:xfrm>
            <a:off x="9224102" y="1252176"/>
            <a:ext cx="2874294" cy="247760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Revenue Engine</a:t>
            </a:r>
            <a:r>
              <a:rPr kumimoji="0" lang="en-US" sz="2200" b="0" i="0" u="sng" strike="noStrike" kern="1200" cap="none" spc="0" normalizeH="0" baseline="0" noProof="0" dirty="0">
                <a:ln>
                  <a:noFill/>
                </a:ln>
                <a:solidFill>
                  <a:prstClr val="black"/>
                </a:solidFill>
                <a:effectLst/>
                <a:uLnTx/>
                <a:uFillTx/>
                <a:latin typeface="Arial"/>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0" i="0" u="none" strike="noStrike" kern="1200" cap="none" spc="0" normalizeH="0" baseline="0" noProof="0" dirty="0">
              <a:ln>
                <a:noFill/>
              </a:ln>
              <a:solidFill>
                <a:prstClr val="black"/>
              </a:solidFill>
              <a:effectLst/>
              <a:uLnTx/>
              <a:uFillTx/>
              <a:latin typeface="Arial"/>
              <a:ea typeface="+mn-ea"/>
              <a:cs typeface="+mn-cs"/>
            </a:endParaRPr>
          </a:p>
          <a:p>
            <a:pPr marL="285750" marR="0" lvl="0" indent="-285750" algn="l" defTabSz="914400" rtl="0" eaLnBrk="1" fontAlgn="auto" latinLnBrk="0" hangingPunct="1">
              <a:lnSpc>
                <a:spcPct val="100000"/>
              </a:lnSpc>
              <a:spcBef>
                <a:spcPts val="0"/>
              </a:spcBef>
              <a:spcAft>
                <a:spcPts val="0"/>
              </a:spcAft>
              <a:buClr>
                <a:prstClr val="black"/>
              </a:buClr>
              <a:buSzTx/>
              <a:buFont typeface="Wingdings" panose="05000000000000000000" pitchFamily="2" charset="2"/>
              <a:buChar char="§"/>
              <a:tabLst/>
              <a:defRPr/>
            </a:pPr>
            <a:r>
              <a:rPr kumimoji="0" lang="en-US" sz="1600" b="1" i="0" u="none" strike="noStrike" kern="1200" cap="none" spc="0" normalizeH="0" baseline="0" noProof="0" dirty="0">
                <a:ln>
                  <a:noFill/>
                </a:ln>
                <a:solidFill>
                  <a:srgbClr val="FF7E0D"/>
                </a:solidFill>
                <a:effectLst/>
                <a:uLnTx/>
                <a:uFillTx/>
                <a:latin typeface="Arial"/>
                <a:ea typeface="+mn-ea"/>
                <a:cs typeface="+mn-cs"/>
              </a:rPr>
              <a:t>Dresses &amp; Jumpsuits</a:t>
            </a:r>
            <a:r>
              <a:rPr kumimoji="0" lang="en-US" sz="1600" b="0" i="0" u="none" strike="noStrike" kern="1200" cap="none" spc="0" normalizeH="0" baseline="0" noProof="0" dirty="0">
                <a:ln>
                  <a:noFill/>
                </a:ln>
                <a:solidFill>
                  <a:prstClr val="black"/>
                </a:solidFill>
                <a:effectLst/>
                <a:uLnTx/>
                <a:uFillTx/>
                <a:latin typeface="Arial"/>
                <a:ea typeface="+mn-ea"/>
                <a:cs typeface="+mn-cs"/>
              </a:rPr>
              <a:t>:</a:t>
            </a:r>
          </a:p>
          <a:p>
            <a:pPr marL="742950" lvl="1" indent="-285750">
              <a:buClr>
                <a:prstClr val="black"/>
              </a:buClr>
              <a:buFont typeface="Courier New" panose="02070309020205020404" pitchFamily="49" charset="0"/>
              <a:buChar char="o"/>
              <a:defRPr/>
            </a:pPr>
            <a:r>
              <a:rPr kumimoji="0" lang="de-DE" sz="1600" b="0" i="0" u="none" strike="noStrike" kern="1200" cap="none" spc="0" normalizeH="0" baseline="0" noProof="0" dirty="0" err="1">
                <a:ln>
                  <a:noFill/>
                </a:ln>
                <a:solidFill>
                  <a:prstClr val="black"/>
                </a:solidFill>
                <a:effectLst/>
                <a:uLnTx/>
                <a:uFillTx/>
                <a:latin typeface="Arial"/>
                <a:ea typeface="+mn-ea"/>
                <a:cs typeface="+mn-cs"/>
              </a:rPr>
              <a:t>Outlier</a:t>
            </a:r>
            <a:r>
              <a:rPr kumimoji="0" lang="de-DE" sz="1600" b="0" i="0" u="none" strike="noStrike" kern="1200" cap="none" spc="0" normalizeH="0" baseline="0" noProof="0" dirty="0">
                <a:ln>
                  <a:noFill/>
                </a:ln>
                <a:solidFill>
                  <a:prstClr val="black"/>
                </a:solidFill>
                <a:effectLst/>
                <a:uLnTx/>
                <a:uFillTx/>
                <a:latin typeface="Arial"/>
                <a:ea typeface="+mn-ea"/>
                <a:cs typeface="+mn-cs"/>
              </a:rPr>
              <a:t> in </a:t>
            </a:r>
            <a:r>
              <a:rPr kumimoji="0" lang="de-DE" sz="1600" b="1" i="0" u="none" strike="noStrike" kern="1200" cap="none" spc="0" normalizeH="0" baseline="0" noProof="0" dirty="0">
                <a:ln>
                  <a:noFill/>
                </a:ln>
                <a:solidFill>
                  <a:prstClr val="black"/>
                </a:solidFill>
                <a:effectLst/>
                <a:uLnTx/>
                <a:uFillTx/>
                <a:latin typeface="Arial"/>
                <a:ea typeface="+mn-ea"/>
                <a:cs typeface="+mn-cs"/>
              </a:rPr>
              <a:t>absolute </a:t>
            </a:r>
            <a:r>
              <a:rPr kumimoji="0" lang="de-DE" sz="1600" b="1" i="0" u="none" strike="noStrike" kern="1200" cap="none" spc="0" normalizeH="0" baseline="0" noProof="0" dirty="0" err="1">
                <a:ln>
                  <a:noFill/>
                </a:ln>
                <a:solidFill>
                  <a:prstClr val="black"/>
                </a:solidFill>
                <a:effectLst/>
                <a:uLnTx/>
                <a:uFillTx/>
                <a:latin typeface="Arial"/>
                <a:ea typeface="+mn-ea"/>
                <a:cs typeface="+mn-cs"/>
              </a:rPr>
              <a:t>volume</a:t>
            </a:r>
            <a:r>
              <a:rPr kumimoji="0" lang="de-DE" sz="1600" b="0" i="0" u="none" strike="noStrike" kern="1200" cap="none" spc="0" normalizeH="0" baseline="0" noProof="0" dirty="0">
                <a:ln>
                  <a:noFill/>
                </a:ln>
                <a:solidFill>
                  <a:prstClr val="black"/>
                </a:solidFill>
                <a:effectLst/>
                <a:uLnTx/>
                <a:uFillTx/>
                <a:latin typeface="Arial"/>
                <a:ea typeface="+mn-ea"/>
                <a:cs typeface="+mn-cs"/>
              </a:rPr>
              <a:t> (~27,000 </a:t>
            </a:r>
            <a:r>
              <a:rPr kumimoji="0" lang="de-DE" sz="1600" b="0" i="0" u="none" strike="noStrike" kern="1200" cap="none" spc="0" normalizeH="0" baseline="0" noProof="0" dirty="0" err="1">
                <a:ln>
                  <a:noFill/>
                </a:ln>
                <a:solidFill>
                  <a:prstClr val="black"/>
                </a:solidFill>
                <a:effectLst/>
                <a:uLnTx/>
                <a:uFillTx/>
                <a:latin typeface="Arial"/>
                <a:ea typeface="+mn-ea"/>
                <a:cs typeface="+mn-cs"/>
              </a:rPr>
              <a:t>rentals</a:t>
            </a:r>
            <a:endParaRPr lang="de-DE" sz="1600" dirty="0">
              <a:solidFill>
                <a:prstClr val="black"/>
              </a:solidFill>
              <a:latin typeface="Arial"/>
            </a:endParaRP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41.9% of </a:t>
            </a:r>
            <a:r>
              <a:rPr kumimoji="0" lang="en-US" sz="1600" b="1" i="0" u="none" strike="noStrike" kern="1200" cap="none" spc="0" normalizeH="0" baseline="0" noProof="0" dirty="0">
                <a:ln>
                  <a:noFill/>
                </a:ln>
                <a:solidFill>
                  <a:prstClr val="black"/>
                </a:solidFill>
                <a:effectLst/>
                <a:uLnTx/>
                <a:uFillTx/>
                <a:latin typeface="Arial"/>
                <a:ea typeface="+mn-ea"/>
                <a:cs typeface="+mn-cs"/>
              </a:rPr>
              <a:t>revenue</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42.3% of </a:t>
            </a:r>
            <a:r>
              <a:rPr kumimoji="0" lang="en-US" sz="1600" b="1" i="0" u="none" strike="noStrike" kern="1200" cap="none" spc="0" normalizeH="0" baseline="0" noProof="0" dirty="0">
                <a:ln>
                  <a:noFill/>
                </a:ln>
                <a:solidFill>
                  <a:prstClr val="black"/>
                </a:solidFill>
                <a:effectLst/>
                <a:uLnTx/>
                <a:uFillTx/>
                <a:latin typeface="Arial"/>
                <a:ea typeface="+mn-ea"/>
                <a:cs typeface="+mn-cs"/>
              </a:rPr>
              <a:t>inventory</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ROI</a:t>
            </a:r>
            <a:r>
              <a:rPr kumimoji="0" lang="en-US" sz="1600" b="0" i="0" u="none" strike="noStrike" kern="1200" cap="none" spc="0" normalizeH="0" baseline="0" noProof="0" dirty="0">
                <a:ln>
                  <a:noFill/>
                </a:ln>
                <a:solidFill>
                  <a:prstClr val="black"/>
                </a:solidFill>
                <a:effectLst/>
                <a:uLnTx/>
                <a:uFillTx/>
                <a:latin typeface="Arial"/>
                <a:ea typeface="+mn-ea"/>
                <a:cs typeface="+mn-cs"/>
              </a:rPr>
              <a:t> 2.76</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Perfectly balanced </a:t>
            </a:r>
          </a:p>
        </p:txBody>
      </p:sp>
      <p:sp>
        <p:nvSpPr>
          <p:cNvPr id="10" name="TextBox 9">
            <a:extLst>
              <a:ext uri="{FF2B5EF4-FFF2-40B4-BE49-F238E27FC236}">
                <a16:creationId xmlns:a16="http://schemas.microsoft.com/office/drawing/2014/main" id="{1D79F8D8-E443-787C-D4DA-7A42ECFC8B36}"/>
              </a:ext>
            </a:extLst>
          </p:cNvPr>
          <p:cNvSpPr txBox="1"/>
          <p:nvPr/>
        </p:nvSpPr>
        <p:spPr>
          <a:xfrm>
            <a:off x="93604" y="782122"/>
            <a:ext cx="3377879" cy="5216813"/>
          </a:xfrm>
          <a:prstGeom prst="rect">
            <a:avLst/>
          </a:prstGeom>
          <a:noFill/>
        </p:spPr>
        <p:txBody>
          <a:bodyPr wrap="square">
            <a:spAutoFit/>
          </a:bodyPr>
          <a:lstStyle/>
          <a:p>
            <a:r>
              <a:rPr lang="en-US" sz="2200" b="1" i="1" u="sng" dirty="0"/>
              <a:t>Hidden White Space</a:t>
            </a:r>
          </a:p>
          <a:p>
            <a:endParaRPr lang="en-US" sz="600" b="1" i="1" dirty="0"/>
          </a:p>
          <a:p>
            <a:pPr marL="285750" indent="-285750">
              <a:buClr>
                <a:schemeClr val="tx1"/>
              </a:buClr>
              <a:buFont typeface="Wingdings" panose="05000000000000000000" pitchFamily="2" charset="2"/>
              <a:buChar char="§"/>
            </a:pPr>
            <a:r>
              <a:rPr lang="en-US" sz="1600" b="1" dirty="0">
                <a:solidFill>
                  <a:srgbClr val="1D76B3"/>
                </a:solidFill>
              </a:rPr>
              <a:t>Bags &amp; Accessories</a:t>
            </a:r>
            <a:r>
              <a:rPr lang="en-US" sz="1600" dirty="0"/>
              <a:t>: utilization rate 7.05 (71% above avg), revenue-per-item 10,139 NOK</a:t>
            </a:r>
          </a:p>
          <a:p>
            <a:pPr marL="285750" indent="-285750">
              <a:buClr>
                <a:schemeClr val="tx1"/>
              </a:buClr>
              <a:buFont typeface="Wingdings" panose="05000000000000000000" pitchFamily="2" charset="2"/>
              <a:buChar char="§"/>
            </a:pPr>
            <a:endParaRPr lang="en-US" sz="400" dirty="0"/>
          </a:p>
          <a:p>
            <a:pPr marL="742950" lvl="1" indent="-285750">
              <a:buFont typeface="Courier New" panose="02070309020205020404" pitchFamily="49" charset="0"/>
              <a:buChar char="o"/>
            </a:pPr>
            <a:r>
              <a:rPr lang="en-US" sz="1600" b="1" dirty="0"/>
              <a:t>Lowest ROI</a:t>
            </a:r>
            <a:r>
              <a:rPr lang="en-US" sz="1600" dirty="0"/>
              <a:t> (1.98): high acquisition cost makes this a capital-intensive growth lever, not an efficiency play </a:t>
            </a:r>
          </a:p>
          <a:p>
            <a:pPr marL="742950" lvl="1" indent="-285750">
              <a:buFont typeface="Courier New" panose="02070309020205020404" pitchFamily="49" charset="0"/>
              <a:buChar char="o"/>
            </a:pPr>
            <a:endParaRPr lang="en-US" sz="400" dirty="0"/>
          </a:p>
          <a:p>
            <a:pPr marL="742950" lvl="1" indent="-285750">
              <a:buFont typeface="Courier New" panose="02070309020205020404" pitchFamily="49" charset="0"/>
              <a:buChar char="o"/>
            </a:pPr>
            <a:r>
              <a:rPr lang="en-US" sz="1600" b="1" dirty="0"/>
              <a:t>Only 20% dead inventory</a:t>
            </a:r>
            <a:r>
              <a:rPr lang="en-US" sz="1600" dirty="0"/>
              <a:t>: supply is the binding constraint, not demand</a:t>
            </a:r>
          </a:p>
          <a:p>
            <a:pPr marL="285750" indent="-285750">
              <a:buFont typeface="Wingdings" panose="05000000000000000000" pitchFamily="2" charset="2"/>
              <a:buChar char="§"/>
            </a:pPr>
            <a:endParaRPr lang="en-US" sz="500" dirty="0"/>
          </a:p>
          <a:p>
            <a:pPr marL="285750" indent="-285750">
              <a:buClr>
                <a:schemeClr val="tx1"/>
              </a:buClr>
              <a:buFont typeface="Wingdings" panose="05000000000000000000" pitchFamily="2" charset="2"/>
              <a:buChar char="§"/>
            </a:pPr>
            <a:r>
              <a:rPr lang="en-US" sz="1600" b="1" dirty="0">
                <a:solidFill>
                  <a:srgbClr val="2CA02C"/>
                </a:solidFill>
              </a:rPr>
              <a:t>Jackets &amp; Coats</a:t>
            </a:r>
            <a:r>
              <a:rPr lang="en-US" sz="1600" dirty="0"/>
              <a:t>: The </a:t>
            </a:r>
            <a:r>
              <a:rPr lang="en-US" sz="1600" b="1" dirty="0"/>
              <a:t>Premium Anchor</a:t>
            </a:r>
            <a:r>
              <a:rPr lang="en-US" sz="1600" dirty="0"/>
              <a:t> commanding the highest median monthly price (1,800 NOK)</a:t>
            </a:r>
          </a:p>
          <a:p>
            <a:pPr marL="285750" indent="-285750">
              <a:buClr>
                <a:schemeClr val="tx1"/>
              </a:buClr>
              <a:buFont typeface="Wingdings" panose="05000000000000000000" pitchFamily="2" charset="2"/>
              <a:buChar char="§"/>
            </a:pPr>
            <a:endParaRPr lang="en-US" sz="400" dirty="0"/>
          </a:p>
          <a:p>
            <a:pPr marL="742950" lvl="1" indent="-285750">
              <a:buClr>
                <a:schemeClr val="tx1"/>
              </a:buClr>
              <a:buFont typeface="Courier New" panose="02070309020205020404" pitchFamily="49" charset="0"/>
              <a:buChar char="o"/>
            </a:pPr>
            <a:r>
              <a:rPr lang="en-US" sz="1600" b="1" dirty="0"/>
              <a:t>Dead Inventory</a:t>
            </a:r>
            <a:r>
              <a:rPr lang="en-US" sz="1600" dirty="0"/>
              <a:t>: never-rented rates as high as 36.7%</a:t>
            </a:r>
          </a:p>
        </p:txBody>
      </p:sp>
      <p:sp>
        <p:nvSpPr>
          <p:cNvPr id="12" name="Oval 11">
            <a:extLst>
              <a:ext uri="{FF2B5EF4-FFF2-40B4-BE49-F238E27FC236}">
                <a16:creationId xmlns:a16="http://schemas.microsoft.com/office/drawing/2014/main" id="{C5EBB814-48B5-8EB5-9321-FBE78A43D9DE}"/>
              </a:ext>
            </a:extLst>
          </p:cNvPr>
          <p:cNvSpPr/>
          <p:nvPr/>
        </p:nvSpPr>
        <p:spPr>
          <a:xfrm>
            <a:off x="4020961" y="802176"/>
            <a:ext cx="1701478" cy="90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Connector: Curved 14">
            <a:extLst>
              <a:ext uri="{FF2B5EF4-FFF2-40B4-BE49-F238E27FC236}">
                <a16:creationId xmlns:a16="http://schemas.microsoft.com/office/drawing/2014/main" id="{B3BFFAF7-EBAE-9D4A-BA88-D5620AD43F33}"/>
              </a:ext>
            </a:extLst>
          </p:cNvPr>
          <p:cNvCxnSpPr>
            <a:stCxn id="12" idx="1"/>
          </p:cNvCxnSpPr>
          <p:nvPr/>
        </p:nvCxnSpPr>
        <p:spPr>
          <a:xfrm rot="16200000" flipH="1" flipV="1">
            <a:off x="3794250" y="461661"/>
            <a:ext cx="3571" cy="948203"/>
          </a:xfrm>
          <a:prstGeom prst="curvedConnector4">
            <a:avLst>
              <a:gd name="adj1" fmla="val -2512013"/>
              <a:gd name="adj2" fmla="val 9365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F7A452F0-42C2-5554-8711-EB288B626D51}"/>
              </a:ext>
            </a:extLst>
          </p:cNvPr>
          <p:cNvSpPr/>
          <p:nvPr/>
        </p:nvSpPr>
        <p:spPr>
          <a:xfrm>
            <a:off x="8274978" y="2236053"/>
            <a:ext cx="833378" cy="64537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9F999A3C-E1D8-C60F-C496-1F25CBA0BE94}"/>
              </a:ext>
            </a:extLst>
          </p:cNvPr>
          <p:cNvCxnSpPr>
            <a:cxnSpLocks/>
            <a:stCxn id="18" idx="0"/>
          </p:cNvCxnSpPr>
          <p:nvPr/>
        </p:nvCxnSpPr>
        <p:spPr>
          <a:xfrm flipV="1">
            <a:off x="8691667" y="1585732"/>
            <a:ext cx="532435" cy="6503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0DC3489B-AE83-6956-E663-CE24D9876C1C}"/>
              </a:ext>
            </a:extLst>
          </p:cNvPr>
          <p:cNvSpPr/>
          <p:nvPr/>
        </p:nvSpPr>
        <p:spPr>
          <a:xfrm rot="19153477">
            <a:off x="4820358" y="2907596"/>
            <a:ext cx="1010557" cy="12171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08A53EF-5E76-30D9-FB36-9C06DAB1F3B9}"/>
              </a:ext>
            </a:extLst>
          </p:cNvPr>
          <p:cNvSpPr txBox="1"/>
          <p:nvPr/>
        </p:nvSpPr>
        <p:spPr>
          <a:xfrm>
            <a:off x="7511051" y="4506219"/>
            <a:ext cx="4217043" cy="173893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Capital Workhorses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1" i="1" u="none" strike="noStrike" kern="1200" cap="none" spc="0" normalizeH="0" baseline="0" noProof="0" dirty="0">
              <a:ln>
                <a:noFill/>
              </a:ln>
              <a:solidFill>
                <a:prstClr val="black"/>
              </a:solidFill>
              <a:effectLst/>
              <a:uLnTx/>
              <a:uFillTx/>
              <a:latin typeface="Arial"/>
              <a:ea typeface="+mn-ea"/>
              <a:cs typeface="+mn-cs"/>
            </a:endParaRPr>
          </a:p>
          <a:p>
            <a:pPr marL="285750" lvl="0" indent="-285750">
              <a:buClr>
                <a:prstClr val="black"/>
              </a:buClr>
              <a:buFont typeface="Wingdings" panose="05000000000000000000" pitchFamily="2" charset="2"/>
              <a:buChar char="§"/>
              <a:defRPr/>
            </a:pPr>
            <a:r>
              <a:rPr kumimoji="0" lang="en-US" sz="1600" b="1" i="0" u="none" strike="noStrike" kern="1200" cap="none" spc="0" normalizeH="0" baseline="0" noProof="0" dirty="0">
                <a:ln>
                  <a:noFill/>
                </a:ln>
                <a:solidFill>
                  <a:srgbClr val="E999D1"/>
                </a:solidFill>
                <a:effectLst/>
                <a:uLnTx/>
                <a:uFillTx/>
                <a:latin typeface="Arial"/>
                <a:ea typeface="+mn-ea"/>
                <a:cs typeface="+mn-cs"/>
              </a:rPr>
              <a:t>Tops &amp; Blouses</a:t>
            </a:r>
            <a:r>
              <a:rPr kumimoji="0" lang="en-US" sz="1600" b="0" i="0" u="none" strike="noStrike" kern="1200" cap="none" spc="0" normalizeH="0" baseline="0" noProof="0" dirty="0">
                <a:ln>
                  <a:noFill/>
                </a:ln>
                <a:solidFill>
                  <a:prstClr val="black"/>
                </a:solidFill>
                <a:effectLst/>
                <a:uLnTx/>
                <a:uFillTx/>
                <a:latin typeface="Arial"/>
                <a:ea typeface="+mn-ea"/>
                <a:cs typeface="+mn-cs"/>
              </a:rPr>
              <a:t> (ROI 3.79) and </a:t>
            </a:r>
            <a:r>
              <a:rPr kumimoji="0" lang="en-US" sz="1600" b="1" i="0" u="none" strike="noStrike" kern="1200" cap="none" spc="0" normalizeH="0" baseline="0" noProof="0" dirty="0">
                <a:ln>
                  <a:noFill/>
                </a:ln>
                <a:solidFill>
                  <a:srgbClr val="82483C"/>
                </a:solidFill>
                <a:effectLst/>
                <a:uLnTx/>
                <a:uFillTx/>
                <a:latin typeface="Arial"/>
                <a:ea typeface="+mn-ea"/>
                <a:cs typeface="+mn-cs"/>
              </a:rPr>
              <a:t>Sweaters &amp; Knitwear</a:t>
            </a:r>
            <a:r>
              <a:rPr kumimoji="0" lang="en-US" sz="1600" b="0" i="0" u="none" strike="noStrike" kern="1200" cap="none" spc="0" normalizeH="0" baseline="0" noProof="0" dirty="0">
                <a:ln>
                  <a:noFill/>
                </a:ln>
                <a:solidFill>
                  <a:prstClr val="black"/>
                </a:solidFill>
                <a:effectLst/>
                <a:uLnTx/>
                <a:uFillTx/>
                <a:latin typeface="Arial"/>
                <a:ea typeface="+mn-ea"/>
                <a:cs typeface="+mn-cs"/>
              </a:rPr>
              <a:t> (ROI 3.59)</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l</a:t>
            </a:r>
            <a:r>
              <a:rPr lang="en-US" sz="1600" dirty="0">
                <a:solidFill>
                  <a:prstClr val="black"/>
                </a:solidFill>
              </a:rPr>
              <a:t>ow cost-base and high turnover allow these to recover their cost nearly 4x over.</a:t>
            </a:r>
            <a:r>
              <a:rPr kumimoji="0" lang="en-US" sz="1600" b="0" i="0" u="none" strike="noStrike" kern="1200" cap="none" spc="0" normalizeH="0" baseline="0" noProof="0" dirty="0">
                <a:ln>
                  <a:noFill/>
                </a:ln>
                <a:solidFill>
                  <a:prstClr val="black"/>
                </a:solidFill>
                <a:effectLst/>
                <a:uLnTx/>
                <a:uFillTx/>
                <a:latin typeface="Arial"/>
                <a:ea typeface="+mn-ea"/>
                <a:cs typeface="+mn-cs"/>
              </a:rPr>
              <a:t> </a:t>
            </a:r>
          </a:p>
        </p:txBody>
      </p:sp>
      <p:cxnSp>
        <p:nvCxnSpPr>
          <p:cNvPr id="38" name="Straight Arrow Connector 37">
            <a:extLst>
              <a:ext uri="{FF2B5EF4-FFF2-40B4-BE49-F238E27FC236}">
                <a16:creationId xmlns:a16="http://schemas.microsoft.com/office/drawing/2014/main" id="{9FBC40F0-1111-7D3D-78B9-D6145B85420E}"/>
              </a:ext>
            </a:extLst>
          </p:cNvPr>
          <p:cNvCxnSpPr>
            <a:cxnSpLocks/>
          </p:cNvCxnSpPr>
          <p:nvPr/>
        </p:nvCxnSpPr>
        <p:spPr>
          <a:xfrm>
            <a:off x="5819775" y="3851910"/>
            <a:ext cx="1657473" cy="8000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78F9F06D-1B59-7EDF-EC1A-F58C167556A3}"/>
              </a:ext>
            </a:extLst>
          </p:cNvPr>
          <p:cNvSpPr txBox="1"/>
          <p:nvPr/>
        </p:nvSpPr>
        <p:spPr>
          <a:xfrm>
            <a:off x="3796036" y="4762091"/>
            <a:ext cx="2812545" cy="1846659"/>
          </a:xfrm>
          <a:prstGeom prst="rect">
            <a:avLst/>
          </a:prstGeom>
          <a:noFill/>
        </p:spPr>
        <p:txBody>
          <a:bodyPr wrap="square">
            <a:spAutoFit/>
          </a:bodyPr>
          <a:lstStyle/>
          <a:p>
            <a:r>
              <a:rPr lang="en-US" sz="2200" b="1" i="1" u="sng" dirty="0"/>
              <a:t>Structural underperformers</a:t>
            </a:r>
          </a:p>
          <a:p>
            <a:endParaRPr lang="en-US" sz="600" b="1" i="1" dirty="0"/>
          </a:p>
          <a:p>
            <a:pPr marL="285750" indent="-285750">
              <a:buClr>
                <a:schemeClr val="tx1"/>
              </a:buClr>
              <a:buFont typeface="Wingdings" panose="05000000000000000000" pitchFamily="2" charset="2"/>
              <a:buChar char="§"/>
            </a:pPr>
            <a:r>
              <a:rPr lang="en-US" sz="1600" b="1" dirty="0">
                <a:solidFill>
                  <a:srgbClr val="7A7A7A"/>
                </a:solidFill>
              </a:rPr>
              <a:t>Trousers &amp; Skirts</a:t>
            </a:r>
            <a:r>
              <a:rPr lang="en-US" sz="1600" dirty="0"/>
              <a:t>:16% of inventory, 11% of revenue, never-rented rates up to 35.8%</a:t>
            </a:r>
          </a:p>
        </p:txBody>
      </p:sp>
      <p:sp>
        <p:nvSpPr>
          <p:cNvPr id="47" name="Oval 46">
            <a:extLst>
              <a:ext uri="{FF2B5EF4-FFF2-40B4-BE49-F238E27FC236}">
                <a16:creationId xmlns:a16="http://schemas.microsoft.com/office/drawing/2014/main" id="{0E5F1541-15DB-7424-73A3-5C427BCD06B6}"/>
              </a:ext>
            </a:extLst>
          </p:cNvPr>
          <p:cNvSpPr/>
          <p:nvPr/>
        </p:nvSpPr>
        <p:spPr>
          <a:xfrm>
            <a:off x="4386849" y="3104312"/>
            <a:ext cx="368031" cy="411999"/>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83FB2521-4453-CEEE-F140-5FA2EA27845C}"/>
              </a:ext>
            </a:extLst>
          </p:cNvPr>
          <p:cNvCxnSpPr>
            <a:stCxn id="47" idx="4"/>
          </p:cNvCxnSpPr>
          <p:nvPr/>
        </p:nvCxnSpPr>
        <p:spPr>
          <a:xfrm flipH="1">
            <a:off x="4386849" y="3516311"/>
            <a:ext cx="184016" cy="129952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916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B087D-7537-4179-1CFE-342CCC86243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E5223-6089-2258-4CB6-2629BB123D5F}"/>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3473A28E-DA5A-1516-6BAF-9771CC07EE83}"/>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6D42F55-3ABF-E466-9F50-FC1F03A58B05}"/>
              </a:ext>
            </a:extLst>
          </p:cNvPr>
          <p:cNvSpPr>
            <a:spLocks noGrp="1"/>
          </p:cNvSpPr>
          <p:nvPr>
            <p:ph type="sldNum" sz="quarter" idx="12"/>
          </p:nvPr>
        </p:nvSpPr>
        <p:spPr/>
        <p:txBody>
          <a:bodyPr/>
          <a:lstStyle/>
          <a:p>
            <a:fld id="{5ACA52AF-F19D-405C-AD5F-7D94B96A5CC3}" type="slidenum">
              <a:rPr lang="de-CH" noProof="0" smtClean="0"/>
              <a:t>6</a:t>
            </a:fld>
            <a:endParaRPr lang="de-CH" noProof="0"/>
          </a:p>
        </p:txBody>
      </p:sp>
      <p:sp>
        <p:nvSpPr>
          <p:cNvPr id="25" name="Titel 1">
            <a:extLst>
              <a:ext uri="{FF2B5EF4-FFF2-40B4-BE49-F238E27FC236}">
                <a16:creationId xmlns:a16="http://schemas.microsoft.com/office/drawing/2014/main" id="{E921A688-4E33-3968-7191-F1FD6EA191B0}"/>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Customer Affinity: style diversity predicts loyalty</a:t>
            </a:r>
          </a:p>
        </p:txBody>
      </p:sp>
      <p:pic>
        <p:nvPicPr>
          <p:cNvPr id="8" name="Picture 7">
            <a:extLst>
              <a:ext uri="{FF2B5EF4-FFF2-40B4-BE49-F238E27FC236}">
                <a16:creationId xmlns:a16="http://schemas.microsoft.com/office/drawing/2014/main" id="{34BD9E8B-44DA-ED0C-1DAC-85C0C80820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764" y="809018"/>
            <a:ext cx="7432532" cy="3688136"/>
          </a:xfrm>
          <a:prstGeom prst="rect">
            <a:avLst/>
          </a:prstGeom>
        </p:spPr>
      </p:pic>
      <p:sp>
        <p:nvSpPr>
          <p:cNvPr id="13" name="TextBox 12">
            <a:extLst>
              <a:ext uri="{FF2B5EF4-FFF2-40B4-BE49-F238E27FC236}">
                <a16:creationId xmlns:a16="http://schemas.microsoft.com/office/drawing/2014/main" id="{BBAF5380-3EE1-9A6A-E326-F00DEC6F158B}"/>
              </a:ext>
            </a:extLst>
          </p:cNvPr>
          <p:cNvSpPr txBox="1"/>
          <p:nvPr/>
        </p:nvSpPr>
        <p:spPr>
          <a:xfrm>
            <a:off x="7731889" y="726583"/>
            <a:ext cx="4460111" cy="3854901"/>
          </a:xfrm>
          <a:prstGeom prst="rect">
            <a:avLst/>
          </a:prstGeom>
          <a:noFill/>
        </p:spPr>
        <p:txBody>
          <a:bodyPr wrap="square" rtlCol="0">
            <a:spAutoFit/>
          </a:bodyPr>
          <a:lstStyle/>
          <a:p>
            <a:pPr marL="285750" indent="-285750">
              <a:buClr>
                <a:schemeClr val="tx1"/>
              </a:buClr>
              <a:buFont typeface="Wingdings" panose="05000000000000000000" pitchFamily="2" charset="2"/>
              <a:buChar char="Ø"/>
            </a:pPr>
            <a:r>
              <a:rPr lang="en-US" b="1" dirty="0">
                <a:solidFill>
                  <a:srgbClr val="66C2A5"/>
                </a:solidFill>
              </a:rPr>
              <a:t>Loyal</a:t>
            </a:r>
            <a:r>
              <a:rPr lang="en-US" dirty="0"/>
              <a:t> and </a:t>
            </a:r>
            <a:r>
              <a:rPr lang="en-US" b="1" dirty="0">
                <a:solidFill>
                  <a:srgbClr val="A6D854"/>
                </a:solidFill>
              </a:rPr>
              <a:t>Dormant</a:t>
            </a:r>
            <a:r>
              <a:rPr lang="en-US" dirty="0"/>
              <a:t> customers look </a:t>
            </a:r>
            <a:r>
              <a:rPr lang="en-US" b="1" dirty="0"/>
              <a:t>nearly identical</a:t>
            </a:r>
            <a:r>
              <a:rPr lang="en-US" dirty="0"/>
              <a:t> in style preference: ~39% Dresses, ~16% Jackets, ~15% Tops, ~13% Knitwear. Overall a broad engagement across 5+ categories </a:t>
            </a:r>
          </a:p>
          <a:p>
            <a:pPr marL="285750" indent="-285750">
              <a:buClr>
                <a:schemeClr val="tx1"/>
              </a:buClr>
              <a:buFont typeface="Wingdings" panose="05000000000000000000" pitchFamily="2" charset="2"/>
              <a:buChar char="Ø"/>
            </a:pPr>
            <a:endParaRPr lang="en-US" sz="1050" dirty="0"/>
          </a:p>
          <a:p>
            <a:pPr marL="285750" indent="-285750">
              <a:buClr>
                <a:schemeClr val="tx1"/>
              </a:buClr>
              <a:buFont typeface="Wingdings" panose="05000000000000000000" pitchFamily="2" charset="2"/>
              <a:buChar char="Ø"/>
            </a:pPr>
            <a:r>
              <a:rPr lang="en-US" b="1" dirty="0">
                <a:solidFill>
                  <a:srgbClr val="B1B1B1"/>
                </a:solidFill>
              </a:rPr>
              <a:t>At-Risk</a:t>
            </a:r>
            <a:r>
              <a:rPr lang="en-US" dirty="0"/>
              <a:t> customers: </a:t>
            </a:r>
            <a:r>
              <a:rPr lang="en-US" b="1" dirty="0"/>
              <a:t>79% of spending concentrated in a single category </a:t>
            </a:r>
            <a:r>
              <a:rPr lang="en-US" dirty="0"/>
              <a:t>(Dresses)</a:t>
            </a:r>
          </a:p>
          <a:p>
            <a:endParaRPr lang="en-US" dirty="0"/>
          </a:p>
          <a:p>
            <a:r>
              <a:rPr lang="en-US" b="1" i="1" u="sng" dirty="0"/>
              <a:t>Interpretation</a:t>
            </a:r>
            <a:r>
              <a:rPr lang="en-US" dirty="0"/>
              <a:t>: </a:t>
            </a:r>
            <a:r>
              <a:rPr lang="en-US" b="1" dirty="0">
                <a:solidFill>
                  <a:srgbClr val="B1B1B1"/>
                </a:solidFill>
              </a:rPr>
              <a:t>At-Risk</a:t>
            </a:r>
            <a:r>
              <a:rPr lang="en-US" dirty="0"/>
              <a:t> users come to </a:t>
            </a:r>
            <a:r>
              <a:rPr lang="en-US" dirty="0" err="1"/>
              <a:t>Vibrent</a:t>
            </a:r>
            <a:r>
              <a:rPr lang="en-US" dirty="0"/>
              <a:t> for a </a:t>
            </a:r>
            <a:r>
              <a:rPr lang="en-US" b="1" dirty="0"/>
              <a:t>one-time occasion</a:t>
            </a:r>
            <a:r>
              <a:rPr lang="en-US" dirty="0"/>
              <a:t> (a wedding, a gala), solve that need, then churn</a:t>
            </a:r>
          </a:p>
        </p:txBody>
      </p:sp>
      <p:sp>
        <p:nvSpPr>
          <p:cNvPr id="16" name="TextBox 15">
            <a:extLst>
              <a:ext uri="{FF2B5EF4-FFF2-40B4-BE49-F238E27FC236}">
                <a16:creationId xmlns:a16="http://schemas.microsoft.com/office/drawing/2014/main" id="{2FBD0106-54BC-71EB-9A35-8B58F31FB528}"/>
              </a:ext>
            </a:extLst>
          </p:cNvPr>
          <p:cNvSpPr txBox="1"/>
          <p:nvPr/>
        </p:nvSpPr>
        <p:spPr>
          <a:xfrm>
            <a:off x="9188904" y="4891785"/>
            <a:ext cx="2767746" cy="1323439"/>
          </a:xfrm>
          <a:prstGeom prst="rect">
            <a:avLst/>
          </a:prstGeom>
          <a:noFill/>
        </p:spPr>
        <p:txBody>
          <a:bodyPr wrap="square" rtlCol="0">
            <a:spAutoFit/>
          </a:bodyPr>
          <a:lstStyle/>
          <a:p>
            <a:pPr algn="ctr"/>
            <a:r>
              <a:rPr lang="en-US" sz="2000" b="1" dirty="0"/>
              <a:t>Later confirmed independently by the churn classifier's SFS feature selection</a:t>
            </a:r>
          </a:p>
        </p:txBody>
      </p:sp>
      <p:sp>
        <p:nvSpPr>
          <p:cNvPr id="17" name="TextBox 16">
            <a:extLst>
              <a:ext uri="{FF2B5EF4-FFF2-40B4-BE49-F238E27FC236}">
                <a16:creationId xmlns:a16="http://schemas.microsoft.com/office/drawing/2014/main" id="{517F1B99-D65F-B46B-3A16-F68A555568BB}"/>
              </a:ext>
            </a:extLst>
          </p:cNvPr>
          <p:cNvSpPr txBox="1"/>
          <p:nvPr/>
        </p:nvSpPr>
        <p:spPr>
          <a:xfrm>
            <a:off x="206076" y="4817301"/>
            <a:ext cx="3868214" cy="1384995"/>
          </a:xfrm>
          <a:prstGeom prst="rect">
            <a:avLst/>
          </a:prstGeom>
          <a:noFill/>
        </p:spPr>
        <p:txBody>
          <a:bodyPr wrap="square" rtlCol="0">
            <a:spAutoFit/>
          </a:bodyPr>
          <a:lstStyle/>
          <a:p>
            <a:r>
              <a:rPr lang="en-US" sz="2000" b="1" dirty="0"/>
              <a:t>Why this matters for modeling</a:t>
            </a:r>
          </a:p>
          <a:p>
            <a:endParaRPr lang="en-US" sz="1000" b="1" dirty="0"/>
          </a:p>
          <a:p>
            <a:r>
              <a:rPr lang="en-US" dirty="0"/>
              <a:t>Loyalty is not driven by which cluster a customer prefers, but by the diversity of their engagement </a:t>
            </a:r>
          </a:p>
        </p:txBody>
      </p:sp>
      <p:sp>
        <p:nvSpPr>
          <p:cNvPr id="19" name="TextBox 18">
            <a:extLst>
              <a:ext uri="{FF2B5EF4-FFF2-40B4-BE49-F238E27FC236}">
                <a16:creationId xmlns:a16="http://schemas.microsoft.com/office/drawing/2014/main" id="{E6CC9AA8-470C-4A26-52BB-B389C2499582}"/>
              </a:ext>
            </a:extLst>
          </p:cNvPr>
          <p:cNvSpPr txBox="1"/>
          <p:nvPr/>
        </p:nvSpPr>
        <p:spPr>
          <a:xfrm>
            <a:off x="4813825" y="4753286"/>
            <a:ext cx="3774589" cy="1600438"/>
          </a:xfrm>
          <a:prstGeom prst="rect">
            <a:avLst/>
          </a:prstGeom>
          <a:noFill/>
        </p:spPr>
        <p:txBody>
          <a:bodyPr wrap="square" rtlCol="0">
            <a:spAutoFit/>
          </a:bodyPr>
          <a:lstStyle/>
          <a:p>
            <a:r>
              <a:rPr lang="en-US" sz="2000" b="1" dirty="0"/>
              <a:t>This is formalized as Style Entropy</a:t>
            </a:r>
            <a:br>
              <a:rPr lang="en-US" sz="2000" b="1" u="sng" dirty="0"/>
            </a:br>
            <a:r>
              <a:rPr lang="en-US" sz="1200" dirty="0"/>
              <a:t>(Shannon entropy across cluster affinity shares)</a:t>
            </a:r>
          </a:p>
          <a:p>
            <a:endParaRPr lang="en-US" sz="1000" dirty="0"/>
          </a:p>
          <a:p>
            <a:r>
              <a:rPr lang="en-US" dirty="0"/>
              <a:t>The primary early-warning signal for latent attrition </a:t>
            </a:r>
          </a:p>
        </p:txBody>
      </p:sp>
      <p:cxnSp>
        <p:nvCxnSpPr>
          <p:cNvPr id="24" name="Straight Arrow Connector 23">
            <a:extLst>
              <a:ext uri="{FF2B5EF4-FFF2-40B4-BE49-F238E27FC236}">
                <a16:creationId xmlns:a16="http://schemas.microsoft.com/office/drawing/2014/main" id="{3774F50B-D184-AB94-A086-3EC2432F24BF}"/>
              </a:ext>
            </a:extLst>
          </p:cNvPr>
          <p:cNvCxnSpPr/>
          <p:nvPr/>
        </p:nvCxnSpPr>
        <p:spPr>
          <a:xfrm>
            <a:off x="4004841"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4C3EA91-358E-CEDC-1C85-F08F1632062D}"/>
              </a:ext>
            </a:extLst>
          </p:cNvPr>
          <p:cNvCxnSpPr/>
          <p:nvPr/>
        </p:nvCxnSpPr>
        <p:spPr>
          <a:xfrm>
            <a:off x="8391649"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8669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E8-D6F4-8EB9-7944-C940CC034C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E5E5FD5-7C7A-5D8B-B864-6B4B561EAF6A}"/>
              </a:ext>
            </a:extLst>
          </p:cNvPr>
          <p:cNvSpPr>
            <a:spLocks noGrp="1"/>
          </p:cNvSpPr>
          <p:nvPr>
            <p:ph type="title"/>
          </p:nvPr>
        </p:nvSpPr>
        <p:spPr/>
        <p:txBody>
          <a:bodyPr/>
          <a:lstStyle/>
          <a:p>
            <a:r>
              <a:rPr lang="de-DE" dirty="0"/>
              <a:t>The Baseline - </a:t>
            </a:r>
            <a:r>
              <a:rPr lang="en-US" dirty="0"/>
              <a:t>Comparing RFM-based Models</a:t>
            </a:r>
          </a:p>
        </p:txBody>
      </p:sp>
      <p:sp>
        <p:nvSpPr>
          <p:cNvPr id="4" name="Datumsplatzhalter 3">
            <a:extLst>
              <a:ext uri="{FF2B5EF4-FFF2-40B4-BE49-F238E27FC236}">
                <a16:creationId xmlns:a16="http://schemas.microsoft.com/office/drawing/2014/main" id="{03C7CEAA-E7E1-33D0-A27C-755DA6D64D17}"/>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25F40C72-0A4C-15E0-04ED-E35CDAC951A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6CB852D8-B209-4738-E27C-04B18571254A}"/>
              </a:ext>
            </a:extLst>
          </p:cNvPr>
          <p:cNvSpPr>
            <a:spLocks noGrp="1"/>
          </p:cNvSpPr>
          <p:nvPr>
            <p:ph type="sldNum" sz="quarter" idx="12"/>
          </p:nvPr>
        </p:nvSpPr>
        <p:spPr/>
        <p:txBody>
          <a:bodyPr/>
          <a:lstStyle/>
          <a:p>
            <a:fld id="{5ACA52AF-F19D-405C-AD5F-7D94B96A5CC3}" type="slidenum">
              <a:rPr lang="de-CH" noProof="0" smtClean="0"/>
              <a:t>7</a:t>
            </a:fld>
            <a:endParaRPr lang="de-CH" noProof="0"/>
          </a:p>
        </p:txBody>
      </p:sp>
      <p:sp>
        <p:nvSpPr>
          <p:cNvPr id="10" name="Inhaltsplatzhalter 9">
            <a:extLst>
              <a:ext uri="{FF2B5EF4-FFF2-40B4-BE49-F238E27FC236}">
                <a16:creationId xmlns:a16="http://schemas.microsoft.com/office/drawing/2014/main" id="{3A31A4A3-6617-7FB5-F944-46ABCB3B37EE}"/>
              </a:ext>
            </a:extLst>
          </p:cNvPr>
          <p:cNvSpPr>
            <a:spLocks noGrp="1"/>
          </p:cNvSpPr>
          <p:nvPr>
            <p:ph idx="1"/>
          </p:nvPr>
        </p:nvSpPr>
        <p:spPr>
          <a:xfrm>
            <a:off x="7779573" y="4249919"/>
            <a:ext cx="3975720" cy="1402541"/>
          </a:xfrm>
          <a:solidFill>
            <a:srgbClr val="FF7D7D"/>
          </a:solidFill>
          <a:ln w="38100">
            <a:solidFill>
              <a:srgbClr val="FF0000"/>
            </a:solidFill>
          </a:ln>
        </p:spPr>
        <p:txBody>
          <a:bodyPr anchor="ctr"/>
          <a:lstStyle/>
          <a:p>
            <a:pPr marL="182563" indent="0">
              <a:buNone/>
            </a:pPr>
            <a:r>
              <a:rPr lang="de-DE" dirty="0"/>
              <a:t>Problem: 2 different </a:t>
            </a:r>
            <a:r>
              <a:rPr lang="de-DE" dirty="0" err="1"/>
              <a:t>datasets</a:t>
            </a:r>
            <a:r>
              <a:rPr lang="de-DE" dirty="0"/>
              <a:t> used</a:t>
            </a:r>
          </a:p>
          <a:p>
            <a:pPr lvl="1"/>
            <a:r>
              <a:rPr lang="de-DE" dirty="0"/>
              <a:t>RFM Ridge &amp; </a:t>
            </a:r>
            <a:r>
              <a:rPr lang="de-DE" dirty="0" err="1"/>
              <a:t>LightGBM</a:t>
            </a:r>
            <a:r>
              <a:rPr lang="de-DE" dirty="0"/>
              <a:t> trained on post-2020 </a:t>
            </a:r>
            <a:r>
              <a:rPr lang="de-DE" dirty="0" err="1"/>
              <a:t>data</a:t>
            </a:r>
            <a:endParaRPr lang="de-DE" dirty="0"/>
          </a:p>
          <a:p>
            <a:pPr lvl="1"/>
            <a:r>
              <a:rPr lang="de-DE" dirty="0" err="1"/>
              <a:t>CLVTools</a:t>
            </a:r>
            <a:r>
              <a:rPr lang="de-DE" dirty="0"/>
              <a:t> on </a:t>
            </a:r>
            <a:r>
              <a:rPr lang="de-DE" dirty="0" err="1"/>
              <a:t>whole</a:t>
            </a:r>
            <a:r>
              <a:rPr lang="de-DE" dirty="0"/>
              <a:t> </a:t>
            </a:r>
            <a:r>
              <a:rPr lang="de-DE" dirty="0" err="1"/>
              <a:t>dataset</a:t>
            </a:r>
            <a:r>
              <a:rPr lang="de-DE" dirty="0"/>
              <a:t> </a:t>
            </a:r>
            <a:endParaRPr lang="en-US" dirty="0"/>
          </a:p>
        </p:txBody>
      </p:sp>
      <p:pic>
        <p:nvPicPr>
          <p:cNvPr id="14" name="Grafik 13">
            <a:extLst>
              <a:ext uri="{FF2B5EF4-FFF2-40B4-BE49-F238E27FC236}">
                <a16:creationId xmlns:a16="http://schemas.microsoft.com/office/drawing/2014/main" id="{4F144D59-303A-7D16-AC81-8EDD1A3A5B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5146" y="1600765"/>
            <a:ext cx="6826280" cy="4051695"/>
          </a:xfrm>
          <a:prstGeom prst="rect">
            <a:avLst/>
          </a:prstGeom>
        </p:spPr>
      </p:pic>
      <p:sp>
        <p:nvSpPr>
          <p:cNvPr id="3" name="Inhaltsplatzhalter 9">
            <a:extLst>
              <a:ext uri="{FF2B5EF4-FFF2-40B4-BE49-F238E27FC236}">
                <a16:creationId xmlns:a16="http://schemas.microsoft.com/office/drawing/2014/main" id="{19AACD25-75AC-77FA-3B17-52C76744CAAA}"/>
              </a:ext>
            </a:extLst>
          </p:cNvPr>
          <p:cNvSpPr txBox="1">
            <a:spLocks/>
          </p:cNvSpPr>
          <p:nvPr/>
        </p:nvSpPr>
        <p:spPr>
          <a:xfrm>
            <a:off x="7779573" y="1737586"/>
            <a:ext cx="3975720" cy="2221228"/>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CLVTools</a:t>
            </a:r>
            <a:r>
              <a:rPr lang="de-DE" dirty="0"/>
              <a:t>‘ Pareto/NBD </a:t>
            </a:r>
            <a:r>
              <a:rPr lang="de-DE" dirty="0" err="1"/>
              <a:t>model</a:t>
            </a:r>
            <a:r>
              <a:rPr lang="de-DE" dirty="0"/>
              <a:t> </a:t>
            </a:r>
            <a:r>
              <a:rPr lang="de-DE" dirty="0" err="1"/>
              <a:t>outperforms</a:t>
            </a:r>
            <a:r>
              <a:rPr lang="de-DE" dirty="0"/>
              <a:t> simple RFM-</a:t>
            </a:r>
            <a:r>
              <a:rPr lang="de-DE" dirty="0" err="1"/>
              <a:t>based</a:t>
            </a:r>
            <a:r>
              <a:rPr lang="de-DE" dirty="0"/>
              <a:t> </a:t>
            </a:r>
            <a:r>
              <a:rPr lang="de-DE" dirty="0" err="1"/>
              <a:t>models</a:t>
            </a:r>
            <a:endParaRPr lang="de-DE" dirty="0"/>
          </a:p>
          <a:p>
            <a:r>
              <a:rPr lang="de-DE" dirty="0"/>
              <a:t>Good </a:t>
            </a:r>
            <a:r>
              <a:rPr lang="de-DE" dirty="0" err="1"/>
              <a:t>starting</a:t>
            </a:r>
            <a:r>
              <a:rPr lang="de-DE" dirty="0"/>
              <a:t> </a:t>
            </a:r>
            <a:r>
              <a:rPr lang="de-DE" dirty="0" err="1"/>
              <a:t>point</a:t>
            </a:r>
            <a:r>
              <a:rPr lang="de-DE" dirty="0"/>
              <a:t> to </a:t>
            </a:r>
            <a:r>
              <a:rPr lang="de-DE" dirty="0" err="1"/>
              <a:t>compare</a:t>
            </a:r>
            <a:r>
              <a:rPr lang="de-DE" dirty="0"/>
              <a:t> </a:t>
            </a:r>
            <a:r>
              <a:rPr lang="de-DE" dirty="0" err="1"/>
              <a:t>CLVTools</a:t>
            </a:r>
            <a:r>
              <a:rPr lang="de-DE" dirty="0"/>
              <a:t> </a:t>
            </a:r>
            <a:r>
              <a:rPr lang="de-DE" dirty="0" err="1"/>
              <a:t>baseline</a:t>
            </a:r>
            <a:r>
              <a:rPr lang="de-DE" dirty="0"/>
              <a:t> </a:t>
            </a:r>
            <a:r>
              <a:rPr lang="de-DE" dirty="0" err="1"/>
              <a:t>against</a:t>
            </a:r>
            <a:r>
              <a:rPr lang="de-DE" dirty="0"/>
              <a:t> </a:t>
            </a:r>
            <a:r>
              <a:rPr lang="de-DE" dirty="0" err="1"/>
              <a:t>more</a:t>
            </a:r>
            <a:r>
              <a:rPr lang="de-DE" dirty="0"/>
              <a:t> </a:t>
            </a:r>
            <a:r>
              <a:rPr lang="de-DE" dirty="0" err="1"/>
              <a:t>advanced</a:t>
            </a:r>
            <a:r>
              <a:rPr lang="de-DE" dirty="0"/>
              <a:t> </a:t>
            </a:r>
            <a:r>
              <a:rPr lang="de-DE" dirty="0" err="1"/>
              <a:t>models</a:t>
            </a:r>
            <a:r>
              <a:rPr lang="de-DE" dirty="0"/>
              <a:t> with </a:t>
            </a:r>
            <a:r>
              <a:rPr lang="de-DE" dirty="0" err="1"/>
              <a:t>more</a:t>
            </a:r>
            <a:r>
              <a:rPr lang="de-DE" dirty="0"/>
              <a:t> </a:t>
            </a:r>
            <a:r>
              <a:rPr lang="de-DE" dirty="0" err="1"/>
              <a:t>features</a:t>
            </a:r>
            <a:endParaRPr lang="en-US" dirty="0"/>
          </a:p>
        </p:txBody>
      </p:sp>
    </p:spTree>
    <p:extLst>
      <p:ext uri="{BB962C8B-B14F-4D97-AF65-F5344CB8AC3E}">
        <p14:creationId xmlns:p14="http://schemas.microsoft.com/office/powerpoint/2010/main" val="3996090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D4647-6340-A6D3-4FB0-F0843325A1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4CF02FC-3047-4B5C-A799-176506FFEC75}"/>
              </a:ext>
            </a:extLst>
          </p:cNvPr>
          <p:cNvSpPr>
            <a:spLocks noGrp="1"/>
          </p:cNvSpPr>
          <p:nvPr>
            <p:ph type="title"/>
          </p:nvPr>
        </p:nvSpPr>
        <p:spPr/>
        <p:txBody>
          <a:bodyPr/>
          <a:lstStyle/>
          <a:p>
            <a:r>
              <a:rPr lang="de-DE" dirty="0"/>
              <a:t>The Baseline - </a:t>
            </a:r>
            <a:r>
              <a:rPr lang="en-US" dirty="0" err="1"/>
              <a:t>LightGBM</a:t>
            </a:r>
            <a:r>
              <a:rPr lang="en-US" dirty="0"/>
              <a:t> Already Beats the Industry Benchmark on RFM-Features</a:t>
            </a:r>
          </a:p>
        </p:txBody>
      </p:sp>
      <p:sp>
        <p:nvSpPr>
          <p:cNvPr id="4" name="Datumsplatzhalter 3">
            <a:extLst>
              <a:ext uri="{FF2B5EF4-FFF2-40B4-BE49-F238E27FC236}">
                <a16:creationId xmlns:a16="http://schemas.microsoft.com/office/drawing/2014/main" id="{730BE25F-08CF-12D5-098D-A017042BCF79}"/>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07B4C5EC-B4D0-CB46-5FAA-B96FF38D302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B3B88916-B099-8517-49BB-80572B5A93A0}"/>
              </a:ext>
            </a:extLst>
          </p:cNvPr>
          <p:cNvSpPr>
            <a:spLocks noGrp="1"/>
          </p:cNvSpPr>
          <p:nvPr>
            <p:ph type="sldNum" sz="quarter" idx="12"/>
          </p:nvPr>
        </p:nvSpPr>
        <p:spPr/>
        <p:txBody>
          <a:bodyPr/>
          <a:lstStyle/>
          <a:p>
            <a:fld id="{5ACA52AF-F19D-405C-AD5F-7D94B96A5CC3}" type="slidenum">
              <a:rPr lang="de-CH" noProof="0" smtClean="0"/>
              <a:t>8</a:t>
            </a:fld>
            <a:endParaRPr lang="de-CH" noProof="0"/>
          </a:p>
        </p:txBody>
      </p:sp>
      <p:sp>
        <p:nvSpPr>
          <p:cNvPr id="10" name="Inhaltsplatzhalter 9">
            <a:extLst>
              <a:ext uri="{FF2B5EF4-FFF2-40B4-BE49-F238E27FC236}">
                <a16:creationId xmlns:a16="http://schemas.microsoft.com/office/drawing/2014/main" id="{8755E392-7CBB-5EC3-5428-882110E5FFB5}"/>
              </a:ext>
            </a:extLst>
          </p:cNvPr>
          <p:cNvSpPr>
            <a:spLocks noGrp="1"/>
          </p:cNvSpPr>
          <p:nvPr>
            <p:ph idx="1"/>
          </p:nvPr>
        </p:nvSpPr>
        <p:spPr>
          <a:xfrm>
            <a:off x="7691718" y="1160351"/>
            <a:ext cx="3975720" cy="4932524"/>
          </a:xfrm>
        </p:spPr>
        <p:txBody>
          <a:bodyPr/>
          <a:lstStyle/>
          <a:p>
            <a:r>
              <a:rPr lang="en-US" b="1" dirty="0"/>
              <a:t>Ridge (4,385):</a:t>
            </a:r>
            <a:r>
              <a:rPr lang="en-US" dirty="0"/>
              <a:t> Wrong assumptions, linearity can't capture churn</a:t>
            </a:r>
          </a:p>
          <a:p>
            <a:pPr lvl="1">
              <a:buFont typeface="Wingdings" panose="05000000000000000000" pitchFamily="2" charset="2"/>
              <a:buChar char="§"/>
            </a:pPr>
            <a:r>
              <a:rPr lang="en-US" dirty="0"/>
              <a:t>Example:</a:t>
            </a:r>
          </a:p>
          <a:p>
            <a:pPr lvl="2">
              <a:buFont typeface="Courier New" panose="02070309020205020404" pitchFamily="49" charset="0"/>
              <a:buChar char="o"/>
            </a:pPr>
            <a:r>
              <a:rPr lang="en-US" dirty="0"/>
              <a:t>Recency: 245 days</a:t>
            </a:r>
          </a:p>
          <a:p>
            <a:pPr lvl="2">
              <a:buFont typeface="Courier New" panose="02070309020205020404" pitchFamily="49" charset="0"/>
              <a:buChar char="o"/>
            </a:pPr>
            <a:r>
              <a:rPr lang="en-US" dirty="0"/>
              <a:t>Frequency: 33 rentals</a:t>
            </a:r>
          </a:p>
          <a:p>
            <a:pPr lvl="2">
              <a:buFont typeface="Courier New" panose="02070309020205020404" pitchFamily="49" charset="0"/>
              <a:buChar char="o"/>
            </a:pPr>
            <a:r>
              <a:rPr lang="en-US" dirty="0"/>
              <a:t>Monetary: 55,451.33 NOK</a:t>
            </a:r>
          </a:p>
          <a:p>
            <a:pPr lvl="1">
              <a:buFont typeface="Wingdings" panose="05000000000000000000" pitchFamily="2" charset="2"/>
              <a:buChar char="§"/>
            </a:pPr>
            <a:r>
              <a:rPr lang="en-US" dirty="0"/>
              <a:t>Actual Revenue: 0 NOK</a:t>
            </a:r>
          </a:p>
          <a:p>
            <a:pPr lvl="1">
              <a:buFont typeface="Wingdings" panose="05000000000000000000" pitchFamily="2" charset="2"/>
              <a:buChar char="§"/>
            </a:pPr>
            <a:r>
              <a:rPr lang="en-US" dirty="0"/>
              <a:t>Predicted: 23,884.28 NOK</a:t>
            </a:r>
          </a:p>
          <a:p>
            <a:r>
              <a:rPr lang="en-US" b="1" dirty="0"/>
              <a:t>Pareto/NBD (3,756):</a:t>
            </a:r>
            <a:r>
              <a:rPr lang="en-US" dirty="0"/>
              <a:t> Industry benchmark, built for this problem, but constrained by fixed statistical assumptions</a:t>
            </a:r>
          </a:p>
          <a:p>
            <a:r>
              <a:rPr lang="en-US" b="1" dirty="0" err="1"/>
              <a:t>LightGBM</a:t>
            </a:r>
            <a:r>
              <a:rPr lang="en-US" b="1" dirty="0"/>
              <a:t> (2,536):</a:t>
            </a:r>
            <a:r>
              <a:rPr lang="en-US" dirty="0"/>
              <a:t> Learns churn from data directly → no assumptions needed</a:t>
            </a:r>
          </a:p>
        </p:txBody>
      </p:sp>
      <p:pic>
        <p:nvPicPr>
          <p:cNvPr id="14" name="Grafik 13">
            <a:extLst>
              <a:ext uri="{FF2B5EF4-FFF2-40B4-BE49-F238E27FC236}">
                <a16:creationId xmlns:a16="http://schemas.microsoft.com/office/drawing/2014/main" id="{C58F3C9C-C725-A9F3-0CA6-65F4A095B05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4872" y="1600765"/>
            <a:ext cx="6826828" cy="4051695"/>
          </a:xfrm>
          <a:prstGeom prst="rect">
            <a:avLst/>
          </a:prstGeom>
        </p:spPr>
      </p:pic>
      <p:sp>
        <p:nvSpPr>
          <p:cNvPr id="15" name="TextBox 9">
            <a:extLst>
              <a:ext uri="{FF2B5EF4-FFF2-40B4-BE49-F238E27FC236}">
                <a16:creationId xmlns:a16="http://schemas.microsoft.com/office/drawing/2014/main" id="{45340DE4-FDF0-8CA1-F53D-01B17105BE16}"/>
              </a:ext>
            </a:extLst>
          </p:cNvPr>
          <p:cNvSpPr txBox="1"/>
          <p:nvPr/>
        </p:nvSpPr>
        <p:spPr>
          <a:xfrm>
            <a:off x="3509874" y="1861058"/>
            <a:ext cx="1077065" cy="338554"/>
          </a:xfrm>
          <a:prstGeom prst="rect">
            <a:avLst/>
          </a:prstGeom>
          <a:noFill/>
        </p:spPr>
        <p:txBody>
          <a:bodyPr wrap="square" rtlCol="0">
            <a:spAutoFit/>
          </a:bodyPr>
          <a:lstStyle/>
          <a:p>
            <a:pPr algn="l"/>
            <a:r>
              <a:rPr lang="en-US" sz="1600" b="1" spc="0" baseline="0" dirty="0">
                <a:ln/>
                <a:solidFill>
                  <a:srgbClr val="FF0000"/>
                </a:solidFill>
                <a:latin typeface="Segoe UI"/>
                <a:cs typeface="Segoe UI"/>
                <a:sym typeface="Segoe UI"/>
                <a:rtl val="0"/>
              </a:rPr>
              <a:t>−</a:t>
            </a:r>
            <a:r>
              <a:rPr lang="en-US" sz="1600" b="1" dirty="0">
                <a:ln/>
                <a:solidFill>
                  <a:srgbClr val="FF0000"/>
                </a:solidFill>
                <a:latin typeface="Segoe UI"/>
                <a:cs typeface="Segoe UI"/>
                <a:sym typeface="Segoe UI"/>
                <a:rtl val="0"/>
              </a:rPr>
              <a:t>16.7</a:t>
            </a:r>
            <a:r>
              <a:rPr lang="en-US" sz="1600" b="1" spc="0" baseline="0" dirty="0">
                <a:ln/>
                <a:solidFill>
                  <a:srgbClr val="FF0000"/>
                </a:solidFill>
                <a:latin typeface="Segoe UI"/>
                <a:cs typeface="Segoe UI"/>
                <a:sym typeface="Segoe UI"/>
                <a:rtl val="0"/>
              </a:rPr>
              <a:t>%</a:t>
            </a:r>
          </a:p>
        </p:txBody>
      </p:sp>
      <p:cxnSp>
        <p:nvCxnSpPr>
          <p:cNvPr id="16" name="Straight Arrow Connector 12">
            <a:extLst>
              <a:ext uri="{FF2B5EF4-FFF2-40B4-BE49-F238E27FC236}">
                <a16:creationId xmlns:a16="http://schemas.microsoft.com/office/drawing/2014/main" id="{114E658D-A7BF-6A83-F27D-751C65EDAD61}"/>
              </a:ext>
            </a:extLst>
          </p:cNvPr>
          <p:cNvCxnSpPr>
            <a:cxnSpLocks/>
          </p:cNvCxnSpPr>
          <p:nvPr/>
        </p:nvCxnSpPr>
        <p:spPr>
          <a:xfrm>
            <a:off x="5262040" y="2746283"/>
            <a:ext cx="833960" cy="606410"/>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2">
            <a:extLst>
              <a:ext uri="{FF2B5EF4-FFF2-40B4-BE49-F238E27FC236}">
                <a16:creationId xmlns:a16="http://schemas.microsoft.com/office/drawing/2014/main" id="{43B77D13-A6E2-E9CA-4C3F-9ED9651E12E6}"/>
              </a:ext>
            </a:extLst>
          </p:cNvPr>
          <p:cNvCxnSpPr>
            <a:cxnSpLocks/>
          </p:cNvCxnSpPr>
          <p:nvPr/>
        </p:nvCxnSpPr>
        <p:spPr>
          <a:xfrm flipH="1" flipV="1">
            <a:off x="3302598" y="2030335"/>
            <a:ext cx="645458" cy="338554"/>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9">
            <a:extLst>
              <a:ext uri="{FF2B5EF4-FFF2-40B4-BE49-F238E27FC236}">
                <a16:creationId xmlns:a16="http://schemas.microsoft.com/office/drawing/2014/main" id="{D2CD130B-AFD3-667E-D3E8-35BC447CCE99}"/>
              </a:ext>
            </a:extLst>
          </p:cNvPr>
          <p:cNvSpPr txBox="1"/>
          <p:nvPr/>
        </p:nvSpPr>
        <p:spPr>
          <a:xfrm>
            <a:off x="5703383" y="2818249"/>
            <a:ext cx="977116" cy="338554"/>
          </a:xfrm>
          <a:prstGeom prst="rect">
            <a:avLst/>
          </a:prstGeom>
          <a:noFill/>
        </p:spPr>
        <p:txBody>
          <a:bodyPr wrap="square" rtlCol="0">
            <a:spAutoFit/>
          </a:bodyPr>
          <a:lstStyle/>
          <a:p>
            <a:pPr algn="l"/>
            <a:r>
              <a:rPr lang="en-US" sz="1600" b="1" spc="0" baseline="0" dirty="0">
                <a:ln/>
                <a:solidFill>
                  <a:srgbClr val="00B050"/>
                </a:solidFill>
                <a:latin typeface="Segoe UI"/>
                <a:cs typeface="Segoe UI"/>
                <a:sym typeface="Segoe UI"/>
                <a:rtl val="0"/>
              </a:rPr>
              <a:t>−32,5%</a:t>
            </a:r>
          </a:p>
        </p:txBody>
      </p:sp>
    </p:spTree>
    <p:extLst>
      <p:ext uri="{BB962C8B-B14F-4D97-AF65-F5344CB8AC3E}">
        <p14:creationId xmlns:p14="http://schemas.microsoft.com/office/powerpoint/2010/main" val="425783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759AEA-ADE0-8B5F-9FC5-40C26593B114}"/>
              </a:ext>
            </a:extLst>
          </p:cNvPr>
          <p:cNvSpPr>
            <a:spLocks noGrp="1"/>
          </p:cNvSpPr>
          <p:nvPr>
            <p:ph type="title"/>
          </p:nvPr>
        </p:nvSpPr>
        <p:spPr/>
        <p:txBody>
          <a:bodyPr/>
          <a:lstStyle/>
          <a:p>
            <a:r>
              <a:rPr lang="de-DE" dirty="0"/>
              <a:t>The Modeling Journey – </a:t>
            </a:r>
            <a:r>
              <a:rPr lang="de-DE" dirty="0" err="1"/>
              <a:t>Four</a:t>
            </a:r>
            <a:r>
              <a:rPr lang="de-DE" dirty="0"/>
              <a:t> Problems, </a:t>
            </a:r>
            <a:r>
              <a:rPr lang="de-DE" dirty="0" err="1"/>
              <a:t>Four</a:t>
            </a:r>
            <a:r>
              <a:rPr lang="de-DE" dirty="0"/>
              <a:t> Solutions, </a:t>
            </a:r>
            <a:r>
              <a:rPr lang="de-DE" dirty="0" err="1"/>
              <a:t>Three</a:t>
            </a:r>
            <a:r>
              <a:rPr lang="de-DE" dirty="0"/>
              <a:t> </a:t>
            </a:r>
            <a:r>
              <a:rPr lang="de-DE" dirty="0" err="1"/>
              <a:t>Improvements</a:t>
            </a:r>
            <a:endParaRPr lang="en-US" dirty="0"/>
          </a:p>
        </p:txBody>
      </p:sp>
      <p:sp>
        <p:nvSpPr>
          <p:cNvPr id="4" name="Datumsplatzhalter 3">
            <a:extLst>
              <a:ext uri="{FF2B5EF4-FFF2-40B4-BE49-F238E27FC236}">
                <a16:creationId xmlns:a16="http://schemas.microsoft.com/office/drawing/2014/main" id="{0C6FD19B-C7D3-84C1-8505-5608E91C6B7D}"/>
              </a:ext>
            </a:extLst>
          </p:cNvPr>
          <p:cNvSpPr>
            <a:spLocks noGrp="1"/>
          </p:cNvSpPr>
          <p:nvPr>
            <p:ph type="dt" sz="half" idx="10"/>
          </p:nvPr>
        </p:nvSpPr>
        <p:spPr/>
        <p:txBody>
          <a:bodyPr/>
          <a:lstStyle/>
          <a:p>
            <a:fld id="{1332D50A-E6CC-4D88-8908-F2129032F4C7}" type="datetime1">
              <a:rPr lang="de-CH" noProof="0" smtClean="0"/>
              <a:t>30.04.2026</a:t>
            </a:fld>
            <a:endParaRPr lang="de-CH" noProof="0"/>
          </a:p>
        </p:txBody>
      </p:sp>
      <p:sp>
        <p:nvSpPr>
          <p:cNvPr id="6" name="Foliennummernplatzhalter 5">
            <a:extLst>
              <a:ext uri="{FF2B5EF4-FFF2-40B4-BE49-F238E27FC236}">
                <a16:creationId xmlns:a16="http://schemas.microsoft.com/office/drawing/2014/main" id="{D55B950A-9322-E0B8-2BC3-CF7E094AB132}"/>
              </a:ext>
            </a:extLst>
          </p:cNvPr>
          <p:cNvSpPr>
            <a:spLocks noGrp="1"/>
          </p:cNvSpPr>
          <p:nvPr>
            <p:ph type="sldNum" sz="quarter" idx="12"/>
          </p:nvPr>
        </p:nvSpPr>
        <p:spPr/>
        <p:txBody>
          <a:bodyPr/>
          <a:lstStyle/>
          <a:p>
            <a:fld id="{5ACA52AF-F19D-405C-AD5F-7D94B96A5CC3}" type="slidenum">
              <a:rPr lang="de-CH" noProof="0" smtClean="0"/>
              <a:t>9</a:t>
            </a:fld>
            <a:endParaRPr lang="de-CH" noProof="0"/>
          </a:p>
        </p:txBody>
      </p:sp>
      <p:sp>
        <p:nvSpPr>
          <p:cNvPr id="7" name="Textplatzhalter 9">
            <a:extLst>
              <a:ext uri="{FF2B5EF4-FFF2-40B4-BE49-F238E27FC236}">
                <a16:creationId xmlns:a16="http://schemas.microsoft.com/office/drawing/2014/main" id="{3A37B601-8638-6240-48F4-199AAAA28A26}"/>
              </a:ext>
            </a:extLst>
          </p:cNvPr>
          <p:cNvSpPr txBox="1">
            <a:spLocks/>
          </p:cNvSpPr>
          <p:nvPr/>
        </p:nvSpPr>
        <p:spPr bwMode="auto">
          <a:xfrm>
            <a:off x="1080000"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Problem </a:t>
            </a:r>
            <a:r>
              <a:rPr lang="de-DE" dirty="0" err="1"/>
              <a:t>Identified</a:t>
            </a:r>
            <a:endParaRPr lang="de-DE" dirty="0"/>
          </a:p>
        </p:txBody>
      </p:sp>
      <p:sp>
        <p:nvSpPr>
          <p:cNvPr id="11" name="Textplatzhalter 9">
            <a:extLst>
              <a:ext uri="{FF2B5EF4-FFF2-40B4-BE49-F238E27FC236}">
                <a16:creationId xmlns:a16="http://schemas.microsoft.com/office/drawing/2014/main" id="{BE4D74C0-67D6-E35E-7893-9267BB4010AA}"/>
              </a:ext>
            </a:extLst>
          </p:cNvPr>
          <p:cNvSpPr txBox="1">
            <a:spLocks/>
          </p:cNvSpPr>
          <p:nvPr/>
        </p:nvSpPr>
        <p:spPr bwMode="auto">
          <a:xfrm>
            <a:off x="7669351"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MAE Impact</a:t>
            </a:r>
          </a:p>
        </p:txBody>
      </p:sp>
      <p:sp>
        <p:nvSpPr>
          <p:cNvPr id="12" name="Textplatzhalter 9">
            <a:extLst>
              <a:ext uri="{FF2B5EF4-FFF2-40B4-BE49-F238E27FC236}">
                <a16:creationId xmlns:a16="http://schemas.microsoft.com/office/drawing/2014/main" id="{96C98B6E-9473-89A0-25BA-9042C3415D10}"/>
              </a:ext>
            </a:extLst>
          </p:cNvPr>
          <p:cNvSpPr txBox="1">
            <a:spLocks/>
          </p:cNvSpPr>
          <p:nvPr/>
        </p:nvSpPr>
        <p:spPr bwMode="auto">
          <a:xfrm>
            <a:off x="4374676"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Solution Applied</a:t>
            </a:r>
          </a:p>
        </p:txBody>
      </p:sp>
      <p:grpSp>
        <p:nvGrpSpPr>
          <p:cNvPr id="25" name="Gruppieren 24">
            <a:extLst>
              <a:ext uri="{FF2B5EF4-FFF2-40B4-BE49-F238E27FC236}">
                <a16:creationId xmlns:a16="http://schemas.microsoft.com/office/drawing/2014/main" id="{0FE0CD6B-EE5C-9611-085D-AEF7DF7CDF8E}"/>
              </a:ext>
            </a:extLst>
          </p:cNvPr>
          <p:cNvGrpSpPr/>
          <p:nvPr/>
        </p:nvGrpSpPr>
        <p:grpSpPr>
          <a:xfrm>
            <a:off x="1080000" y="2299320"/>
            <a:ext cx="9721350" cy="540000"/>
            <a:chOff x="1080000" y="2299320"/>
            <a:chExt cx="9721350" cy="540000"/>
          </a:xfrm>
        </p:grpSpPr>
        <p:sp>
          <p:nvSpPr>
            <p:cNvPr id="13" name="Textplatzhalter 31">
              <a:extLst>
                <a:ext uri="{FF2B5EF4-FFF2-40B4-BE49-F238E27FC236}">
                  <a16:creationId xmlns:a16="http://schemas.microsoft.com/office/drawing/2014/main" id="{5744B351-07F3-B1CE-25FB-72D9403AF08E}"/>
                </a:ext>
              </a:extLst>
            </p:cNvPr>
            <p:cNvSpPr txBox="1">
              <a:spLocks/>
            </p:cNvSpPr>
            <p:nvPr/>
          </p:nvSpPr>
          <p:spPr>
            <a:xfrm>
              <a:off x="1080000"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Baseline </a:t>
              </a:r>
              <a:r>
                <a:rPr lang="de-DE" dirty="0" err="1"/>
                <a:t>soley</a:t>
              </a:r>
              <a:r>
                <a:rPr lang="de-DE" dirty="0"/>
                <a:t> </a:t>
              </a:r>
              <a:r>
                <a:rPr lang="de-DE" dirty="0" err="1"/>
                <a:t>relies</a:t>
              </a:r>
              <a:r>
                <a:rPr lang="de-DE" dirty="0"/>
                <a:t> on 3 </a:t>
              </a:r>
              <a:r>
                <a:rPr lang="de-DE" dirty="0" err="1"/>
                <a:t>features</a:t>
              </a:r>
              <a:endParaRPr lang="de-DE" dirty="0"/>
            </a:p>
          </p:txBody>
        </p:sp>
        <p:sp>
          <p:nvSpPr>
            <p:cNvPr id="14" name="Textplatzhalter 31">
              <a:extLst>
                <a:ext uri="{FF2B5EF4-FFF2-40B4-BE49-F238E27FC236}">
                  <a16:creationId xmlns:a16="http://schemas.microsoft.com/office/drawing/2014/main" id="{7EC80B23-0B3A-2979-151B-2C49047D0AF3}"/>
                </a:ext>
              </a:extLst>
            </p:cNvPr>
            <p:cNvSpPr txBox="1">
              <a:spLocks/>
            </p:cNvSpPr>
            <p:nvPr/>
          </p:nvSpPr>
          <p:spPr>
            <a:xfrm>
              <a:off x="4374675"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Feature </a:t>
              </a:r>
              <a:r>
                <a:rPr lang="de-DE" dirty="0" err="1"/>
                <a:t>engineering</a:t>
              </a:r>
              <a:r>
                <a:rPr lang="de-DE" dirty="0"/>
                <a:t> </a:t>
              </a:r>
              <a:r>
                <a:rPr lang="de-DE" dirty="0" err="1"/>
                <a:t>of</a:t>
              </a:r>
              <a:r>
                <a:rPr lang="de-DE" dirty="0"/>
                <a:t> additional 33 </a:t>
              </a:r>
              <a:r>
                <a:rPr lang="de-DE" dirty="0" err="1"/>
                <a:t>features</a:t>
              </a:r>
              <a:endParaRPr lang="de-DE" dirty="0"/>
            </a:p>
          </p:txBody>
        </p:sp>
        <p:sp>
          <p:nvSpPr>
            <p:cNvPr id="15" name="Textplatzhalter 31">
              <a:extLst>
                <a:ext uri="{FF2B5EF4-FFF2-40B4-BE49-F238E27FC236}">
                  <a16:creationId xmlns:a16="http://schemas.microsoft.com/office/drawing/2014/main" id="{D07B4449-0CFA-D297-31BB-25338E6EED90}"/>
                </a:ext>
              </a:extLst>
            </p:cNvPr>
            <p:cNvSpPr txBox="1">
              <a:spLocks/>
            </p:cNvSpPr>
            <p:nvPr/>
          </p:nvSpPr>
          <p:spPr>
            <a:xfrm>
              <a:off x="7669351"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2,536 → 3,296 NOK</a:t>
              </a:r>
            </a:p>
          </p:txBody>
        </p:sp>
      </p:grpSp>
      <p:grpSp>
        <p:nvGrpSpPr>
          <p:cNvPr id="26" name="Gruppieren 25">
            <a:extLst>
              <a:ext uri="{FF2B5EF4-FFF2-40B4-BE49-F238E27FC236}">
                <a16:creationId xmlns:a16="http://schemas.microsoft.com/office/drawing/2014/main" id="{94B29011-837E-BF3C-CCF0-78FF623A0F90}"/>
              </a:ext>
            </a:extLst>
          </p:cNvPr>
          <p:cNvGrpSpPr/>
          <p:nvPr/>
        </p:nvGrpSpPr>
        <p:grpSpPr>
          <a:xfrm>
            <a:off x="1080000" y="3355741"/>
            <a:ext cx="9721350" cy="540000"/>
            <a:chOff x="1080000" y="3194428"/>
            <a:chExt cx="9721350" cy="540000"/>
          </a:xfrm>
        </p:grpSpPr>
        <p:sp>
          <p:nvSpPr>
            <p:cNvPr id="16" name="Textplatzhalter 31">
              <a:extLst>
                <a:ext uri="{FF2B5EF4-FFF2-40B4-BE49-F238E27FC236}">
                  <a16:creationId xmlns:a16="http://schemas.microsoft.com/office/drawing/2014/main" id="{E6ED1C34-6A7C-735C-89AA-F51AC68FE057}"/>
                </a:ext>
              </a:extLst>
            </p:cNvPr>
            <p:cNvSpPr txBox="1">
              <a:spLocks/>
            </p:cNvSpPr>
            <p:nvPr/>
          </p:nvSpPr>
          <p:spPr>
            <a:xfrm>
              <a:off x="1080000"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93% </a:t>
              </a:r>
              <a:r>
                <a:rPr lang="de-DE" dirty="0" err="1"/>
                <a:t>of</a:t>
              </a:r>
              <a:r>
                <a:rPr lang="de-DE" dirty="0"/>
                <a:t> </a:t>
              </a:r>
              <a:r>
                <a:rPr lang="de-DE" dirty="0" err="1"/>
                <a:t>customers</a:t>
              </a:r>
              <a:r>
                <a:rPr lang="de-DE" dirty="0"/>
                <a:t> </a:t>
              </a:r>
              <a:r>
                <a:rPr lang="de-DE" dirty="0" err="1"/>
                <a:t>generate</a:t>
              </a:r>
              <a:r>
                <a:rPr lang="de-DE" dirty="0"/>
                <a:t> </a:t>
              </a:r>
              <a:r>
                <a:rPr lang="de-DE" dirty="0" err="1"/>
                <a:t>zero</a:t>
              </a:r>
              <a:r>
                <a:rPr lang="de-DE" dirty="0"/>
                <a:t> </a:t>
              </a:r>
              <a:r>
                <a:rPr lang="de-DE" dirty="0" err="1"/>
                <a:t>revenue</a:t>
              </a:r>
              <a:endParaRPr lang="de-DE" dirty="0"/>
            </a:p>
          </p:txBody>
        </p:sp>
        <p:sp>
          <p:nvSpPr>
            <p:cNvPr id="17" name="Textplatzhalter 31">
              <a:extLst>
                <a:ext uri="{FF2B5EF4-FFF2-40B4-BE49-F238E27FC236}">
                  <a16:creationId xmlns:a16="http://schemas.microsoft.com/office/drawing/2014/main" id="{6D24B187-DD88-F406-AA69-1018872F06DE}"/>
                </a:ext>
              </a:extLst>
            </p:cNvPr>
            <p:cNvSpPr txBox="1">
              <a:spLocks/>
            </p:cNvSpPr>
            <p:nvPr/>
          </p:nvSpPr>
          <p:spPr>
            <a:xfrm>
              <a:off x="4374675"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Tweedie </a:t>
              </a:r>
              <a:r>
                <a:rPr lang="de-DE" dirty="0" err="1"/>
                <a:t>distribution</a:t>
              </a:r>
              <a:r>
                <a:rPr lang="de-DE" dirty="0"/>
                <a:t> </a:t>
              </a:r>
              <a:r>
                <a:rPr lang="de-DE" dirty="0" err="1"/>
                <a:t>objective</a:t>
              </a:r>
              <a:r>
                <a:rPr lang="de-DE" dirty="0"/>
                <a:t> </a:t>
              </a:r>
            </a:p>
          </p:txBody>
        </p:sp>
        <p:sp>
          <p:nvSpPr>
            <p:cNvPr id="18" name="Textplatzhalter 31">
              <a:extLst>
                <a:ext uri="{FF2B5EF4-FFF2-40B4-BE49-F238E27FC236}">
                  <a16:creationId xmlns:a16="http://schemas.microsoft.com/office/drawing/2014/main" id="{BE0D14C2-54D3-C85F-DB36-591FD2CB0C5F}"/>
                </a:ext>
              </a:extLst>
            </p:cNvPr>
            <p:cNvSpPr txBox="1">
              <a:spLocks/>
            </p:cNvSpPr>
            <p:nvPr/>
          </p:nvSpPr>
          <p:spPr>
            <a:xfrm>
              <a:off x="7669351"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3,296 → 2,595 NOK</a:t>
              </a:r>
            </a:p>
          </p:txBody>
        </p:sp>
      </p:grpSp>
      <p:grpSp>
        <p:nvGrpSpPr>
          <p:cNvPr id="27" name="Gruppieren 26">
            <a:extLst>
              <a:ext uri="{FF2B5EF4-FFF2-40B4-BE49-F238E27FC236}">
                <a16:creationId xmlns:a16="http://schemas.microsoft.com/office/drawing/2014/main" id="{3451980C-B3AC-AEF9-A19F-946C23990AAA}"/>
              </a:ext>
            </a:extLst>
          </p:cNvPr>
          <p:cNvGrpSpPr/>
          <p:nvPr/>
        </p:nvGrpSpPr>
        <p:grpSpPr>
          <a:xfrm>
            <a:off x="1080000" y="4412162"/>
            <a:ext cx="9721350" cy="540000"/>
            <a:chOff x="1080000" y="4089536"/>
            <a:chExt cx="9721350" cy="540000"/>
          </a:xfrm>
        </p:grpSpPr>
        <p:sp>
          <p:nvSpPr>
            <p:cNvPr id="19" name="Textplatzhalter 31">
              <a:extLst>
                <a:ext uri="{FF2B5EF4-FFF2-40B4-BE49-F238E27FC236}">
                  <a16:creationId xmlns:a16="http://schemas.microsoft.com/office/drawing/2014/main" id="{4202EA5D-5CDD-6EEB-BDFD-1D492C1BB987}"/>
                </a:ext>
              </a:extLst>
            </p:cNvPr>
            <p:cNvSpPr txBox="1">
              <a:spLocks/>
            </p:cNvSpPr>
            <p:nvPr/>
          </p:nvSpPr>
          <p:spPr>
            <a:xfrm>
              <a:off x="1080000"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Redundant &amp; </a:t>
              </a:r>
              <a:r>
                <a:rPr lang="de-DE" dirty="0" err="1"/>
                <a:t>noisy</a:t>
              </a:r>
              <a:r>
                <a:rPr lang="de-DE" dirty="0"/>
                <a:t> </a:t>
              </a:r>
              <a:r>
                <a:rPr lang="de-DE" dirty="0" err="1"/>
                <a:t>features</a:t>
              </a:r>
              <a:endParaRPr lang="de-DE" dirty="0"/>
            </a:p>
          </p:txBody>
        </p:sp>
        <p:sp>
          <p:nvSpPr>
            <p:cNvPr id="20" name="Textplatzhalter 31">
              <a:extLst>
                <a:ext uri="{FF2B5EF4-FFF2-40B4-BE49-F238E27FC236}">
                  <a16:creationId xmlns:a16="http://schemas.microsoft.com/office/drawing/2014/main" id="{A7A6404A-B40A-9F31-E6FF-17CA4A95C62F}"/>
                </a:ext>
              </a:extLst>
            </p:cNvPr>
            <p:cNvSpPr txBox="1">
              <a:spLocks/>
            </p:cNvSpPr>
            <p:nvPr/>
          </p:nvSpPr>
          <p:spPr>
            <a:xfrm>
              <a:off x="4374675"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err="1"/>
                <a:t>Sequential</a:t>
              </a:r>
              <a:r>
                <a:rPr lang="de-DE" dirty="0"/>
                <a:t> Forward </a:t>
              </a:r>
              <a:r>
                <a:rPr lang="de-DE" dirty="0" err="1"/>
                <a:t>Selection</a:t>
              </a:r>
              <a:r>
                <a:rPr lang="de-DE" dirty="0"/>
                <a:t> (18 </a:t>
              </a:r>
              <a:r>
                <a:rPr lang="de-DE" dirty="0" err="1"/>
                <a:t>features</a:t>
              </a:r>
              <a:r>
                <a:rPr lang="de-DE" dirty="0"/>
                <a:t>)</a:t>
              </a:r>
            </a:p>
          </p:txBody>
        </p:sp>
        <p:sp>
          <p:nvSpPr>
            <p:cNvPr id="21" name="Textplatzhalter 31">
              <a:extLst>
                <a:ext uri="{FF2B5EF4-FFF2-40B4-BE49-F238E27FC236}">
                  <a16:creationId xmlns:a16="http://schemas.microsoft.com/office/drawing/2014/main" id="{EC870E93-CF03-2AB7-74CA-7537ACC07B5C}"/>
                </a:ext>
              </a:extLst>
            </p:cNvPr>
            <p:cNvSpPr txBox="1">
              <a:spLocks/>
            </p:cNvSpPr>
            <p:nvPr/>
          </p:nvSpPr>
          <p:spPr>
            <a:xfrm>
              <a:off x="7669351"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2,595 → 2,408 NOK</a:t>
              </a:r>
            </a:p>
          </p:txBody>
        </p:sp>
      </p:grpSp>
      <p:grpSp>
        <p:nvGrpSpPr>
          <p:cNvPr id="28" name="Gruppieren 27">
            <a:extLst>
              <a:ext uri="{FF2B5EF4-FFF2-40B4-BE49-F238E27FC236}">
                <a16:creationId xmlns:a16="http://schemas.microsoft.com/office/drawing/2014/main" id="{768AB2A1-9535-0F9D-44FD-41747F8BE797}"/>
              </a:ext>
            </a:extLst>
          </p:cNvPr>
          <p:cNvGrpSpPr/>
          <p:nvPr/>
        </p:nvGrpSpPr>
        <p:grpSpPr>
          <a:xfrm>
            <a:off x="1080000" y="5468583"/>
            <a:ext cx="9721350" cy="540000"/>
            <a:chOff x="1080000" y="4984644"/>
            <a:chExt cx="9721350" cy="540000"/>
          </a:xfrm>
        </p:grpSpPr>
        <p:sp>
          <p:nvSpPr>
            <p:cNvPr id="22" name="Textplatzhalter 31">
              <a:extLst>
                <a:ext uri="{FF2B5EF4-FFF2-40B4-BE49-F238E27FC236}">
                  <a16:creationId xmlns:a16="http://schemas.microsoft.com/office/drawing/2014/main" id="{B1DB0097-357C-EB16-A64C-E6F35B29F741}"/>
                </a:ext>
              </a:extLst>
            </p:cNvPr>
            <p:cNvSpPr txBox="1">
              <a:spLocks/>
            </p:cNvSpPr>
            <p:nvPr/>
          </p:nvSpPr>
          <p:spPr>
            <a:xfrm>
              <a:off x="1080000"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Latent </a:t>
              </a:r>
              <a:r>
                <a:rPr lang="de-DE" dirty="0" err="1"/>
                <a:t>churners</a:t>
              </a:r>
              <a:r>
                <a:rPr lang="de-DE" dirty="0"/>
                <a:t> </a:t>
              </a:r>
              <a:r>
                <a:rPr lang="de-DE" dirty="0" err="1"/>
                <a:t>inflate</a:t>
              </a:r>
              <a:r>
                <a:rPr lang="de-DE" dirty="0"/>
                <a:t> </a:t>
              </a:r>
              <a:r>
                <a:rPr lang="de-DE" dirty="0" err="1"/>
                <a:t>predictions</a:t>
              </a:r>
              <a:endParaRPr lang="de-DE" dirty="0"/>
            </a:p>
          </p:txBody>
        </p:sp>
        <p:sp>
          <p:nvSpPr>
            <p:cNvPr id="23" name="Textplatzhalter 31">
              <a:extLst>
                <a:ext uri="{FF2B5EF4-FFF2-40B4-BE49-F238E27FC236}">
                  <a16:creationId xmlns:a16="http://schemas.microsoft.com/office/drawing/2014/main" id="{7EC573C4-C692-2DF1-6276-61129A19C475}"/>
                </a:ext>
              </a:extLst>
            </p:cNvPr>
            <p:cNvSpPr txBox="1">
              <a:spLocks/>
            </p:cNvSpPr>
            <p:nvPr/>
          </p:nvSpPr>
          <p:spPr>
            <a:xfrm>
              <a:off x="4374675"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Hybrid Two-Stage Model</a:t>
              </a:r>
            </a:p>
          </p:txBody>
        </p:sp>
        <p:sp>
          <p:nvSpPr>
            <p:cNvPr id="24" name="Textplatzhalter 31">
              <a:extLst>
                <a:ext uri="{FF2B5EF4-FFF2-40B4-BE49-F238E27FC236}">
                  <a16:creationId xmlns:a16="http://schemas.microsoft.com/office/drawing/2014/main" id="{E6959372-BC93-2314-E245-EFA40F7D1740}"/>
                </a:ext>
              </a:extLst>
            </p:cNvPr>
            <p:cNvSpPr txBox="1">
              <a:spLocks/>
            </p:cNvSpPr>
            <p:nvPr/>
          </p:nvSpPr>
          <p:spPr>
            <a:xfrm>
              <a:off x="7669351"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2,408 → 2,387 NOK</a:t>
              </a:r>
            </a:p>
          </p:txBody>
        </p:sp>
      </p:grpSp>
      <p:pic>
        <p:nvPicPr>
          <p:cNvPr id="29" name="Graphic 3" descr="Badge 1 with solid fill">
            <a:extLst>
              <a:ext uri="{FF2B5EF4-FFF2-40B4-BE49-F238E27FC236}">
                <a16:creationId xmlns:a16="http://schemas.microsoft.com/office/drawing/2014/main" id="{0CCA921C-9998-E2B3-9917-D5EDE52A19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8069" y="2318355"/>
            <a:ext cx="501930" cy="501930"/>
          </a:xfrm>
          <a:prstGeom prst="rect">
            <a:avLst/>
          </a:prstGeom>
        </p:spPr>
      </p:pic>
      <p:pic>
        <p:nvPicPr>
          <p:cNvPr id="30" name="Graphic 10" descr="Badge with solid fill">
            <a:extLst>
              <a:ext uri="{FF2B5EF4-FFF2-40B4-BE49-F238E27FC236}">
                <a16:creationId xmlns:a16="http://schemas.microsoft.com/office/drawing/2014/main" id="{12E32170-1A81-9AEC-DF7E-7F324A997C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069" y="3428877"/>
            <a:ext cx="501930" cy="501930"/>
          </a:xfrm>
          <a:prstGeom prst="rect">
            <a:avLst/>
          </a:prstGeom>
        </p:spPr>
      </p:pic>
      <p:pic>
        <p:nvPicPr>
          <p:cNvPr id="31" name="Graphic 13" descr="Badge 3 with solid fill">
            <a:extLst>
              <a:ext uri="{FF2B5EF4-FFF2-40B4-BE49-F238E27FC236}">
                <a16:creationId xmlns:a16="http://schemas.microsoft.com/office/drawing/2014/main" id="{A4C5F34B-C32F-DEEA-0C89-F021BE73F8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8069" y="4436964"/>
            <a:ext cx="501930" cy="501930"/>
          </a:xfrm>
          <a:prstGeom prst="rect">
            <a:avLst/>
          </a:prstGeom>
        </p:spPr>
      </p:pic>
      <p:pic>
        <p:nvPicPr>
          <p:cNvPr id="37" name="Inhaltsplatzhalter 99">
            <a:extLst>
              <a:ext uri="{FF2B5EF4-FFF2-40B4-BE49-F238E27FC236}">
                <a16:creationId xmlns:a16="http://schemas.microsoft.com/office/drawing/2014/main" id="{C2C4CDEC-88EF-0A85-1C0C-236FB844422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bwMode="auto">
          <a:xfrm>
            <a:off x="1079999" y="1308382"/>
            <a:ext cx="539750" cy="539750"/>
          </a:xfrm>
          <a:prstGeom prst="rect">
            <a:avLst/>
          </a:prstGeom>
          <a:noFill/>
          <a:ln>
            <a:noFill/>
          </a:ln>
        </p:spPr>
      </p:pic>
      <p:pic>
        <p:nvPicPr>
          <p:cNvPr id="38" name="Inhaltsplatzhalter 100">
            <a:extLst>
              <a:ext uri="{FF2B5EF4-FFF2-40B4-BE49-F238E27FC236}">
                <a16:creationId xmlns:a16="http://schemas.microsoft.com/office/drawing/2014/main" id="{9FD4F576-E989-409A-3225-B28F4737FA6B}"/>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374675" y="1308132"/>
            <a:ext cx="540000" cy="540000"/>
          </a:xfrm>
          <a:prstGeom prst="rect">
            <a:avLst/>
          </a:prstGeom>
        </p:spPr>
      </p:pic>
      <p:pic>
        <p:nvPicPr>
          <p:cNvPr id="39" name="Inhaltsplatzhalter 70">
            <a:extLst>
              <a:ext uri="{FF2B5EF4-FFF2-40B4-BE49-F238E27FC236}">
                <a16:creationId xmlns:a16="http://schemas.microsoft.com/office/drawing/2014/main" id="{4DDF1926-360E-B831-6BD4-4393846F064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bwMode="auto">
          <a:xfrm>
            <a:off x="7669351" y="1308132"/>
            <a:ext cx="540000" cy="540000"/>
          </a:xfrm>
          <a:prstGeom prst="rect">
            <a:avLst/>
          </a:prstGeom>
          <a:noFill/>
          <a:ln>
            <a:noFill/>
          </a:ln>
        </p:spPr>
      </p:pic>
      <p:pic>
        <p:nvPicPr>
          <p:cNvPr id="41" name="Grafik 40" descr="Marke 4 mit einfarbiger Füllung">
            <a:extLst>
              <a:ext uri="{FF2B5EF4-FFF2-40B4-BE49-F238E27FC236}">
                <a16:creationId xmlns:a16="http://schemas.microsoft.com/office/drawing/2014/main" id="{4C0F322F-B4C7-8B33-55F5-C06F2EB27AB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78069" y="5487618"/>
            <a:ext cx="501930" cy="501930"/>
          </a:xfrm>
          <a:prstGeom prst="rect">
            <a:avLst/>
          </a:prstGeom>
        </p:spPr>
      </p:pic>
      <p:sp>
        <p:nvSpPr>
          <p:cNvPr id="3" name="Fußzeilenplatzhalter 4">
            <a:extLst>
              <a:ext uri="{FF2B5EF4-FFF2-40B4-BE49-F238E27FC236}">
                <a16:creationId xmlns:a16="http://schemas.microsoft.com/office/drawing/2014/main" id="{AE61F77C-A2D2-0537-8D08-92E16D4F36E6}"/>
              </a:ext>
            </a:extLst>
          </p:cNvPr>
          <p:cNvSpPr>
            <a:spLocks noGrp="1"/>
          </p:cNvSpPr>
          <p:nvPr>
            <p:ph type="ftr" sz="quarter" idx="11"/>
          </p:nvPr>
        </p:nvSpPr>
        <p:spPr>
          <a:xfrm>
            <a:off x="2171700" y="6522444"/>
            <a:ext cx="5400000" cy="216000"/>
          </a:xfrm>
        </p:spPr>
        <p:txBody>
          <a:bodyPr/>
          <a:lstStyle/>
          <a:p>
            <a:r>
              <a:rPr lang="en-US" dirty="0"/>
              <a:t>Marketing Analytics</a:t>
            </a:r>
          </a:p>
        </p:txBody>
      </p:sp>
    </p:spTree>
    <p:extLst>
      <p:ext uri="{BB962C8B-B14F-4D97-AF65-F5344CB8AC3E}">
        <p14:creationId xmlns:p14="http://schemas.microsoft.com/office/powerpoint/2010/main" val="3365470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DE977-7471-22F8-F77E-8935C6C9D1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5BB34BF-1AA8-BB58-94FE-86AD528B67E8}"/>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D780938C-1245-351F-95F8-BB2869E19CF7}"/>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9756A366-202E-B174-D387-92505F385B8D}"/>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904AD687-A66C-F0AD-F240-F9F30CF54042}"/>
              </a:ext>
            </a:extLst>
          </p:cNvPr>
          <p:cNvSpPr>
            <a:spLocks noGrp="1"/>
          </p:cNvSpPr>
          <p:nvPr>
            <p:ph type="sldNum" sz="quarter" idx="12"/>
          </p:nvPr>
        </p:nvSpPr>
        <p:spPr/>
        <p:txBody>
          <a:bodyPr/>
          <a:lstStyle/>
          <a:p>
            <a:fld id="{5ACA52AF-F19D-405C-AD5F-7D94B96A5CC3}" type="slidenum">
              <a:rPr lang="de-CH" noProof="0" smtClean="0"/>
              <a:t>10</a:t>
            </a:fld>
            <a:endParaRPr lang="de-CH" noProof="0"/>
          </a:p>
        </p:txBody>
      </p:sp>
      <p:sp>
        <p:nvSpPr>
          <p:cNvPr id="9" name="Ellipse 8">
            <a:extLst>
              <a:ext uri="{FF2B5EF4-FFF2-40B4-BE49-F238E27FC236}">
                <a16:creationId xmlns:a16="http://schemas.microsoft.com/office/drawing/2014/main" id="{2765AAD7-65E4-2969-61B8-4EE25F8E2071}"/>
              </a:ext>
            </a:extLst>
          </p:cNvPr>
          <p:cNvSpPr>
            <a:spLocks noChangeAspect="1"/>
          </p:cNvSpPr>
          <p:nvPr/>
        </p:nvSpPr>
        <p:spPr>
          <a:xfrm>
            <a:off x="207308" y="1817220"/>
            <a:ext cx="755377" cy="755377"/>
          </a:xfrm>
          <a:prstGeom prst="ellipse">
            <a:avLst/>
          </a:prstGeom>
          <a:solidFill>
            <a:srgbClr val="00789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Start</a:t>
            </a:r>
            <a:endParaRPr lang="en-US" sz="1200" dirty="0"/>
          </a:p>
        </p:txBody>
      </p:sp>
      <p:cxnSp>
        <p:nvCxnSpPr>
          <p:cNvPr id="18" name="Gerade Verbindung mit Pfeil 17">
            <a:extLst>
              <a:ext uri="{FF2B5EF4-FFF2-40B4-BE49-F238E27FC236}">
                <a16:creationId xmlns:a16="http://schemas.microsoft.com/office/drawing/2014/main" id="{BDD632EC-C8A7-561A-6B55-22F252CA0CFA}"/>
              </a:ext>
            </a:extLst>
          </p:cNvPr>
          <p:cNvCxnSpPr>
            <a:cxnSpLocks/>
            <a:stCxn id="9" idx="6"/>
            <a:endCxn id="7" idx="1"/>
          </p:cNvCxnSpPr>
          <p:nvPr/>
        </p:nvCxnSpPr>
        <p:spPr>
          <a:xfrm>
            <a:off x="962685" y="2194909"/>
            <a:ext cx="415728" cy="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7CCB5191-03BA-0A32-C37B-2D977D9E748E}"/>
              </a:ext>
            </a:extLst>
          </p:cNvPr>
          <p:cNvSpPr/>
          <p:nvPr/>
        </p:nvSpPr>
        <p:spPr>
          <a:xfrm>
            <a:off x="731837" y="4289460"/>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873F69CE-E9F3-B49D-A692-D7A53460424E}"/>
              </a:ext>
            </a:extLst>
          </p:cNvPr>
          <p:cNvSpPr/>
          <p:nvPr/>
        </p:nvSpPr>
        <p:spPr>
          <a:xfrm>
            <a:off x="6388607" y="4284321"/>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5CA01B45-B44D-B7F3-7AC6-23C1081A615E}"/>
              </a:ext>
            </a:extLst>
          </p:cNvPr>
          <p:cNvSpPr/>
          <p:nvPr/>
        </p:nvSpPr>
        <p:spPr>
          <a:xfrm>
            <a:off x="731837" y="427806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6F8D559E-403B-8896-4830-36BCB37EEDDA}"/>
              </a:ext>
            </a:extLst>
          </p:cNvPr>
          <p:cNvSpPr/>
          <p:nvPr/>
        </p:nvSpPr>
        <p:spPr>
          <a:xfrm>
            <a:off x="6387227" y="427806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
        <p:nvSpPr>
          <p:cNvPr id="7" name="Rechteck: abgerundete Ecken 6">
            <a:extLst>
              <a:ext uri="{FF2B5EF4-FFF2-40B4-BE49-F238E27FC236}">
                <a16:creationId xmlns:a16="http://schemas.microsoft.com/office/drawing/2014/main" id="{1FBE4925-6C96-53F8-7164-9B2469B22402}"/>
              </a:ext>
            </a:extLst>
          </p:cNvPr>
          <p:cNvSpPr/>
          <p:nvPr/>
        </p:nvSpPr>
        <p:spPr>
          <a:xfrm>
            <a:off x="1378413" y="1817221"/>
            <a:ext cx="1800000" cy="755377"/>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t>All </a:t>
            </a:r>
            <a:r>
              <a:rPr lang="de-DE" sz="1200" b="1" dirty="0" err="1"/>
              <a:t>customers</a:t>
            </a:r>
            <a:endParaRPr lang="en-US" sz="1200" b="1" dirty="0"/>
          </a:p>
        </p:txBody>
      </p:sp>
      <p:sp>
        <p:nvSpPr>
          <p:cNvPr id="28" name="Rechteck 27">
            <a:extLst>
              <a:ext uri="{FF2B5EF4-FFF2-40B4-BE49-F238E27FC236}">
                <a16:creationId xmlns:a16="http://schemas.microsoft.com/office/drawing/2014/main" id="{87269859-BD14-38F5-4A93-80DC33EA81A4}"/>
              </a:ext>
            </a:extLst>
          </p:cNvPr>
          <p:cNvSpPr/>
          <p:nvPr/>
        </p:nvSpPr>
        <p:spPr>
          <a:xfrm>
            <a:off x="3686187" y="926610"/>
            <a:ext cx="1800000" cy="755377"/>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err="1"/>
              <a:t>LightGBM</a:t>
            </a:r>
            <a:r>
              <a:rPr lang="de-DE" sz="1200" b="1" dirty="0"/>
              <a:t> </a:t>
            </a:r>
            <a:r>
              <a:rPr lang="de-DE" sz="1200" b="1" dirty="0" err="1"/>
              <a:t>Classifier</a:t>
            </a:r>
            <a:br>
              <a:rPr lang="de-DE" sz="1200" b="1" dirty="0"/>
            </a:br>
            <a:r>
              <a:rPr lang="de-DE" sz="1000" dirty="0" err="1"/>
              <a:t>scores</a:t>
            </a:r>
            <a:r>
              <a:rPr lang="de-DE" sz="1000" dirty="0"/>
              <a:t> </a:t>
            </a:r>
            <a:r>
              <a:rPr lang="de-DE" sz="1000" dirty="0" err="1"/>
              <a:t>churn</a:t>
            </a:r>
            <a:r>
              <a:rPr lang="de-DE" sz="1000" dirty="0"/>
              <a:t> </a:t>
            </a:r>
            <a:r>
              <a:rPr lang="de-DE" sz="1000" dirty="0" err="1"/>
              <a:t>prediction</a:t>
            </a:r>
            <a:endParaRPr lang="en-US" sz="1100" b="1" dirty="0"/>
          </a:p>
        </p:txBody>
      </p:sp>
      <p:sp>
        <p:nvSpPr>
          <p:cNvPr id="30" name="Rechteck 29">
            <a:extLst>
              <a:ext uri="{FF2B5EF4-FFF2-40B4-BE49-F238E27FC236}">
                <a16:creationId xmlns:a16="http://schemas.microsoft.com/office/drawing/2014/main" id="{5D1A89B9-C86E-62AF-40E3-6C8573A9C8C4}"/>
              </a:ext>
            </a:extLst>
          </p:cNvPr>
          <p:cNvSpPr/>
          <p:nvPr/>
        </p:nvSpPr>
        <p:spPr>
          <a:xfrm>
            <a:off x="3685733" y="2794154"/>
            <a:ext cx="1800000" cy="756000"/>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err="1"/>
              <a:t>LightGBM</a:t>
            </a:r>
            <a:r>
              <a:rPr lang="de-DE" sz="1200" b="1" dirty="0"/>
              <a:t> Regressor</a:t>
            </a:r>
          </a:p>
          <a:p>
            <a:pPr algn="ctr"/>
            <a:r>
              <a:rPr lang="de-DE" sz="1000" dirty="0" err="1"/>
              <a:t>predicts</a:t>
            </a:r>
            <a:r>
              <a:rPr lang="de-DE" sz="1000" dirty="0"/>
              <a:t> clv </a:t>
            </a:r>
            <a:r>
              <a:rPr lang="de-DE" sz="1000" dirty="0" err="1"/>
              <a:t>for</a:t>
            </a:r>
            <a:r>
              <a:rPr lang="de-DE" sz="1000" dirty="0"/>
              <a:t> all</a:t>
            </a:r>
            <a:endParaRPr lang="en-US" sz="1200" dirty="0"/>
          </a:p>
        </p:txBody>
      </p:sp>
      <p:cxnSp>
        <p:nvCxnSpPr>
          <p:cNvPr id="33" name="Verbinder: gewinkelt 32">
            <a:extLst>
              <a:ext uri="{FF2B5EF4-FFF2-40B4-BE49-F238E27FC236}">
                <a16:creationId xmlns:a16="http://schemas.microsoft.com/office/drawing/2014/main" id="{EA6AFE09-5F5A-E4F1-C999-9ED52590FA01}"/>
              </a:ext>
            </a:extLst>
          </p:cNvPr>
          <p:cNvCxnSpPr>
            <a:stCxn id="7" idx="3"/>
            <a:endCxn id="28" idx="1"/>
          </p:cNvCxnSpPr>
          <p:nvPr/>
        </p:nvCxnSpPr>
        <p:spPr>
          <a:xfrm flipV="1">
            <a:off x="3178413" y="1304299"/>
            <a:ext cx="507774" cy="890611"/>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Verbinder: gewinkelt 37">
            <a:extLst>
              <a:ext uri="{FF2B5EF4-FFF2-40B4-BE49-F238E27FC236}">
                <a16:creationId xmlns:a16="http://schemas.microsoft.com/office/drawing/2014/main" id="{129F215E-8D4D-F1A1-2C01-3096367CF20E}"/>
              </a:ext>
            </a:extLst>
          </p:cNvPr>
          <p:cNvCxnSpPr>
            <a:stCxn id="7" idx="3"/>
            <a:endCxn id="30" idx="1"/>
          </p:cNvCxnSpPr>
          <p:nvPr/>
        </p:nvCxnSpPr>
        <p:spPr>
          <a:xfrm>
            <a:off x="3178413" y="2194910"/>
            <a:ext cx="507320" cy="977244"/>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Rechteck: abgerundete Ecken 39">
            <a:extLst>
              <a:ext uri="{FF2B5EF4-FFF2-40B4-BE49-F238E27FC236}">
                <a16:creationId xmlns:a16="http://schemas.microsoft.com/office/drawing/2014/main" id="{2511762C-E576-3BEC-AA00-2D893404D8BD}"/>
              </a:ext>
            </a:extLst>
          </p:cNvPr>
          <p:cNvSpPr/>
          <p:nvPr/>
        </p:nvSpPr>
        <p:spPr>
          <a:xfrm>
            <a:off x="5901461" y="1817220"/>
            <a:ext cx="2663884" cy="755377"/>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t>Hybrid </a:t>
            </a:r>
            <a:r>
              <a:rPr lang="de-DE" sz="1200" b="1" dirty="0" err="1"/>
              <a:t>prediction</a:t>
            </a:r>
            <a:r>
              <a:rPr lang="de-DE" sz="1200" b="1" dirty="0"/>
              <a:t> </a:t>
            </a:r>
            <a:r>
              <a:rPr lang="de-DE" sz="1200" b="1" dirty="0" err="1"/>
              <a:t>combination</a:t>
            </a:r>
            <a:br>
              <a:rPr lang="de-DE" sz="1200" b="1" dirty="0"/>
            </a:br>
            <a:r>
              <a:rPr lang="de-DE" sz="1000" dirty="0" err="1"/>
              <a:t>if</a:t>
            </a:r>
            <a:r>
              <a:rPr lang="de-DE" sz="1000" dirty="0"/>
              <a:t> </a:t>
            </a:r>
            <a:r>
              <a:rPr lang="de-DE" sz="1000" dirty="0" err="1"/>
              <a:t>churned</a:t>
            </a:r>
            <a:r>
              <a:rPr lang="de-DE" sz="1000" dirty="0"/>
              <a:t> </a:t>
            </a:r>
            <a:r>
              <a:rPr lang="de-DE" sz="1000" dirty="0">
                <a:latin typeface="Segoe UI Symbol" panose="020B0502040204020203" pitchFamily="34" charset="0"/>
                <a:ea typeface="Segoe UI Symbol" panose="020B0502040204020203" pitchFamily="34" charset="0"/>
              </a:rPr>
              <a:t>→ </a:t>
            </a:r>
            <a:r>
              <a:rPr lang="de-DE" sz="1000" dirty="0">
                <a:ea typeface="Segoe UI Symbol" panose="020B0502040204020203" pitchFamily="34" charset="0"/>
              </a:rPr>
              <a:t>CLV = 0</a:t>
            </a:r>
          </a:p>
          <a:p>
            <a:pPr algn="ctr"/>
            <a:r>
              <a:rPr lang="de-DE" sz="1000" dirty="0" err="1">
                <a:ea typeface="Segoe UI Symbol" panose="020B0502040204020203" pitchFamily="34" charset="0"/>
              </a:rPr>
              <a:t>If</a:t>
            </a:r>
            <a:r>
              <a:rPr lang="de-DE" sz="1000" dirty="0">
                <a:ea typeface="Segoe UI Symbol" panose="020B0502040204020203" pitchFamily="34" charset="0"/>
              </a:rPr>
              <a:t> </a:t>
            </a:r>
            <a:r>
              <a:rPr lang="de-DE" sz="1000" dirty="0" err="1">
                <a:ea typeface="Segoe UI Symbol" panose="020B0502040204020203" pitchFamily="34" charset="0"/>
              </a:rPr>
              <a:t>active</a:t>
            </a:r>
            <a:r>
              <a:rPr lang="de-DE" sz="1000" dirty="0">
                <a:ea typeface="Segoe UI Symbol" panose="020B0502040204020203" pitchFamily="34" charset="0"/>
              </a:rPr>
              <a:t> </a:t>
            </a:r>
            <a:r>
              <a:rPr lang="de-DE" sz="1000" dirty="0">
                <a:latin typeface="Segoe UI Symbol" panose="020B0502040204020203" pitchFamily="34" charset="0"/>
                <a:ea typeface="Segoe UI Symbol" panose="020B0502040204020203" pitchFamily="34" charset="0"/>
              </a:rPr>
              <a:t>→</a:t>
            </a:r>
            <a:r>
              <a:rPr lang="de-DE" sz="1000" dirty="0">
                <a:ea typeface="Segoe UI Symbol" panose="020B0502040204020203" pitchFamily="34" charset="0"/>
              </a:rPr>
              <a:t> CLV </a:t>
            </a:r>
            <a:r>
              <a:rPr lang="de-DE" sz="1000" dirty="0" err="1">
                <a:ea typeface="Segoe UI Symbol" panose="020B0502040204020203" pitchFamily="34" charset="0"/>
              </a:rPr>
              <a:t>prediction</a:t>
            </a:r>
            <a:r>
              <a:rPr lang="de-DE" sz="1000" dirty="0">
                <a:ea typeface="Segoe UI Symbol" panose="020B0502040204020203" pitchFamily="34" charset="0"/>
              </a:rPr>
              <a:t> </a:t>
            </a:r>
            <a:r>
              <a:rPr lang="de-DE" sz="1000" dirty="0" err="1">
                <a:ea typeface="Segoe UI Symbol" panose="020B0502040204020203" pitchFamily="34" charset="0"/>
              </a:rPr>
              <a:t>of</a:t>
            </a:r>
            <a:r>
              <a:rPr lang="de-DE" sz="1000" dirty="0">
                <a:ea typeface="Segoe UI Symbol" panose="020B0502040204020203" pitchFamily="34" charset="0"/>
              </a:rPr>
              <a:t> </a:t>
            </a:r>
            <a:r>
              <a:rPr lang="de-DE" sz="1000" dirty="0" err="1">
                <a:ea typeface="Segoe UI Symbol" panose="020B0502040204020203" pitchFamily="34" charset="0"/>
              </a:rPr>
              <a:t>regressor</a:t>
            </a:r>
            <a:endParaRPr lang="en-US" sz="1200" dirty="0">
              <a:ea typeface="Segoe UI Symbol" panose="020B0502040204020203" pitchFamily="34" charset="0"/>
            </a:endParaRPr>
          </a:p>
        </p:txBody>
      </p:sp>
      <p:cxnSp>
        <p:nvCxnSpPr>
          <p:cNvPr id="47" name="Verbinder: gewinkelt 46">
            <a:extLst>
              <a:ext uri="{FF2B5EF4-FFF2-40B4-BE49-F238E27FC236}">
                <a16:creationId xmlns:a16="http://schemas.microsoft.com/office/drawing/2014/main" id="{FA9FEE98-9AD6-F8ED-2234-81DAA88AFBC8}"/>
              </a:ext>
            </a:extLst>
          </p:cNvPr>
          <p:cNvCxnSpPr>
            <a:stCxn id="28" idx="3"/>
            <a:endCxn id="40" idx="0"/>
          </p:cNvCxnSpPr>
          <p:nvPr/>
        </p:nvCxnSpPr>
        <p:spPr>
          <a:xfrm>
            <a:off x="5486187" y="1304299"/>
            <a:ext cx="1747216" cy="51292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Verbinder: gewinkelt 50">
            <a:extLst>
              <a:ext uri="{FF2B5EF4-FFF2-40B4-BE49-F238E27FC236}">
                <a16:creationId xmlns:a16="http://schemas.microsoft.com/office/drawing/2014/main" id="{70879B67-F9C2-DD5D-0728-DD69DF628FC1}"/>
              </a:ext>
            </a:extLst>
          </p:cNvPr>
          <p:cNvCxnSpPr>
            <a:stCxn id="30" idx="3"/>
            <a:endCxn id="40" idx="2"/>
          </p:cNvCxnSpPr>
          <p:nvPr/>
        </p:nvCxnSpPr>
        <p:spPr>
          <a:xfrm flipV="1">
            <a:off x="5485733" y="2572597"/>
            <a:ext cx="1747670" cy="59955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Rechteck: abgerundete Ecken 51">
            <a:extLst>
              <a:ext uri="{FF2B5EF4-FFF2-40B4-BE49-F238E27FC236}">
                <a16:creationId xmlns:a16="http://schemas.microsoft.com/office/drawing/2014/main" id="{09B97FB7-F0A7-5381-68C3-C721B836E053}"/>
              </a:ext>
            </a:extLst>
          </p:cNvPr>
          <p:cNvSpPr/>
          <p:nvPr/>
        </p:nvSpPr>
        <p:spPr>
          <a:xfrm>
            <a:off x="8980619" y="1816916"/>
            <a:ext cx="1800000" cy="755377"/>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t>Final CLV </a:t>
            </a:r>
            <a:r>
              <a:rPr lang="de-DE" sz="1200" b="1" dirty="0" err="1"/>
              <a:t>prediction</a:t>
            </a:r>
            <a:endParaRPr lang="en-US" sz="1200" b="1" dirty="0"/>
          </a:p>
        </p:txBody>
      </p:sp>
      <p:cxnSp>
        <p:nvCxnSpPr>
          <p:cNvPr id="56" name="Gerade Verbindung mit Pfeil 55">
            <a:extLst>
              <a:ext uri="{FF2B5EF4-FFF2-40B4-BE49-F238E27FC236}">
                <a16:creationId xmlns:a16="http://schemas.microsoft.com/office/drawing/2014/main" id="{5D0C5AD3-22DD-119D-30A6-1D968850F850}"/>
              </a:ext>
            </a:extLst>
          </p:cNvPr>
          <p:cNvCxnSpPr>
            <a:stCxn id="40" idx="3"/>
            <a:endCxn id="52" idx="1"/>
          </p:cNvCxnSpPr>
          <p:nvPr/>
        </p:nvCxnSpPr>
        <p:spPr>
          <a:xfrm flipV="1">
            <a:off x="8565345" y="2194605"/>
            <a:ext cx="415274" cy="30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Ellipse 57">
            <a:extLst>
              <a:ext uri="{FF2B5EF4-FFF2-40B4-BE49-F238E27FC236}">
                <a16:creationId xmlns:a16="http://schemas.microsoft.com/office/drawing/2014/main" id="{9D6C7B3D-9FBD-962A-E6AD-96B0A58BC147}"/>
              </a:ext>
            </a:extLst>
          </p:cNvPr>
          <p:cNvSpPr>
            <a:spLocks noChangeAspect="1"/>
          </p:cNvSpPr>
          <p:nvPr/>
        </p:nvSpPr>
        <p:spPr>
          <a:xfrm>
            <a:off x="11195893" y="1816915"/>
            <a:ext cx="755377" cy="755377"/>
          </a:xfrm>
          <a:prstGeom prst="ellipse">
            <a:avLst/>
          </a:prstGeom>
          <a:solidFill>
            <a:srgbClr val="00789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End</a:t>
            </a:r>
            <a:endParaRPr lang="en-US" sz="1200" dirty="0"/>
          </a:p>
        </p:txBody>
      </p:sp>
      <p:cxnSp>
        <p:nvCxnSpPr>
          <p:cNvPr id="60" name="Gerade Verbindung mit Pfeil 59">
            <a:extLst>
              <a:ext uri="{FF2B5EF4-FFF2-40B4-BE49-F238E27FC236}">
                <a16:creationId xmlns:a16="http://schemas.microsoft.com/office/drawing/2014/main" id="{28FAC422-2133-3D53-A682-10E301EB8B0E}"/>
              </a:ext>
            </a:extLst>
          </p:cNvPr>
          <p:cNvCxnSpPr>
            <a:stCxn id="52" idx="3"/>
            <a:endCxn id="58" idx="2"/>
          </p:cNvCxnSpPr>
          <p:nvPr/>
        </p:nvCxnSpPr>
        <p:spPr>
          <a:xfrm flipV="1">
            <a:off x="10780619" y="2194604"/>
            <a:ext cx="415274" cy="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69650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02F4A6-B473-4556-C899-8C1DB53ADD9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3EFBBF9-F258-7438-A0C7-15E9AA40397E}"/>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242903B3-DDE1-B692-DA71-06F992BF956C}"/>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F04EE266-ACB2-232F-B8BF-F020399538D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AFF97AB-EC78-690C-9EA1-8315D78EA51D}"/>
              </a:ext>
            </a:extLst>
          </p:cNvPr>
          <p:cNvSpPr>
            <a:spLocks noGrp="1"/>
          </p:cNvSpPr>
          <p:nvPr>
            <p:ph type="sldNum" sz="quarter" idx="12"/>
          </p:nvPr>
        </p:nvSpPr>
        <p:spPr/>
        <p:txBody>
          <a:bodyPr/>
          <a:lstStyle/>
          <a:p>
            <a:fld id="{5ACA52AF-F19D-405C-AD5F-7D94B96A5CC3}" type="slidenum">
              <a:rPr lang="de-CH" noProof="0" smtClean="0"/>
              <a:t>11</a:t>
            </a:fld>
            <a:endParaRPr lang="de-CH" noProof="0"/>
          </a:p>
        </p:txBody>
      </p:sp>
      <p:sp>
        <p:nvSpPr>
          <p:cNvPr id="8" name="Inhaltsplatzhalter 7">
            <a:extLst>
              <a:ext uri="{FF2B5EF4-FFF2-40B4-BE49-F238E27FC236}">
                <a16:creationId xmlns:a16="http://schemas.microsoft.com/office/drawing/2014/main" id="{E213D0B8-0037-B088-4513-3B84D66357AB}"/>
              </a:ext>
            </a:extLst>
          </p:cNvPr>
          <p:cNvSpPr>
            <a:spLocks noGrp="1"/>
          </p:cNvSpPr>
          <p:nvPr>
            <p:ph idx="1"/>
          </p:nvPr>
        </p:nvSpPr>
        <p:spPr>
          <a:xfrm>
            <a:off x="731837" y="5781099"/>
            <a:ext cx="10728325" cy="598372"/>
          </a:xfrm>
        </p:spPr>
        <p:txBody>
          <a:bodyPr/>
          <a:lstStyle/>
          <a:p>
            <a:pPr marL="0" indent="0">
              <a:buNone/>
            </a:pPr>
            <a:r>
              <a:rPr lang="de-DE" dirty="0"/>
              <a:t>Architecture </a:t>
            </a:r>
            <a:r>
              <a:rPr lang="de-DE" dirty="0" err="1"/>
              <a:t>provides</a:t>
            </a:r>
            <a:r>
              <a:rPr lang="de-DE" dirty="0"/>
              <a:t> a final MAE </a:t>
            </a:r>
            <a:r>
              <a:rPr lang="de-DE" dirty="0" err="1"/>
              <a:t>of</a:t>
            </a:r>
            <a:r>
              <a:rPr lang="de-DE" dirty="0"/>
              <a:t> 2387 NOK – </a:t>
            </a:r>
            <a:r>
              <a:rPr lang="de-DE" dirty="0" err="1"/>
              <a:t>improvement</a:t>
            </a:r>
            <a:r>
              <a:rPr lang="de-DE" dirty="0"/>
              <a:t> </a:t>
            </a:r>
            <a:r>
              <a:rPr lang="de-DE" dirty="0" err="1"/>
              <a:t>by</a:t>
            </a:r>
            <a:r>
              <a:rPr lang="de-DE" dirty="0"/>
              <a:t> 6% </a:t>
            </a:r>
            <a:r>
              <a:rPr lang="de-DE" dirty="0" err="1"/>
              <a:t>compared</a:t>
            </a:r>
            <a:r>
              <a:rPr lang="de-DE" dirty="0"/>
              <a:t> to </a:t>
            </a:r>
            <a:r>
              <a:rPr lang="de-DE" dirty="0" err="1"/>
              <a:t>the</a:t>
            </a:r>
            <a:r>
              <a:rPr lang="de-DE" dirty="0"/>
              <a:t> single-stage </a:t>
            </a:r>
            <a:r>
              <a:rPr lang="de-DE" dirty="0" err="1"/>
              <a:t>model</a:t>
            </a:r>
            <a:r>
              <a:rPr lang="de-DE" dirty="0"/>
              <a:t> </a:t>
            </a:r>
            <a:endParaRPr lang="en-US" dirty="0"/>
          </a:p>
        </p:txBody>
      </p:sp>
      <p:sp>
        <p:nvSpPr>
          <p:cNvPr id="9" name="Ellipse 8">
            <a:extLst>
              <a:ext uri="{FF2B5EF4-FFF2-40B4-BE49-F238E27FC236}">
                <a16:creationId xmlns:a16="http://schemas.microsoft.com/office/drawing/2014/main" id="{C3E257BB-048F-4E32-B748-CD365B778B41}"/>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3E029B32-81F1-F04F-EAB0-D48B78D9BB1A}"/>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DED619D8-16C7-CD20-ECA8-0DD7CA3950EB}"/>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E2881926-AB19-A91E-5508-85CF580073EE}"/>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F568A0A4-6168-4265-6EFF-0C5A7C4F4D2E}"/>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F82792CA-F78C-DD09-1CF5-25D60E70E4D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BDB84D9D-792E-88FC-97BE-EADBC145A01D}"/>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CD0A2B2C-6614-7F2A-45D4-162B569F910A}"/>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4C2CBF84-DF43-8204-B8F5-37438B77FA38}"/>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21825C0-E970-0100-D41E-BBE8AEB6ECF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0B14403D-6B6B-487A-6271-0DED6F195A29}"/>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613951AA-513E-2A75-082F-24C4606087DF}"/>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8901914F-F277-0900-0829-785BB6C19427}"/>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240656D3-A9A9-898E-D62C-D5A0D29BC1C8}"/>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147FD4DA-6F94-6689-9864-F4EDF97601A3}"/>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A60BD76F-BA83-9240-B1FC-F2703ADEE2FC}"/>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823F4C7B-1A5C-37E1-B7A6-5566D0C242B7}"/>
              </a:ext>
            </a:extLst>
          </p:cNvPr>
          <p:cNvSpPr/>
          <p:nvPr/>
        </p:nvSpPr>
        <p:spPr>
          <a:xfrm>
            <a:off x="731837" y="3706368"/>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B9EFE047-0ECC-1B01-3775-1DE6D498FCE3}"/>
              </a:ext>
            </a:extLst>
          </p:cNvPr>
          <p:cNvSpPr/>
          <p:nvPr/>
        </p:nvSpPr>
        <p:spPr>
          <a:xfrm>
            <a:off x="6388607" y="3701229"/>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1DC672C4-E9B7-A972-6435-BB44A187C494}"/>
              </a:ext>
            </a:extLst>
          </p:cNvPr>
          <p:cNvSpPr/>
          <p:nvPr/>
        </p:nvSpPr>
        <p:spPr>
          <a:xfrm>
            <a:off x="73183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F7F5872D-4114-113A-4E9A-FBDF04B6C59B}"/>
              </a:ext>
            </a:extLst>
          </p:cNvPr>
          <p:cNvSpPr/>
          <p:nvPr/>
        </p:nvSpPr>
        <p:spPr>
          <a:xfrm>
            <a:off x="638722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
        <p:nvSpPr>
          <p:cNvPr id="46" name="Textplatzhalter 12">
            <a:extLst>
              <a:ext uri="{FF2B5EF4-FFF2-40B4-BE49-F238E27FC236}">
                <a16:creationId xmlns:a16="http://schemas.microsoft.com/office/drawing/2014/main" id="{05C0BA3E-F604-4149-02F8-513366EF769F}"/>
              </a:ext>
            </a:extLst>
          </p:cNvPr>
          <p:cNvSpPr txBox="1">
            <a:spLocks/>
          </p:cNvSpPr>
          <p:nvPr/>
        </p:nvSpPr>
        <p:spPr bwMode="auto">
          <a:xfrm rot="5400000">
            <a:off x="5976092" y="64671"/>
            <a:ext cx="238434" cy="10726946"/>
          </a:xfrm>
          <a:custGeom>
            <a:avLst/>
            <a:gdLst>
              <a:gd name="connsiteX0" fmla="*/ 0 w 671941"/>
              <a:gd name="connsiteY0" fmla="*/ 671941 h 1343882"/>
              <a:gd name="connsiteX1" fmla="*/ 335971 w 671941"/>
              <a:gd name="connsiteY1" fmla="*/ 0 h 1343882"/>
              <a:gd name="connsiteX2" fmla="*/ 671941 w 671941"/>
              <a:gd name="connsiteY2" fmla="*/ 671941 h 1343882"/>
              <a:gd name="connsiteX3" fmla="*/ 335971 w 671941"/>
              <a:gd name="connsiteY3" fmla="*/ 1343882 h 1343882"/>
              <a:gd name="connsiteX4" fmla="*/ 0 w 671941"/>
              <a:gd name="connsiteY4" fmla="*/ 671941 h 1343882"/>
              <a:gd name="connsiteX0" fmla="*/ 333954 w 335970"/>
              <a:gd name="connsiteY0" fmla="*/ 671941 h 1343882"/>
              <a:gd name="connsiteX1" fmla="*/ 0 w 335970"/>
              <a:gd name="connsiteY1" fmla="*/ 0 h 1343882"/>
              <a:gd name="connsiteX2" fmla="*/ 335970 w 335970"/>
              <a:gd name="connsiteY2" fmla="*/ 671941 h 1343882"/>
              <a:gd name="connsiteX3" fmla="*/ 0 w 335970"/>
              <a:gd name="connsiteY3" fmla="*/ 1343882 h 1343882"/>
              <a:gd name="connsiteX4" fmla="*/ 333954 w 335970"/>
              <a:gd name="connsiteY4" fmla="*/ 671941 h 1343882"/>
              <a:gd name="connsiteX0" fmla="*/ 0 w 1068721"/>
              <a:gd name="connsiteY0" fmla="*/ 701572 h 1343882"/>
              <a:gd name="connsiteX1" fmla="*/ 732751 w 1068721"/>
              <a:gd name="connsiteY1" fmla="*/ 0 h 1343882"/>
              <a:gd name="connsiteX2" fmla="*/ 1068721 w 1068721"/>
              <a:gd name="connsiteY2" fmla="*/ 671941 h 1343882"/>
              <a:gd name="connsiteX3" fmla="*/ 732751 w 1068721"/>
              <a:gd name="connsiteY3" fmla="*/ 1343882 h 1343882"/>
              <a:gd name="connsiteX4" fmla="*/ 0 w 1068721"/>
              <a:gd name="connsiteY4" fmla="*/ 701572 h 1343882"/>
              <a:gd name="connsiteX0" fmla="*/ 0 w 335970"/>
              <a:gd name="connsiteY0" fmla="*/ 1343882 h 1343882"/>
              <a:gd name="connsiteX1" fmla="*/ 0 w 335970"/>
              <a:gd name="connsiteY1" fmla="*/ 0 h 1343882"/>
              <a:gd name="connsiteX2" fmla="*/ 335970 w 335970"/>
              <a:gd name="connsiteY2" fmla="*/ 671941 h 1343882"/>
              <a:gd name="connsiteX3" fmla="*/ 0 w 335970"/>
              <a:gd name="connsiteY3" fmla="*/ 1343882 h 1343882"/>
              <a:gd name="connsiteX0" fmla="*/ 0 w 426682"/>
              <a:gd name="connsiteY0" fmla="*/ 0 h 1343882"/>
              <a:gd name="connsiteX1" fmla="*/ 335970 w 426682"/>
              <a:gd name="connsiteY1" fmla="*/ 671941 h 1343882"/>
              <a:gd name="connsiteX2" fmla="*/ 0 w 426682"/>
              <a:gd name="connsiteY2" fmla="*/ 1343882 h 1343882"/>
              <a:gd name="connsiteX3" fmla="*/ 426682 w 426682"/>
              <a:gd name="connsiteY3" fmla="*/ 853365 h 1343882"/>
              <a:gd name="connsiteX0" fmla="*/ 0 w 335970"/>
              <a:gd name="connsiteY0" fmla="*/ 0 h 1343882"/>
              <a:gd name="connsiteX1" fmla="*/ 335970 w 335970"/>
              <a:gd name="connsiteY1" fmla="*/ 671941 h 1343882"/>
              <a:gd name="connsiteX2" fmla="*/ 0 w 335970"/>
              <a:gd name="connsiteY2" fmla="*/ 1343882 h 1343882"/>
            </a:gdLst>
            <a:ahLst/>
            <a:cxnLst>
              <a:cxn ang="0">
                <a:pos x="connsiteX0" y="connsiteY0"/>
              </a:cxn>
              <a:cxn ang="0">
                <a:pos x="connsiteX1" y="connsiteY1"/>
              </a:cxn>
              <a:cxn ang="0">
                <a:pos x="connsiteX2" y="connsiteY2"/>
              </a:cxn>
            </a:cxnLst>
            <a:rect l="l" t="t" r="r" b="b"/>
            <a:pathLst>
              <a:path w="335970" h="1343882">
                <a:moveTo>
                  <a:pt x="0" y="0"/>
                </a:moveTo>
                <a:lnTo>
                  <a:pt x="335970" y="671941"/>
                </a:lnTo>
                <a:lnTo>
                  <a:pt x="0" y="134388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Tree>
    <p:extLst>
      <p:ext uri="{BB962C8B-B14F-4D97-AF65-F5344CB8AC3E}">
        <p14:creationId xmlns:p14="http://schemas.microsoft.com/office/powerpoint/2010/main" val="2438526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3772CD-310C-3DD3-E54C-EE597E487929}"/>
              </a:ext>
            </a:extLst>
          </p:cNvPr>
          <p:cNvSpPr>
            <a:spLocks noGrp="1"/>
          </p:cNvSpPr>
          <p:nvPr>
            <p:ph type="title"/>
          </p:nvPr>
        </p:nvSpPr>
        <p:spPr/>
        <p:txBody>
          <a:bodyPr/>
          <a:lstStyle/>
          <a:p>
            <a:r>
              <a:rPr lang="de-DE" dirty="0"/>
              <a:t>Single-Stage </a:t>
            </a:r>
            <a:r>
              <a:rPr lang="de-DE" dirty="0" err="1"/>
              <a:t>LightGBM</a:t>
            </a:r>
            <a:r>
              <a:rPr lang="de-DE" dirty="0"/>
              <a:t> </a:t>
            </a:r>
            <a:r>
              <a:rPr lang="de-DE" dirty="0" err="1"/>
              <a:t>rediscovered</a:t>
            </a:r>
            <a:r>
              <a:rPr lang="de-DE" dirty="0"/>
              <a:t> </a:t>
            </a:r>
            <a:r>
              <a:rPr lang="de-DE" dirty="0" err="1"/>
              <a:t>the</a:t>
            </a:r>
            <a:r>
              <a:rPr lang="de-DE" dirty="0"/>
              <a:t> Segmentation</a:t>
            </a:r>
            <a:endParaRPr lang="en-US" dirty="0"/>
          </a:p>
        </p:txBody>
      </p:sp>
      <p:sp>
        <p:nvSpPr>
          <p:cNvPr id="3" name="Inhaltsplatzhalter 2">
            <a:extLst>
              <a:ext uri="{FF2B5EF4-FFF2-40B4-BE49-F238E27FC236}">
                <a16:creationId xmlns:a16="http://schemas.microsoft.com/office/drawing/2014/main" id="{B9519DF1-048C-F4AB-8C0A-ECFC50B9FE2B}"/>
              </a:ext>
            </a:extLst>
          </p:cNvPr>
          <p:cNvSpPr>
            <a:spLocks noGrp="1"/>
          </p:cNvSpPr>
          <p:nvPr>
            <p:ph idx="1"/>
          </p:nvPr>
        </p:nvSpPr>
        <p:spPr>
          <a:xfrm>
            <a:off x="731837" y="1824368"/>
            <a:ext cx="5256000" cy="3954639"/>
          </a:xfrm>
        </p:spPr>
        <p:txBody>
          <a:bodyPr/>
          <a:lstStyle/>
          <a:p>
            <a:r>
              <a:rPr lang="de-DE" dirty="0" err="1"/>
              <a:t>Recency</a:t>
            </a:r>
            <a:r>
              <a:rPr lang="de-DE" dirty="0"/>
              <a:t>, </a:t>
            </a:r>
            <a:r>
              <a:rPr lang="de-DE" dirty="0" err="1"/>
              <a:t>Monetary</a:t>
            </a:r>
            <a:r>
              <a:rPr lang="de-DE" dirty="0"/>
              <a:t>, </a:t>
            </a:r>
            <a:r>
              <a:rPr lang="de-DE" dirty="0" err="1"/>
              <a:t>Monetary</a:t>
            </a:r>
            <a:r>
              <a:rPr lang="de-DE" dirty="0"/>
              <a:t> x </a:t>
            </a:r>
            <a:r>
              <a:rPr lang="de-DE" dirty="0" err="1"/>
              <a:t>Frequency</a:t>
            </a:r>
            <a:r>
              <a:rPr lang="de-DE" dirty="0"/>
              <a:t> (RFM </a:t>
            </a:r>
            <a:r>
              <a:rPr lang="de-DE" dirty="0" err="1"/>
              <a:t>core</a:t>
            </a:r>
            <a:r>
              <a:rPr lang="de-DE" dirty="0"/>
              <a:t>)</a:t>
            </a:r>
          </a:p>
          <a:p>
            <a:r>
              <a:rPr lang="en-US" dirty="0"/>
              <a:t>Weighted revenue, avg revenue, revenue trend, </a:t>
            </a:r>
            <a:r>
              <a:rPr lang="en-US" dirty="0" err="1"/>
              <a:t>tenure_days</a:t>
            </a:r>
            <a:r>
              <a:rPr lang="en-US" dirty="0"/>
              <a:t>, </a:t>
            </a:r>
            <a:r>
              <a:rPr lang="en-US" dirty="0" err="1"/>
              <a:t>max_retail_price</a:t>
            </a:r>
            <a:r>
              <a:rPr lang="en-US" dirty="0"/>
              <a:t>, </a:t>
            </a:r>
            <a:r>
              <a:rPr lang="en-US" dirty="0" err="1"/>
              <a:t>avg_price_per_week</a:t>
            </a:r>
            <a:r>
              <a:rPr lang="en-US" dirty="0"/>
              <a:t> (behavioral depth) </a:t>
            </a:r>
          </a:p>
          <a:p>
            <a:r>
              <a:rPr lang="en-US" dirty="0"/>
              <a:t>Revenue per day, rentals per day, </a:t>
            </a:r>
            <a:r>
              <a:rPr lang="en-US" dirty="0" err="1"/>
              <a:t>pct_weekly_rentals</a:t>
            </a:r>
            <a:r>
              <a:rPr lang="en-US" dirty="0"/>
              <a:t> (velocity)</a:t>
            </a:r>
          </a:p>
          <a:p>
            <a:r>
              <a:rPr lang="en-US" dirty="0"/>
              <a:t>Summer rentals, active months (seasonality)</a:t>
            </a:r>
          </a:p>
          <a:p>
            <a:r>
              <a:rPr lang="en-US" b="1" dirty="0"/>
              <a:t>cluster_affinity_0 (Bags), </a:t>
            </a:r>
            <a:br>
              <a:rPr lang="en-US" b="1" dirty="0"/>
            </a:br>
            <a:r>
              <a:rPr lang="en-US" b="1" dirty="0"/>
              <a:t>cluster_affinity_1 (Tops), </a:t>
            </a:r>
            <a:br>
              <a:rPr lang="en-US" b="1" dirty="0"/>
            </a:br>
            <a:r>
              <a:rPr lang="en-US" b="1" dirty="0"/>
              <a:t>cluster_affinity_2 (Dresses),</a:t>
            </a:r>
            <a:br>
              <a:rPr lang="en-US" b="1" dirty="0"/>
            </a:br>
            <a:r>
              <a:rPr lang="en-US" b="1" dirty="0"/>
              <a:t>cluster_affinity_7 (Jackets)</a:t>
            </a:r>
            <a:endParaRPr lang="en-US" dirty="0"/>
          </a:p>
        </p:txBody>
      </p:sp>
      <p:sp>
        <p:nvSpPr>
          <p:cNvPr id="4" name="Datumsplatzhalter 3">
            <a:extLst>
              <a:ext uri="{FF2B5EF4-FFF2-40B4-BE49-F238E27FC236}">
                <a16:creationId xmlns:a16="http://schemas.microsoft.com/office/drawing/2014/main" id="{D889E5B2-87B5-EDF1-5E84-453FC81ED780}"/>
              </a:ext>
            </a:extLst>
          </p:cNvPr>
          <p:cNvSpPr>
            <a:spLocks noGrp="1"/>
          </p:cNvSpPr>
          <p:nvPr>
            <p:ph type="dt" sz="half" idx="10"/>
          </p:nvPr>
        </p:nvSpPr>
        <p:spPr/>
        <p:txBody>
          <a:bodyPr/>
          <a:lstStyle/>
          <a:p>
            <a:fld id="{68EF82BE-DF56-4719-B180-C3B0D509F71F}"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40EDCB64-FEAF-EFB7-C2D1-A126D04839F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EDC4E02-A0AA-EC0B-0957-332AE766D41D}"/>
              </a:ext>
            </a:extLst>
          </p:cNvPr>
          <p:cNvSpPr>
            <a:spLocks noGrp="1"/>
          </p:cNvSpPr>
          <p:nvPr>
            <p:ph type="sldNum" sz="quarter" idx="12"/>
          </p:nvPr>
        </p:nvSpPr>
        <p:spPr/>
        <p:txBody>
          <a:bodyPr/>
          <a:lstStyle/>
          <a:p>
            <a:fld id="{5ACA52AF-F19D-405C-AD5F-7D94B96A5CC3}" type="slidenum">
              <a:rPr lang="de-CH" noProof="0" smtClean="0"/>
              <a:t>12</a:t>
            </a:fld>
            <a:endParaRPr lang="de-CH" noProof="0"/>
          </a:p>
        </p:txBody>
      </p:sp>
      <p:sp>
        <p:nvSpPr>
          <p:cNvPr id="9" name="Textplatzhalter 31">
            <a:extLst>
              <a:ext uri="{FF2B5EF4-FFF2-40B4-BE49-F238E27FC236}">
                <a16:creationId xmlns:a16="http://schemas.microsoft.com/office/drawing/2014/main" id="{9F9E9F9D-03C6-38AB-B9B6-316881435378}"/>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 (</a:t>
            </a:r>
            <a:r>
              <a:rPr lang="de-DE" dirty="0" err="1">
                <a:solidFill>
                  <a:srgbClr val="215CAF"/>
                </a:solidFill>
              </a:rPr>
              <a:t>grouped</a:t>
            </a:r>
            <a:r>
              <a:rPr lang="de-DE" dirty="0">
                <a:solidFill>
                  <a:srgbClr val="215CAF"/>
                </a:solidFill>
              </a:rPr>
              <a:t>)</a:t>
            </a:r>
          </a:p>
        </p:txBody>
      </p:sp>
      <p:sp>
        <p:nvSpPr>
          <p:cNvPr id="10" name="Textplatzhalter 31">
            <a:extLst>
              <a:ext uri="{FF2B5EF4-FFF2-40B4-BE49-F238E27FC236}">
                <a16:creationId xmlns:a16="http://schemas.microsoft.com/office/drawing/2014/main" id="{EAE829C4-7147-086C-D096-5C8F0B45D75E}"/>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Segmentation </a:t>
            </a:r>
            <a:r>
              <a:rPr lang="de-DE" dirty="0" err="1"/>
              <a:t>Findings</a:t>
            </a:r>
            <a:endParaRPr lang="de-DE" dirty="0"/>
          </a:p>
        </p:txBody>
      </p:sp>
      <p:sp>
        <p:nvSpPr>
          <p:cNvPr id="11" name="Textplatzhalter 8">
            <a:extLst>
              <a:ext uri="{FF2B5EF4-FFF2-40B4-BE49-F238E27FC236}">
                <a16:creationId xmlns:a16="http://schemas.microsoft.com/office/drawing/2014/main" id="{70809E54-15A0-15C9-D52C-F044D298D4C9}"/>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4707ABA6-1E6E-D7BA-1D43-BB1CAFC1B590}"/>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4" name="Grafik 13">
            <a:extLst>
              <a:ext uri="{FF2B5EF4-FFF2-40B4-BE49-F238E27FC236}">
                <a16:creationId xmlns:a16="http://schemas.microsoft.com/office/drawing/2014/main" id="{261DD6B0-6B12-AF6B-D8CF-7B7AEF8572AA}"/>
              </a:ext>
            </a:extLst>
          </p:cNvPr>
          <p:cNvPicPr>
            <a:picLocks noChangeAspect="1"/>
          </p:cNvPicPr>
          <p:nvPr/>
        </p:nvPicPr>
        <p:blipFill>
          <a:blip r:embed="rId3"/>
          <a:stretch>
            <a:fillRect/>
          </a:stretch>
        </p:blipFill>
        <p:spPr>
          <a:xfrm>
            <a:off x="6300738" y="1824368"/>
            <a:ext cx="5558806" cy="1870192"/>
          </a:xfrm>
          <a:prstGeom prst="rect">
            <a:avLst/>
          </a:prstGeom>
        </p:spPr>
      </p:pic>
      <p:pic>
        <p:nvPicPr>
          <p:cNvPr id="16" name="Grafik 15">
            <a:extLst>
              <a:ext uri="{FF2B5EF4-FFF2-40B4-BE49-F238E27FC236}">
                <a16:creationId xmlns:a16="http://schemas.microsoft.com/office/drawing/2014/main" id="{2A1F4E20-169F-A0B4-CBD6-8014BF91EE56}"/>
              </a:ext>
            </a:extLst>
          </p:cNvPr>
          <p:cNvPicPr>
            <a:picLocks noChangeAspect="1"/>
          </p:cNvPicPr>
          <p:nvPr/>
        </p:nvPicPr>
        <p:blipFill>
          <a:blip r:embed="rId4"/>
          <a:stretch>
            <a:fillRect/>
          </a:stretch>
        </p:blipFill>
        <p:spPr>
          <a:xfrm>
            <a:off x="6096000" y="3745438"/>
            <a:ext cx="5763544" cy="2833542"/>
          </a:xfrm>
          <a:prstGeom prst="rect">
            <a:avLst/>
          </a:prstGeom>
        </p:spPr>
      </p:pic>
    </p:spTree>
    <p:extLst>
      <p:ext uri="{BB962C8B-B14F-4D97-AF65-F5344CB8AC3E}">
        <p14:creationId xmlns:p14="http://schemas.microsoft.com/office/powerpoint/2010/main" val="3437399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435D-50FC-C24A-EC2A-992FC5F4155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5BB58-C3B0-2CAD-EC81-35E542913229}"/>
              </a:ext>
            </a:extLst>
          </p:cNvPr>
          <p:cNvSpPr>
            <a:spLocks noGrp="1"/>
          </p:cNvSpPr>
          <p:nvPr>
            <p:ph type="title"/>
          </p:nvPr>
        </p:nvSpPr>
        <p:spPr/>
        <p:txBody>
          <a:bodyPr/>
          <a:lstStyle/>
          <a:p>
            <a:r>
              <a:rPr lang="de-DE" dirty="0"/>
              <a:t>The Churn Model </a:t>
            </a:r>
            <a:r>
              <a:rPr lang="de-DE" dirty="0" err="1"/>
              <a:t>Confirms</a:t>
            </a:r>
            <a:r>
              <a:rPr lang="de-DE" dirty="0"/>
              <a:t> </a:t>
            </a:r>
            <a:r>
              <a:rPr lang="de-DE" dirty="0" err="1"/>
              <a:t>the</a:t>
            </a:r>
            <a:r>
              <a:rPr lang="de-DE" dirty="0"/>
              <a:t> Story</a:t>
            </a:r>
            <a:endParaRPr lang="en-US" dirty="0"/>
          </a:p>
        </p:txBody>
      </p:sp>
      <p:sp>
        <p:nvSpPr>
          <p:cNvPr id="4" name="Datumsplatzhalter 3">
            <a:extLst>
              <a:ext uri="{FF2B5EF4-FFF2-40B4-BE49-F238E27FC236}">
                <a16:creationId xmlns:a16="http://schemas.microsoft.com/office/drawing/2014/main" id="{23360D6C-090B-C498-64ED-DE459A23CE40}"/>
              </a:ext>
            </a:extLst>
          </p:cNvPr>
          <p:cNvSpPr>
            <a:spLocks noGrp="1"/>
          </p:cNvSpPr>
          <p:nvPr>
            <p:ph type="dt" sz="half" idx="10"/>
          </p:nvPr>
        </p:nvSpPr>
        <p:spPr/>
        <p:txBody>
          <a:bodyPr/>
          <a:lstStyle/>
          <a:p>
            <a:fld id="{68EF82BE-DF56-4719-B180-C3B0D509F71F}"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5DB874DD-55C8-35C1-B57B-6298FC0DF386}"/>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391C2F00-C03B-B690-78F1-E7C0A386F2A0}"/>
              </a:ext>
            </a:extLst>
          </p:cNvPr>
          <p:cNvSpPr>
            <a:spLocks noGrp="1"/>
          </p:cNvSpPr>
          <p:nvPr>
            <p:ph type="sldNum" sz="quarter" idx="12"/>
          </p:nvPr>
        </p:nvSpPr>
        <p:spPr/>
        <p:txBody>
          <a:bodyPr/>
          <a:lstStyle/>
          <a:p>
            <a:fld id="{5ACA52AF-F19D-405C-AD5F-7D94B96A5CC3}" type="slidenum">
              <a:rPr lang="de-CH" noProof="0" smtClean="0"/>
              <a:t>13</a:t>
            </a:fld>
            <a:endParaRPr lang="de-CH" noProof="0"/>
          </a:p>
        </p:txBody>
      </p:sp>
      <p:sp>
        <p:nvSpPr>
          <p:cNvPr id="9" name="Textplatzhalter 31">
            <a:extLst>
              <a:ext uri="{FF2B5EF4-FFF2-40B4-BE49-F238E27FC236}">
                <a16:creationId xmlns:a16="http://schemas.microsoft.com/office/drawing/2014/main" id="{7B9A804A-F7B0-6EE7-6AC3-6EF298495D14}"/>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Churn </a:t>
            </a:r>
            <a:r>
              <a:rPr lang="de-DE" dirty="0" err="1">
                <a:solidFill>
                  <a:srgbClr val="215CAF"/>
                </a:solidFill>
              </a:rPr>
              <a:t>Classifier</a:t>
            </a:r>
            <a:r>
              <a:rPr lang="de-DE" dirty="0">
                <a:solidFill>
                  <a:srgbClr val="215CAF"/>
                </a:solidFill>
              </a:rPr>
              <a:t> Performance</a:t>
            </a:r>
          </a:p>
        </p:txBody>
      </p:sp>
      <p:sp>
        <p:nvSpPr>
          <p:cNvPr id="10" name="Textplatzhalter 31">
            <a:extLst>
              <a:ext uri="{FF2B5EF4-FFF2-40B4-BE49-F238E27FC236}">
                <a16:creationId xmlns:a16="http://schemas.microsoft.com/office/drawing/2014/main" id="{86BE7471-019E-4717-4F6D-B5D385F5BACF}"/>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a:t>
            </a:r>
          </a:p>
        </p:txBody>
      </p:sp>
      <p:sp>
        <p:nvSpPr>
          <p:cNvPr id="11" name="Textplatzhalter 8">
            <a:extLst>
              <a:ext uri="{FF2B5EF4-FFF2-40B4-BE49-F238E27FC236}">
                <a16:creationId xmlns:a16="http://schemas.microsoft.com/office/drawing/2014/main" id="{771096F0-B0F8-FF89-51F6-254634DD94F1}"/>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1A893718-FC7E-15DE-CC78-B536E264E155}"/>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6" name="Grafik 15">
            <a:extLst>
              <a:ext uri="{FF2B5EF4-FFF2-40B4-BE49-F238E27FC236}">
                <a16:creationId xmlns:a16="http://schemas.microsoft.com/office/drawing/2014/main" id="{10B88883-2A0B-6A16-834D-3BD4304C5747}"/>
              </a:ext>
            </a:extLst>
          </p:cNvPr>
          <p:cNvPicPr>
            <a:picLocks noChangeAspect="1"/>
          </p:cNvPicPr>
          <p:nvPr/>
        </p:nvPicPr>
        <p:blipFill>
          <a:blip r:embed="rId3"/>
          <a:stretch>
            <a:fillRect/>
          </a:stretch>
        </p:blipFill>
        <p:spPr>
          <a:xfrm>
            <a:off x="6096000" y="3745438"/>
            <a:ext cx="5763544" cy="2833542"/>
          </a:xfrm>
          <a:prstGeom prst="rect">
            <a:avLst/>
          </a:prstGeom>
        </p:spPr>
      </p:pic>
      <p:sp>
        <p:nvSpPr>
          <p:cNvPr id="7" name="Inhaltsplatzhalter 19">
            <a:extLst>
              <a:ext uri="{FF2B5EF4-FFF2-40B4-BE49-F238E27FC236}">
                <a16:creationId xmlns:a16="http://schemas.microsoft.com/office/drawing/2014/main" id="{50F304D5-EA69-4687-B55D-8780BB25A037}"/>
              </a:ext>
            </a:extLst>
          </p:cNvPr>
          <p:cNvSpPr txBox="1">
            <a:spLocks/>
          </p:cNvSpPr>
          <p:nvPr/>
        </p:nvSpPr>
        <p:spPr>
          <a:xfrm>
            <a:off x="6204163" y="1877901"/>
            <a:ext cx="5256000" cy="2213453"/>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Recency</a:t>
            </a:r>
            <a:endParaRPr lang="de-DE" dirty="0"/>
          </a:p>
          <a:p>
            <a:r>
              <a:rPr lang="de-DE" dirty="0" err="1"/>
              <a:t>Monetary</a:t>
            </a:r>
            <a:r>
              <a:rPr lang="de-DE" dirty="0"/>
              <a:t> x </a:t>
            </a:r>
            <a:r>
              <a:rPr lang="de-DE" dirty="0" err="1"/>
              <a:t>Frequency</a:t>
            </a:r>
            <a:endParaRPr lang="de-DE" dirty="0"/>
          </a:p>
          <a:p>
            <a:r>
              <a:rPr lang="de-DE" dirty="0" err="1"/>
              <a:t>Pct_weekly_rentals</a:t>
            </a:r>
            <a:endParaRPr lang="de-DE" dirty="0"/>
          </a:p>
          <a:p>
            <a:r>
              <a:rPr lang="de-DE" dirty="0"/>
              <a:t>cluster_affinity_6 (</a:t>
            </a:r>
            <a:r>
              <a:rPr lang="de-DE" dirty="0" err="1"/>
              <a:t>Skirts</a:t>
            </a:r>
            <a:r>
              <a:rPr lang="de-DE" dirty="0"/>
              <a:t>) </a:t>
            </a:r>
            <a:r>
              <a:rPr lang="en-US" dirty="0"/>
              <a:t>→ everyday fashion –could be a loyalty signal</a:t>
            </a:r>
            <a:endParaRPr lang="de-DE" dirty="0"/>
          </a:p>
        </p:txBody>
      </p:sp>
      <p:pic>
        <p:nvPicPr>
          <p:cNvPr id="8" name="Grafik 7">
            <a:extLst>
              <a:ext uri="{FF2B5EF4-FFF2-40B4-BE49-F238E27FC236}">
                <a16:creationId xmlns:a16="http://schemas.microsoft.com/office/drawing/2014/main" id="{3588F285-94D5-6DD4-BEE8-9AC03342101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31837" y="1877901"/>
            <a:ext cx="5256000" cy="3126413"/>
          </a:xfrm>
          <a:prstGeom prst="rect">
            <a:avLst/>
          </a:prstGeom>
        </p:spPr>
      </p:pic>
      <p:sp>
        <p:nvSpPr>
          <p:cNvPr id="17" name="Inhaltsplatzhalter 19">
            <a:extLst>
              <a:ext uri="{FF2B5EF4-FFF2-40B4-BE49-F238E27FC236}">
                <a16:creationId xmlns:a16="http://schemas.microsoft.com/office/drawing/2014/main" id="{C33CE04B-909E-1859-A592-E75C683B238E}"/>
              </a:ext>
            </a:extLst>
          </p:cNvPr>
          <p:cNvSpPr txBox="1">
            <a:spLocks/>
          </p:cNvSpPr>
          <p:nvPr/>
        </p:nvSpPr>
        <p:spPr>
          <a:xfrm>
            <a:off x="840000" y="5004315"/>
            <a:ext cx="5256000" cy="1195764"/>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dirty="0" err="1"/>
              <a:t>Assignment</a:t>
            </a:r>
            <a:r>
              <a:rPr lang="de-DE" dirty="0"/>
              <a:t> Evaluation </a:t>
            </a:r>
            <a:r>
              <a:rPr lang="de-DE" dirty="0" err="1"/>
              <a:t>Metrics</a:t>
            </a:r>
            <a:r>
              <a:rPr lang="de-DE" dirty="0"/>
              <a:t>:</a:t>
            </a:r>
          </a:p>
          <a:p>
            <a:r>
              <a:rPr lang="de-DE" dirty="0"/>
              <a:t>Total Hit Ratio (</a:t>
            </a:r>
            <a:r>
              <a:rPr lang="de-DE" dirty="0" err="1"/>
              <a:t>Accuracy</a:t>
            </a:r>
            <a:r>
              <a:rPr lang="de-DE" dirty="0"/>
              <a:t>): 96%</a:t>
            </a:r>
          </a:p>
          <a:p>
            <a:r>
              <a:rPr lang="de-DE" dirty="0"/>
              <a:t>Recall (</a:t>
            </a:r>
            <a:r>
              <a:rPr lang="de-DE" dirty="0" err="1"/>
              <a:t>Inactive</a:t>
            </a:r>
            <a:r>
              <a:rPr lang="de-DE" dirty="0"/>
              <a:t> </a:t>
            </a:r>
            <a:r>
              <a:rPr lang="de-DE" dirty="0" err="1"/>
              <a:t>customers</a:t>
            </a:r>
            <a:r>
              <a:rPr lang="de-DE" dirty="0"/>
              <a:t>): 99%</a:t>
            </a:r>
          </a:p>
        </p:txBody>
      </p:sp>
    </p:spTree>
    <p:extLst>
      <p:ext uri="{BB962C8B-B14F-4D97-AF65-F5344CB8AC3E}">
        <p14:creationId xmlns:p14="http://schemas.microsoft.com/office/powerpoint/2010/main" val="262873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A47A00-249C-434A-EAC5-62C717836070}"/>
              </a:ext>
            </a:extLst>
          </p:cNvPr>
          <p:cNvSpPr>
            <a:spLocks noGrp="1"/>
          </p:cNvSpPr>
          <p:nvPr>
            <p:ph type="title"/>
          </p:nvPr>
        </p:nvSpPr>
        <p:spPr/>
        <p:txBody>
          <a:bodyPr/>
          <a:lstStyle/>
          <a:p>
            <a:r>
              <a:rPr lang="de-DE" dirty="0" err="1"/>
              <a:t>Recommendations</a:t>
            </a:r>
            <a:r>
              <a:rPr lang="de-DE" dirty="0"/>
              <a:t> to </a:t>
            </a:r>
            <a:r>
              <a:rPr lang="de-DE" dirty="0" err="1"/>
              <a:t>Vibrent</a:t>
            </a:r>
            <a:endParaRPr lang="en-US" dirty="0"/>
          </a:p>
        </p:txBody>
      </p:sp>
      <p:sp>
        <p:nvSpPr>
          <p:cNvPr id="4" name="Datumsplatzhalter 3">
            <a:extLst>
              <a:ext uri="{FF2B5EF4-FFF2-40B4-BE49-F238E27FC236}">
                <a16:creationId xmlns:a16="http://schemas.microsoft.com/office/drawing/2014/main" id="{D8FDF408-E51C-4711-3171-1EFC56C40014}"/>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77DB9B62-7DF1-2607-A814-EB54967955C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16D27D-EF82-8204-43AB-60014F84F0EA}"/>
              </a:ext>
            </a:extLst>
          </p:cNvPr>
          <p:cNvSpPr>
            <a:spLocks noGrp="1"/>
          </p:cNvSpPr>
          <p:nvPr>
            <p:ph type="sldNum" sz="quarter" idx="12"/>
          </p:nvPr>
        </p:nvSpPr>
        <p:spPr/>
        <p:txBody>
          <a:bodyPr/>
          <a:lstStyle/>
          <a:p>
            <a:fld id="{5ACA52AF-F19D-405C-AD5F-7D94B96A5CC3}" type="slidenum">
              <a:rPr lang="de-CH" noProof="0" smtClean="0"/>
              <a:t>14</a:t>
            </a:fld>
            <a:endParaRPr lang="de-CH" noProof="0"/>
          </a:p>
        </p:txBody>
      </p:sp>
      <p:grpSp>
        <p:nvGrpSpPr>
          <p:cNvPr id="19" name="Gruppieren 18">
            <a:extLst>
              <a:ext uri="{FF2B5EF4-FFF2-40B4-BE49-F238E27FC236}">
                <a16:creationId xmlns:a16="http://schemas.microsoft.com/office/drawing/2014/main" id="{9CB6AD72-CC2C-0304-AD0C-0CF4AA8BF70E}"/>
              </a:ext>
            </a:extLst>
          </p:cNvPr>
          <p:cNvGrpSpPr/>
          <p:nvPr/>
        </p:nvGrpSpPr>
        <p:grpSpPr>
          <a:xfrm>
            <a:off x="731837" y="1412875"/>
            <a:ext cx="10728325" cy="1194858"/>
            <a:chOff x="731837" y="1412875"/>
            <a:chExt cx="10728325" cy="1194858"/>
          </a:xfrm>
        </p:grpSpPr>
        <p:sp>
          <p:nvSpPr>
            <p:cNvPr id="7" name="Rechteck: abgerundete Ecken 6">
              <a:extLst>
                <a:ext uri="{FF2B5EF4-FFF2-40B4-BE49-F238E27FC236}">
                  <a16:creationId xmlns:a16="http://schemas.microsoft.com/office/drawing/2014/main" id="{1EB69DE7-0668-FF16-B6B3-F6C0054EAD53}"/>
                </a:ext>
              </a:extLst>
            </p:cNvPr>
            <p:cNvSpPr/>
            <p:nvPr/>
          </p:nvSpPr>
          <p:spPr>
            <a:xfrm>
              <a:off x="731837" y="1412875"/>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de-DE" sz="2400" b="1" dirty="0" err="1"/>
                <a:t>Expand</a:t>
              </a:r>
              <a:r>
                <a:rPr lang="de-DE" sz="2400" b="1" dirty="0"/>
                <a:t> Bags &amp; Accessoires</a:t>
              </a:r>
            </a:p>
            <a:p>
              <a:pPr marL="1076325"/>
              <a:r>
                <a:rPr lang="en-US" dirty="0"/>
                <a:t>Highest revenue-per-item in the catalog (10,139 NOK), utilization 71% above average but lowest ROI due to acquisition cost. Growth lever, not efficiency play.</a:t>
              </a:r>
              <a:endParaRPr lang="de-DE" dirty="0"/>
            </a:p>
          </p:txBody>
        </p:sp>
        <p:pic>
          <p:nvPicPr>
            <p:cNvPr id="10" name="Grafik 9" descr="Marke 1 Silhouette">
              <a:extLst>
                <a:ext uri="{FF2B5EF4-FFF2-40B4-BE49-F238E27FC236}">
                  <a16:creationId xmlns:a16="http://schemas.microsoft.com/office/drawing/2014/main" id="{FC61B064-C6DF-B4F1-CA91-E29C56DE837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5049" y="1553104"/>
              <a:ext cx="914400" cy="914400"/>
            </a:xfrm>
            <a:prstGeom prst="rect">
              <a:avLst/>
            </a:prstGeom>
          </p:spPr>
        </p:pic>
      </p:grpSp>
      <p:grpSp>
        <p:nvGrpSpPr>
          <p:cNvPr id="20" name="Gruppieren 19">
            <a:extLst>
              <a:ext uri="{FF2B5EF4-FFF2-40B4-BE49-F238E27FC236}">
                <a16:creationId xmlns:a16="http://schemas.microsoft.com/office/drawing/2014/main" id="{2A333CD4-A0D0-E4A0-86F7-4481AB75BA64}"/>
              </a:ext>
            </a:extLst>
          </p:cNvPr>
          <p:cNvGrpSpPr/>
          <p:nvPr/>
        </p:nvGrpSpPr>
        <p:grpSpPr>
          <a:xfrm>
            <a:off x="731837" y="3060171"/>
            <a:ext cx="10728325" cy="1194858"/>
            <a:chOff x="731837" y="3116713"/>
            <a:chExt cx="10728325" cy="1194858"/>
          </a:xfrm>
        </p:grpSpPr>
        <p:sp>
          <p:nvSpPr>
            <p:cNvPr id="11" name="Rechteck: abgerundete Ecken 10">
              <a:extLst>
                <a:ext uri="{FF2B5EF4-FFF2-40B4-BE49-F238E27FC236}">
                  <a16:creationId xmlns:a16="http://schemas.microsoft.com/office/drawing/2014/main" id="{0D5A5E6D-8A90-A188-7523-62EB848413D8}"/>
                </a:ext>
              </a:extLst>
            </p:cNvPr>
            <p:cNvSpPr/>
            <p:nvPr/>
          </p:nvSpPr>
          <p:spPr>
            <a:xfrm>
              <a:off x="731837" y="3116713"/>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Reallocate away from Trousers &amp; Skirts</a:t>
              </a:r>
              <a:endParaRPr lang="de-DE" sz="2400" b="1" dirty="0"/>
            </a:p>
            <a:p>
              <a:pPr marL="1076325"/>
              <a:r>
                <a:rPr lang="en-US" dirty="0"/>
                <a:t>16% of inventory, 11% of revenue. Never-rented rates up to 35.8%. Shift budget toward Tops &amp; Sweaters with an ROI exceeding 3.5x.</a:t>
              </a:r>
              <a:endParaRPr lang="de-DE" dirty="0"/>
            </a:p>
          </p:txBody>
        </p:sp>
        <p:pic>
          <p:nvPicPr>
            <p:cNvPr id="16" name="Grafik 15" descr="Abzeichen Silhouette">
              <a:extLst>
                <a:ext uri="{FF2B5EF4-FFF2-40B4-BE49-F238E27FC236}">
                  <a16:creationId xmlns:a16="http://schemas.microsoft.com/office/drawing/2014/main" id="{9C365F7B-66C5-3743-AAD4-C67E04DC849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85049" y="3256942"/>
              <a:ext cx="914400" cy="914400"/>
            </a:xfrm>
            <a:prstGeom prst="rect">
              <a:avLst/>
            </a:prstGeom>
          </p:spPr>
        </p:pic>
      </p:grpSp>
      <p:grpSp>
        <p:nvGrpSpPr>
          <p:cNvPr id="21" name="Gruppieren 20">
            <a:extLst>
              <a:ext uri="{FF2B5EF4-FFF2-40B4-BE49-F238E27FC236}">
                <a16:creationId xmlns:a16="http://schemas.microsoft.com/office/drawing/2014/main" id="{D6DE2B58-BD18-E3F5-A419-D95C8B96E1B6}"/>
              </a:ext>
            </a:extLst>
          </p:cNvPr>
          <p:cNvGrpSpPr/>
          <p:nvPr/>
        </p:nvGrpSpPr>
        <p:grpSpPr>
          <a:xfrm>
            <a:off x="731837" y="4707467"/>
            <a:ext cx="10728325" cy="1194858"/>
            <a:chOff x="731837" y="4707467"/>
            <a:chExt cx="10728325" cy="1194858"/>
          </a:xfrm>
        </p:grpSpPr>
        <p:sp>
          <p:nvSpPr>
            <p:cNvPr id="13" name="Rechteck: abgerundete Ecken 12">
              <a:extLst>
                <a:ext uri="{FF2B5EF4-FFF2-40B4-BE49-F238E27FC236}">
                  <a16:creationId xmlns:a16="http://schemas.microsoft.com/office/drawing/2014/main" id="{E044C822-A75B-328F-401D-4E6FD42DA3F3}"/>
                </a:ext>
              </a:extLst>
            </p:cNvPr>
            <p:cNvSpPr/>
            <p:nvPr/>
          </p:nvSpPr>
          <p:spPr>
            <a:xfrm>
              <a:off x="731837" y="4707467"/>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Trigger a second-category nudge after the first Dress rental</a:t>
              </a:r>
              <a:endParaRPr lang="de-DE" sz="2400" b="1" dirty="0"/>
            </a:p>
            <a:p>
              <a:pPr marL="1076325"/>
              <a:r>
                <a:rPr lang="en-US" dirty="0"/>
                <a:t>At-risk customers spend 79% in a single category. One cross-category interaction changes the behavioral profile from occasion renter to subscriber.</a:t>
              </a:r>
              <a:endParaRPr lang="de-DE" dirty="0"/>
            </a:p>
          </p:txBody>
        </p:sp>
        <p:pic>
          <p:nvPicPr>
            <p:cNvPr id="18" name="Grafik 17" descr="Marke 3 Silhouette">
              <a:extLst>
                <a:ext uri="{FF2B5EF4-FFF2-40B4-BE49-F238E27FC236}">
                  <a16:creationId xmlns:a16="http://schemas.microsoft.com/office/drawing/2014/main" id="{3BE42710-EA39-EF11-8A27-095065DFFA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049" y="4847696"/>
              <a:ext cx="914400" cy="914400"/>
            </a:xfrm>
            <a:prstGeom prst="rect">
              <a:avLst/>
            </a:prstGeom>
          </p:spPr>
        </p:pic>
      </p:grpSp>
    </p:spTree>
    <p:extLst>
      <p:ext uri="{BB962C8B-B14F-4D97-AF65-F5344CB8AC3E}">
        <p14:creationId xmlns:p14="http://schemas.microsoft.com/office/powerpoint/2010/main" val="1749823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A7920-004A-04BF-F6AF-4C834A8B6633}"/>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7E59F031-395B-CFFA-0DD9-BA45A028C8E6}"/>
              </a:ext>
            </a:extLst>
          </p:cNvPr>
          <p:cNvSpPr>
            <a:spLocks noGrp="1"/>
          </p:cNvSpPr>
          <p:nvPr>
            <p:ph type="dt" sz="half" idx="10"/>
          </p:nvPr>
        </p:nvSpPr>
        <p:spPr/>
        <p:txBody>
          <a:bodyPr/>
          <a:lstStyle/>
          <a:p>
            <a:fld id="{11B96697-4585-4368-989A-16003D150648}" type="datetime1">
              <a:rPr lang="de-CH" noProof="0" smtClean="0"/>
              <a:t>30.04.2026</a:t>
            </a:fld>
            <a:endParaRPr lang="de-CH" noProof="0"/>
          </a:p>
        </p:txBody>
      </p:sp>
      <p:sp>
        <p:nvSpPr>
          <p:cNvPr id="5" name="Fußzeilenplatzhalter 4">
            <a:extLst>
              <a:ext uri="{FF2B5EF4-FFF2-40B4-BE49-F238E27FC236}">
                <a16:creationId xmlns:a16="http://schemas.microsoft.com/office/drawing/2014/main" id="{8E18EB06-0D0A-3BB4-22AC-CBF7E7C24558}"/>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A1875842-BDE0-1422-78D5-06A82BA2B59B}"/>
              </a:ext>
            </a:extLst>
          </p:cNvPr>
          <p:cNvSpPr>
            <a:spLocks noGrp="1"/>
          </p:cNvSpPr>
          <p:nvPr>
            <p:ph type="sldNum" sz="quarter" idx="12"/>
          </p:nvPr>
        </p:nvSpPr>
        <p:spPr/>
        <p:txBody>
          <a:bodyPr/>
          <a:lstStyle/>
          <a:p>
            <a:fld id="{5ACA52AF-F19D-405C-AD5F-7D94B96A5CC3}" type="slidenum">
              <a:rPr lang="de-CH" noProof="0" smtClean="0"/>
              <a:t>15</a:t>
            </a:fld>
            <a:endParaRPr lang="de-CH" noProof="0"/>
          </a:p>
        </p:txBody>
      </p:sp>
      <p:sp>
        <p:nvSpPr>
          <p:cNvPr id="8" name="Title 7">
            <a:extLst>
              <a:ext uri="{FF2B5EF4-FFF2-40B4-BE49-F238E27FC236}">
                <a16:creationId xmlns:a16="http://schemas.microsoft.com/office/drawing/2014/main" id="{A8419249-11D8-5701-A86E-CD398A5C69E3}"/>
              </a:ext>
            </a:extLst>
          </p:cNvPr>
          <p:cNvSpPr>
            <a:spLocks noGrp="1"/>
          </p:cNvSpPr>
          <p:nvPr>
            <p:ph type="title"/>
          </p:nvPr>
        </p:nvSpPr>
        <p:spPr>
          <a:xfrm>
            <a:off x="721677" y="1845311"/>
            <a:ext cx="10728325" cy="900000"/>
          </a:xfrm>
        </p:spPr>
        <p:txBody>
          <a:bodyPr/>
          <a:lstStyle/>
          <a:p>
            <a:pPr algn="ctr"/>
            <a:r>
              <a:rPr lang="it-IT" sz="4800" b="1" i="1" dirty="0"/>
              <a:t>Thank You!</a:t>
            </a:r>
            <a:br>
              <a:rPr lang="it-IT" sz="4800" b="1" i="1" dirty="0"/>
            </a:br>
            <a:br>
              <a:rPr lang="it-IT" sz="2800" b="1" i="1" dirty="0"/>
            </a:br>
            <a:r>
              <a:rPr lang="it-IT" sz="2000" b="1" i="1" dirty="0"/>
              <a:t>Group 2</a:t>
            </a:r>
            <a:br>
              <a:rPr lang="it-IT" sz="1800" b="1" i="1" dirty="0"/>
            </a:br>
            <a:br>
              <a:rPr lang="it-IT" sz="1800" b="1" i="1" dirty="0"/>
            </a:br>
            <a:r>
              <a:rPr lang="it-IT" sz="1800" i="1" dirty="0"/>
              <a:t>Constantin Cimpoes • Julius Voss</a:t>
            </a:r>
            <a:endParaRPr lang="en-US" sz="4800" i="1" dirty="0"/>
          </a:p>
        </p:txBody>
      </p:sp>
    </p:spTree>
    <p:extLst>
      <p:ext uri="{BB962C8B-B14F-4D97-AF65-F5344CB8AC3E}">
        <p14:creationId xmlns:p14="http://schemas.microsoft.com/office/powerpoint/2010/main" val="2210950879"/>
      </p:ext>
    </p:extLst>
  </p:cSld>
  <p:clrMapOvr>
    <a:masterClrMapping/>
  </p:clrMapOvr>
</p:sld>
</file>

<file path=ppt/theme/theme1.xml><?xml version="1.0" encoding="utf-8"?>
<a:theme xmlns:a="http://schemas.openxmlformats.org/drawingml/2006/main" name="ETH Zürich">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Präsentation3" id="{9C84984C-18ED-5E49-A574-15FF8A3954B8}" vid="{0B390235-9264-874C-ABEB-5D2188FC234E}"/>
    </a:ext>
  </a:extLst>
</a:theme>
</file>

<file path=ppt/theme/theme2.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D0F59E03F3A02E49BD70E31348545014" ma:contentTypeVersion="7" ma:contentTypeDescription="Ein neues Dokument erstellen." ma:contentTypeScope="" ma:versionID="907cdc0f808be0b4bc1373a5a8f6a492">
  <xsd:schema xmlns:xsd="http://www.w3.org/2001/XMLSchema" xmlns:xs="http://www.w3.org/2001/XMLSchema" xmlns:p="http://schemas.microsoft.com/office/2006/metadata/properties" xmlns:ns2="7fd05bba-d45d-467f-a5a8-3f2970e80e4a" targetNamespace="http://schemas.microsoft.com/office/2006/metadata/properties" ma:root="true" ma:fieldsID="6eaf8534fcc486a778b01aa1a7a62fa4" ns2:_="">
    <xsd:import namespace="7fd05bba-d45d-467f-a5a8-3f2970e80e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d05bba-d45d-467f-a5a8-3f2970e80e4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B1C8D-BA84-44B8-B31F-BF26E7BAC85C}">
  <ds:schemaRefs>
    <ds:schemaRef ds:uri="7fd05bba-d45d-467f-a5a8-3f2970e80e4a"/>
    <ds:schemaRef ds:uri="http://schemas.microsoft.com/office/2006/documentManagement/types"/>
    <ds:schemaRef ds:uri="http://schemas.microsoft.com/office/2006/metadata/properties"/>
    <ds:schemaRef ds:uri="http://schemas.openxmlformats.org/package/2006/metadata/core-properties"/>
    <ds:schemaRef ds:uri="http://purl.org/dc/dcmitype/"/>
    <ds:schemaRef ds:uri="http://purl.org/dc/terms/"/>
    <ds:schemaRef ds:uri="http://www.w3.org/XML/1998/namespace"/>
    <ds:schemaRef ds:uri="http://purl.org/dc/elements/1.1/"/>
    <ds:schemaRef ds:uri="http://schemas.microsoft.com/office/infopath/2007/PartnerControls"/>
  </ds:schemaRefs>
</ds:datastoreItem>
</file>

<file path=customXml/itemProps2.xml><?xml version="1.0" encoding="utf-8"?>
<ds:datastoreItem xmlns:ds="http://schemas.openxmlformats.org/officeDocument/2006/customXml" ds:itemID="{6B7B52BC-33EF-4C54-820C-9984D5F8AFB1}">
  <ds:schemaRefs>
    <ds:schemaRef ds:uri="7fd05bba-d45d-467f-a5a8-3f2970e80e4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E0CFCB78-2973-46E2-963D-C72C98C43B4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eth_pp_praesentation_ohne_klassifizierung</Template>
  <TotalTime>0</TotalTime>
  <Words>1951</Words>
  <Application>Microsoft Office PowerPoint</Application>
  <PresentationFormat>Breitbild</PresentationFormat>
  <Paragraphs>269</Paragraphs>
  <Slides>15</Slides>
  <Notes>15</Notes>
  <HiddenSlides>1</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15</vt:i4>
      </vt:variant>
    </vt:vector>
  </HeadingPairs>
  <TitlesOfParts>
    <vt:vector size="23" baseType="lpstr">
      <vt:lpstr>Aptos Black</vt:lpstr>
      <vt:lpstr>Arial</vt:lpstr>
      <vt:lpstr>Courier New</vt:lpstr>
      <vt:lpstr>Segoe UI</vt:lpstr>
      <vt:lpstr>Segoe UI Symbol</vt:lpstr>
      <vt:lpstr>Symbol</vt:lpstr>
      <vt:lpstr>Wingdings</vt:lpstr>
      <vt:lpstr>ETH Zürich</vt:lpstr>
      <vt:lpstr>Final Presentation   Marketing Analytics</vt:lpstr>
      <vt:lpstr>Introduction &amp; Problem Setup</vt:lpstr>
      <vt:lpstr>PowerPoint-Präsentation</vt:lpstr>
      <vt:lpstr>PowerPoint-Präsentation</vt:lpstr>
      <vt:lpstr>PowerPoint-Präsentation</vt:lpstr>
      <vt:lpstr>PowerPoint-Präsentation</vt:lpstr>
      <vt:lpstr>The Baseline - Comparing RFM-based Models</vt:lpstr>
      <vt:lpstr>The Baseline - LightGBM Already Beats the Industry Benchmark on RFM-Features</vt:lpstr>
      <vt:lpstr>The Modeling Journey – Four Problems, Four Solutions, Three Improvements</vt:lpstr>
      <vt:lpstr>Hybrid Two-Stage Model</vt:lpstr>
      <vt:lpstr>Hybrid Two-Stage Model</vt:lpstr>
      <vt:lpstr>Single-Stage LightGBM rediscovered the Segmentation</vt:lpstr>
      <vt:lpstr>The Churn Model Confirms the Story</vt:lpstr>
      <vt:lpstr>Recommendations to Vibrent</vt:lpstr>
      <vt:lpstr>Thank You!  Group 2  Constantin Cimpoes • Julius Voss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Voss  Julius</dc:creator>
  <cp:lastModifiedBy>Voss  Julius</cp:lastModifiedBy>
  <cp:revision>45</cp:revision>
  <dcterms:created xsi:type="dcterms:W3CDTF">2025-11-07T08:31:52Z</dcterms:created>
  <dcterms:modified xsi:type="dcterms:W3CDTF">2026-04-30T11:55:44Z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0x010100D0F59E03F3A02E49BD70E31348545014</vt:lpwstr>
  </property>
</Properties>
</file>
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
  </p:notesMasterIdLst>
  <p:handoutMasterIdLst>
    <p:handoutMasterId r:id="rId20"/>
  </p:handoutMasterIdLst>
  <p:sldIdLst>
    <p:sldId id="256" r:id="rId5"/>
    <p:sldId id="1206" r:id="rId6"/>
    <p:sldId id="1209" r:id="rId7"/>
    <p:sldId id="1207" r:id="rId8"/>
    <p:sldId id="1211" r:id="rId9"/>
    <p:sldId id="1212" r:id="rId10"/>
    <p:sldId id="1193" r:id="rId11"/>
    <p:sldId id="1195" r:id="rId12"/>
    <p:sldId id="1196" r:id="rId13"/>
    <p:sldId id="1199" r:id="rId14"/>
    <p:sldId id="1200" r:id="rId15"/>
    <p:sldId id="1201" r:id="rId16"/>
    <p:sldId id="1203" r:id="rId17"/>
    <p:sldId id="1204" r:id="rId1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1B1B1"/>
    <a:srgbClr val="A6D854"/>
    <a:srgbClr val="66C2A5"/>
    <a:srgbClr val="2CA02C"/>
    <a:srgbClr val="FFFFFF"/>
    <a:srgbClr val="1D76B3"/>
    <a:srgbClr val="7A7A7A"/>
    <a:srgbClr val="82483C"/>
    <a:srgbClr val="E999D1"/>
    <a:srgbClr val="FF7E0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59" autoAdjust="0"/>
    <p:restoredTop sz="60261" autoAdjust="0"/>
  </p:normalViewPr>
  <p:slideViewPr>
    <p:cSldViewPr snapToGrid="0">
      <p:cViewPr>
        <p:scale>
          <a:sx n="66" d="100"/>
          <a:sy n="66" d="100"/>
        </p:scale>
        <p:origin x="1368" y="-250"/>
      </p:cViewPr>
      <p:guideLst>
        <p:guide orient="horz" pos="2183"/>
        <p:guide pos="3840"/>
      </p:guideLst>
    </p:cSldViewPr>
  </p:slideViewPr>
  <p:notesTextViewPr>
    <p:cViewPr>
      <p:scale>
        <a:sx n="1" d="1"/>
        <a:sy n="1" d="1"/>
      </p:scale>
      <p:origin x="0" y="-605"/>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2BA8F1-03A5-4B83-959B-8E8AB24A07A6}" type="doc">
      <dgm:prSet loTypeId="urn:microsoft.com/office/officeart/2005/8/layout/chevron2" loCatId="process" qsTypeId="urn:microsoft.com/office/officeart/2005/8/quickstyle/simple5" qsCatId="simple" csTypeId="urn:microsoft.com/office/officeart/2005/8/colors/colorful1" csCatId="colorful" phldr="1"/>
      <dgm:spPr/>
      <dgm:t>
        <a:bodyPr/>
        <a:lstStyle/>
        <a:p>
          <a:endParaRPr lang="en-US"/>
        </a:p>
      </dgm:t>
    </dgm:pt>
    <dgm:pt modelId="{A0D9B4CE-361E-4D1A-9364-F3D4B22E9A9E}">
      <dgm:prSet phldrT="[Text]"/>
      <dgm:spPr/>
      <dgm:t>
        <a:bodyPr/>
        <a:lstStyle/>
        <a:p>
          <a:pPr>
            <a:buNone/>
          </a:pPr>
          <a:r>
            <a:rPr lang="en-US" b="1" dirty="0"/>
            <a:t>Product images + descriptions</a:t>
          </a:r>
        </a:p>
      </dgm:t>
    </dgm:pt>
    <dgm:pt modelId="{AA6B5C8B-9562-4A1A-B1B7-169B1AA026E7}" type="parTrans" cxnId="{531F33BC-EC98-4EA2-9A05-2B37A6DD90A1}">
      <dgm:prSet/>
      <dgm:spPr/>
      <dgm:t>
        <a:bodyPr/>
        <a:lstStyle/>
        <a:p>
          <a:endParaRPr lang="en-US"/>
        </a:p>
      </dgm:t>
    </dgm:pt>
    <dgm:pt modelId="{E8CAA43B-4B62-4CEE-9569-2795BBDEEE02}" type="sibTrans" cxnId="{531F33BC-EC98-4EA2-9A05-2B37A6DD90A1}">
      <dgm:prSet/>
      <dgm:spPr/>
      <dgm:t>
        <a:bodyPr/>
        <a:lstStyle/>
        <a:p>
          <a:endParaRPr lang="en-US"/>
        </a:p>
      </dgm:t>
    </dgm:pt>
    <dgm:pt modelId="{1C3F4396-0F0D-4B82-A74C-3ABE315BFA85}">
      <dgm:prSet phldrT="[Text]" custT="1"/>
      <dgm:spPr/>
      <dgm:t>
        <a:bodyPr/>
        <a:lstStyle/>
        <a:p>
          <a:r>
            <a:rPr lang="en-US" sz="1400" dirty="0"/>
            <a:t>A </a:t>
          </a:r>
          <a:r>
            <a:rPr lang="en-US" sz="1400" b="1" dirty="0"/>
            <a:t>metadata</a:t>
          </a:r>
          <a:r>
            <a:rPr lang="en-US" sz="1400" dirty="0"/>
            <a:t> tag says "dress“, an </a:t>
          </a:r>
          <a:r>
            <a:rPr lang="en-US" sz="1400" b="1" dirty="0"/>
            <a:t>embedding</a:t>
          </a:r>
          <a:r>
            <a:rPr lang="en-US" sz="1400" dirty="0"/>
            <a:t> captures what kind of dress (the silhouette, color palette, occasion, vibe)</a:t>
          </a:r>
        </a:p>
      </dgm:t>
    </dgm:pt>
    <dgm:pt modelId="{E4EC9AE5-61C3-4820-9ECF-08CBB984E545}" type="parTrans" cxnId="{065ABF24-1B54-433A-A760-98C742F0E8CB}">
      <dgm:prSet/>
      <dgm:spPr/>
      <dgm:t>
        <a:bodyPr/>
        <a:lstStyle/>
        <a:p>
          <a:endParaRPr lang="en-US"/>
        </a:p>
      </dgm:t>
    </dgm:pt>
    <dgm:pt modelId="{7D33B74A-544B-435E-AA3B-4EA3F843DA75}" type="sibTrans" cxnId="{065ABF24-1B54-433A-A760-98C742F0E8CB}">
      <dgm:prSet/>
      <dgm:spPr/>
      <dgm:t>
        <a:bodyPr/>
        <a:lstStyle/>
        <a:p>
          <a:endParaRPr lang="en-US"/>
        </a:p>
      </dgm:t>
    </dgm:pt>
    <dgm:pt modelId="{5866F4CE-E9AA-485F-B098-C81A9D4B1645}">
      <dgm:prSet phldrT="[Text]"/>
      <dgm:spPr/>
      <dgm:t>
        <a:bodyPr/>
        <a:lstStyle/>
        <a:p>
          <a:pPr>
            <a:buNone/>
          </a:pPr>
          <a:r>
            <a:rPr lang="en-US" b="1" dirty="0"/>
            <a:t>Voyage 3.5 (2048-dim)</a:t>
          </a:r>
        </a:p>
      </dgm:t>
    </dgm:pt>
    <dgm:pt modelId="{130851F2-A624-43B4-9F5D-71FED199A205}" type="parTrans" cxnId="{E3BCC25A-385C-4DFF-8731-4F8E6AD6DB01}">
      <dgm:prSet/>
      <dgm:spPr/>
      <dgm:t>
        <a:bodyPr/>
        <a:lstStyle/>
        <a:p>
          <a:endParaRPr lang="en-US"/>
        </a:p>
      </dgm:t>
    </dgm:pt>
    <dgm:pt modelId="{E29AD4C6-A011-45EC-807E-F704814CA46F}" type="sibTrans" cxnId="{E3BCC25A-385C-4DFF-8731-4F8E6AD6DB01}">
      <dgm:prSet/>
      <dgm:spPr/>
      <dgm:t>
        <a:bodyPr/>
        <a:lstStyle/>
        <a:p>
          <a:endParaRPr lang="en-US"/>
        </a:p>
      </dgm:t>
    </dgm:pt>
    <dgm:pt modelId="{108A22EC-82FE-47AF-970F-6B5D6F2B1179}">
      <dgm:prSet phldrT="[Text]"/>
      <dgm:spPr/>
      <dgm:t>
        <a:bodyPr/>
        <a:lstStyle/>
        <a:p>
          <a:r>
            <a:rPr lang="en-US" dirty="0"/>
            <a:t> Why </a:t>
          </a:r>
          <a:r>
            <a:rPr lang="en-US" b="1" dirty="0"/>
            <a:t>Voyage Multimodal 3.5</a:t>
          </a:r>
          <a:r>
            <a:rPr lang="en-US" dirty="0"/>
            <a:t>: integrates both image and text in a </a:t>
          </a:r>
          <a:r>
            <a:rPr lang="en-US" b="1" dirty="0"/>
            <a:t>single interleaved vector</a:t>
          </a:r>
          <a:r>
            <a:rPr lang="en-US" dirty="0"/>
            <a:t> → one representation per garment, no modality mismatch </a:t>
          </a:r>
        </a:p>
      </dgm:t>
    </dgm:pt>
    <dgm:pt modelId="{AE1F66B8-37F8-40C8-932C-2B645B367CE5}" type="parTrans" cxnId="{F8529D6E-DFD0-4F28-8FD3-28F24F1E8B86}">
      <dgm:prSet/>
      <dgm:spPr/>
      <dgm:t>
        <a:bodyPr/>
        <a:lstStyle/>
        <a:p>
          <a:endParaRPr lang="en-US"/>
        </a:p>
      </dgm:t>
    </dgm:pt>
    <dgm:pt modelId="{87BE72CA-9D75-4C0D-A5E3-F4144F6501F7}" type="sibTrans" cxnId="{F8529D6E-DFD0-4F28-8FD3-28F24F1E8B86}">
      <dgm:prSet/>
      <dgm:spPr/>
      <dgm:t>
        <a:bodyPr/>
        <a:lstStyle/>
        <a:p>
          <a:endParaRPr lang="en-US"/>
        </a:p>
      </dgm:t>
    </dgm:pt>
    <dgm:pt modelId="{E6444267-E3BB-470A-A5B4-62E11D263DE6}">
      <dgm:prSet phldrT="[Text]"/>
      <dgm:spPr/>
      <dgm:t>
        <a:bodyPr/>
        <a:lstStyle/>
        <a:p>
          <a:r>
            <a:rPr lang="en-US" dirty="0"/>
            <a:t> Why not cluster on </a:t>
          </a:r>
          <a:r>
            <a:rPr lang="en-US" b="1" dirty="0"/>
            <a:t>raw 2,048-dim embeddings</a:t>
          </a:r>
          <a:r>
            <a:rPr lang="en-US" dirty="0"/>
            <a:t>? </a:t>
          </a:r>
          <a:r>
            <a:rPr lang="en-US" b="1" dirty="0"/>
            <a:t>Curse of dimensionality</a:t>
          </a:r>
          <a:r>
            <a:rPr lang="en-US" dirty="0"/>
            <a:t>, HDBSCAN collapsed 84% of items into one cluster. K-Means Silhouette scores near zero. Distance metrics break in high dimensions. </a:t>
          </a:r>
        </a:p>
      </dgm:t>
    </dgm:pt>
    <dgm:pt modelId="{93C1187F-3F9B-439C-B0DC-845F18F15D62}" type="parTrans" cxnId="{976797FE-BBFA-4AE5-A0D0-1C8A6284E2A8}">
      <dgm:prSet/>
      <dgm:spPr/>
      <dgm:t>
        <a:bodyPr/>
        <a:lstStyle/>
        <a:p>
          <a:endParaRPr lang="en-US"/>
        </a:p>
      </dgm:t>
    </dgm:pt>
    <dgm:pt modelId="{7445DFB1-4671-4A6E-ADC6-443F330C424B}" type="sibTrans" cxnId="{976797FE-BBFA-4AE5-A0D0-1C8A6284E2A8}">
      <dgm:prSet/>
      <dgm:spPr/>
      <dgm:t>
        <a:bodyPr/>
        <a:lstStyle/>
        <a:p>
          <a:endParaRPr lang="en-US"/>
        </a:p>
      </dgm:t>
    </dgm:pt>
    <dgm:pt modelId="{E9F6686F-AA5D-4202-B87B-0FDE8E73D0FC}">
      <dgm:prSet phldrT="[Text]"/>
      <dgm:spPr/>
      <dgm:t>
        <a:bodyPr/>
        <a:lstStyle/>
        <a:p>
          <a:pPr>
            <a:buNone/>
          </a:pPr>
          <a:r>
            <a:rPr lang="en-US" b="1" dirty="0"/>
            <a:t>UMAP (20-dim)</a:t>
          </a:r>
        </a:p>
      </dgm:t>
    </dgm:pt>
    <dgm:pt modelId="{4094DBB2-2E07-4AF1-9EEF-CAB3384AB9D8}" type="parTrans" cxnId="{DEEFA55A-F216-4801-9CF5-D25F47D27329}">
      <dgm:prSet/>
      <dgm:spPr/>
      <dgm:t>
        <a:bodyPr/>
        <a:lstStyle/>
        <a:p>
          <a:endParaRPr lang="en-US"/>
        </a:p>
      </dgm:t>
    </dgm:pt>
    <dgm:pt modelId="{9A178EFC-C0ED-482B-B02B-5C177D9B70E1}" type="sibTrans" cxnId="{DEEFA55A-F216-4801-9CF5-D25F47D27329}">
      <dgm:prSet/>
      <dgm:spPr/>
      <dgm:t>
        <a:bodyPr/>
        <a:lstStyle/>
        <a:p>
          <a:endParaRPr lang="en-US"/>
        </a:p>
      </dgm:t>
    </dgm:pt>
    <dgm:pt modelId="{0786C96B-7F0F-4107-B83A-F1D562F283E2}">
      <dgm:prSet phldrT="[Text]"/>
      <dgm:spPr/>
      <dgm:t>
        <a:bodyPr/>
        <a:lstStyle/>
        <a:p>
          <a:r>
            <a:rPr lang="en-US" dirty="0"/>
            <a:t> Why </a:t>
          </a:r>
          <a:r>
            <a:rPr lang="en-US" b="1" dirty="0"/>
            <a:t>UMAP first</a:t>
          </a:r>
          <a:r>
            <a:rPr lang="en-US" dirty="0"/>
            <a:t>? Non-linear dimensionality reduction that preserves both local and global structure. Reduces to 20 dimensions where distance is meaningful again </a:t>
          </a:r>
        </a:p>
      </dgm:t>
    </dgm:pt>
    <dgm:pt modelId="{0226DF90-B263-4B13-8EBE-DF951CB62A4A}" type="parTrans" cxnId="{6B3303EB-87B7-40FB-BF5E-F29569103E1D}">
      <dgm:prSet/>
      <dgm:spPr/>
      <dgm:t>
        <a:bodyPr/>
        <a:lstStyle/>
        <a:p>
          <a:endParaRPr lang="en-US"/>
        </a:p>
      </dgm:t>
    </dgm:pt>
    <dgm:pt modelId="{67B0706C-9B6C-43FB-863E-C5FE0F110739}" type="sibTrans" cxnId="{6B3303EB-87B7-40FB-BF5E-F29569103E1D}">
      <dgm:prSet/>
      <dgm:spPr/>
      <dgm:t>
        <a:bodyPr/>
        <a:lstStyle/>
        <a:p>
          <a:endParaRPr lang="en-US"/>
        </a:p>
      </dgm:t>
    </dgm:pt>
    <dgm:pt modelId="{C49978E1-9670-4502-92AA-C519449B4FCC}">
      <dgm:prSet/>
      <dgm:spPr/>
      <dgm:t>
        <a:bodyPr/>
        <a:lstStyle/>
        <a:p>
          <a:pPr>
            <a:buNone/>
          </a:pPr>
          <a:r>
            <a:rPr lang="en-US" b="1" dirty="0"/>
            <a:t>K-Means (k=8)</a:t>
          </a:r>
        </a:p>
      </dgm:t>
    </dgm:pt>
    <dgm:pt modelId="{8DEF5FA5-099C-4E11-8463-62D5A7EBDC96}" type="parTrans" cxnId="{408BE869-FE4C-4145-9709-E64579EEE44C}">
      <dgm:prSet/>
      <dgm:spPr/>
      <dgm:t>
        <a:bodyPr/>
        <a:lstStyle/>
        <a:p>
          <a:endParaRPr lang="en-US"/>
        </a:p>
      </dgm:t>
    </dgm:pt>
    <dgm:pt modelId="{1CF8AE49-2D92-4962-9593-3F5CA056A98F}" type="sibTrans" cxnId="{408BE869-FE4C-4145-9709-E64579EEE44C}">
      <dgm:prSet/>
      <dgm:spPr/>
      <dgm:t>
        <a:bodyPr/>
        <a:lstStyle/>
        <a:p>
          <a:endParaRPr lang="en-US"/>
        </a:p>
      </dgm:t>
    </dgm:pt>
    <dgm:pt modelId="{44FB9A1E-FBB8-43E6-B88C-8101BCA9912C}">
      <dgm:prSet/>
      <dgm:spPr/>
      <dgm:t>
        <a:bodyPr/>
        <a:lstStyle/>
        <a:p>
          <a:r>
            <a:rPr lang="en-US" dirty="0"/>
            <a:t> Why </a:t>
          </a:r>
          <a:r>
            <a:rPr lang="en-US" b="1" dirty="0"/>
            <a:t>K-Means</a:t>
          </a:r>
          <a:r>
            <a:rPr lang="en-US" dirty="0"/>
            <a:t> over </a:t>
          </a:r>
          <a:r>
            <a:rPr lang="en-US" b="1" dirty="0"/>
            <a:t>GMM</a:t>
          </a:r>
          <a:r>
            <a:rPr lang="en-US" dirty="0"/>
            <a:t>? After UMAP, over 99% of items had &gt;99% probability of belonging to a single cluster, probabilistic modeling adds no value. K-Means is simpler, more stable, fully interpretable</a:t>
          </a:r>
        </a:p>
      </dgm:t>
    </dgm:pt>
    <dgm:pt modelId="{5809F64E-0447-446A-850D-470EAB15FAFF}" type="parTrans" cxnId="{0811F5C3-DD42-4904-B83E-B97DF865BFD8}">
      <dgm:prSet/>
      <dgm:spPr/>
      <dgm:t>
        <a:bodyPr/>
        <a:lstStyle/>
        <a:p>
          <a:endParaRPr lang="en-US"/>
        </a:p>
      </dgm:t>
    </dgm:pt>
    <dgm:pt modelId="{1EAFA76C-5006-45F7-8F65-971812061ACD}" type="sibTrans" cxnId="{0811F5C3-DD42-4904-B83E-B97DF865BFD8}">
      <dgm:prSet/>
      <dgm:spPr/>
      <dgm:t>
        <a:bodyPr/>
        <a:lstStyle/>
        <a:p>
          <a:endParaRPr lang="en-US"/>
        </a:p>
      </dgm:t>
    </dgm:pt>
    <dgm:pt modelId="{8A8FB93B-266E-45B3-9908-A666F23A4FB3}">
      <dgm:prSet/>
      <dgm:spPr/>
      <dgm:t>
        <a:bodyPr/>
        <a:lstStyle/>
        <a:p>
          <a:r>
            <a:rPr lang="en-US" dirty="0"/>
            <a:t> Why </a:t>
          </a:r>
          <a:r>
            <a:rPr lang="en-US" b="1" dirty="0"/>
            <a:t>k=8</a:t>
          </a:r>
          <a:r>
            <a:rPr lang="en-US" dirty="0"/>
            <a:t>? Grid search across k=5/13 and UMAP dims 2/50. k=8 achieved the global Silhouette peak and mean ARI of 0.85 across 100 random initializations</a:t>
          </a:r>
        </a:p>
      </dgm:t>
    </dgm:pt>
    <dgm:pt modelId="{0E89F366-D1EE-4357-B704-8797E2586A18}" type="parTrans" cxnId="{10FAA916-5A17-49CA-893D-5ACECEB73172}">
      <dgm:prSet/>
      <dgm:spPr/>
      <dgm:t>
        <a:bodyPr/>
        <a:lstStyle/>
        <a:p>
          <a:endParaRPr lang="en-US"/>
        </a:p>
      </dgm:t>
    </dgm:pt>
    <dgm:pt modelId="{9521E298-1CB5-4AF9-847A-8E54B6380FCB}" type="sibTrans" cxnId="{10FAA916-5A17-49CA-893D-5ACECEB73172}">
      <dgm:prSet/>
      <dgm:spPr/>
      <dgm:t>
        <a:bodyPr/>
        <a:lstStyle/>
        <a:p>
          <a:endParaRPr lang="en-US"/>
        </a:p>
      </dgm:t>
    </dgm:pt>
    <dgm:pt modelId="{2508F28D-CCC7-4D1D-B808-A0DAA03298D3}" type="pres">
      <dgm:prSet presAssocID="{902BA8F1-03A5-4B83-959B-8E8AB24A07A6}" presName="linearFlow" presStyleCnt="0">
        <dgm:presLayoutVars>
          <dgm:dir/>
          <dgm:animLvl val="lvl"/>
          <dgm:resizeHandles val="exact"/>
        </dgm:presLayoutVars>
      </dgm:prSet>
      <dgm:spPr/>
    </dgm:pt>
    <dgm:pt modelId="{C78FD262-CE24-441A-903C-96FC4C3156CD}" type="pres">
      <dgm:prSet presAssocID="{A0D9B4CE-361E-4D1A-9364-F3D4B22E9A9E}" presName="composite" presStyleCnt="0"/>
      <dgm:spPr/>
    </dgm:pt>
    <dgm:pt modelId="{B006DFD3-799B-4005-BE49-C99753E3246A}" type="pres">
      <dgm:prSet presAssocID="{A0D9B4CE-361E-4D1A-9364-F3D4B22E9A9E}" presName="parentText" presStyleLbl="alignNode1" presStyleIdx="0" presStyleCnt="4">
        <dgm:presLayoutVars>
          <dgm:chMax val="1"/>
          <dgm:bulletEnabled val="1"/>
        </dgm:presLayoutVars>
      </dgm:prSet>
      <dgm:spPr/>
    </dgm:pt>
    <dgm:pt modelId="{5F454FF1-A97F-49E2-9845-2AE6FA97CBAF}" type="pres">
      <dgm:prSet presAssocID="{A0D9B4CE-361E-4D1A-9364-F3D4B22E9A9E}" presName="descendantText" presStyleLbl="alignAcc1" presStyleIdx="0" presStyleCnt="4">
        <dgm:presLayoutVars>
          <dgm:bulletEnabled val="1"/>
        </dgm:presLayoutVars>
      </dgm:prSet>
      <dgm:spPr/>
    </dgm:pt>
    <dgm:pt modelId="{363E63A7-DD3E-4DFD-A4CB-AB4AD3263832}" type="pres">
      <dgm:prSet presAssocID="{E8CAA43B-4B62-4CEE-9569-2795BBDEEE02}" presName="sp" presStyleCnt="0"/>
      <dgm:spPr/>
    </dgm:pt>
    <dgm:pt modelId="{DC8477BF-178D-4460-BBA0-A0611DF569EA}" type="pres">
      <dgm:prSet presAssocID="{5866F4CE-E9AA-485F-B098-C81A9D4B1645}" presName="composite" presStyleCnt="0"/>
      <dgm:spPr/>
    </dgm:pt>
    <dgm:pt modelId="{E3C12FB9-772D-47DF-824B-13545CFDF973}" type="pres">
      <dgm:prSet presAssocID="{5866F4CE-E9AA-485F-B098-C81A9D4B1645}" presName="parentText" presStyleLbl="alignNode1" presStyleIdx="1" presStyleCnt="4">
        <dgm:presLayoutVars>
          <dgm:chMax val="1"/>
          <dgm:bulletEnabled val="1"/>
        </dgm:presLayoutVars>
      </dgm:prSet>
      <dgm:spPr/>
    </dgm:pt>
    <dgm:pt modelId="{562C5702-D40B-43F5-955D-DDBB54EE63C1}" type="pres">
      <dgm:prSet presAssocID="{5866F4CE-E9AA-485F-B098-C81A9D4B1645}" presName="descendantText" presStyleLbl="alignAcc1" presStyleIdx="1" presStyleCnt="4">
        <dgm:presLayoutVars>
          <dgm:bulletEnabled val="1"/>
        </dgm:presLayoutVars>
      </dgm:prSet>
      <dgm:spPr/>
    </dgm:pt>
    <dgm:pt modelId="{21BF50DB-D63E-4E79-B87F-D4EE1CDC9197}" type="pres">
      <dgm:prSet presAssocID="{E29AD4C6-A011-45EC-807E-F704814CA46F}" presName="sp" presStyleCnt="0"/>
      <dgm:spPr/>
    </dgm:pt>
    <dgm:pt modelId="{202E801A-42E5-4D61-A30A-C13B45B79F70}" type="pres">
      <dgm:prSet presAssocID="{E9F6686F-AA5D-4202-B87B-0FDE8E73D0FC}" presName="composite" presStyleCnt="0"/>
      <dgm:spPr/>
    </dgm:pt>
    <dgm:pt modelId="{ADF9A38E-8B53-4E29-ADD9-52A57B13EDE0}" type="pres">
      <dgm:prSet presAssocID="{E9F6686F-AA5D-4202-B87B-0FDE8E73D0FC}" presName="parentText" presStyleLbl="alignNode1" presStyleIdx="2" presStyleCnt="4">
        <dgm:presLayoutVars>
          <dgm:chMax val="1"/>
          <dgm:bulletEnabled val="1"/>
        </dgm:presLayoutVars>
      </dgm:prSet>
      <dgm:spPr/>
    </dgm:pt>
    <dgm:pt modelId="{9477D874-CF3C-434E-8DC3-BAC23984ADFD}" type="pres">
      <dgm:prSet presAssocID="{E9F6686F-AA5D-4202-B87B-0FDE8E73D0FC}" presName="descendantText" presStyleLbl="alignAcc1" presStyleIdx="2" presStyleCnt="4">
        <dgm:presLayoutVars>
          <dgm:bulletEnabled val="1"/>
        </dgm:presLayoutVars>
      </dgm:prSet>
      <dgm:spPr/>
    </dgm:pt>
    <dgm:pt modelId="{4B8C7FD0-A6CF-4E64-8AD9-6E5EF507FC5E}" type="pres">
      <dgm:prSet presAssocID="{9A178EFC-C0ED-482B-B02B-5C177D9B70E1}" presName="sp" presStyleCnt="0"/>
      <dgm:spPr/>
    </dgm:pt>
    <dgm:pt modelId="{20149FDD-4029-4351-A003-BF350BB9925A}" type="pres">
      <dgm:prSet presAssocID="{C49978E1-9670-4502-92AA-C519449B4FCC}" presName="composite" presStyleCnt="0"/>
      <dgm:spPr/>
    </dgm:pt>
    <dgm:pt modelId="{B883275C-2092-4DD0-90D9-83F9E957DB32}" type="pres">
      <dgm:prSet presAssocID="{C49978E1-9670-4502-92AA-C519449B4FCC}" presName="parentText" presStyleLbl="alignNode1" presStyleIdx="3" presStyleCnt="4">
        <dgm:presLayoutVars>
          <dgm:chMax val="1"/>
          <dgm:bulletEnabled val="1"/>
        </dgm:presLayoutVars>
      </dgm:prSet>
      <dgm:spPr/>
    </dgm:pt>
    <dgm:pt modelId="{93841DBD-3CE2-48BF-9C1E-FB6615FCB39A}" type="pres">
      <dgm:prSet presAssocID="{C49978E1-9670-4502-92AA-C519449B4FCC}" presName="descendantText" presStyleLbl="alignAcc1" presStyleIdx="3" presStyleCnt="4">
        <dgm:presLayoutVars>
          <dgm:bulletEnabled val="1"/>
        </dgm:presLayoutVars>
      </dgm:prSet>
      <dgm:spPr/>
    </dgm:pt>
  </dgm:ptLst>
  <dgm:cxnLst>
    <dgm:cxn modelId="{10FAA916-5A17-49CA-893D-5ACECEB73172}" srcId="{C49978E1-9670-4502-92AA-C519449B4FCC}" destId="{8A8FB93B-266E-45B3-9908-A666F23A4FB3}" srcOrd="1" destOrd="0" parTransId="{0E89F366-D1EE-4357-B704-8797E2586A18}" sibTransId="{9521E298-1CB5-4AF9-847A-8E54B6380FCB}"/>
    <dgm:cxn modelId="{065ABF24-1B54-433A-A760-98C742F0E8CB}" srcId="{A0D9B4CE-361E-4D1A-9364-F3D4B22E9A9E}" destId="{1C3F4396-0F0D-4B82-A74C-3ABE315BFA85}" srcOrd="0" destOrd="0" parTransId="{E4EC9AE5-61C3-4820-9ECF-08CBB984E545}" sibTransId="{7D33B74A-544B-435E-AA3B-4EA3F843DA75}"/>
    <dgm:cxn modelId="{408BE869-FE4C-4145-9709-E64579EEE44C}" srcId="{902BA8F1-03A5-4B83-959B-8E8AB24A07A6}" destId="{C49978E1-9670-4502-92AA-C519449B4FCC}" srcOrd="3" destOrd="0" parTransId="{8DEF5FA5-099C-4E11-8463-62D5A7EBDC96}" sibTransId="{1CF8AE49-2D92-4962-9593-3F5CA056A98F}"/>
    <dgm:cxn modelId="{10B8614D-F307-4B51-B26C-2BA9ACEB9EF1}" type="presOf" srcId="{0786C96B-7F0F-4107-B83A-F1D562F283E2}" destId="{9477D874-CF3C-434E-8DC3-BAC23984ADFD}" srcOrd="0" destOrd="0" presId="urn:microsoft.com/office/officeart/2005/8/layout/chevron2"/>
    <dgm:cxn modelId="{08E6D74D-784F-40C5-9141-918BD0E34162}" type="presOf" srcId="{A0D9B4CE-361E-4D1A-9364-F3D4B22E9A9E}" destId="{B006DFD3-799B-4005-BE49-C99753E3246A}" srcOrd="0" destOrd="0" presId="urn:microsoft.com/office/officeart/2005/8/layout/chevron2"/>
    <dgm:cxn modelId="{F8529D6E-DFD0-4F28-8FD3-28F24F1E8B86}" srcId="{5866F4CE-E9AA-485F-B098-C81A9D4B1645}" destId="{108A22EC-82FE-47AF-970F-6B5D6F2B1179}" srcOrd="0" destOrd="0" parTransId="{AE1F66B8-37F8-40C8-932C-2B645B367CE5}" sibTransId="{87BE72CA-9D75-4C0D-A5E3-F4144F6501F7}"/>
    <dgm:cxn modelId="{C9C62A70-382D-42A5-9EC4-60DA5C854E7D}" type="presOf" srcId="{C49978E1-9670-4502-92AA-C519449B4FCC}" destId="{B883275C-2092-4DD0-90D9-83F9E957DB32}" srcOrd="0" destOrd="0" presId="urn:microsoft.com/office/officeart/2005/8/layout/chevron2"/>
    <dgm:cxn modelId="{FFE03F53-B47E-4F9B-A7D2-57B5A834F0D2}" type="presOf" srcId="{8A8FB93B-266E-45B3-9908-A666F23A4FB3}" destId="{93841DBD-3CE2-48BF-9C1E-FB6615FCB39A}" srcOrd="0" destOrd="1" presId="urn:microsoft.com/office/officeart/2005/8/layout/chevron2"/>
    <dgm:cxn modelId="{BDEF5374-E6FD-4AD9-B36E-4987FF5C73E5}" type="presOf" srcId="{E9F6686F-AA5D-4202-B87B-0FDE8E73D0FC}" destId="{ADF9A38E-8B53-4E29-ADD9-52A57B13EDE0}" srcOrd="0" destOrd="0" presId="urn:microsoft.com/office/officeart/2005/8/layout/chevron2"/>
    <dgm:cxn modelId="{DEEFA55A-F216-4801-9CF5-D25F47D27329}" srcId="{902BA8F1-03A5-4B83-959B-8E8AB24A07A6}" destId="{E9F6686F-AA5D-4202-B87B-0FDE8E73D0FC}" srcOrd="2" destOrd="0" parTransId="{4094DBB2-2E07-4AF1-9EEF-CAB3384AB9D8}" sibTransId="{9A178EFC-C0ED-482B-B02B-5C177D9B70E1}"/>
    <dgm:cxn modelId="{E3BCC25A-385C-4DFF-8731-4F8E6AD6DB01}" srcId="{902BA8F1-03A5-4B83-959B-8E8AB24A07A6}" destId="{5866F4CE-E9AA-485F-B098-C81A9D4B1645}" srcOrd="1" destOrd="0" parTransId="{130851F2-A624-43B4-9F5D-71FED199A205}" sibTransId="{E29AD4C6-A011-45EC-807E-F704814CA46F}"/>
    <dgm:cxn modelId="{14D38C84-43C8-4816-B2E6-25D5D0B12A0B}" type="presOf" srcId="{E6444267-E3BB-470A-A5B4-62E11D263DE6}" destId="{562C5702-D40B-43F5-955D-DDBB54EE63C1}" srcOrd="0" destOrd="1" presId="urn:microsoft.com/office/officeart/2005/8/layout/chevron2"/>
    <dgm:cxn modelId="{CD16559B-D4D7-4241-AB94-45DE29689747}" type="presOf" srcId="{108A22EC-82FE-47AF-970F-6B5D6F2B1179}" destId="{562C5702-D40B-43F5-955D-DDBB54EE63C1}" srcOrd="0" destOrd="0" presId="urn:microsoft.com/office/officeart/2005/8/layout/chevron2"/>
    <dgm:cxn modelId="{531F33BC-EC98-4EA2-9A05-2B37A6DD90A1}" srcId="{902BA8F1-03A5-4B83-959B-8E8AB24A07A6}" destId="{A0D9B4CE-361E-4D1A-9364-F3D4B22E9A9E}" srcOrd="0" destOrd="0" parTransId="{AA6B5C8B-9562-4A1A-B1B7-169B1AA026E7}" sibTransId="{E8CAA43B-4B62-4CEE-9569-2795BBDEEE02}"/>
    <dgm:cxn modelId="{0811F5C3-DD42-4904-B83E-B97DF865BFD8}" srcId="{C49978E1-9670-4502-92AA-C519449B4FCC}" destId="{44FB9A1E-FBB8-43E6-B88C-8101BCA9912C}" srcOrd="0" destOrd="0" parTransId="{5809F64E-0447-446A-850D-470EAB15FAFF}" sibTransId="{1EAFA76C-5006-45F7-8F65-971812061ACD}"/>
    <dgm:cxn modelId="{AC398DC8-39B0-43DD-BE95-4AA617CC2670}" type="presOf" srcId="{5866F4CE-E9AA-485F-B098-C81A9D4B1645}" destId="{E3C12FB9-772D-47DF-824B-13545CFDF973}" srcOrd="0" destOrd="0" presId="urn:microsoft.com/office/officeart/2005/8/layout/chevron2"/>
    <dgm:cxn modelId="{E97A30D7-9808-4149-9BA1-97C826D9E13E}" type="presOf" srcId="{902BA8F1-03A5-4B83-959B-8E8AB24A07A6}" destId="{2508F28D-CCC7-4D1D-B808-A0DAA03298D3}" srcOrd="0" destOrd="0" presId="urn:microsoft.com/office/officeart/2005/8/layout/chevron2"/>
    <dgm:cxn modelId="{E96296DC-C852-4A69-A3EC-170825C9FEC5}" type="presOf" srcId="{1C3F4396-0F0D-4B82-A74C-3ABE315BFA85}" destId="{5F454FF1-A97F-49E2-9845-2AE6FA97CBAF}" srcOrd="0" destOrd="0" presId="urn:microsoft.com/office/officeart/2005/8/layout/chevron2"/>
    <dgm:cxn modelId="{9C87B4E6-C59E-46D6-B842-6AC16841A135}" type="presOf" srcId="{44FB9A1E-FBB8-43E6-B88C-8101BCA9912C}" destId="{93841DBD-3CE2-48BF-9C1E-FB6615FCB39A}" srcOrd="0" destOrd="0" presId="urn:microsoft.com/office/officeart/2005/8/layout/chevron2"/>
    <dgm:cxn modelId="{6B3303EB-87B7-40FB-BF5E-F29569103E1D}" srcId="{E9F6686F-AA5D-4202-B87B-0FDE8E73D0FC}" destId="{0786C96B-7F0F-4107-B83A-F1D562F283E2}" srcOrd="0" destOrd="0" parTransId="{0226DF90-B263-4B13-8EBE-DF951CB62A4A}" sibTransId="{67B0706C-9B6C-43FB-863E-C5FE0F110739}"/>
    <dgm:cxn modelId="{976797FE-BBFA-4AE5-A0D0-1C8A6284E2A8}" srcId="{5866F4CE-E9AA-485F-B098-C81A9D4B1645}" destId="{E6444267-E3BB-470A-A5B4-62E11D263DE6}" srcOrd="1" destOrd="0" parTransId="{93C1187F-3F9B-439C-B0DC-845F18F15D62}" sibTransId="{7445DFB1-4671-4A6E-ADC6-443F330C424B}"/>
    <dgm:cxn modelId="{EF3A4A2E-7BFE-41E5-95AA-486F78E730D7}" type="presParOf" srcId="{2508F28D-CCC7-4D1D-B808-A0DAA03298D3}" destId="{C78FD262-CE24-441A-903C-96FC4C3156CD}" srcOrd="0" destOrd="0" presId="urn:microsoft.com/office/officeart/2005/8/layout/chevron2"/>
    <dgm:cxn modelId="{530788C9-4B90-4DCE-B5F6-E1B96EAC7B93}" type="presParOf" srcId="{C78FD262-CE24-441A-903C-96FC4C3156CD}" destId="{B006DFD3-799B-4005-BE49-C99753E3246A}" srcOrd="0" destOrd="0" presId="urn:microsoft.com/office/officeart/2005/8/layout/chevron2"/>
    <dgm:cxn modelId="{09B54DD3-7D63-472F-8CF2-B08C38BDAAA8}" type="presParOf" srcId="{C78FD262-CE24-441A-903C-96FC4C3156CD}" destId="{5F454FF1-A97F-49E2-9845-2AE6FA97CBAF}" srcOrd="1" destOrd="0" presId="urn:microsoft.com/office/officeart/2005/8/layout/chevron2"/>
    <dgm:cxn modelId="{BD508698-6AE0-4D7B-87C9-7923E75FFB57}" type="presParOf" srcId="{2508F28D-CCC7-4D1D-B808-A0DAA03298D3}" destId="{363E63A7-DD3E-4DFD-A4CB-AB4AD3263832}" srcOrd="1" destOrd="0" presId="urn:microsoft.com/office/officeart/2005/8/layout/chevron2"/>
    <dgm:cxn modelId="{86F12290-3E63-4B02-AF23-F22B3ADA767C}" type="presParOf" srcId="{2508F28D-CCC7-4D1D-B808-A0DAA03298D3}" destId="{DC8477BF-178D-4460-BBA0-A0611DF569EA}" srcOrd="2" destOrd="0" presId="urn:microsoft.com/office/officeart/2005/8/layout/chevron2"/>
    <dgm:cxn modelId="{B80DC1AD-B897-41BC-A964-67922E804FDC}" type="presParOf" srcId="{DC8477BF-178D-4460-BBA0-A0611DF569EA}" destId="{E3C12FB9-772D-47DF-824B-13545CFDF973}" srcOrd="0" destOrd="0" presId="urn:microsoft.com/office/officeart/2005/8/layout/chevron2"/>
    <dgm:cxn modelId="{3E01A206-64D9-4134-96AE-DA1F23ED867F}" type="presParOf" srcId="{DC8477BF-178D-4460-BBA0-A0611DF569EA}" destId="{562C5702-D40B-43F5-955D-DDBB54EE63C1}" srcOrd="1" destOrd="0" presId="urn:microsoft.com/office/officeart/2005/8/layout/chevron2"/>
    <dgm:cxn modelId="{6879836B-6E4C-4BAA-AEDF-00A712949576}" type="presParOf" srcId="{2508F28D-CCC7-4D1D-B808-A0DAA03298D3}" destId="{21BF50DB-D63E-4E79-B87F-D4EE1CDC9197}" srcOrd="3" destOrd="0" presId="urn:microsoft.com/office/officeart/2005/8/layout/chevron2"/>
    <dgm:cxn modelId="{3B020C3F-708B-44CB-868F-D452039D906F}" type="presParOf" srcId="{2508F28D-CCC7-4D1D-B808-A0DAA03298D3}" destId="{202E801A-42E5-4D61-A30A-C13B45B79F70}" srcOrd="4" destOrd="0" presId="urn:microsoft.com/office/officeart/2005/8/layout/chevron2"/>
    <dgm:cxn modelId="{F3DEB5F6-CFCD-4289-B6EE-C67F0FAC2D5D}" type="presParOf" srcId="{202E801A-42E5-4D61-A30A-C13B45B79F70}" destId="{ADF9A38E-8B53-4E29-ADD9-52A57B13EDE0}" srcOrd="0" destOrd="0" presId="urn:microsoft.com/office/officeart/2005/8/layout/chevron2"/>
    <dgm:cxn modelId="{D4BD05DF-E989-45D7-A1FA-5F3BF2061663}" type="presParOf" srcId="{202E801A-42E5-4D61-A30A-C13B45B79F70}" destId="{9477D874-CF3C-434E-8DC3-BAC23984ADFD}" srcOrd="1" destOrd="0" presId="urn:microsoft.com/office/officeart/2005/8/layout/chevron2"/>
    <dgm:cxn modelId="{9C21BE3A-8664-43DF-BD26-3FA66C6DE228}" type="presParOf" srcId="{2508F28D-CCC7-4D1D-B808-A0DAA03298D3}" destId="{4B8C7FD0-A6CF-4E64-8AD9-6E5EF507FC5E}" srcOrd="5" destOrd="0" presId="urn:microsoft.com/office/officeart/2005/8/layout/chevron2"/>
    <dgm:cxn modelId="{ED34183D-BE54-44CA-BDBD-7B71784A2627}" type="presParOf" srcId="{2508F28D-CCC7-4D1D-B808-A0DAA03298D3}" destId="{20149FDD-4029-4351-A003-BF350BB9925A}" srcOrd="6" destOrd="0" presId="urn:microsoft.com/office/officeart/2005/8/layout/chevron2"/>
    <dgm:cxn modelId="{4C1BEA0A-3A23-4B37-B1E6-B499469434D8}" type="presParOf" srcId="{20149FDD-4029-4351-A003-BF350BB9925A}" destId="{B883275C-2092-4DD0-90D9-83F9E957DB32}" srcOrd="0" destOrd="0" presId="urn:microsoft.com/office/officeart/2005/8/layout/chevron2"/>
    <dgm:cxn modelId="{1DFB48FF-419D-40B9-9F6B-D5A248DBF9DB}" type="presParOf" srcId="{20149FDD-4029-4351-A003-BF350BB9925A}" destId="{93841DBD-3CE2-48BF-9C1E-FB6615FCB39A}" srcOrd="1" destOrd="0" presId="urn:microsoft.com/office/officeart/2005/8/layout/chevron2"/>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06DFD3-799B-4005-BE49-C99753E3246A}">
      <dsp:nvSpPr>
        <dsp:cNvPr id="0" name=""/>
        <dsp:cNvSpPr/>
      </dsp:nvSpPr>
      <dsp:spPr>
        <a:xfrm rot="5400000">
          <a:off x="-227639" y="228988"/>
          <a:ext cx="1517599" cy="1062319"/>
        </a:xfrm>
        <a:prstGeom prst="chevron">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Product images + descriptions</a:t>
          </a:r>
        </a:p>
      </dsp:txBody>
      <dsp:txXfrm rot="-5400000">
        <a:off x="2" y="532508"/>
        <a:ext cx="1062319" cy="455280"/>
      </dsp:txXfrm>
    </dsp:sp>
    <dsp:sp modelId="{5F454FF1-A97F-49E2-9845-2AE6FA97CBAF}">
      <dsp:nvSpPr>
        <dsp:cNvPr id="0" name=""/>
        <dsp:cNvSpPr/>
      </dsp:nvSpPr>
      <dsp:spPr>
        <a:xfrm rot="5400000">
          <a:off x="3735561" y="-2671893"/>
          <a:ext cx="986439" cy="6332923"/>
        </a:xfrm>
        <a:prstGeom prst="round2Same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A </a:t>
          </a:r>
          <a:r>
            <a:rPr lang="en-US" sz="1400" b="1" kern="1200" dirty="0"/>
            <a:t>metadata</a:t>
          </a:r>
          <a:r>
            <a:rPr lang="en-US" sz="1400" kern="1200" dirty="0"/>
            <a:t> tag says "dress“, an </a:t>
          </a:r>
          <a:r>
            <a:rPr lang="en-US" sz="1400" b="1" kern="1200" dirty="0"/>
            <a:t>embedding</a:t>
          </a:r>
          <a:r>
            <a:rPr lang="en-US" sz="1400" kern="1200" dirty="0"/>
            <a:t> captures what kind of dress (the silhouette, color palette, occasion, vibe)</a:t>
          </a:r>
        </a:p>
      </dsp:txBody>
      <dsp:txXfrm rot="-5400000">
        <a:off x="1062319" y="49503"/>
        <a:ext cx="6284769" cy="890131"/>
      </dsp:txXfrm>
    </dsp:sp>
    <dsp:sp modelId="{E3C12FB9-772D-47DF-824B-13545CFDF973}">
      <dsp:nvSpPr>
        <dsp:cNvPr id="0" name=""/>
        <dsp:cNvSpPr/>
      </dsp:nvSpPr>
      <dsp:spPr>
        <a:xfrm rot="5400000">
          <a:off x="-227639" y="1602467"/>
          <a:ext cx="1517599" cy="1062319"/>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Voyage 3.5 (2048-dim)</a:t>
          </a:r>
        </a:p>
      </dsp:txBody>
      <dsp:txXfrm rot="-5400000">
        <a:off x="2" y="1905987"/>
        <a:ext cx="1062319" cy="455280"/>
      </dsp:txXfrm>
    </dsp:sp>
    <dsp:sp modelId="{562C5702-D40B-43F5-955D-DDBB54EE63C1}">
      <dsp:nvSpPr>
        <dsp:cNvPr id="0" name=""/>
        <dsp:cNvSpPr/>
      </dsp:nvSpPr>
      <dsp:spPr>
        <a:xfrm rot="5400000">
          <a:off x="3735561" y="-1298414"/>
          <a:ext cx="986439" cy="6332923"/>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Voyage Multimodal 3.5</a:t>
          </a:r>
          <a:r>
            <a:rPr lang="en-US" sz="1200" kern="1200" dirty="0"/>
            <a:t>: integrates both image and text in a </a:t>
          </a:r>
          <a:r>
            <a:rPr lang="en-US" sz="1200" b="1" kern="1200" dirty="0"/>
            <a:t>single interleaved vector</a:t>
          </a:r>
          <a:r>
            <a:rPr lang="en-US" sz="1200" kern="1200" dirty="0"/>
            <a:t> → one representation per garment, no modality mismatch </a:t>
          </a:r>
        </a:p>
        <a:p>
          <a:pPr marL="114300" lvl="1" indent="-114300" algn="l" defTabSz="533400">
            <a:lnSpc>
              <a:spcPct val="90000"/>
            </a:lnSpc>
            <a:spcBef>
              <a:spcPct val="0"/>
            </a:spcBef>
            <a:spcAft>
              <a:spcPct val="15000"/>
            </a:spcAft>
            <a:buChar char="•"/>
          </a:pPr>
          <a:r>
            <a:rPr lang="en-US" sz="1200" kern="1200" dirty="0"/>
            <a:t> Why not cluster on </a:t>
          </a:r>
          <a:r>
            <a:rPr lang="en-US" sz="1200" b="1" kern="1200" dirty="0"/>
            <a:t>raw 2,048-dim embeddings</a:t>
          </a:r>
          <a:r>
            <a:rPr lang="en-US" sz="1200" kern="1200" dirty="0"/>
            <a:t>? </a:t>
          </a:r>
          <a:r>
            <a:rPr lang="en-US" sz="1200" b="1" kern="1200" dirty="0"/>
            <a:t>Curse of dimensionality</a:t>
          </a:r>
          <a:r>
            <a:rPr lang="en-US" sz="1200" kern="1200" dirty="0"/>
            <a:t>, HDBSCAN collapsed 84% of items into one cluster. K-Means Silhouette scores near zero. Distance metrics break in high dimensions. </a:t>
          </a:r>
        </a:p>
      </dsp:txBody>
      <dsp:txXfrm rot="-5400000">
        <a:off x="1062319" y="1422982"/>
        <a:ext cx="6284769" cy="890131"/>
      </dsp:txXfrm>
    </dsp:sp>
    <dsp:sp modelId="{ADF9A38E-8B53-4E29-ADD9-52A57B13EDE0}">
      <dsp:nvSpPr>
        <dsp:cNvPr id="0" name=""/>
        <dsp:cNvSpPr/>
      </dsp:nvSpPr>
      <dsp:spPr>
        <a:xfrm rot="5400000">
          <a:off x="-227639" y="2975945"/>
          <a:ext cx="1517599" cy="1062319"/>
        </a:xfrm>
        <a:prstGeom prst="chevron">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UMAP (20-dim)</a:t>
          </a:r>
        </a:p>
      </dsp:txBody>
      <dsp:txXfrm rot="-5400000">
        <a:off x="2" y="3279465"/>
        <a:ext cx="1062319" cy="455280"/>
      </dsp:txXfrm>
    </dsp:sp>
    <dsp:sp modelId="{9477D874-CF3C-434E-8DC3-BAC23984ADFD}">
      <dsp:nvSpPr>
        <dsp:cNvPr id="0" name=""/>
        <dsp:cNvSpPr/>
      </dsp:nvSpPr>
      <dsp:spPr>
        <a:xfrm rot="5400000">
          <a:off x="3735561" y="75063"/>
          <a:ext cx="986439" cy="6332923"/>
        </a:xfrm>
        <a:prstGeom prst="round2Same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UMAP first</a:t>
          </a:r>
          <a:r>
            <a:rPr lang="en-US" sz="1200" kern="1200" dirty="0"/>
            <a:t>? Non-linear dimensionality reduction that preserves both local and global structure. Reduces to 20 dimensions where distance is meaningful again </a:t>
          </a:r>
        </a:p>
      </dsp:txBody>
      <dsp:txXfrm rot="-5400000">
        <a:off x="1062319" y="2796459"/>
        <a:ext cx="6284769" cy="890131"/>
      </dsp:txXfrm>
    </dsp:sp>
    <dsp:sp modelId="{B883275C-2092-4DD0-90D9-83F9E957DB32}">
      <dsp:nvSpPr>
        <dsp:cNvPr id="0" name=""/>
        <dsp:cNvSpPr/>
      </dsp:nvSpPr>
      <dsp:spPr>
        <a:xfrm rot="5400000">
          <a:off x="-227639" y="4349423"/>
          <a:ext cx="1517599" cy="1062319"/>
        </a:xfrm>
        <a:prstGeom prst="chevron">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K-Means (k=8)</a:t>
          </a:r>
        </a:p>
      </dsp:txBody>
      <dsp:txXfrm rot="-5400000">
        <a:off x="2" y="4652943"/>
        <a:ext cx="1062319" cy="455280"/>
      </dsp:txXfrm>
    </dsp:sp>
    <dsp:sp modelId="{93841DBD-3CE2-48BF-9C1E-FB6615FCB39A}">
      <dsp:nvSpPr>
        <dsp:cNvPr id="0" name=""/>
        <dsp:cNvSpPr/>
      </dsp:nvSpPr>
      <dsp:spPr>
        <a:xfrm rot="5400000">
          <a:off x="3735561" y="1448541"/>
          <a:ext cx="986439" cy="6332923"/>
        </a:xfrm>
        <a:prstGeom prst="round2Same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K-Means</a:t>
          </a:r>
          <a:r>
            <a:rPr lang="en-US" sz="1200" kern="1200" dirty="0"/>
            <a:t> over </a:t>
          </a:r>
          <a:r>
            <a:rPr lang="en-US" sz="1200" b="1" kern="1200" dirty="0"/>
            <a:t>GMM</a:t>
          </a:r>
          <a:r>
            <a:rPr lang="en-US" sz="1200" kern="1200" dirty="0"/>
            <a:t>? After UMAP, over 99% of items had &gt;99% probability of belonging to a single cluster, probabilistic modeling adds no value. K-Means is simpler, more stable, fully interpretable</a:t>
          </a:r>
        </a:p>
        <a:p>
          <a:pPr marL="114300" lvl="1" indent="-114300" algn="l" defTabSz="533400">
            <a:lnSpc>
              <a:spcPct val="90000"/>
            </a:lnSpc>
            <a:spcBef>
              <a:spcPct val="0"/>
            </a:spcBef>
            <a:spcAft>
              <a:spcPct val="15000"/>
            </a:spcAft>
            <a:buChar char="•"/>
          </a:pPr>
          <a:r>
            <a:rPr lang="en-US" sz="1200" kern="1200" dirty="0"/>
            <a:t> Why </a:t>
          </a:r>
          <a:r>
            <a:rPr lang="en-US" sz="1200" b="1" kern="1200" dirty="0"/>
            <a:t>k=8</a:t>
          </a:r>
          <a:r>
            <a:rPr lang="en-US" sz="1200" kern="1200" dirty="0"/>
            <a:t>? Grid search across k=5/13 and UMAP dims 2/50. k=8 achieved the global Silhouette peak and mean ARI of 0.85 across 100 random initializations</a:t>
          </a:r>
        </a:p>
      </dsp:txBody>
      <dsp:txXfrm rot="-5400000">
        <a:off x="1062319" y="4169937"/>
        <a:ext cx="6284769" cy="89013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8AF70A90-CA7E-49EB-AB17-C37FEDD07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5A7711EA-1FBE-4E98-9D43-C2D65C45D0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68ABEA4-9216-4FDF-AAE1-D8632908A8EC}" type="datetimeFigureOut">
              <a:rPr lang="de-CH" smtClean="0"/>
              <a:t>29.04.2026</a:t>
            </a:fld>
            <a:endParaRPr lang="de-CH"/>
          </a:p>
        </p:txBody>
      </p:sp>
      <p:sp>
        <p:nvSpPr>
          <p:cNvPr id="4" name="Fußzeilenplatzhalter 3">
            <a:extLst>
              <a:ext uri="{FF2B5EF4-FFF2-40B4-BE49-F238E27FC236}">
                <a16:creationId xmlns:a16="http://schemas.microsoft.com/office/drawing/2014/main" id="{82CCD3C8-8930-4E0E-A891-B770724F2B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A7798FB5-86BC-42DA-9D05-F96D484814F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685DCD-866D-47AE-A236-118539F53379}" type="slidenum">
              <a:rPr lang="de-CH" smtClean="0"/>
              <a:t>‹#›</a:t>
            </a:fld>
            <a:endParaRPr lang="de-CH"/>
          </a:p>
        </p:txBody>
      </p:sp>
    </p:spTree>
    <p:extLst>
      <p:ext uri="{BB962C8B-B14F-4D97-AF65-F5344CB8AC3E}">
        <p14:creationId xmlns:p14="http://schemas.microsoft.com/office/powerpoint/2010/main" val="1423227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78A90D-FE7E-41AF-B03D-808D82937CB9}" type="datetimeFigureOut">
              <a:rPr lang="de-CH" smtClean="0"/>
              <a:t>29.04.2026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5DDFD-030C-4D5A-B33E-3A7E7538D2BE}" type="slidenum">
              <a:rPr lang="de-CH" smtClean="0"/>
              <a:t>‹#›</a:t>
            </a:fld>
            <a:endParaRPr lang="de-CH"/>
          </a:p>
        </p:txBody>
      </p:sp>
    </p:spTree>
    <p:extLst>
      <p:ext uri="{BB962C8B-B14F-4D97-AF65-F5344CB8AC3E}">
        <p14:creationId xmlns:p14="http://schemas.microsoft.com/office/powerpoint/2010/main" val="44149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5DDFD-030C-4D5A-B33E-3A7E7538D2BE}" type="slidenum">
              <a:rPr lang="de-CH" smtClean="0"/>
              <a:t>1</a:t>
            </a:fld>
            <a:endParaRPr lang="de-CH"/>
          </a:p>
        </p:txBody>
      </p:sp>
    </p:spTree>
    <p:extLst>
      <p:ext uri="{BB962C8B-B14F-4D97-AF65-F5344CB8AC3E}">
        <p14:creationId xmlns:p14="http://schemas.microsoft.com/office/powerpoint/2010/main" val="3836580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D0B4B-0EA0-40F2-46F9-FC3EC6AFE57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BF85FCF-AB5C-065B-699C-618247C16BC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6CDD816-5711-CEC4-451B-9617D41F5887}"/>
              </a:ext>
            </a:extLst>
          </p:cNvPr>
          <p:cNvSpPr>
            <a:spLocks noGrp="1"/>
          </p:cNvSpPr>
          <p:nvPr>
            <p:ph type="body" idx="1"/>
          </p:nvPr>
        </p:nvSpPr>
        <p:spPr/>
        <p:txBody>
          <a:bodyPr/>
          <a:lstStyle/>
          <a:p>
            <a:r>
              <a:rPr lang="en-US" dirty="0"/>
              <a:t>So, let's start with why we're here.</a:t>
            </a:r>
          </a:p>
          <a:p>
            <a:endParaRPr lang="en-US" dirty="0"/>
          </a:p>
          <a:p>
            <a:r>
              <a:rPr lang="en-US" dirty="0" err="1"/>
              <a:t>Vibrent</a:t>
            </a:r>
            <a:r>
              <a:rPr lang="en-US" dirty="0"/>
              <a:t> is a Norwegian fashion rental platform with 7,400 customers, almost 16,000 garments. And at first glance it looks like a standard e-commerce business. But it's not. Because in retail, a customer buys something, and you know exactly what that transaction is worth. In rental, there's no guaranteed repeat. A customer might rent once for a wedding and disappear. Or they might rent every month for three years. The same transaction history can mean completely different things depending on the person.</a:t>
            </a:r>
          </a:p>
          <a:p>
            <a:endParaRPr lang="en-US" dirty="0"/>
          </a:p>
          <a:p>
            <a:r>
              <a:rPr lang="en-US" dirty="0"/>
              <a:t>So predicting Customer Lifetime Value here is genuinely harder, </a:t>
            </a:r>
            <a:r>
              <a:rPr lang="en-US" dirty="0" err="1"/>
              <a:t>beacuse</a:t>
            </a:r>
            <a:r>
              <a:rPr lang="en-US" dirty="0"/>
              <a:t> it's driven by rental frequency, category preference, duration, and all of these things shift over time.</a:t>
            </a:r>
          </a:p>
          <a:p>
            <a:endParaRPr lang="en-US" dirty="0"/>
          </a:p>
          <a:p>
            <a:r>
              <a:rPr lang="en-US" dirty="0"/>
              <a:t>Now, the models the industry typically uses, like Pareto and NBD, they only look at </a:t>
            </a:r>
            <a:r>
              <a:rPr lang="en-US" i="1" dirty="0"/>
              <a:t>when</a:t>
            </a:r>
            <a:r>
              <a:rPr lang="en-US" dirty="0"/>
              <a:t> and </a:t>
            </a:r>
            <a:r>
              <a:rPr lang="en-US" i="1" dirty="0"/>
              <a:t>how often</a:t>
            </a:r>
            <a:r>
              <a:rPr lang="en-US" dirty="0"/>
              <a:t> a customer transacts. They completely ignore </a:t>
            </a:r>
            <a:r>
              <a:rPr lang="en-US" i="1" dirty="0"/>
              <a:t>what</a:t>
            </a:r>
            <a:r>
              <a:rPr lang="en-US" dirty="0"/>
              <a:t> that customer actually rents. And that feels like a gap worth exploring. Does knowing that a customer only rents dresses, versus one who rents dresses, jackets, tops, and accessories actually help you predict who stays?</a:t>
            </a:r>
          </a:p>
          <a:p>
            <a:endParaRPr lang="en-US" dirty="0"/>
          </a:p>
          <a:p>
            <a:r>
              <a:rPr lang="en-US" dirty="0"/>
              <a:t>That's the core question. And to answer it, we had three objectives: first, build a meaningful product segmentation. Second, use it to predict 12-month revenue. Third, identify churners before they go silent.</a:t>
            </a:r>
          </a:p>
        </p:txBody>
      </p:sp>
      <p:sp>
        <p:nvSpPr>
          <p:cNvPr id="4" name="Foliennummernplatzhalter 3">
            <a:extLst>
              <a:ext uri="{FF2B5EF4-FFF2-40B4-BE49-F238E27FC236}">
                <a16:creationId xmlns:a16="http://schemas.microsoft.com/office/drawing/2014/main" id="{CC629A9F-CEAE-DE3E-3822-DC495AB03CA9}"/>
              </a:ext>
            </a:extLst>
          </p:cNvPr>
          <p:cNvSpPr>
            <a:spLocks noGrp="1"/>
          </p:cNvSpPr>
          <p:nvPr>
            <p:ph type="sldNum" sz="quarter" idx="5"/>
          </p:nvPr>
        </p:nvSpPr>
        <p:spPr/>
        <p:txBody>
          <a:bodyPr/>
          <a:lstStyle/>
          <a:p>
            <a:fld id="{F615DDFD-030C-4D5A-B33E-3A7E7538D2BE}" type="slidenum">
              <a:rPr lang="de-CH" smtClean="0"/>
              <a:t>2</a:t>
            </a:fld>
            <a:endParaRPr lang="de-CH"/>
          </a:p>
        </p:txBody>
      </p:sp>
    </p:spTree>
    <p:extLst>
      <p:ext uri="{BB962C8B-B14F-4D97-AF65-F5344CB8AC3E}">
        <p14:creationId xmlns:p14="http://schemas.microsoft.com/office/powerpoint/2010/main" val="39948316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87578-49A4-ABA9-C7CC-AEDF375E0C3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8505AC3-BDE8-7AE8-221A-69944532AA2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7D00EFF-543F-07BB-4E38-1EBF0854B7AB}"/>
              </a:ext>
            </a:extLst>
          </p:cNvPr>
          <p:cNvSpPr>
            <a:spLocks noGrp="1"/>
          </p:cNvSpPr>
          <p:nvPr>
            <p:ph type="body" idx="1"/>
          </p:nvPr>
        </p:nvSpPr>
        <p:spPr/>
        <p:txBody>
          <a:bodyPr/>
          <a:lstStyle/>
          <a:p>
            <a:r>
              <a:rPr lang="en-US" dirty="0"/>
              <a:t>Before we get into any modeling, there's something important about this dataset that shapes every decision we made.</a:t>
            </a:r>
          </a:p>
          <a:p>
            <a:endParaRPr lang="en-US" dirty="0"/>
          </a:p>
          <a:p>
            <a:r>
              <a:rPr lang="en-US" dirty="0"/>
              <a:t>We have data from March 2016 to September 2023. 77,000 rental events, 7,400 customers. But if you plot transaction volume over time, something jumps out immediately, and you can see it right here in the chart. Around April 2020, everything changes. Median rental duration goes from 4 days to 30 days overnight. Monthly transactions go from roughly 100 to over 2,000. </a:t>
            </a:r>
            <a:r>
              <a:rPr lang="en-US" dirty="0" err="1"/>
              <a:t>Vibrent</a:t>
            </a:r>
            <a:r>
              <a:rPr lang="en-US" dirty="0"/>
              <a:t> pivoted from a spot-rental model to a subscription model, and it's basically a different business after that point.</a:t>
            </a:r>
          </a:p>
          <a:p>
            <a:endParaRPr lang="en-US" dirty="0"/>
          </a:p>
          <a:p>
            <a:r>
              <a:rPr lang="en-US" dirty="0"/>
              <a:t>So the question is: what do you do with the pre-2020 data? The naive answer is to throw it away, train only on the subscription era. But that turns out to be a mistake, because customers who joined in 2017 carry behavioral signals that are still meaningful, like how long they've been on the platform, their early loyalty patterns and so on. When we used the full history for feature engineering but kept labels strictly post-2020, MAE dropped by 74% compared to using post-2020 data alone.</a:t>
            </a:r>
          </a:p>
          <a:p>
            <a:endParaRPr lang="en-US" dirty="0"/>
          </a:p>
          <a:p>
            <a:r>
              <a:rPr lang="en-US" dirty="0"/>
              <a:t>And then for validation, we used an expanding window split. Train on features up to September 2021, predict the following year. Then expand the window to 2022, predict 2023. The window always moves forward. The model never sees the future it's predicting. This is important because random splits would leak future transactions into past predictions</a:t>
            </a:r>
          </a:p>
        </p:txBody>
      </p:sp>
      <p:sp>
        <p:nvSpPr>
          <p:cNvPr id="4" name="Foliennummernplatzhalter 3">
            <a:extLst>
              <a:ext uri="{FF2B5EF4-FFF2-40B4-BE49-F238E27FC236}">
                <a16:creationId xmlns:a16="http://schemas.microsoft.com/office/drawing/2014/main" id="{CCAAFE24-5D80-CE8F-B9EB-E6D75D58ABA0}"/>
              </a:ext>
            </a:extLst>
          </p:cNvPr>
          <p:cNvSpPr>
            <a:spLocks noGrp="1"/>
          </p:cNvSpPr>
          <p:nvPr>
            <p:ph type="sldNum" sz="quarter" idx="5"/>
          </p:nvPr>
        </p:nvSpPr>
        <p:spPr/>
        <p:txBody>
          <a:bodyPr/>
          <a:lstStyle/>
          <a:p>
            <a:fld id="{F615DDFD-030C-4D5A-B33E-3A7E7538D2BE}" type="slidenum">
              <a:rPr lang="de-CH" smtClean="0"/>
              <a:t>3</a:t>
            </a:fld>
            <a:endParaRPr lang="de-CH"/>
          </a:p>
        </p:txBody>
      </p:sp>
    </p:spTree>
    <p:extLst>
      <p:ext uri="{BB962C8B-B14F-4D97-AF65-F5344CB8AC3E}">
        <p14:creationId xmlns:p14="http://schemas.microsoft.com/office/powerpoint/2010/main" val="25705310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32F20-EF5E-7A29-05D5-89628C89104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545CD42-789C-F341-4C8A-E9A5C62AB9D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2415DD9-F2BE-83FF-DD9B-DCF90B461BBE}"/>
              </a:ext>
            </a:extLst>
          </p:cNvPr>
          <p:cNvSpPr>
            <a:spLocks noGrp="1"/>
          </p:cNvSpPr>
          <p:nvPr>
            <p:ph type="body" idx="1"/>
          </p:nvPr>
        </p:nvSpPr>
        <p:spPr/>
        <p:txBody>
          <a:bodyPr/>
          <a:lstStyle/>
          <a:p>
            <a:r>
              <a:rPr lang="en-US" dirty="0"/>
              <a:t>Now, to build product-level features, we first needed a meaningful segmentation of the catalog. And the question was: how do you cluster 15,000 garments in a way that actually captures style?</a:t>
            </a:r>
          </a:p>
          <a:p>
            <a:endParaRPr lang="en-US" dirty="0"/>
          </a:p>
          <a:p>
            <a:r>
              <a:rPr lang="en-US" dirty="0"/>
              <a:t>Metadata tags don't cut it. A tag says "dress.“, but an embedding captures what </a:t>
            </a:r>
            <a:r>
              <a:rPr lang="en-US" i="1" dirty="0"/>
              <a:t>kind</a:t>
            </a:r>
            <a:r>
              <a:rPr lang="en-US" dirty="0"/>
              <a:t> of dress, the silhouette, the occasion, the color palette. So we used Voyage Multimodal 3.5, which integrates both the product image and the text description into a single vector. One representation per garment, no modality mismatch.</a:t>
            </a:r>
          </a:p>
          <a:p>
            <a:endParaRPr lang="en-US" dirty="0"/>
          </a:p>
          <a:p>
            <a:r>
              <a:rPr lang="en-US" dirty="0"/>
              <a:t>But you can't cluster directly on 2,048-dimensional embeddings. We tried, but HDB-SCAN put 84% of items into a single cluster. K-Means Silhouette scores were near zero. Distance metrics simply break down in that many dimensions. So we ran UMAP first to reduce to 20 dimensions, preserving both local and global structure, and </a:t>
            </a:r>
            <a:r>
              <a:rPr lang="en-US" i="1" dirty="0"/>
              <a:t>then</a:t>
            </a:r>
            <a:r>
              <a:rPr lang="en-US" dirty="0"/>
              <a:t> clustered.</a:t>
            </a:r>
          </a:p>
          <a:p>
            <a:endParaRPr lang="en-US" dirty="0"/>
          </a:p>
          <a:p>
            <a:r>
              <a:rPr lang="en-US" dirty="0"/>
              <a:t>For the algorithm, we compared K-Means, GMM, and HDB-SCAN on the reduced space. K-Means and GMM gave nearly identical assignments, and when we checked the GMM soft probabilities, over 99% of items had more than 99% confidence in a single cluster. So probabilistic modeling added nothing. K-Means is simpler, more stable, fully interpretable, overall an easier choice.</a:t>
            </a:r>
          </a:p>
          <a:p>
            <a:endParaRPr lang="en-US" dirty="0"/>
          </a:p>
          <a:p>
            <a:r>
              <a:rPr lang="en-US" dirty="0"/>
              <a:t>For k, we ran a grid search across cluster counts and UMAP dimensions. You can see the heatmap here,  k=8 at 20 dimensions hits the global Silhouette peak, and it's stable across 100 random initializations with a mean ARI of 0.85. So that’s what we chose.</a:t>
            </a:r>
          </a:p>
          <a:p>
            <a:endParaRPr lang="en-US" dirty="0"/>
          </a:p>
        </p:txBody>
      </p:sp>
      <p:sp>
        <p:nvSpPr>
          <p:cNvPr id="4" name="Foliennummernplatzhalter 3">
            <a:extLst>
              <a:ext uri="{FF2B5EF4-FFF2-40B4-BE49-F238E27FC236}">
                <a16:creationId xmlns:a16="http://schemas.microsoft.com/office/drawing/2014/main" id="{42AAFC21-448D-6018-9C42-9E5B8F5BD23D}"/>
              </a:ext>
            </a:extLst>
          </p:cNvPr>
          <p:cNvSpPr>
            <a:spLocks noGrp="1"/>
          </p:cNvSpPr>
          <p:nvPr>
            <p:ph type="sldNum" sz="quarter" idx="5"/>
          </p:nvPr>
        </p:nvSpPr>
        <p:spPr/>
        <p:txBody>
          <a:bodyPr/>
          <a:lstStyle/>
          <a:p>
            <a:fld id="{F615DDFD-030C-4D5A-B33E-3A7E7538D2BE}" type="slidenum">
              <a:rPr lang="de-CH" smtClean="0"/>
              <a:t>4</a:t>
            </a:fld>
            <a:endParaRPr lang="de-CH"/>
          </a:p>
        </p:txBody>
      </p:sp>
    </p:spTree>
    <p:extLst>
      <p:ext uri="{BB962C8B-B14F-4D97-AF65-F5344CB8AC3E}">
        <p14:creationId xmlns:p14="http://schemas.microsoft.com/office/powerpoint/2010/main" val="42437002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64339-939C-D81B-7920-77E18100324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82021DA-CFAA-A36F-82D8-CD91966FCFE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26BAC6B-05AA-F5D8-102B-7B713FC514F1}"/>
              </a:ext>
            </a:extLst>
          </p:cNvPr>
          <p:cNvSpPr>
            <a:spLocks noGrp="1"/>
          </p:cNvSpPr>
          <p:nvPr>
            <p:ph type="body" idx="1"/>
          </p:nvPr>
        </p:nvSpPr>
        <p:spPr/>
        <p:txBody>
          <a:bodyPr/>
          <a:lstStyle/>
          <a:p>
            <a:r>
              <a:rPr lang="en-US" dirty="0"/>
              <a:t>So what do those 8 clusters actually tell us about the business? We profiled each one on revenue share, inventory share, utilization, and ROI, and four distinct strategic roles emerged.</a:t>
            </a:r>
          </a:p>
          <a:p>
            <a:endParaRPr lang="en-US" dirty="0"/>
          </a:p>
          <a:p>
            <a:r>
              <a:rPr lang="en-US" dirty="0"/>
              <a:t>Looking at the chart, that large orange bubble sitting far to the right is Dresses &amp; Jumpsuits. 27,000 rentals, 41.9% of revenue, 42.3% of inventory. Revenue and inventory are almost perfectly matched. This is the platform's engine, it's doing exactly what it should be doing.</a:t>
            </a:r>
          </a:p>
          <a:p>
            <a:endParaRPr lang="en-US" dirty="0"/>
          </a:p>
          <a:p>
            <a:r>
              <a:rPr lang="en-US" dirty="0"/>
              <a:t>Up in the top left, you have two clusters sitting at high price points but low volume. Bags &amp; Accessories and Jackets &amp; Coats. These are your premium items. Bags have the highest revenue-per-item in the entire catalog, 10 thousands NOK,  and a utilization rate 71% above average. But only 421 items in stock. The demand is clearly there, supply isn't. And despite all that revenue, ROI is actually the lowest in the catalog at 1.98, because designer bags are expensive to acquire. So this is a growth lever, but a capital-intensive one. Jackets tell a slightly different story, with the highest median rental price at 1 thousand 800 hundred NOK, but 36.7% dead inventory. Procurement hasn't matched demand well there.</a:t>
            </a:r>
          </a:p>
          <a:p>
            <a:endParaRPr lang="en-US" dirty="0"/>
          </a:p>
          <a:p>
            <a:r>
              <a:rPr lang="en-US" dirty="0"/>
              <a:t>Then the bottom-left cluster, that's where you find Tops, Sweaters, Trousers, Skirts and Jewelry. The workhorses and the underperformers live here together. Tops and Sweaters have the best ROI in the catalog, 3.79 and 3.59, low acquisition cost and high turnover, they recover their investment nearly four times over.</a:t>
            </a:r>
          </a:p>
          <a:p>
            <a:endParaRPr lang="en-US" dirty="0"/>
          </a:p>
          <a:p>
            <a:r>
              <a:rPr lang="en-US" dirty="0"/>
              <a:t>Trousers and Skirts are the opposite, 16% of inventory, 11% of revenue, never-rented rates up to 35.8%.</a:t>
            </a:r>
          </a:p>
          <a:p>
            <a:endParaRPr lang="en-US" dirty="0"/>
          </a:p>
        </p:txBody>
      </p:sp>
      <p:sp>
        <p:nvSpPr>
          <p:cNvPr id="4" name="Foliennummernplatzhalter 3">
            <a:extLst>
              <a:ext uri="{FF2B5EF4-FFF2-40B4-BE49-F238E27FC236}">
                <a16:creationId xmlns:a16="http://schemas.microsoft.com/office/drawing/2014/main" id="{F29670DA-9B0D-EC4A-1B21-899ED9C5EA08}"/>
              </a:ext>
            </a:extLst>
          </p:cNvPr>
          <p:cNvSpPr>
            <a:spLocks noGrp="1"/>
          </p:cNvSpPr>
          <p:nvPr>
            <p:ph type="sldNum" sz="quarter" idx="5"/>
          </p:nvPr>
        </p:nvSpPr>
        <p:spPr/>
        <p:txBody>
          <a:bodyPr/>
          <a:lstStyle/>
          <a:p>
            <a:fld id="{F615DDFD-030C-4D5A-B33E-3A7E7538D2BE}" type="slidenum">
              <a:rPr lang="de-CH" smtClean="0"/>
              <a:t>5</a:t>
            </a:fld>
            <a:endParaRPr lang="de-CH"/>
          </a:p>
        </p:txBody>
      </p:sp>
    </p:spTree>
    <p:extLst>
      <p:ext uri="{BB962C8B-B14F-4D97-AF65-F5344CB8AC3E}">
        <p14:creationId xmlns:p14="http://schemas.microsoft.com/office/powerpoint/2010/main" val="2408165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A5A68-03C3-D8B8-C876-C6B69F2A627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7B58494-555D-9888-7E6F-92D86CD825B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B16DBC7-8814-6FC3-6F4E-BD179ED2A8E2}"/>
              </a:ext>
            </a:extLst>
          </p:cNvPr>
          <p:cNvSpPr>
            <a:spLocks noGrp="1"/>
          </p:cNvSpPr>
          <p:nvPr>
            <p:ph type="body" idx="1"/>
          </p:nvPr>
        </p:nvSpPr>
        <p:spPr/>
        <p:txBody>
          <a:bodyPr/>
          <a:lstStyle/>
          <a:p>
            <a:r>
              <a:rPr lang="en-US" dirty="0"/>
              <a:t>The last thing before Julius takes over is probably the most interesting finding of the whole project,  and it came from asking a simple question: do loyal customers and at-risk customers rent different </a:t>
            </a:r>
            <a:r>
              <a:rPr lang="en-US" i="1" dirty="0"/>
              <a:t>types</a:t>
            </a:r>
            <a:r>
              <a:rPr lang="en-US" dirty="0"/>
              <a:t> of things?</a:t>
            </a:r>
          </a:p>
          <a:p>
            <a:endParaRPr lang="en-US" dirty="0"/>
          </a:p>
          <a:p>
            <a:r>
              <a:rPr lang="en-US" dirty="0"/>
              <a:t>The answer is yes, but not in the way we’d expect.</a:t>
            </a:r>
          </a:p>
          <a:p>
            <a:endParaRPr lang="en-US" dirty="0"/>
          </a:p>
          <a:p>
            <a:r>
              <a:rPr lang="en-US" dirty="0"/>
              <a:t>Looking at the chart. Loyal customers and Dormant customers, the green bars, look almost identical. Both spread their spending broadly: about 39% on dresses, 16% jackets, 15% tops, 13% knitwear. Five or more categories.</a:t>
            </a:r>
          </a:p>
          <a:p>
            <a:endParaRPr lang="en-US" dirty="0"/>
          </a:p>
          <a:p>
            <a:r>
              <a:rPr lang="en-US" dirty="0"/>
              <a:t>Now look at the grey bars, At-Risk customers. 79% of their spending goes to a single category. Dresses. Everything else barely registers.</a:t>
            </a:r>
          </a:p>
          <a:p>
            <a:endParaRPr lang="en-US" dirty="0"/>
          </a:p>
          <a:p>
            <a:r>
              <a:rPr lang="en-US" dirty="0"/>
              <a:t>What this tells you is that At-Risk users come to </a:t>
            </a:r>
            <a:r>
              <a:rPr lang="en-US" dirty="0" err="1"/>
              <a:t>Vibrent</a:t>
            </a:r>
            <a:r>
              <a:rPr lang="en-US" dirty="0"/>
              <a:t> for a specific occasion, a wedding, a gala, to they solve that need, and then they're gone. They were never really subscribers. They were one-time event renters.</a:t>
            </a:r>
          </a:p>
          <a:p>
            <a:endParaRPr lang="en-US" dirty="0"/>
          </a:p>
          <a:p>
            <a:r>
              <a:rPr lang="en-US" dirty="0"/>
              <a:t>So loyalty isn't about </a:t>
            </a:r>
            <a:r>
              <a:rPr lang="en-US" i="1" dirty="0"/>
              <a:t>what</a:t>
            </a:r>
            <a:r>
              <a:rPr lang="en-US" dirty="0"/>
              <a:t> you rent. It's about </a:t>
            </a:r>
            <a:r>
              <a:rPr lang="en-US" i="1" dirty="0"/>
              <a:t>how broadly</a:t>
            </a:r>
            <a:r>
              <a:rPr lang="en-US" dirty="0"/>
              <a:t> you rent. A customer who engages across multiple categories has integrated </a:t>
            </a:r>
            <a:r>
              <a:rPr lang="en-US" dirty="0" err="1"/>
              <a:t>Vibrent</a:t>
            </a:r>
            <a:r>
              <a:rPr lang="en-US" dirty="0"/>
              <a:t> into their regular wardrobe. A customer stuck in one category hasn’t.</a:t>
            </a:r>
          </a:p>
          <a:p>
            <a:endParaRPr lang="en-US" dirty="0"/>
          </a:p>
          <a:p>
            <a:r>
              <a:rPr lang="en-US" dirty="0"/>
              <a:t>We formalized this as Style Entropy, the Shannon entropy across a customer's cluster affinity shares. High entropy means broad engagement, low entropy means occasion-driven risk. And this turned out to be one of the best early-warning signals for churn.</a:t>
            </a:r>
          </a:p>
          <a:p>
            <a:endParaRPr lang="en-US" dirty="0"/>
          </a:p>
        </p:txBody>
      </p:sp>
      <p:sp>
        <p:nvSpPr>
          <p:cNvPr id="4" name="Foliennummernplatzhalter 3">
            <a:extLst>
              <a:ext uri="{FF2B5EF4-FFF2-40B4-BE49-F238E27FC236}">
                <a16:creationId xmlns:a16="http://schemas.microsoft.com/office/drawing/2014/main" id="{08CDE469-3496-379F-B3D0-64DC92F0ED78}"/>
              </a:ext>
            </a:extLst>
          </p:cNvPr>
          <p:cNvSpPr>
            <a:spLocks noGrp="1"/>
          </p:cNvSpPr>
          <p:nvPr>
            <p:ph type="sldNum" sz="quarter" idx="5"/>
          </p:nvPr>
        </p:nvSpPr>
        <p:spPr/>
        <p:txBody>
          <a:bodyPr/>
          <a:lstStyle/>
          <a:p>
            <a:fld id="{F615DDFD-030C-4D5A-B33E-3A7E7538D2BE}" type="slidenum">
              <a:rPr lang="de-CH" smtClean="0"/>
              <a:t>6</a:t>
            </a:fld>
            <a:endParaRPr lang="de-CH"/>
          </a:p>
        </p:txBody>
      </p:sp>
    </p:spTree>
    <p:extLst>
      <p:ext uri="{BB962C8B-B14F-4D97-AF65-F5344CB8AC3E}">
        <p14:creationId xmlns:p14="http://schemas.microsoft.com/office/powerpoint/2010/main" val="32642088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AE75B-5055-D8D6-7C89-4BE3AB440DE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6D042FD-0C7A-1112-66BF-BEFF658FC6B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9775242A-1EB1-48B8-3738-118802B1C538}"/>
              </a:ext>
            </a:extLst>
          </p:cNvPr>
          <p:cNvSpPr>
            <a:spLocks noGrp="1"/>
          </p:cNvSpPr>
          <p:nvPr>
            <p:ph type="body" idx="1"/>
          </p:nvPr>
        </p:nvSpPr>
        <p:spPr/>
        <p:txBody>
          <a:bodyPr/>
          <a:lstStyle/>
          <a:p>
            <a:r>
              <a:rPr lang="de-DE" dirty="0"/>
              <a:t>Start with a </a:t>
            </a:r>
            <a:r>
              <a:rPr lang="de-DE" dirty="0" err="1"/>
              <a:t>baseline</a:t>
            </a:r>
            <a:endParaRPr lang="de-DE" dirty="0"/>
          </a:p>
          <a:p>
            <a:r>
              <a:rPr lang="en-US" dirty="0"/>
              <a:t>We tried RFM with Ridge Regression and </a:t>
            </a:r>
            <a:r>
              <a:rPr lang="en-US" dirty="0" err="1"/>
              <a:t>LightGBM</a:t>
            </a:r>
            <a:r>
              <a:rPr lang="en-US" dirty="0"/>
              <a:t> afterwards and compared with </a:t>
            </a:r>
            <a:r>
              <a:rPr lang="en-US" dirty="0" err="1"/>
              <a:t>CLVTools</a:t>
            </a:r>
            <a:r>
              <a:rPr lang="en-US" dirty="0"/>
              <a:t> outcome. And it appears that the Pareto NBD model is a good baseline and the other two can simply handle churn.</a:t>
            </a:r>
          </a:p>
          <a:p>
            <a:endParaRPr lang="en-US" dirty="0"/>
          </a:p>
          <a:p>
            <a:r>
              <a:rPr lang="en-US" dirty="0"/>
              <a:t>But I realized a problem yesterday….not trained on same dataset</a:t>
            </a:r>
            <a:endParaRPr lang="de-DE" dirty="0"/>
          </a:p>
        </p:txBody>
      </p:sp>
      <p:sp>
        <p:nvSpPr>
          <p:cNvPr id="4" name="Foliennummernplatzhalter 3">
            <a:extLst>
              <a:ext uri="{FF2B5EF4-FFF2-40B4-BE49-F238E27FC236}">
                <a16:creationId xmlns:a16="http://schemas.microsoft.com/office/drawing/2014/main" id="{C615551E-A870-7E24-235F-183DD6B114A8}"/>
              </a:ext>
            </a:extLst>
          </p:cNvPr>
          <p:cNvSpPr>
            <a:spLocks noGrp="1"/>
          </p:cNvSpPr>
          <p:nvPr>
            <p:ph type="sldNum" sz="quarter" idx="5"/>
          </p:nvPr>
        </p:nvSpPr>
        <p:spPr/>
        <p:txBody>
          <a:bodyPr/>
          <a:lstStyle/>
          <a:p>
            <a:fld id="{F615DDFD-030C-4D5A-B33E-3A7E7538D2BE}" type="slidenum">
              <a:rPr lang="de-CH" smtClean="0"/>
              <a:t>7</a:t>
            </a:fld>
            <a:endParaRPr lang="de-CH"/>
          </a:p>
        </p:txBody>
      </p:sp>
    </p:spTree>
    <p:extLst>
      <p:ext uri="{BB962C8B-B14F-4D97-AF65-F5344CB8AC3E}">
        <p14:creationId xmlns:p14="http://schemas.microsoft.com/office/powerpoint/2010/main" val="876370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2CBA0-C2F7-F23C-8517-4434EE5A08E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986D3AB-5CB8-9850-D397-C3C8FC891AC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C65A79D-C063-B58E-F732-95D95A09BCA7}"/>
              </a:ext>
            </a:extLst>
          </p:cNvPr>
          <p:cNvSpPr>
            <a:spLocks noGrp="1"/>
          </p:cNvSpPr>
          <p:nvPr>
            <p:ph type="body" idx="1"/>
          </p:nvPr>
        </p:nvSpPr>
        <p:spPr/>
        <p:txBody>
          <a:bodyPr/>
          <a:lstStyle/>
          <a:p>
            <a:r>
              <a:rPr lang="en-US" dirty="0"/>
              <a:t>Different picture…</a:t>
            </a:r>
          </a:p>
          <a:p>
            <a:endParaRPr lang="en-US" dirty="0"/>
          </a:p>
          <a:p>
            <a:r>
              <a:rPr lang="en-US" dirty="0"/>
              <a:t>Ridge Regression comes in last again. It assumes a linear relationship between past spending and future revenue — which means it sees a high-spending customer and simply projects that forward, with no concept that they might have already left. It's the wrong tool for this problem structurally.</a:t>
            </a:r>
          </a:p>
          <a:p>
            <a:endParaRPr lang="en-US" dirty="0"/>
          </a:p>
          <a:p>
            <a:r>
              <a:rPr lang="en-US" dirty="0"/>
              <a:t>The Pareto/NBD is more interesting. It was specifically designed for subscription-style businesses — it jointly models whether a customer is still active and how often they buy. It's the industry standard for a reason. And yet, a general-purpose </a:t>
            </a:r>
            <a:r>
              <a:rPr lang="en-US" dirty="0" err="1"/>
              <a:t>LightGBM</a:t>
            </a:r>
            <a:r>
              <a:rPr lang="en-US" dirty="0"/>
              <a:t> with nothing but basic RFM features already beats it by 32%.</a:t>
            </a:r>
          </a:p>
          <a:p>
            <a:endParaRPr lang="en-US" dirty="0"/>
          </a:p>
          <a:p>
            <a:r>
              <a:rPr lang="en-US" dirty="0"/>
              <a:t>Why it is already such a big gap…I honestly do not know since I thought the </a:t>
            </a:r>
            <a:r>
              <a:rPr lang="en-US" dirty="0" err="1"/>
              <a:t>CLVTools</a:t>
            </a:r>
            <a:r>
              <a:rPr lang="en-US" dirty="0"/>
              <a:t> baseline is already pretty competitive…maybe I made a mistake when running the code. </a:t>
            </a:r>
          </a:p>
          <a:p>
            <a:endParaRPr lang="en-US" dirty="0"/>
          </a:p>
          <a:p>
            <a:r>
              <a:rPr lang="en-US" dirty="0"/>
              <a:t>So but </a:t>
            </a:r>
            <a:r>
              <a:rPr lang="en-US" dirty="0" err="1"/>
              <a:t>LightGBM</a:t>
            </a:r>
            <a:r>
              <a:rPr lang="en-US" dirty="0"/>
              <a:t> is actually an encouraging result. We haven't done any of the serious work yet — no product features, no Tweedie objective, no hybrid architecture — and we're already ahead of the benchmark. This chart is our starting point, not our destination.</a:t>
            </a:r>
          </a:p>
          <a:p>
            <a:r>
              <a:rPr lang="en-US" dirty="0" err="1"/>
              <a:t>LightGBM</a:t>
            </a:r>
            <a:r>
              <a:rPr lang="en-US" dirty="0"/>
              <a:t> with its tree structure was apparently able to properly interpret recency</a:t>
            </a:r>
          </a:p>
          <a:p>
            <a:endParaRPr lang="en-US" dirty="0"/>
          </a:p>
          <a:p>
            <a:r>
              <a:rPr lang="en-US" dirty="0"/>
              <a:t>The question then becomes: how much further can we push it? And that's where the real modeling decisions begin.</a:t>
            </a:r>
          </a:p>
        </p:txBody>
      </p:sp>
      <p:sp>
        <p:nvSpPr>
          <p:cNvPr id="4" name="Foliennummernplatzhalter 3">
            <a:extLst>
              <a:ext uri="{FF2B5EF4-FFF2-40B4-BE49-F238E27FC236}">
                <a16:creationId xmlns:a16="http://schemas.microsoft.com/office/drawing/2014/main" id="{B5AADF57-EDFF-298F-BFBF-1B0215C53467}"/>
              </a:ext>
            </a:extLst>
          </p:cNvPr>
          <p:cNvSpPr>
            <a:spLocks noGrp="1"/>
          </p:cNvSpPr>
          <p:nvPr>
            <p:ph type="sldNum" sz="quarter" idx="5"/>
          </p:nvPr>
        </p:nvSpPr>
        <p:spPr/>
        <p:txBody>
          <a:bodyPr/>
          <a:lstStyle/>
          <a:p>
            <a:fld id="{F615DDFD-030C-4D5A-B33E-3A7E7538D2BE}" type="slidenum">
              <a:rPr lang="de-CH" smtClean="0"/>
              <a:t>8</a:t>
            </a:fld>
            <a:endParaRPr lang="de-CH"/>
          </a:p>
        </p:txBody>
      </p:sp>
    </p:spTree>
    <p:extLst>
      <p:ext uri="{BB962C8B-B14F-4D97-AF65-F5344CB8AC3E}">
        <p14:creationId xmlns:p14="http://schemas.microsoft.com/office/powerpoint/2010/main" val="40739158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err="1"/>
              <a:t>We</a:t>
            </a:r>
            <a:r>
              <a:rPr lang="de-DE" dirty="0"/>
              <a:t> </a:t>
            </a:r>
            <a:r>
              <a:rPr lang="de-DE" dirty="0" err="1"/>
              <a:t>had</a:t>
            </a:r>
            <a:r>
              <a:rPr lang="de-DE" dirty="0"/>
              <a:t> a </a:t>
            </a:r>
            <a:r>
              <a:rPr lang="de-DE" dirty="0" err="1"/>
              <a:t>couple</a:t>
            </a:r>
            <a:r>
              <a:rPr lang="de-DE" dirty="0"/>
              <a:t> </a:t>
            </a:r>
            <a:r>
              <a:rPr lang="de-DE" dirty="0" err="1"/>
              <a:t>more</a:t>
            </a:r>
            <a:r>
              <a:rPr lang="de-DE" dirty="0"/>
              <a:t> </a:t>
            </a:r>
            <a:r>
              <a:rPr lang="de-DE" dirty="0" err="1"/>
              <a:t>iterations</a:t>
            </a:r>
            <a:r>
              <a:rPr lang="de-DE" dirty="0"/>
              <a:t> with </a:t>
            </a:r>
            <a:r>
              <a:rPr lang="de-DE" dirty="0" err="1"/>
              <a:t>many</a:t>
            </a:r>
            <a:r>
              <a:rPr lang="de-DE" dirty="0"/>
              <a:t> </a:t>
            </a:r>
            <a:r>
              <a:rPr lang="de-DE" dirty="0" err="1"/>
              <a:t>more</a:t>
            </a:r>
            <a:r>
              <a:rPr lang="de-DE" dirty="0"/>
              <a:t> </a:t>
            </a:r>
            <a:r>
              <a:rPr lang="de-DE" dirty="0" err="1"/>
              <a:t>things</a:t>
            </a:r>
            <a:r>
              <a:rPr lang="de-DE" dirty="0"/>
              <a:t> </a:t>
            </a:r>
            <a:r>
              <a:rPr lang="de-DE" dirty="0" err="1"/>
              <a:t>tried</a:t>
            </a:r>
            <a:r>
              <a:rPr lang="de-DE" dirty="0"/>
              <a:t> with </a:t>
            </a:r>
            <a:r>
              <a:rPr lang="de-DE" dirty="0" err="1"/>
              <a:t>the</a:t>
            </a:r>
            <a:r>
              <a:rPr lang="de-DE" dirty="0"/>
              <a:t> </a:t>
            </a:r>
            <a:r>
              <a:rPr lang="de-DE" dirty="0" err="1"/>
              <a:t>model</a:t>
            </a:r>
            <a:r>
              <a:rPr lang="de-DE" dirty="0"/>
              <a:t> and </a:t>
            </a:r>
            <a:r>
              <a:rPr lang="de-DE" dirty="0" err="1"/>
              <a:t>data</a:t>
            </a:r>
            <a:r>
              <a:rPr lang="de-DE" dirty="0"/>
              <a:t> but </a:t>
            </a:r>
            <a:r>
              <a:rPr lang="de-DE" dirty="0" err="1"/>
              <a:t>here</a:t>
            </a:r>
            <a:r>
              <a:rPr lang="de-DE" dirty="0"/>
              <a:t> </a:t>
            </a:r>
            <a:r>
              <a:rPr lang="de-DE" dirty="0" err="1"/>
              <a:t>are</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ones</a:t>
            </a:r>
            <a:endParaRPr lang="de-DE" dirty="0"/>
          </a:p>
          <a:p>
            <a:endParaRPr lang="de-DE" dirty="0"/>
          </a:p>
          <a:p>
            <a:endParaRPr lang="de-DE" dirty="0"/>
          </a:p>
          <a:p>
            <a:r>
              <a:rPr lang="en-US" dirty="0"/>
              <a:t>First problem: 93% of customers generate exactly zero revenue in the prediction window. Standard regression wasn't built for that — it assumes a roughly normal error distribution. The Tweedie objective was designed precisely for zero-inflated, right-skewed data like this.</a:t>
            </a:r>
          </a:p>
          <a:p>
            <a:endParaRPr lang="en-US" dirty="0"/>
          </a:p>
          <a:p>
            <a:r>
              <a:rPr lang="en-US" dirty="0"/>
              <a:t>Second problem: our full feature set had 36 variables, many of them redundant. Sequential Forward Selection pruned that down to 18, and performance improved — less noise, cleaner signal.</a:t>
            </a:r>
          </a:p>
          <a:p>
            <a:endParaRPr lang="en-US" dirty="0"/>
          </a:p>
          <a:p>
            <a:r>
              <a:rPr lang="en-US" dirty="0"/>
              <a:t>Third problem: even a well-calibrated model still over-predicts for customers who have quietly stopped renting. That's the latent attrition problem Constantin introduced earlier. The hybrid architecture is our answer to that.</a:t>
            </a:r>
          </a:p>
        </p:txBody>
      </p:sp>
      <p:sp>
        <p:nvSpPr>
          <p:cNvPr id="4" name="Foliennummernplatzhalter 3"/>
          <p:cNvSpPr>
            <a:spLocks noGrp="1"/>
          </p:cNvSpPr>
          <p:nvPr>
            <p:ph type="sldNum" sz="quarter" idx="5"/>
          </p:nvPr>
        </p:nvSpPr>
        <p:spPr/>
        <p:txBody>
          <a:bodyPr/>
          <a:lstStyle/>
          <a:p>
            <a:fld id="{F615DDFD-030C-4D5A-B33E-3A7E7538D2BE}" type="slidenum">
              <a:rPr lang="de-CH" smtClean="0"/>
              <a:t>9</a:t>
            </a:fld>
            <a:endParaRPr lang="de-CH"/>
          </a:p>
        </p:txBody>
      </p:sp>
    </p:spTree>
    <p:extLst>
      <p:ext uri="{BB962C8B-B14F-4D97-AF65-F5344CB8AC3E}">
        <p14:creationId xmlns:p14="http://schemas.microsoft.com/office/powerpoint/2010/main" val="5550295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EA176-0DC8-987C-C818-6D746DC6FC1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E4FD48A-6CB9-F4BE-5710-C1CA7B77629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57F428B-0EA1-7DF3-A329-4C16574BA9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MAE </a:t>
            </a:r>
            <a:r>
              <a:rPr lang="de-DE" dirty="0" err="1"/>
              <a:t>of</a:t>
            </a:r>
            <a:r>
              <a:rPr lang="de-DE" dirty="0"/>
              <a:t> hybrid two-stage </a:t>
            </a:r>
            <a:r>
              <a:rPr lang="de-DE" dirty="0" err="1"/>
              <a:t>model</a:t>
            </a:r>
            <a:r>
              <a:rPr lang="de-DE" dirty="0"/>
              <a:t> </a:t>
            </a:r>
            <a:r>
              <a:rPr lang="de-DE" dirty="0" err="1"/>
              <a:t>is</a:t>
            </a:r>
            <a:r>
              <a:rPr lang="de-DE" dirty="0"/>
              <a:t> at 9817.49NOK </a:t>
            </a:r>
            <a:r>
              <a:rPr lang="de-DE" dirty="0" err="1"/>
              <a:t>when</a:t>
            </a:r>
            <a:r>
              <a:rPr lang="de-DE" dirty="0"/>
              <a:t> </a:t>
            </a:r>
            <a:r>
              <a:rPr lang="de-DE" dirty="0" err="1"/>
              <a:t>using</a:t>
            </a:r>
            <a:r>
              <a:rPr lang="de-DE" dirty="0"/>
              <a:t> </a:t>
            </a:r>
            <a:r>
              <a:rPr lang="de-DE" dirty="0" err="1"/>
              <a:t>data</a:t>
            </a:r>
            <a:r>
              <a:rPr lang="de-DE" dirty="0"/>
              <a:t> post-2020 break</a:t>
            </a:r>
            <a:endParaRPr lang="en-US" dirty="0"/>
          </a:p>
        </p:txBody>
      </p:sp>
      <p:sp>
        <p:nvSpPr>
          <p:cNvPr id="4" name="Foliennummernplatzhalter 3">
            <a:extLst>
              <a:ext uri="{FF2B5EF4-FFF2-40B4-BE49-F238E27FC236}">
                <a16:creationId xmlns:a16="http://schemas.microsoft.com/office/drawing/2014/main" id="{2414D054-57F6-1BA8-16D5-EFE4801D21F4}"/>
              </a:ext>
            </a:extLst>
          </p:cNvPr>
          <p:cNvSpPr>
            <a:spLocks noGrp="1"/>
          </p:cNvSpPr>
          <p:nvPr>
            <p:ph type="sldNum" sz="quarter" idx="5"/>
          </p:nvPr>
        </p:nvSpPr>
        <p:spPr/>
        <p:txBody>
          <a:bodyPr/>
          <a:lstStyle/>
          <a:p>
            <a:fld id="{F615DDFD-030C-4D5A-B33E-3A7E7538D2BE}" type="slidenum">
              <a:rPr lang="de-CH" smtClean="0"/>
              <a:t>10</a:t>
            </a:fld>
            <a:endParaRPr lang="de-CH"/>
          </a:p>
        </p:txBody>
      </p:sp>
    </p:spTree>
    <p:extLst>
      <p:ext uri="{BB962C8B-B14F-4D97-AF65-F5344CB8AC3E}">
        <p14:creationId xmlns:p14="http://schemas.microsoft.com/office/powerpoint/2010/main" val="1623267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F98BF-76C3-B5E8-17D6-D32E23069DC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9835055-F42F-C092-B85F-66D9C924519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82DFEB8-1400-22CD-24F3-7EAB9B08BFD4}"/>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993DC389-1253-4E84-EF85-DC93751C0EC7}"/>
              </a:ext>
            </a:extLst>
          </p:cNvPr>
          <p:cNvSpPr>
            <a:spLocks noGrp="1"/>
          </p:cNvSpPr>
          <p:nvPr>
            <p:ph type="sldNum" sz="quarter" idx="5"/>
          </p:nvPr>
        </p:nvSpPr>
        <p:spPr/>
        <p:txBody>
          <a:bodyPr/>
          <a:lstStyle/>
          <a:p>
            <a:fld id="{F615DDFD-030C-4D5A-B33E-3A7E7538D2BE}" type="slidenum">
              <a:rPr lang="de-CH" smtClean="0"/>
              <a:t>11</a:t>
            </a:fld>
            <a:endParaRPr lang="de-CH"/>
          </a:p>
        </p:txBody>
      </p:sp>
    </p:spTree>
    <p:extLst>
      <p:ext uri="{BB962C8B-B14F-4D97-AF65-F5344CB8AC3E}">
        <p14:creationId xmlns:p14="http://schemas.microsoft.com/office/powerpoint/2010/main" val="2219307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model didn't need all 8 clusters — just the ones that matter economically</a:t>
            </a:r>
          </a:p>
          <a:p>
            <a:endParaRPr lang="en-US" dirty="0"/>
          </a:p>
          <a:p>
            <a:r>
              <a:rPr lang="en-US" dirty="0"/>
              <a:t>I want to flag something that connects directly back to Constantin's segmentation work. When Sequential Forward Selection chose which features to keep, it didn't retain all eight cluster affinities — it kept exactly four. And those four are Bags, Tops, Dresses, and Jackets — the precise clusters that the business profiling identified as the economic anchors of the platform.</a:t>
            </a:r>
          </a:p>
          <a:p>
            <a:endParaRPr lang="en-US" dirty="0"/>
          </a:p>
          <a:p>
            <a:r>
              <a:rPr lang="en-US" dirty="0"/>
              <a:t>The algorithm arrived at the same conclusion through a completely independent route. That's not a coincidence — it's validation. Product-level intelligence isn't just interpretable, it's genuinely predictive.</a:t>
            </a:r>
          </a:p>
          <a:p>
            <a:endParaRPr lang="en-US" dirty="0"/>
          </a:p>
          <a:p>
            <a:r>
              <a:rPr lang="en-US" dirty="0"/>
              <a:t>Style entropy — the diversity measure — dropped out once specific cluster affinities were included. Knowing which clusters a customer engages with turns out to be more precise than just knowing how broadly they engage</a:t>
            </a:r>
            <a:endParaRPr lang="de-DE" dirty="0"/>
          </a:p>
        </p:txBody>
      </p:sp>
      <p:sp>
        <p:nvSpPr>
          <p:cNvPr id="4" name="Foliennummernplatzhalter 3"/>
          <p:cNvSpPr>
            <a:spLocks noGrp="1"/>
          </p:cNvSpPr>
          <p:nvPr>
            <p:ph type="sldNum" sz="quarter" idx="5"/>
          </p:nvPr>
        </p:nvSpPr>
        <p:spPr/>
        <p:txBody>
          <a:bodyPr/>
          <a:lstStyle/>
          <a:p>
            <a:fld id="{F615DDFD-030C-4D5A-B33E-3A7E7538D2BE}" type="slidenum">
              <a:rPr lang="de-CH" smtClean="0"/>
              <a:t>12</a:t>
            </a:fld>
            <a:endParaRPr lang="de-CH"/>
          </a:p>
        </p:txBody>
      </p:sp>
    </p:spTree>
    <p:extLst>
      <p:ext uri="{BB962C8B-B14F-4D97-AF65-F5344CB8AC3E}">
        <p14:creationId xmlns:p14="http://schemas.microsoft.com/office/powerpoint/2010/main" val="901618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F995B-8CAC-C44C-6096-9A891D234B6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72E027-A0A3-A178-160E-5618DD19F96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9FA8226-DD59-C7A6-B1DC-1BF90F0852BF}"/>
              </a:ext>
            </a:extLst>
          </p:cNvPr>
          <p:cNvSpPr>
            <a:spLocks noGrp="1"/>
          </p:cNvSpPr>
          <p:nvPr>
            <p:ph type="body" idx="1"/>
          </p:nvPr>
        </p:nvSpPr>
        <p:spPr/>
        <p:txBody>
          <a:bodyPr/>
          <a:lstStyle/>
          <a:p>
            <a:r>
              <a:rPr lang="en-US" i="0" dirty="0"/>
              <a:t>The churn classifier was built separately from the revenue model, using its own feature selection process. So it independently chose its own set of four predictors. And again you can see it uses RFM which seem to be strong predictors for churn too and one of them is Cluster 6 - Skirts</a:t>
            </a:r>
          </a:p>
          <a:p>
            <a:endParaRPr lang="en-US" i="0" dirty="0"/>
          </a:p>
          <a:p>
            <a:r>
              <a:rPr lang="en-US" i="0" dirty="0"/>
              <a:t>Here's why that matters: customers who engage with everyday fashion staples are less likely to churn. Customers who concentrate on Dresses or Bags — occasion wear — are the ones solving a one-time need and leaving. The classifier found that signal on its own, without being told anything about the affinity analysis. Two completely separate methods, same conclusion."</a:t>
            </a:r>
          </a:p>
          <a:p>
            <a:endParaRPr lang="en-US" i="0" dirty="0"/>
          </a:p>
        </p:txBody>
      </p:sp>
      <p:sp>
        <p:nvSpPr>
          <p:cNvPr id="4" name="Foliennummernplatzhalter 3">
            <a:extLst>
              <a:ext uri="{FF2B5EF4-FFF2-40B4-BE49-F238E27FC236}">
                <a16:creationId xmlns:a16="http://schemas.microsoft.com/office/drawing/2014/main" id="{6A9DF0DD-92E8-4F7E-C365-13890BA86449}"/>
              </a:ext>
            </a:extLst>
          </p:cNvPr>
          <p:cNvSpPr>
            <a:spLocks noGrp="1"/>
          </p:cNvSpPr>
          <p:nvPr>
            <p:ph type="sldNum" sz="quarter" idx="5"/>
          </p:nvPr>
        </p:nvSpPr>
        <p:spPr/>
        <p:txBody>
          <a:bodyPr/>
          <a:lstStyle/>
          <a:p>
            <a:fld id="{F615DDFD-030C-4D5A-B33E-3A7E7538D2BE}" type="slidenum">
              <a:rPr lang="de-CH" smtClean="0"/>
              <a:t>13</a:t>
            </a:fld>
            <a:endParaRPr lang="de-CH"/>
          </a:p>
        </p:txBody>
      </p:sp>
    </p:spTree>
    <p:extLst>
      <p:ext uri="{BB962C8B-B14F-4D97-AF65-F5344CB8AC3E}">
        <p14:creationId xmlns:p14="http://schemas.microsoft.com/office/powerpoint/2010/main" val="3147808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14</a:t>
            </a:fld>
            <a:endParaRPr lang="de-CH"/>
          </a:p>
        </p:txBody>
      </p:sp>
    </p:spTree>
    <p:extLst>
      <p:ext uri="{BB962C8B-B14F-4D97-AF65-F5344CB8AC3E}">
        <p14:creationId xmlns:p14="http://schemas.microsoft.com/office/powerpoint/2010/main" val="17196108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01">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1"/>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Bildplatzhalter 8">
            <a:extLst>
              <a:ext uri="{FF2B5EF4-FFF2-40B4-BE49-F238E27FC236}">
                <a16:creationId xmlns:a16="http://schemas.microsoft.com/office/drawing/2014/main" id="{C3C296D1-2CD0-479F-A866-6EC741D2293B}"/>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4" name="Textplatzhalter 3">
            <a:extLst>
              <a:ext uri="{FF2B5EF4-FFF2-40B4-BE49-F238E27FC236}">
                <a16:creationId xmlns:a16="http://schemas.microsoft.com/office/drawing/2014/main" id="{EE41BE31-9613-4103-99FF-7DCFF643B329}"/>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6" name="Textplatzhalter 5">
            <a:extLst>
              <a:ext uri="{FF2B5EF4-FFF2-40B4-BE49-F238E27FC236}">
                <a16:creationId xmlns:a16="http://schemas.microsoft.com/office/drawing/2014/main" id="{EDEB298C-798E-4D73-9DD6-F896C06530C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4293381049"/>
      </p:ext>
    </p:extLst>
  </p:cSld>
  <p:clrMapOvr>
    <a:masterClrMapping/>
  </p:clrMapOvr>
  <p:extLst>
    <p:ext uri="{DCECCB84-F9BA-43D5-87BE-67443E8EF086}">
      <p15:sldGuideLst xmlns:p15="http://schemas.microsoft.com/office/powerpoint/2012/main">
        <p15:guide id="2" pos="3840" userDrawn="1">
          <p15:clr>
            <a:srgbClr val="FBAE40"/>
          </p15:clr>
        </p15:guide>
        <p15:guide id="3" orient="horz" pos="640" userDrawn="1">
          <p15:clr>
            <a:srgbClr val="FBAE40"/>
          </p15:clr>
        </p15:guide>
        <p15:guide id="4" orient="horz" pos="3952" userDrawn="1">
          <p15:clr>
            <a:srgbClr val="FBAE40"/>
          </p15:clr>
        </p15:guide>
        <p15:guide id="5" pos="610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02">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8A01615F-450E-43D0-B554-DA3FBD48DF34}"/>
              </a:ext>
            </a:extLst>
          </p:cNvPr>
          <p:cNvSpPr>
            <a:spLocks noGrp="1"/>
          </p:cNvSpPr>
          <p:nvPr>
            <p:ph type="pic" sz="quarter" idx="11"/>
          </p:nvPr>
        </p:nvSpPr>
        <p:spPr>
          <a:xfrm>
            <a:off x="731838" y="1016000"/>
            <a:ext cx="10728325" cy="5256000"/>
          </a:xfrm>
        </p:spPr>
        <p:txBody>
          <a:bodyPr lIns="0" tIns="0" rIns="558000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6504000" y="2957494"/>
            <a:ext cx="5688000" cy="2268000"/>
          </a:xfrm>
          <a:solidFill>
            <a:schemeClr val="accent6"/>
          </a:solidFill>
        </p:spPr>
        <p:txBody>
          <a:bodyPr lIns="324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Textplatzhalter 3">
            <a:extLst>
              <a:ext uri="{FF2B5EF4-FFF2-40B4-BE49-F238E27FC236}">
                <a16:creationId xmlns:a16="http://schemas.microsoft.com/office/drawing/2014/main" id="{003A487C-8977-4264-A8A1-D6C1DB604682}"/>
              </a:ext>
            </a:extLst>
          </p:cNvPr>
          <p:cNvSpPr>
            <a:spLocks noGrp="1"/>
          </p:cNvSpPr>
          <p:nvPr>
            <p:ph type="body" sz="quarter" idx="13"/>
          </p:nvPr>
        </p:nvSpPr>
        <p:spPr>
          <a:xfrm>
            <a:off x="6845210" y="4639666"/>
            <a:ext cx="4320000" cy="46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3" name="Bildplatzhalter 8">
            <a:extLst>
              <a:ext uri="{FF2B5EF4-FFF2-40B4-BE49-F238E27FC236}">
                <a16:creationId xmlns:a16="http://schemas.microsoft.com/office/drawing/2014/main" id="{E91D3734-CD8F-4F94-A813-570EF31C4732}"/>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547D2927-4A99-4714-8EBA-F773EAA26308}"/>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10024114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03">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62D94F76-218E-49F2-87F8-05982912ED18}"/>
              </a:ext>
            </a:extLst>
          </p:cNvPr>
          <p:cNvSpPr/>
          <p:nvPr userDrawn="1"/>
        </p:nvSpPr>
        <p:spPr>
          <a:xfrm>
            <a:off x="731838" y="1016000"/>
            <a:ext cx="10728325" cy="5257800"/>
          </a:xfrm>
          <a:prstGeom prst="rect">
            <a:avLst/>
          </a:prstGeom>
          <a:solidFill>
            <a:srgbClr val="8E67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1" y="1940405"/>
            <a:ext cx="10188000" cy="3420000"/>
          </a:xfrm>
          <a:solidFill>
            <a:schemeClr val="accent3"/>
          </a:solidFill>
          <a:ln>
            <a:noFill/>
          </a:ln>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7" name="Textplatzhalter 3">
            <a:extLst>
              <a:ext uri="{FF2B5EF4-FFF2-40B4-BE49-F238E27FC236}">
                <a16:creationId xmlns:a16="http://schemas.microsoft.com/office/drawing/2014/main" id="{0503E57F-F89F-431B-8D38-7CC97B7C201A}"/>
              </a:ext>
            </a:extLst>
          </p:cNvPr>
          <p:cNvSpPr>
            <a:spLocks noGrp="1"/>
          </p:cNvSpPr>
          <p:nvPr>
            <p:ph type="body" sz="quarter" idx="13"/>
          </p:nvPr>
        </p:nvSpPr>
        <p:spPr>
          <a:xfrm>
            <a:off x="1078516" y="4217884"/>
            <a:ext cx="864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2" name="Bildplatzhalter 8">
            <a:extLst>
              <a:ext uri="{FF2B5EF4-FFF2-40B4-BE49-F238E27FC236}">
                <a16:creationId xmlns:a16="http://schemas.microsoft.com/office/drawing/2014/main" id="{1BEB6197-C509-4752-B57E-CEE955F5D926}"/>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4ADF7DEC-21BD-45CA-9E91-B9F58A69F62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3924069494"/>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0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731837" y="1016000"/>
            <a:ext cx="10728326" cy="5256000"/>
          </a:xfrm>
          <a:solidFill>
            <a:schemeClr val="accent6"/>
          </a:solidFill>
          <a:ln>
            <a:noFill/>
          </a:ln>
        </p:spPr>
        <p:txBody>
          <a:bodyPr lIns="324000" tIns="11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6" name="Textplatzhalter 3">
            <a:extLst>
              <a:ext uri="{FF2B5EF4-FFF2-40B4-BE49-F238E27FC236}">
                <a16:creationId xmlns:a16="http://schemas.microsoft.com/office/drawing/2014/main" id="{5FCAD79B-EF47-46A0-9575-229F3DAA72F5}"/>
              </a:ext>
            </a:extLst>
          </p:cNvPr>
          <p:cNvSpPr>
            <a:spLocks noGrp="1"/>
          </p:cNvSpPr>
          <p:nvPr>
            <p:ph type="body" sz="quarter" idx="13"/>
          </p:nvPr>
        </p:nvSpPr>
        <p:spPr>
          <a:xfrm>
            <a:off x="1078515" y="5122625"/>
            <a:ext cx="10044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8" name="Bildplatzhalter 8">
            <a:extLst>
              <a:ext uri="{FF2B5EF4-FFF2-40B4-BE49-F238E27FC236}">
                <a16:creationId xmlns:a16="http://schemas.microsoft.com/office/drawing/2014/main" id="{72236FC6-C8FF-43C1-86B9-BF112345926F}"/>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7" name="Textplatzhalter 5">
            <a:extLst>
              <a:ext uri="{FF2B5EF4-FFF2-40B4-BE49-F238E27FC236}">
                <a16:creationId xmlns:a16="http://schemas.microsoft.com/office/drawing/2014/main" id="{789A3267-E086-4EC3-A0BB-F8ECD01A5C7E}"/>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732532068"/>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04 – Uni Zürich">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2"/>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4" name="Grafik 3">
            <a:extLst>
              <a:ext uri="{FF2B5EF4-FFF2-40B4-BE49-F238E27FC236}">
                <a16:creationId xmlns:a16="http://schemas.microsoft.com/office/drawing/2014/main" id="{793E2EDD-B19F-478D-BB03-AD55EC1E86B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7672" y="228020"/>
            <a:ext cx="3679200" cy="552508"/>
          </a:xfrm>
          <a:prstGeom prst="rect">
            <a:avLst/>
          </a:prstGeom>
        </p:spPr>
      </p:pic>
      <p:sp>
        <p:nvSpPr>
          <p:cNvPr id="7" name="Textplatzhalter 3">
            <a:extLst>
              <a:ext uri="{FF2B5EF4-FFF2-40B4-BE49-F238E27FC236}">
                <a16:creationId xmlns:a16="http://schemas.microsoft.com/office/drawing/2014/main" id="{D364BCB8-820F-4C3A-BA37-7048A4C8D4C3}"/>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1" name="Bildplatzhalter 8">
            <a:extLst>
              <a:ext uri="{FF2B5EF4-FFF2-40B4-BE49-F238E27FC236}">
                <a16:creationId xmlns:a16="http://schemas.microsoft.com/office/drawing/2014/main" id="{A73913C2-8DFE-4F15-B2DB-2A6D5C267009}"/>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9" name="Textplatzhalter 5">
            <a:extLst>
              <a:ext uri="{FF2B5EF4-FFF2-40B4-BE49-F238E27FC236}">
                <a16:creationId xmlns:a16="http://schemas.microsoft.com/office/drawing/2014/main" id="{791A1AD7-DB7D-4C75-BEFB-EB6D34D3B2AB}"/>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278925752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lvl1pPr marL="539750" indent="-539750">
              <a:buFont typeface="+mj-lt"/>
              <a:buAutoNum type="arabicPeriod"/>
              <a:defRPr/>
            </a:lvl1pPr>
            <a:lvl2pPr marL="1079500" indent="-539750">
              <a:buFont typeface="+mj-lt"/>
              <a:buAutoNum type="arabicPeriod"/>
              <a:defRPr/>
            </a:lvl2pPr>
            <a:lvl3pPr marL="1612900" indent="-533400">
              <a:buFont typeface="+mj-lt"/>
              <a:buAutoNum type="arabicPeriod"/>
              <a:defRPr/>
            </a:lvl3pPr>
            <a:lvl4pPr marL="2152650" indent="-539750">
              <a:buFont typeface="+mj-lt"/>
              <a:buAutoNum type="arabicPeriod"/>
              <a:defRPr/>
            </a:lvl4pPr>
            <a:lvl5pPr marL="2692400" indent="-539750">
              <a:buFont typeface="+mj-lt"/>
              <a:buAutoNum type="arabicPeriod"/>
              <a:defRPr/>
            </a:lvl5p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2221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1888753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mit Fussn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A01E762-278A-4155-9BEB-7C2CB2386E9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Textplatzhalter 10">
            <a:extLst>
              <a:ext uri="{FF2B5EF4-FFF2-40B4-BE49-F238E27FC236}">
                <a16:creationId xmlns:a16="http://schemas.microsoft.com/office/drawing/2014/main" id="{2F6D94FA-21C6-4AE0-AA4F-3A077810ED93}"/>
              </a:ext>
            </a:extLst>
          </p:cNvPr>
          <p:cNvSpPr>
            <a:spLocks noGrp="1"/>
          </p:cNvSpPr>
          <p:nvPr>
            <p:ph type="body" sz="quarter" idx="13"/>
          </p:nvPr>
        </p:nvSpPr>
        <p:spPr>
          <a:xfrm>
            <a:off x="731836" y="5570135"/>
            <a:ext cx="5364164" cy="721233"/>
          </a:xfrm>
        </p:spPr>
        <p:txBody>
          <a:bodyPr anchor="b" anchorCtr="0"/>
          <a:lstStyle>
            <a:lvl1pPr marL="179388" indent="-179388">
              <a:spcBef>
                <a:spcPts val="0"/>
              </a:spcBef>
              <a:buFont typeface="+mj-lt"/>
              <a:buAutoNum type="arabicPeriod"/>
              <a:defRPr sz="800"/>
            </a:lvl1pPr>
            <a:lvl2pPr marL="266700" indent="0">
              <a:buNone/>
              <a:defRPr sz="800"/>
            </a:lvl2pPr>
            <a:lvl3pPr marL="538163" indent="0">
              <a:buNone/>
              <a:defRPr sz="800"/>
            </a:lvl3pPr>
            <a:lvl4pPr marL="804862" indent="0">
              <a:buNone/>
              <a:defRPr sz="800"/>
            </a:lvl4pPr>
            <a:lvl5pPr marL="1076325" indent="0">
              <a:buNone/>
              <a:defRPr sz="800"/>
            </a:lvl5pPr>
          </a:lstStyle>
          <a:p>
            <a:pPr lvl="0"/>
            <a:r>
              <a:rPr lang="de-DE" noProof="0"/>
              <a:t>Mastertextformat bearbeiten</a:t>
            </a:r>
          </a:p>
        </p:txBody>
      </p:sp>
    </p:spTree>
    <p:extLst>
      <p:ext uri="{BB962C8B-B14F-4D97-AF65-F5344CB8AC3E}">
        <p14:creationId xmlns:p14="http://schemas.microsoft.com/office/powerpoint/2010/main" val="426001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ischenslide">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a:xfrm>
            <a:off x="731837" y="2224781"/>
            <a:ext cx="10728325" cy="1260000"/>
          </a:xfrm>
        </p:spPr>
        <p:txBody>
          <a:bodyPr/>
          <a:lstStyle>
            <a:lvl1pPr>
              <a:lnSpc>
                <a:spcPct val="100000"/>
              </a:lnSpc>
              <a:defRPr sz="3600">
                <a:solidFill>
                  <a:schemeClr val="bg1"/>
                </a:solidFill>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lvl1pPr>
              <a:defRPr>
                <a:solidFill>
                  <a:schemeClr val="bg1"/>
                </a:solidFill>
              </a:defRPr>
            </a:lvl1pPr>
          </a:lstStyle>
          <a:p>
            <a:fld id="{6C4EAFE7-317E-4912-B75C-DD6945F8224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lvl1pPr>
              <a:defRPr>
                <a:solidFill>
                  <a:schemeClr val="bg1"/>
                </a:solidFill>
              </a:defRPr>
            </a:lvl1p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lvl1pPr>
              <a:defRPr>
                <a:solidFill>
                  <a:schemeClr val="bg1"/>
                </a:solidFill>
              </a:defRPr>
            </a:lvl1pPr>
          </a:lstStyle>
          <a:p>
            <a:fld id="{5ACA52AF-F19D-405C-AD5F-7D94B96A5CC3}" type="slidenum">
              <a:rPr lang="de-CH" noProof="0" smtClean="0"/>
              <a:pPr/>
              <a:t>‹#›</a:t>
            </a:fld>
            <a:endParaRPr lang="de-CH" noProof="0"/>
          </a:p>
        </p:txBody>
      </p:sp>
      <p:grpSp>
        <p:nvGrpSpPr>
          <p:cNvPr id="10" name="Grafik 6">
            <a:extLst>
              <a:ext uri="{FF2B5EF4-FFF2-40B4-BE49-F238E27FC236}">
                <a16:creationId xmlns:a16="http://schemas.microsoft.com/office/drawing/2014/main" id="{7F7C476A-2849-4D68-9FA2-3A5CFC13C833}"/>
              </a:ext>
            </a:extLst>
          </p:cNvPr>
          <p:cNvGrpSpPr/>
          <p:nvPr/>
        </p:nvGrpSpPr>
        <p:grpSpPr>
          <a:xfrm>
            <a:off x="731837" y="6507088"/>
            <a:ext cx="984462" cy="162000"/>
            <a:chOff x="731837" y="6507088"/>
            <a:chExt cx="984462" cy="162000"/>
          </a:xfrm>
          <a:solidFill>
            <a:schemeClr val="bg1"/>
          </a:solidFill>
        </p:grpSpPr>
        <p:grpSp>
          <p:nvGrpSpPr>
            <p:cNvPr id="12" name="Grafik 6">
              <a:extLst>
                <a:ext uri="{FF2B5EF4-FFF2-40B4-BE49-F238E27FC236}">
                  <a16:creationId xmlns:a16="http://schemas.microsoft.com/office/drawing/2014/main" id="{7F7C476A-2849-4D68-9FA2-3A5CFC13C833}"/>
                </a:ext>
              </a:extLst>
            </p:cNvPr>
            <p:cNvGrpSpPr/>
            <p:nvPr/>
          </p:nvGrpSpPr>
          <p:grpSpPr>
            <a:xfrm>
              <a:off x="1266489" y="6555186"/>
              <a:ext cx="197463" cy="110963"/>
              <a:chOff x="1266489" y="6555186"/>
              <a:chExt cx="197463" cy="110963"/>
            </a:xfrm>
            <a:grpFill/>
          </p:grpSpPr>
          <p:sp>
            <p:nvSpPr>
              <p:cNvPr id="13" name="Freihandform: Form 12">
                <a:extLst>
                  <a:ext uri="{FF2B5EF4-FFF2-40B4-BE49-F238E27FC236}">
                    <a16:creationId xmlns:a16="http://schemas.microsoft.com/office/drawing/2014/main" id="{18BB0752-F87C-44D9-A9A5-97AF1DEDA1AE}"/>
                  </a:ext>
                </a:extLst>
              </p:cNvPr>
              <p:cNvSpPr/>
              <p:nvPr/>
            </p:nvSpPr>
            <p:spPr>
              <a:xfrm>
                <a:off x="1266489" y="6556934"/>
                <a:ext cx="95902" cy="109216"/>
              </a:xfrm>
              <a:custGeom>
                <a:avLst/>
                <a:gdLst>
                  <a:gd name="connsiteX0" fmla="*/ 66742 w 95902"/>
                  <a:gd name="connsiteY0" fmla="*/ 65797 h 109216"/>
                  <a:gd name="connsiteX1" fmla="*/ 35339 w 95902"/>
                  <a:gd name="connsiteY1" fmla="*/ 95082 h 109216"/>
                  <a:gd name="connsiteX2" fmla="*/ 15953 w 95902"/>
                  <a:gd name="connsiteY2" fmla="*/ 79537 h 109216"/>
                  <a:gd name="connsiteX3" fmla="*/ 15899 w 95902"/>
                  <a:gd name="connsiteY3" fmla="*/ 76265 h 109216"/>
                  <a:gd name="connsiteX4" fmla="*/ 16896 w 95902"/>
                  <a:gd name="connsiteY4" fmla="*/ 66295 h 109216"/>
                  <a:gd name="connsiteX5" fmla="*/ 30230 w 95902"/>
                  <a:gd name="connsiteY5" fmla="*/ 0 h 109216"/>
                  <a:gd name="connsiteX6" fmla="*/ 30230 w 95902"/>
                  <a:gd name="connsiteY6" fmla="*/ 0 h 109216"/>
                  <a:gd name="connsiteX7" fmla="*/ 14528 w 95902"/>
                  <a:gd name="connsiteY7" fmla="*/ 0 h 109216"/>
                  <a:gd name="connsiteX8" fmla="*/ 1194 w 95902"/>
                  <a:gd name="connsiteY8" fmla="*/ 67791 h 109216"/>
                  <a:gd name="connsiteX9" fmla="*/ 1194 w 95902"/>
                  <a:gd name="connsiteY9" fmla="*/ 68788 h 109216"/>
                  <a:gd name="connsiteX10" fmla="*/ 73 w 95902"/>
                  <a:gd name="connsiteY10" fmla="*/ 78508 h 109216"/>
                  <a:gd name="connsiteX11" fmla="*/ 26638 w 95902"/>
                  <a:gd name="connsiteY11" fmla="*/ 109122 h 109216"/>
                  <a:gd name="connsiteX12" fmla="*/ 29980 w 95902"/>
                  <a:gd name="connsiteY12" fmla="*/ 109163 h 109216"/>
                  <a:gd name="connsiteX13" fmla="*/ 61384 w 95902"/>
                  <a:gd name="connsiteY13" fmla="*/ 96702 h 109216"/>
                  <a:gd name="connsiteX14" fmla="*/ 59265 w 95902"/>
                  <a:gd name="connsiteY14" fmla="*/ 107917 h 109216"/>
                  <a:gd name="connsiteX15" fmla="*/ 59265 w 95902"/>
                  <a:gd name="connsiteY15" fmla="*/ 107917 h 109216"/>
                  <a:gd name="connsiteX16" fmla="*/ 74842 w 95902"/>
                  <a:gd name="connsiteY16" fmla="*/ 107917 h 109216"/>
                  <a:gd name="connsiteX17" fmla="*/ 95902 w 95902"/>
                  <a:gd name="connsiteY17" fmla="*/ 0 h 109216"/>
                  <a:gd name="connsiteX18" fmla="*/ 95902 w 95902"/>
                  <a:gd name="connsiteY18" fmla="*/ 0 h 109216"/>
                  <a:gd name="connsiteX19" fmla="*/ 79951 w 95902"/>
                  <a:gd name="connsiteY19" fmla="*/ 0 h 109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5902" h="109216">
                    <a:moveTo>
                      <a:pt x="66742" y="65797"/>
                    </a:moveTo>
                    <a:cubicBezTo>
                      <a:pt x="65228" y="82115"/>
                      <a:pt x="51723" y="94709"/>
                      <a:pt x="35339" y="95082"/>
                    </a:cubicBezTo>
                    <a:cubicBezTo>
                      <a:pt x="25692" y="96142"/>
                      <a:pt x="17013" y="89183"/>
                      <a:pt x="15953" y="79537"/>
                    </a:cubicBezTo>
                    <a:cubicBezTo>
                      <a:pt x="15833" y="78450"/>
                      <a:pt x="15814" y="77355"/>
                      <a:pt x="15899" y="76265"/>
                    </a:cubicBezTo>
                    <a:cubicBezTo>
                      <a:pt x="15976" y="72921"/>
                      <a:pt x="16309" y="69588"/>
                      <a:pt x="16896" y="66295"/>
                    </a:cubicBezTo>
                    <a:lnTo>
                      <a:pt x="30230" y="0"/>
                    </a:lnTo>
                    <a:lnTo>
                      <a:pt x="30230" y="0"/>
                    </a:lnTo>
                    <a:lnTo>
                      <a:pt x="14528" y="0"/>
                    </a:lnTo>
                    <a:lnTo>
                      <a:pt x="1194" y="67791"/>
                    </a:lnTo>
                    <a:lnTo>
                      <a:pt x="1194" y="68788"/>
                    </a:lnTo>
                    <a:cubicBezTo>
                      <a:pt x="472" y="71978"/>
                      <a:pt x="95" y="75237"/>
                      <a:pt x="73" y="78508"/>
                    </a:cubicBezTo>
                    <a:cubicBezTo>
                      <a:pt x="-1045" y="94298"/>
                      <a:pt x="10848" y="108004"/>
                      <a:pt x="26638" y="109122"/>
                    </a:cubicBezTo>
                    <a:cubicBezTo>
                      <a:pt x="27751" y="109200"/>
                      <a:pt x="28866" y="109214"/>
                      <a:pt x="29980" y="109163"/>
                    </a:cubicBezTo>
                    <a:cubicBezTo>
                      <a:pt x="41760" y="109765"/>
                      <a:pt x="53221" y="105218"/>
                      <a:pt x="61384" y="96702"/>
                    </a:cubicBezTo>
                    <a:lnTo>
                      <a:pt x="59265" y="107917"/>
                    </a:lnTo>
                    <a:lnTo>
                      <a:pt x="59265" y="107917"/>
                    </a:lnTo>
                    <a:lnTo>
                      <a:pt x="74842" y="107917"/>
                    </a:lnTo>
                    <a:lnTo>
                      <a:pt x="95902" y="0"/>
                    </a:lnTo>
                    <a:lnTo>
                      <a:pt x="95902" y="0"/>
                    </a:lnTo>
                    <a:lnTo>
                      <a:pt x="79951" y="0"/>
                    </a:lnTo>
                    <a:close/>
                  </a:path>
                </a:pathLst>
              </a:custGeom>
              <a:grpFill/>
              <a:ln w="12419" cap="flat">
                <a:noFill/>
                <a:prstDash val="solid"/>
                <a:miter/>
              </a:ln>
            </p:spPr>
            <p:txBody>
              <a:bodyPr rtlCol="0" anchor="ctr"/>
              <a:lstStyle/>
              <a:p>
                <a:endParaRPr lang="de-CH" noProof="0"/>
              </a:p>
            </p:txBody>
          </p:sp>
          <p:sp>
            <p:nvSpPr>
              <p:cNvPr id="14" name="Freihandform: Form 13">
                <a:extLst>
                  <a:ext uri="{FF2B5EF4-FFF2-40B4-BE49-F238E27FC236}">
                    <a16:creationId xmlns:a16="http://schemas.microsoft.com/office/drawing/2014/main" id="{ED44DE23-7081-4AC9-BF06-502BEC71C004}"/>
                  </a:ext>
                </a:extLst>
              </p:cNvPr>
              <p:cNvSpPr/>
              <p:nvPr/>
            </p:nvSpPr>
            <p:spPr>
              <a:xfrm>
                <a:off x="1376472" y="6555186"/>
                <a:ext cx="87480" cy="109664"/>
              </a:xfrm>
              <a:custGeom>
                <a:avLst/>
                <a:gdLst>
                  <a:gd name="connsiteX0" fmla="*/ 64302 w 87480"/>
                  <a:gd name="connsiteY0" fmla="*/ 3 h 109664"/>
                  <a:gd name="connsiteX1" fmla="*/ 34518 w 87480"/>
                  <a:gd name="connsiteY1" fmla="*/ 14209 h 109664"/>
                  <a:gd name="connsiteX2" fmla="*/ 36886 w 87480"/>
                  <a:gd name="connsiteY2" fmla="*/ 1747 h 109664"/>
                  <a:gd name="connsiteX3" fmla="*/ 36886 w 87480"/>
                  <a:gd name="connsiteY3" fmla="*/ 1747 h 109664"/>
                  <a:gd name="connsiteX4" fmla="*/ 21434 w 87480"/>
                  <a:gd name="connsiteY4" fmla="*/ 1747 h 109664"/>
                  <a:gd name="connsiteX5" fmla="*/ 0 w 87480"/>
                  <a:gd name="connsiteY5" fmla="*/ 109664 h 109664"/>
                  <a:gd name="connsiteX6" fmla="*/ 0 w 87480"/>
                  <a:gd name="connsiteY6" fmla="*/ 109664 h 109664"/>
                  <a:gd name="connsiteX7" fmla="*/ 15826 w 87480"/>
                  <a:gd name="connsiteY7" fmla="*/ 109664 h 109664"/>
                  <a:gd name="connsiteX8" fmla="*/ 28288 w 87480"/>
                  <a:gd name="connsiteY8" fmla="*/ 43493 h 109664"/>
                  <a:gd name="connsiteX9" fmla="*/ 59940 w 87480"/>
                  <a:gd name="connsiteY9" fmla="*/ 14209 h 109664"/>
                  <a:gd name="connsiteX10" fmla="*/ 75019 w 87480"/>
                  <a:gd name="connsiteY10" fmla="*/ 21810 h 109664"/>
                  <a:gd name="connsiteX11" fmla="*/ 75019 w 87480"/>
                  <a:gd name="connsiteY11" fmla="*/ 21810 h 109664"/>
                  <a:gd name="connsiteX12" fmla="*/ 87480 w 87480"/>
                  <a:gd name="connsiteY12" fmla="*/ 10346 h 109664"/>
                  <a:gd name="connsiteX13" fmla="*/ 87480 w 87480"/>
                  <a:gd name="connsiteY13" fmla="*/ 10346 h 109664"/>
                  <a:gd name="connsiteX14" fmla="*/ 63928 w 87480"/>
                  <a:gd name="connsiteY14" fmla="*/ 252 h 109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480" h="109664">
                    <a:moveTo>
                      <a:pt x="64302" y="3"/>
                    </a:moveTo>
                    <a:cubicBezTo>
                      <a:pt x="52709" y="-136"/>
                      <a:pt x="41706" y="5111"/>
                      <a:pt x="34518" y="14209"/>
                    </a:cubicBezTo>
                    <a:lnTo>
                      <a:pt x="36886" y="1747"/>
                    </a:lnTo>
                    <a:lnTo>
                      <a:pt x="36886" y="1747"/>
                    </a:lnTo>
                    <a:lnTo>
                      <a:pt x="21434" y="1747"/>
                    </a:lnTo>
                    <a:lnTo>
                      <a:pt x="0" y="109664"/>
                    </a:lnTo>
                    <a:lnTo>
                      <a:pt x="0" y="109664"/>
                    </a:lnTo>
                    <a:lnTo>
                      <a:pt x="15826" y="109664"/>
                    </a:lnTo>
                    <a:lnTo>
                      <a:pt x="28288" y="43493"/>
                    </a:lnTo>
                    <a:cubicBezTo>
                      <a:pt x="30515" y="27438"/>
                      <a:pt x="43760" y="15183"/>
                      <a:pt x="59940" y="14209"/>
                    </a:cubicBezTo>
                    <a:cubicBezTo>
                      <a:pt x="65919" y="14072"/>
                      <a:pt x="71573" y="16922"/>
                      <a:pt x="75019" y="21810"/>
                    </a:cubicBezTo>
                    <a:lnTo>
                      <a:pt x="75019" y="21810"/>
                    </a:lnTo>
                    <a:lnTo>
                      <a:pt x="87480" y="10346"/>
                    </a:lnTo>
                    <a:lnTo>
                      <a:pt x="87480" y="10346"/>
                    </a:lnTo>
                    <a:cubicBezTo>
                      <a:pt x="81552" y="3603"/>
                      <a:pt x="72899" y="-105"/>
                      <a:pt x="63928" y="252"/>
                    </a:cubicBezTo>
                  </a:path>
                </a:pathLst>
              </a:custGeom>
              <a:grpFill/>
              <a:ln w="12419" cap="flat">
                <a:noFill/>
                <a:prstDash val="solid"/>
                <a:miter/>
              </a:ln>
            </p:spPr>
            <p:txBody>
              <a:bodyPr rtlCol="0" anchor="ctr"/>
              <a:lstStyle/>
              <a:p>
                <a:endParaRPr lang="de-CH" noProof="0"/>
              </a:p>
            </p:txBody>
          </p:sp>
        </p:grpSp>
        <p:sp>
          <p:nvSpPr>
            <p:cNvPr id="15" name="Freihandform: Form 14">
              <a:extLst>
                <a:ext uri="{FF2B5EF4-FFF2-40B4-BE49-F238E27FC236}">
                  <a16:creationId xmlns:a16="http://schemas.microsoft.com/office/drawing/2014/main" id="{18C24FD2-AEE2-43CA-8EB3-8E646C2E5E46}"/>
                </a:ext>
              </a:extLst>
            </p:cNvPr>
            <p:cNvSpPr/>
            <p:nvPr/>
          </p:nvSpPr>
          <p:spPr>
            <a:xfrm>
              <a:off x="1159517" y="6556560"/>
              <a:ext cx="96452" cy="108166"/>
            </a:xfrm>
            <a:custGeom>
              <a:avLst/>
              <a:gdLst>
                <a:gd name="connsiteX0" fmla="*/ 23303 w 96452"/>
                <a:gd name="connsiteY0" fmla="*/ 0 h 108166"/>
                <a:gd name="connsiteX1" fmla="*/ 20562 w 96452"/>
                <a:gd name="connsiteY1" fmla="*/ 13708 h 108166"/>
                <a:gd name="connsiteX2" fmla="*/ 20562 w 96452"/>
                <a:gd name="connsiteY2" fmla="*/ 13957 h 108166"/>
                <a:gd name="connsiteX3" fmla="*/ 74271 w 96452"/>
                <a:gd name="connsiteY3" fmla="*/ 13957 h 108166"/>
                <a:gd name="connsiteX4" fmla="*/ 2742 w 96452"/>
                <a:gd name="connsiteY4" fmla="*/ 94957 h 108166"/>
                <a:gd name="connsiteX5" fmla="*/ 2617 w 96452"/>
                <a:gd name="connsiteY5" fmla="*/ 94957 h 108166"/>
                <a:gd name="connsiteX6" fmla="*/ 0 w 96452"/>
                <a:gd name="connsiteY6" fmla="*/ 108166 h 108166"/>
                <a:gd name="connsiteX7" fmla="*/ 76265 w 96452"/>
                <a:gd name="connsiteY7" fmla="*/ 108166 h 108166"/>
                <a:gd name="connsiteX8" fmla="*/ 79006 w 96452"/>
                <a:gd name="connsiteY8" fmla="*/ 94209 h 108166"/>
                <a:gd name="connsiteX9" fmla="*/ 21932 w 96452"/>
                <a:gd name="connsiteY9" fmla="*/ 94209 h 108166"/>
                <a:gd name="connsiteX10" fmla="*/ 93835 w 96452"/>
                <a:gd name="connsiteY10" fmla="*/ 13209 h 108166"/>
                <a:gd name="connsiteX11" fmla="*/ 93835 w 96452"/>
                <a:gd name="connsiteY11" fmla="*/ 13209 h 108166"/>
                <a:gd name="connsiteX12" fmla="*/ 96452 w 96452"/>
                <a:gd name="connsiteY12" fmla="*/ 0 h 108166"/>
                <a:gd name="connsiteX13" fmla="*/ 23303 w 96452"/>
                <a:gd name="connsiteY13"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6452" h="108166">
                  <a:moveTo>
                    <a:pt x="23303" y="0"/>
                  </a:moveTo>
                  <a:lnTo>
                    <a:pt x="20562" y="13708"/>
                  </a:lnTo>
                  <a:lnTo>
                    <a:pt x="20562" y="13957"/>
                  </a:lnTo>
                  <a:lnTo>
                    <a:pt x="74271" y="13957"/>
                  </a:lnTo>
                  <a:lnTo>
                    <a:pt x="2742" y="94957"/>
                  </a:lnTo>
                  <a:lnTo>
                    <a:pt x="2617" y="94957"/>
                  </a:lnTo>
                  <a:lnTo>
                    <a:pt x="0" y="108166"/>
                  </a:lnTo>
                  <a:lnTo>
                    <a:pt x="76265" y="108166"/>
                  </a:lnTo>
                  <a:lnTo>
                    <a:pt x="79006" y="94209"/>
                  </a:lnTo>
                  <a:lnTo>
                    <a:pt x="21932" y="94209"/>
                  </a:lnTo>
                  <a:lnTo>
                    <a:pt x="93835" y="13209"/>
                  </a:lnTo>
                  <a:lnTo>
                    <a:pt x="93835" y="13209"/>
                  </a:lnTo>
                  <a:lnTo>
                    <a:pt x="96452" y="0"/>
                  </a:lnTo>
                  <a:lnTo>
                    <a:pt x="23303" y="0"/>
                  </a:lnTo>
                  <a:close/>
                </a:path>
              </a:pathLst>
            </a:custGeom>
            <a:grpFill/>
            <a:ln w="12419" cap="flat">
              <a:noFill/>
              <a:prstDash val="solid"/>
              <a:miter/>
            </a:ln>
          </p:spPr>
          <p:txBody>
            <a:bodyPr rtlCol="0" anchor="ctr"/>
            <a:lstStyle/>
            <a:p>
              <a:endParaRPr lang="de-CH" noProof="0"/>
            </a:p>
          </p:txBody>
        </p:sp>
        <p:sp>
          <p:nvSpPr>
            <p:cNvPr id="16" name="Freihandform: Form 15">
              <a:extLst>
                <a:ext uri="{FF2B5EF4-FFF2-40B4-BE49-F238E27FC236}">
                  <a16:creationId xmlns:a16="http://schemas.microsoft.com/office/drawing/2014/main" id="{AEE7F6F4-4D2C-45B3-A061-9606B2BD36A7}"/>
                </a:ext>
              </a:extLst>
            </p:cNvPr>
            <p:cNvSpPr/>
            <p:nvPr/>
          </p:nvSpPr>
          <p:spPr>
            <a:xfrm>
              <a:off x="1466445" y="6556560"/>
              <a:ext cx="37259" cy="108166"/>
            </a:xfrm>
            <a:custGeom>
              <a:avLst/>
              <a:gdLst>
                <a:gd name="connsiteX0" fmla="*/ 21683 w 37259"/>
                <a:gd name="connsiteY0" fmla="*/ 0 h 108166"/>
                <a:gd name="connsiteX1" fmla="*/ 0 w 37259"/>
                <a:gd name="connsiteY1" fmla="*/ 107917 h 108166"/>
                <a:gd name="connsiteX2" fmla="*/ 0 w 37259"/>
                <a:gd name="connsiteY2" fmla="*/ 108166 h 108166"/>
                <a:gd name="connsiteX3" fmla="*/ 15702 w 37259"/>
                <a:gd name="connsiteY3" fmla="*/ 108166 h 108166"/>
                <a:gd name="connsiteX4" fmla="*/ 37260 w 37259"/>
                <a:gd name="connsiteY4" fmla="*/ 0 h 108166"/>
                <a:gd name="connsiteX5" fmla="*/ 21683 w 37259"/>
                <a:gd name="connsiteY5"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259" h="108166">
                  <a:moveTo>
                    <a:pt x="21683" y="0"/>
                  </a:moveTo>
                  <a:lnTo>
                    <a:pt x="0" y="107917"/>
                  </a:lnTo>
                  <a:lnTo>
                    <a:pt x="0" y="108166"/>
                  </a:lnTo>
                  <a:lnTo>
                    <a:pt x="15702" y="108166"/>
                  </a:lnTo>
                  <a:lnTo>
                    <a:pt x="37260" y="0"/>
                  </a:lnTo>
                  <a:lnTo>
                    <a:pt x="21683" y="0"/>
                  </a:lnTo>
                  <a:close/>
                </a:path>
              </a:pathLst>
            </a:custGeom>
            <a:grpFill/>
            <a:ln w="12419" cap="flat">
              <a:noFill/>
              <a:prstDash val="solid"/>
              <a:miter/>
            </a:ln>
          </p:spPr>
          <p:txBody>
            <a:bodyPr rtlCol="0" anchor="ctr"/>
            <a:lstStyle/>
            <a:p>
              <a:endParaRPr lang="de-CH" noProof="0"/>
            </a:p>
          </p:txBody>
        </p:sp>
        <p:grpSp>
          <p:nvGrpSpPr>
            <p:cNvPr id="17" name="Grafik 6">
              <a:extLst>
                <a:ext uri="{FF2B5EF4-FFF2-40B4-BE49-F238E27FC236}">
                  <a16:creationId xmlns:a16="http://schemas.microsoft.com/office/drawing/2014/main" id="{7F7C476A-2849-4D68-9FA2-3A5CFC13C833}"/>
                </a:ext>
              </a:extLst>
            </p:cNvPr>
            <p:cNvGrpSpPr/>
            <p:nvPr/>
          </p:nvGrpSpPr>
          <p:grpSpPr>
            <a:xfrm>
              <a:off x="1518879" y="6507337"/>
              <a:ext cx="191395" cy="158803"/>
              <a:chOff x="1518879" y="6507337"/>
              <a:chExt cx="191395" cy="158803"/>
            </a:xfrm>
            <a:grpFill/>
          </p:grpSpPr>
          <p:sp>
            <p:nvSpPr>
              <p:cNvPr id="18" name="Freihandform: Form 17">
                <a:extLst>
                  <a:ext uri="{FF2B5EF4-FFF2-40B4-BE49-F238E27FC236}">
                    <a16:creationId xmlns:a16="http://schemas.microsoft.com/office/drawing/2014/main" id="{B2186F78-5D28-4695-8B1C-5A3F1A53AAB3}"/>
                  </a:ext>
                </a:extLst>
              </p:cNvPr>
              <p:cNvSpPr/>
              <p:nvPr/>
            </p:nvSpPr>
            <p:spPr>
              <a:xfrm>
                <a:off x="1614114" y="6507337"/>
                <a:ext cx="96160" cy="157638"/>
              </a:xfrm>
              <a:custGeom>
                <a:avLst/>
                <a:gdLst>
                  <a:gd name="connsiteX0" fmla="*/ 66046 w 96160"/>
                  <a:gd name="connsiteY0" fmla="*/ 47852 h 157638"/>
                  <a:gd name="connsiteX1" fmla="*/ 35142 w 96160"/>
                  <a:gd name="connsiteY1" fmla="*/ 60314 h 157638"/>
                  <a:gd name="connsiteX2" fmla="*/ 47603 w 96160"/>
                  <a:gd name="connsiteY2" fmla="*/ 0 h 157638"/>
                  <a:gd name="connsiteX3" fmla="*/ 31652 w 96160"/>
                  <a:gd name="connsiteY3" fmla="*/ 0 h 157638"/>
                  <a:gd name="connsiteX4" fmla="*/ 0 w 96160"/>
                  <a:gd name="connsiteY4" fmla="*/ 157389 h 157638"/>
                  <a:gd name="connsiteX5" fmla="*/ 15701 w 96160"/>
                  <a:gd name="connsiteY5" fmla="*/ 157389 h 157638"/>
                  <a:gd name="connsiteX6" fmla="*/ 28911 w 96160"/>
                  <a:gd name="connsiteY6" fmla="*/ 91218 h 157638"/>
                  <a:gd name="connsiteX7" fmla="*/ 60563 w 96160"/>
                  <a:gd name="connsiteY7" fmla="*/ 62058 h 157638"/>
                  <a:gd name="connsiteX8" fmla="*/ 79837 w 96160"/>
                  <a:gd name="connsiteY8" fmla="*/ 77742 h 157638"/>
                  <a:gd name="connsiteX9" fmla="*/ 79878 w 96160"/>
                  <a:gd name="connsiteY9" fmla="*/ 80875 h 157638"/>
                  <a:gd name="connsiteX10" fmla="*/ 78757 w 96160"/>
                  <a:gd name="connsiteY10" fmla="*/ 90969 h 157638"/>
                  <a:gd name="connsiteX11" fmla="*/ 65423 w 96160"/>
                  <a:gd name="connsiteY11" fmla="*/ 157638 h 157638"/>
                  <a:gd name="connsiteX12" fmla="*/ 81125 w 96160"/>
                  <a:gd name="connsiteY12" fmla="*/ 157638 h 157638"/>
                  <a:gd name="connsiteX13" fmla="*/ 94957 w 96160"/>
                  <a:gd name="connsiteY13" fmla="*/ 89474 h 157638"/>
                  <a:gd name="connsiteX14" fmla="*/ 96078 w 96160"/>
                  <a:gd name="connsiteY14" fmla="*/ 78757 h 157638"/>
                  <a:gd name="connsiteX15" fmla="*/ 69522 w 96160"/>
                  <a:gd name="connsiteY15" fmla="*/ 47902 h 157638"/>
                  <a:gd name="connsiteX16" fmla="*/ 66046 w 96160"/>
                  <a:gd name="connsiteY16" fmla="*/ 47852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6160" h="157638">
                    <a:moveTo>
                      <a:pt x="66046" y="47852"/>
                    </a:moveTo>
                    <a:cubicBezTo>
                      <a:pt x="54431" y="47363"/>
                      <a:pt x="43168" y="51904"/>
                      <a:pt x="35142" y="60314"/>
                    </a:cubicBezTo>
                    <a:lnTo>
                      <a:pt x="47603" y="0"/>
                    </a:lnTo>
                    <a:lnTo>
                      <a:pt x="31652" y="0"/>
                    </a:lnTo>
                    <a:lnTo>
                      <a:pt x="0" y="157389"/>
                    </a:lnTo>
                    <a:lnTo>
                      <a:pt x="15701" y="157389"/>
                    </a:lnTo>
                    <a:lnTo>
                      <a:pt x="28911" y="91218"/>
                    </a:lnTo>
                    <a:cubicBezTo>
                      <a:pt x="30603" y="74910"/>
                      <a:pt x="44170" y="62411"/>
                      <a:pt x="60563" y="62058"/>
                    </a:cubicBezTo>
                    <a:cubicBezTo>
                      <a:pt x="70216" y="61067"/>
                      <a:pt x="78845" y="68088"/>
                      <a:pt x="79837" y="77742"/>
                    </a:cubicBezTo>
                    <a:cubicBezTo>
                      <a:pt x="79945" y="78783"/>
                      <a:pt x="79958" y="79832"/>
                      <a:pt x="79878" y="80875"/>
                    </a:cubicBezTo>
                    <a:cubicBezTo>
                      <a:pt x="79822" y="84268"/>
                      <a:pt x="79446" y="87647"/>
                      <a:pt x="78757" y="90969"/>
                    </a:cubicBezTo>
                    <a:lnTo>
                      <a:pt x="65423" y="157638"/>
                    </a:lnTo>
                    <a:lnTo>
                      <a:pt x="81125" y="157638"/>
                    </a:lnTo>
                    <a:lnTo>
                      <a:pt x="94957" y="89474"/>
                    </a:lnTo>
                    <a:cubicBezTo>
                      <a:pt x="95657" y="85943"/>
                      <a:pt x="96034" y="82356"/>
                      <a:pt x="96078" y="78757"/>
                    </a:cubicBezTo>
                    <a:cubicBezTo>
                      <a:pt x="97265" y="62903"/>
                      <a:pt x="85375" y="49089"/>
                      <a:pt x="69522" y="47902"/>
                    </a:cubicBezTo>
                    <a:cubicBezTo>
                      <a:pt x="68365" y="47815"/>
                      <a:pt x="67205" y="47799"/>
                      <a:pt x="66046" y="47852"/>
                    </a:cubicBezTo>
                  </a:path>
                </a:pathLst>
              </a:custGeom>
              <a:grpFill/>
              <a:ln w="12419" cap="flat">
                <a:noFill/>
                <a:prstDash val="solid"/>
                <a:miter/>
              </a:ln>
            </p:spPr>
            <p:txBody>
              <a:bodyPr rtlCol="0" anchor="ctr"/>
              <a:lstStyle/>
              <a:p>
                <a:endParaRPr lang="de-CH" noProof="0"/>
              </a:p>
            </p:txBody>
          </p:sp>
          <p:sp>
            <p:nvSpPr>
              <p:cNvPr id="19" name="Freihandform: Form 18">
                <a:extLst>
                  <a:ext uri="{FF2B5EF4-FFF2-40B4-BE49-F238E27FC236}">
                    <a16:creationId xmlns:a16="http://schemas.microsoft.com/office/drawing/2014/main" id="{1FE5475E-83C3-4BE3-BBF1-FAE9A6986B3F}"/>
                  </a:ext>
                </a:extLst>
              </p:cNvPr>
              <p:cNvSpPr/>
              <p:nvPr/>
            </p:nvSpPr>
            <p:spPr>
              <a:xfrm>
                <a:off x="1518879" y="6555189"/>
                <a:ext cx="87882" cy="110951"/>
              </a:xfrm>
              <a:custGeom>
                <a:avLst/>
                <a:gdLst>
                  <a:gd name="connsiteX0" fmla="*/ 56853 w 87882"/>
                  <a:gd name="connsiteY0" fmla="*/ 0 h 110951"/>
                  <a:gd name="connsiteX1" fmla="*/ 1649 w 87882"/>
                  <a:gd name="connsiteY1" fmla="*/ 55329 h 110951"/>
                  <a:gd name="connsiteX2" fmla="*/ 153 w 87882"/>
                  <a:gd name="connsiteY2" fmla="*/ 71903 h 110951"/>
                  <a:gd name="connsiteX3" fmla="*/ 32484 w 87882"/>
                  <a:gd name="connsiteY3" fmla="*/ 110801 h 110951"/>
                  <a:gd name="connsiteX4" fmla="*/ 37538 w 87882"/>
                  <a:gd name="connsiteY4" fmla="*/ 110908 h 110951"/>
                  <a:gd name="connsiteX5" fmla="*/ 73552 w 87882"/>
                  <a:gd name="connsiteY5" fmla="*/ 95705 h 110951"/>
                  <a:gd name="connsiteX6" fmla="*/ 73552 w 87882"/>
                  <a:gd name="connsiteY6" fmla="*/ 95705 h 110951"/>
                  <a:gd name="connsiteX7" fmla="*/ 64455 w 87882"/>
                  <a:gd name="connsiteY7" fmla="*/ 84614 h 110951"/>
                  <a:gd name="connsiteX8" fmla="*/ 64455 w 87882"/>
                  <a:gd name="connsiteY8" fmla="*/ 84614 h 110951"/>
                  <a:gd name="connsiteX9" fmla="*/ 64455 w 87882"/>
                  <a:gd name="connsiteY9" fmla="*/ 84614 h 110951"/>
                  <a:gd name="connsiteX10" fmla="*/ 38535 w 87882"/>
                  <a:gd name="connsiteY10" fmla="*/ 97075 h 110951"/>
                  <a:gd name="connsiteX11" fmla="*/ 15233 w 87882"/>
                  <a:gd name="connsiteY11" fmla="*/ 75551 h 110951"/>
                  <a:gd name="connsiteX12" fmla="*/ 15356 w 87882"/>
                  <a:gd name="connsiteY12" fmla="*/ 72152 h 110951"/>
                  <a:gd name="connsiteX13" fmla="*/ 17101 w 87882"/>
                  <a:gd name="connsiteY13" fmla="*/ 55952 h 110951"/>
                  <a:gd name="connsiteX14" fmla="*/ 31058 w 87882"/>
                  <a:gd name="connsiteY14" fmla="*/ 25048 h 110951"/>
                  <a:gd name="connsiteX15" fmla="*/ 55233 w 87882"/>
                  <a:gd name="connsiteY15" fmla="*/ 14206 h 110951"/>
                  <a:gd name="connsiteX16" fmla="*/ 76293 w 87882"/>
                  <a:gd name="connsiteY16" fmla="*/ 26668 h 110951"/>
                  <a:gd name="connsiteX17" fmla="*/ 76293 w 87882"/>
                  <a:gd name="connsiteY17" fmla="*/ 26668 h 110951"/>
                  <a:gd name="connsiteX18" fmla="*/ 87883 w 87882"/>
                  <a:gd name="connsiteY18" fmla="*/ 16823 h 110951"/>
                  <a:gd name="connsiteX19" fmla="*/ 87883 w 87882"/>
                  <a:gd name="connsiteY19" fmla="*/ 16823 h 110951"/>
                  <a:gd name="connsiteX20" fmla="*/ 56729 w 87882"/>
                  <a:gd name="connsiteY20" fmla="*/ 748 h 110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82" h="110951">
                    <a:moveTo>
                      <a:pt x="56853" y="0"/>
                    </a:moveTo>
                    <a:cubicBezTo>
                      <a:pt x="28192" y="0"/>
                      <a:pt x="8129" y="20188"/>
                      <a:pt x="1649" y="55329"/>
                    </a:cubicBezTo>
                    <a:cubicBezTo>
                      <a:pt x="671" y="60800"/>
                      <a:pt x="170" y="66345"/>
                      <a:pt x="153" y="71903"/>
                    </a:cubicBezTo>
                    <a:cubicBezTo>
                      <a:pt x="-1660" y="91572"/>
                      <a:pt x="12814" y="108987"/>
                      <a:pt x="32484" y="110801"/>
                    </a:cubicBezTo>
                    <a:cubicBezTo>
                      <a:pt x="34163" y="110955"/>
                      <a:pt x="35853" y="110991"/>
                      <a:pt x="37538" y="110908"/>
                    </a:cubicBezTo>
                    <a:cubicBezTo>
                      <a:pt x="51112" y="110955"/>
                      <a:pt x="64118" y="105465"/>
                      <a:pt x="73552" y="95705"/>
                    </a:cubicBezTo>
                    <a:lnTo>
                      <a:pt x="73552" y="95705"/>
                    </a:lnTo>
                    <a:lnTo>
                      <a:pt x="64455" y="84614"/>
                    </a:lnTo>
                    <a:lnTo>
                      <a:pt x="64455" y="84614"/>
                    </a:lnTo>
                    <a:lnTo>
                      <a:pt x="64455" y="84614"/>
                    </a:lnTo>
                    <a:cubicBezTo>
                      <a:pt x="58138" y="92466"/>
                      <a:pt x="48613" y="97045"/>
                      <a:pt x="38535" y="97075"/>
                    </a:cubicBezTo>
                    <a:cubicBezTo>
                      <a:pt x="26157" y="97566"/>
                      <a:pt x="15724" y="87929"/>
                      <a:pt x="15233" y="75551"/>
                    </a:cubicBezTo>
                    <a:cubicBezTo>
                      <a:pt x="15188" y="74416"/>
                      <a:pt x="15229" y="73280"/>
                      <a:pt x="15356" y="72152"/>
                    </a:cubicBezTo>
                    <a:cubicBezTo>
                      <a:pt x="15424" y="66709"/>
                      <a:pt x="16008" y="61285"/>
                      <a:pt x="17101" y="55952"/>
                    </a:cubicBezTo>
                    <a:cubicBezTo>
                      <a:pt x="18838" y="44568"/>
                      <a:pt x="23666" y="33878"/>
                      <a:pt x="31058" y="25048"/>
                    </a:cubicBezTo>
                    <a:cubicBezTo>
                      <a:pt x="37213" y="18167"/>
                      <a:pt x="46002" y="14225"/>
                      <a:pt x="55233" y="14206"/>
                    </a:cubicBezTo>
                    <a:cubicBezTo>
                      <a:pt x="64085" y="13892"/>
                      <a:pt x="72308" y="18758"/>
                      <a:pt x="76293" y="26668"/>
                    </a:cubicBezTo>
                    <a:lnTo>
                      <a:pt x="76293" y="26668"/>
                    </a:lnTo>
                    <a:lnTo>
                      <a:pt x="87883" y="16823"/>
                    </a:lnTo>
                    <a:lnTo>
                      <a:pt x="87883" y="16823"/>
                    </a:lnTo>
                    <a:cubicBezTo>
                      <a:pt x="81104" y="6298"/>
                      <a:pt x="69235" y="174"/>
                      <a:pt x="56729" y="748"/>
                    </a:cubicBezTo>
                  </a:path>
                </a:pathLst>
              </a:custGeom>
              <a:grpFill/>
              <a:ln w="12419" cap="flat">
                <a:noFill/>
                <a:prstDash val="solid"/>
                <a:miter/>
              </a:ln>
            </p:spPr>
            <p:txBody>
              <a:bodyPr rtlCol="0" anchor="ctr"/>
              <a:lstStyle/>
              <a:p>
                <a:endParaRPr lang="de-CH" noProof="0"/>
              </a:p>
            </p:txBody>
          </p:sp>
        </p:grpSp>
        <p:sp>
          <p:nvSpPr>
            <p:cNvPr id="20" name="Freihandform: Form 19">
              <a:extLst>
                <a:ext uri="{FF2B5EF4-FFF2-40B4-BE49-F238E27FC236}">
                  <a16:creationId xmlns:a16="http://schemas.microsoft.com/office/drawing/2014/main" id="{41B77B6E-E7CB-412B-95AC-A9322C6799BB}"/>
                </a:ext>
              </a:extLst>
            </p:cNvPr>
            <p:cNvSpPr/>
            <p:nvPr/>
          </p:nvSpPr>
          <p:spPr>
            <a:xfrm>
              <a:off x="1493985"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1" name="Freihandform: Form 20">
              <a:extLst>
                <a:ext uri="{FF2B5EF4-FFF2-40B4-BE49-F238E27FC236}">
                  <a16:creationId xmlns:a16="http://schemas.microsoft.com/office/drawing/2014/main" id="{832E5C1A-13CE-49A6-B590-B6EAA5F9E1AD}"/>
                </a:ext>
              </a:extLst>
            </p:cNvPr>
            <p:cNvSpPr/>
            <p:nvPr/>
          </p:nvSpPr>
          <p:spPr>
            <a:xfrm>
              <a:off x="1340708"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2" name="Freihandform: Form 21">
              <a:extLst>
                <a:ext uri="{FF2B5EF4-FFF2-40B4-BE49-F238E27FC236}">
                  <a16:creationId xmlns:a16="http://schemas.microsoft.com/office/drawing/2014/main" id="{63AE00B0-780F-4053-8FE9-B7D321217AFF}"/>
                </a:ext>
              </a:extLst>
            </p:cNvPr>
            <p:cNvSpPr/>
            <p:nvPr/>
          </p:nvSpPr>
          <p:spPr>
            <a:xfrm>
              <a:off x="1298712" y="6507088"/>
              <a:ext cx="19689" cy="19689"/>
            </a:xfrm>
            <a:custGeom>
              <a:avLst/>
              <a:gdLst>
                <a:gd name="connsiteX0" fmla="*/ 3988 w 19689"/>
                <a:gd name="connsiteY0" fmla="*/ 0 h 19689"/>
                <a:gd name="connsiteX1" fmla="*/ 0 w 19689"/>
                <a:gd name="connsiteY1" fmla="*/ 19689 h 19689"/>
                <a:gd name="connsiteX2" fmla="*/ 15702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702"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3" name="Freihandform: Form 22">
              <a:extLst>
                <a:ext uri="{FF2B5EF4-FFF2-40B4-BE49-F238E27FC236}">
                  <a16:creationId xmlns:a16="http://schemas.microsoft.com/office/drawing/2014/main" id="{2406CEAF-7399-4CCB-A322-03F0BA2532F5}"/>
                </a:ext>
              </a:extLst>
            </p:cNvPr>
            <p:cNvSpPr/>
            <p:nvPr/>
          </p:nvSpPr>
          <p:spPr>
            <a:xfrm>
              <a:off x="731837" y="6507088"/>
              <a:ext cx="417960" cy="157638"/>
            </a:xfrm>
            <a:custGeom>
              <a:avLst/>
              <a:gdLst>
                <a:gd name="connsiteX0" fmla="*/ 368612 w 417960"/>
                <a:gd name="connsiteY0" fmla="*/ 0 h 157638"/>
                <a:gd name="connsiteX1" fmla="*/ 356151 w 417960"/>
                <a:gd name="connsiteY1" fmla="*/ 61062 h 157638"/>
                <a:gd name="connsiteX2" fmla="*/ 320760 w 417960"/>
                <a:gd name="connsiteY2" fmla="*/ 61062 h 157638"/>
                <a:gd name="connsiteX3" fmla="*/ 333222 w 417960"/>
                <a:gd name="connsiteY3" fmla="*/ 0 h 157638"/>
                <a:gd name="connsiteX4" fmla="*/ 31652 w 417960"/>
                <a:gd name="connsiteY4" fmla="*/ 0 h 157638"/>
                <a:gd name="connsiteX5" fmla="*/ 0 w 417960"/>
                <a:gd name="connsiteY5" fmla="*/ 157638 h 157638"/>
                <a:gd name="connsiteX6" fmla="*/ 120254 w 417960"/>
                <a:gd name="connsiteY6" fmla="*/ 157638 h 157638"/>
                <a:gd name="connsiteX7" fmla="*/ 128105 w 417960"/>
                <a:gd name="connsiteY7" fmla="*/ 118260 h 157638"/>
                <a:gd name="connsiteX8" fmla="*/ 57074 w 417960"/>
                <a:gd name="connsiteY8" fmla="*/ 118260 h 157638"/>
                <a:gd name="connsiteX9" fmla="*/ 61435 w 417960"/>
                <a:gd name="connsiteY9" fmla="*/ 96577 h 157638"/>
                <a:gd name="connsiteX10" fmla="*/ 132342 w 417960"/>
                <a:gd name="connsiteY10" fmla="*/ 96577 h 157638"/>
                <a:gd name="connsiteX11" fmla="*/ 139569 w 417960"/>
                <a:gd name="connsiteY11" fmla="*/ 61062 h 157638"/>
                <a:gd name="connsiteX12" fmla="*/ 68538 w 417960"/>
                <a:gd name="connsiteY12" fmla="*/ 61062 h 157638"/>
                <a:gd name="connsiteX13" fmla="*/ 72900 w 417960"/>
                <a:gd name="connsiteY13" fmla="*/ 39378 h 157638"/>
                <a:gd name="connsiteX14" fmla="*/ 185303 w 417960"/>
                <a:gd name="connsiteY14" fmla="*/ 39378 h 157638"/>
                <a:gd name="connsiteX15" fmla="*/ 161626 w 417960"/>
                <a:gd name="connsiteY15" fmla="*/ 157638 h 157638"/>
                <a:gd name="connsiteX16" fmla="*/ 210849 w 417960"/>
                <a:gd name="connsiteY16" fmla="*/ 157638 h 157638"/>
                <a:gd name="connsiteX17" fmla="*/ 234651 w 417960"/>
                <a:gd name="connsiteY17" fmla="*/ 39378 h 157638"/>
                <a:gd name="connsiteX18" fmla="*/ 276023 w 417960"/>
                <a:gd name="connsiteY18" fmla="*/ 39378 h 157638"/>
                <a:gd name="connsiteX19" fmla="*/ 252222 w 417960"/>
                <a:gd name="connsiteY19" fmla="*/ 157638 h 157638"/>
                <a:gd name="connsiteX20" fmla="*/ 301569 w 417960"/>
                <a:gd name="connsiteY20" fmla="*/ 157638 h 157638"/>
                <a:gd name="connsiteX21" fmla="*/ 313657 w 417960"/>
                <a:gd name="connsiteY21" fmla="*/ 96577 h 157638"/>
                <a:gd name="connsiteX22" fmla="*/ 349172 w 417960"/>
                <a:gd name="connsiteY22" fmla="*/ 96577 h 157638"/>
                <a:gd name="connsiteX23" fmla="*/ 336960 w 417960"/>
                <a:gd name="connsiteY23" fmla="*/ 157638 h 157638"/>
                <a:gd name="connsiteX24" fmla="*/ 386308 w 417960"/>
                <a:gd name="connsiteY24" fmla="*/ 157638 h 157638"/>
                <a:gd name="connsiteX25" fmla="*/ 417960 w 417960"/>
                <a:gd name="connsiteY25" fmla="*/ 0 h 157638"/>
                <a:gd name="connsiteX26" fmla="*/ 368612 w 417960"/>
                <a:gd name="connsiteY26" fmla="*/ 0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17960" h="157638">
                  <a:moveTo>
                    <a:pt x="368612" y="0"/>
                  </a:moveTo>
                  <a:lnTo>
                    <a:pt x="356151" y="61062"/>
                  </a:lnTo>
                  <a:lnTo>
                    <a:pt x="320760" y="61062"/>
                  </a:lnTo>
                  <a:lnTo>
                    <a:pt x="333222" y="0"/>
                  </a:lnTo>
                  <a:lnTo>
                    <a:pt x="31652" y="0"/>
                  </a:lnTo>
                  <a:lnTo>
                    <a:pt x="0" y="157638"/>
                  </a:lnTo>
                  <a:lnTo>
                    <a:pt x="120254" y="157638"/>
                  </a:lnTo>
                  <a:lnTo>
                    <a:pt x="128105" y="118260"/>
                  </a:lnTo>
                  <a:lnTo>
                    <a:pt x="57074" y="118260"/>
                  </a:lnTo>
                  <a:lnTo>
                    <a:pt x="61435" y="96577"/>
                  </a:lnTo>
                  <a:lnTo>
                    <a:pt x="132342" y="96577"/>
                  </a:lnTo>
                  <a:lnTo>
                    <a:pt x="139569" y="61062"/>
                  </a:lnTo>
                  <a:lnTo>
                    <a:pt x="68538" y="61062"/>
                  </a:lnTo>
                  <a:lnTo>
                    <a:pt x="72900" y="39378"/>
                  </a:lnTo>
                  <a:lnTo>
                    <a:pt x="185303" y="39378"/>
                  </a:lnTo>
                  <a:lnTo>
                    <a:pt x="161626" y="157638"/>
                  </a:lnTo>
                  <a:lnTo>
                    <a:pt x="210849" y="157638"/>
                  </a:lnTo>
                  <a:lnTo>
                    <a:pt x="234651" y="39378"/>
                  </a:lnTo>
                  <a:lnTo>
                    <a:pt x="276023" y="39378"/>
                  </a:lnTo>
                  <a:lnTo>
                    <a:pt x="252222" y="157638"/>
                  </a:lnTo>
                  <a:lnTo>
                    <a:pt x="301569" y="157638"/>
                  </a:lnTo>
                  <a:lnTo>
                    <a:pt x="313657" y="96577"/>
                  </a:lnTo>
                  <a:lnTo>
                    <a:pt x="349172" y="96577"/>
                  </a:lnTo>
                  <a:lnTo>
                    <a:pt x="336960" y="157638"/>
                  </a:lnTo>
                  <a:lnTo>
                    <a:pt x="386308" y="157638"/>
                  </a:lnTo>
                  <a:lnTo>
                    <a:pt x="417960" y="0"/>
                  </a:lnTo>
                  <a:lnTo>
                    <a:pt x="368612" y="0"/>
                  </a:lnTo>
                  <a:close/>
                </a:path>
              </a:pathLst>
            </a:custGeom>
            <a:grpFill/>
            <a:ln w="12419" cap="flat">
              <a:noFill/>
              <a:prstDash val="solid"/>
              <a:miter/>
            </a:ln>
          </p:spPr>
          <p:txBody>
            <a:bodyPr rtlCol="0" anchor="ctr"/>
            <a:lstStyle/>
            <a:p>
              <a:endParaRPr lang="de-CH" noProof="0"/>
            </a:p>
          </p:txBody>
        </p:sp>
      </p:grpSp>
    </p:spTree>
    <p:extLst>
      <p:ext uri="{BB962C8B-B14F-4D97-AF65-F5344CB8AC3E}">
        <p14:creationId xmlns:p14="http://schemas.microsoft.com/office/powerpoint/2010/main" val="37168353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lvl1pPr>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C47C2547-0B26-4181-9958-0F74634B97A1}"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1412874"/>
            <a:ext cx="10728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9438521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 full page">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4A533879-9C0F-4F94-919F-30B833E8871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260350"/>
            <a:ext cx="10728000" cy="6012524"/>
          </a:xfrm>
        </p:spPr>
        <p:txBody>
          <a:bodyPr tIns="21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8420483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zwei Spal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6204163" y="1412875"/>
            <a:ext cx="5256000" cy="48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040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3996394784"/>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2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5121800"/>
            <a:ext cx="5255999"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E1B9425-7348-43E2-B0E9-6A2A48F5FA8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9" name="Bildplatzhalter 10">
            <a:extLst>
              <a:ext uri="{FF2B5EF4-FFF2-40B4-BE49-F238E27FC236}">
                <a16:creationId xmlns:a16="http://schemas.microsoft.com/office/drawing/2014/main" id="{1AAB6914-2518-430D-BF4C-14EA51B61410}"/>
              </a:ext>
            </a:extLst>
          </p:cNvPr>
          <p:cNvSpPr>
            <a:spLocks noGrp="1"/>
          </p:cNvSpPr>
          <p:nvPr>
            <p:ph type="pic" sz="quarter" idx="14"/>
          </p:nvPr>
        </p:nvSpPr>
        <p:spPr>
          <a:xfrm>
            <a:off x="6204162"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12" name="Inhaltsplatzhalter 2">
            <a:extLst>
              <a:ext uri="{FF2B5EF4-FFF2-40B4-BE49-F238E27FC236}">
                <a16:creationId xmlns:a16="http://schemas.microsoft.com/office/drawing/2014/main" id="{5092EEFB-079B-4C38-A665-E52B9837601B}"/>
              </a:ext>
            </a:extLst>
          </p:cNvPr>
          <p:cNvSpPr>
            <a:spLocks noGrp="1"/>
          </p:cNvSpPr>
          <p:nvPr>
            <p:ph idx="15"/>
          </p:nvPr>
        </p:nvSpPr>
        <p:spPr>
          <a:xfrm>
            <a:off x="6204162" y="5121800"/>
            <a:ext cx="5256001"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Tree>
    <p:extLst>
      <p:ext uri="{BB962C8B-B14F-4D97-AF65-F5344CB8AC3E}">
        <p14:creationId xmlns:p14="http://schemas.microsoft.com/office/powerpoint/2010/main" val="1085750778"/>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3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4166439"/>
            <a:ext cx="10728327" cy="2124401"/>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0F7782B2-018B-4FD3-AD95-2F64EDE0E9D6}"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3" name="Bildplatzhalter 10">
            <a:extLst>
              <a:ext uri="{FF2B5EF4-FFF2-40B4-BE49-F238E27FC236}">
                <a16:creationId xmlns:a16="http://schemas.microsoft.com/office/drawing/2014/main" id="{36793346-BF6B-42A8-ADE0-3AA3DC3B239A}"/>
              </a:ext>
            </a:extLst>
          </p:cNvPr>
          <p:cNvSpPr>
            <a:spLocks noGrp="1"/>
          </p:cNvSpPr>
          <p:nvPr>
            <p:ph type="pic" sz="quarter" idx="16"/>
          </p:nvPr>
        </p:nvSpPr>
        <p:spPr>
          <a:xfrm>
            <a:off x="8040162" y="1414800"/>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4" name="Bildplatzhalter 10">
            <a:extLst>
              <a:ext uri="{FF2B5EF4-FFF2-40B4-BE49-F238E27FC236}">
                <a16:creationId xmlns:a16="http://schemas.microsoft.com/office/drawing/2014/main" id="{FE637F68-618E-43EB-B240-4BFA26852FC5}"/>
              </a:ext>
            </a:extLst>
          </p:cNvPr>
          <p:cNvSpPr>
            <a:spLocks noGrp="1"/>
          </p:cNvSpPr>
          <p:nvPr>
            <p:ph type="pic" sz="quarter" idx="17"/>
          </p:nvPr>
        </p:nvSpPr>
        <p:spPr>
          <a:xfrm>
            <a:off x="4385999" y="1414800"/>
            <a:ext cx="3420000" cy="2484000"/>
          </a:xfrm>
        </p:spPr>
        <p:txBody>
          <a:bodyPr tIns="3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252988954"/>
      </p:ext>
    </p:extLst>
  </p:cSld>
  <p:clrMapOvr>
    <a:masterClrMapping/>
  </p:clrMapOvr>
  <p:extLst>
    <p:ext uri="{DCECCB84-F9BA-43D5-87BE-67443E8EF086}">
      <p15:sldGuideLst xmlns:p15="http://schemas.microsoft.com/office/powerpoint/2012/main">
        <p15:guide id="1" orient="horz" pos="3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Tabel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
          </a:xfrm>
        </p:spPr>
        <p:txBody>
          <a:bodyPr/>
          <a:lstStyle>
            <a:lvl1pPr marL="0" indent="0">
              <a:buNone/>
              <a:defRPr b="1"/>
            </a:lvl1pPr>
            <a:lvl2pPr marL="266700" indent="0">
              <a:buNone/>
              <a:defRPr b="1"/>
            </a:lvl2pPr>
            <a:lvl3pPr marL="538163" indent="0">
              <a:buNone/>
              <a:defRPr b="1"/>
            </a:lvl3pPr>
            <a:lvl4pPr marL="804862" indent="0">
              <a:buNone/>
              <a:defRPr b="1"/>
            </a:lvl4pPr>
            <a:lvl5pPr marL="1076325" indent="0">
              <a:buNone/>
              <a:defRPr b="1"/>
            </a:lvl5pPr>
          </a:lstStyle>
          <a:p>
            <a:pPr lvl="0"/>
            <a:r>
              <a:rPr lang="de-DE" noProof="0"/>
              <a:t>Mastertextformat bearbeiten</a:t>
            </a:r>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D0A0FED0-443D-411A-B8E4-0668A8890EE3}"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9" name="Tabellenplatzhalter 8">
            <a:extLst>
              <a:ext uri="{FF2B5EF4-FFF2-40B4-BE49-F238E27FC236}">
                <a16:creationId xmlns:a16="http://schemas.microsoft.com/office/drawing/2014/main" id="{A1D947E6-CC00-458E-BDE1-B0877E30333C}"/>
              </a:ext>
            </a:extLst>
          </p:cNvPr>
          <p:cNvSpPr>
            <a:spLocks noGrp="1"/>
          </p:cNvSpPr>
          <p:nvPr>
            <p:ph type="tbl" sz="quarter" idx="13"/>
          </p:nvPr>
        </p:nvSpPr>
        <p:spPr>
          <a:xfrm>
            <a:off x="731838" y="2061398"/>
            <a:ext cx="10728325" cy="4212401"/>
          </a:xfrm>
        </p:spPr>
        <p:txBody>
          <a:bodyPr tIns="1260000"/>
          <a:lstStyle>
            <a:lvl1pPr marL="0" indent="0" algn="ctr">
              <a:spcBef>
                <a:spcPts val="0"/>
              </a:spcBef>
              <a:buNone/>
              <a:defRPr sz="1400"/>
            </a:lvl1pPr>
          </a:lstStyle>
          <a:p>
            <a:r>
              <a:rPr lang="de-DE" noProof="0"/>
              <a:t>Tabelle durch Klicken auf Symbol hinzufügen</a:t>
            </a:r>
            <a:endParaRPr lang="de-CH" noProof="0"/>
          </a:p>
        </p:txBody>
      </p:sp>
    </p:spTree>
    <p:extLst>
      <p:ext uri="{BB962C8B-B14F-4D97-AF65-F5344CB8AC3E}">
        <p14:creationId xmlns:p14="http://schemas.microsoft.com/office/powerpoint/2010/main" val="2928661315"/>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hlussfolie">
    <p:bg>
      <p:bgPr>
        <a:solidFill>
          <a:schemeClr val="bg1"/>
        </a:solidFill>
        <a:effectLst/>
      </p:bgPr>
    </p:bg>
    <p:spTree>
      <p:nvGrpSpPr>
        <p:cNvPr id="1" name=""/>
        <p:cNvGrpSpPr/>
        <p:nvPr/>
      </p:nvGrpSpPr>
      <p:grpSpPr>
        <a:xfrm>
          <a:off x="0" y="0"/>
          <a:ext cx="0" cy="0"/>
          <a:chOff x="0" y="0"/>
          <a:chExt cx="0" cy="0"/>
        </a:xfrm>
      </p:grpSpPr>
      <p:sp>
        <p:nvSpPr>
          <p:cNvPr id="20" name="Inhaltsplatzhalter 2">
            <a:extLst>
              <a:ext uri="{FF2B5EF4-FFF2-40B4-BE49-F238E27FC236}">
                <a16:creationId xmlns:a16="http://schemas.microsoft.com/office/drawing/2014/main" id="{394B20FF-3667-40DF-92A1-C6CF3BBCA26D}"/>
              </a:ext>
            </a:extLst>
          </p:cNvPr>
          <p:cNvSpPr>
            <a:spLocks noGrp="1"/>
          </p:cNvSpPr>
          <p:nvPr>
            <p:ph idx="1"/>
          </p:nvPr>
        </p:nvSpPr>
        <p:spPr>
          <a:xfrm>
            <a:off x="731837" y="2135492"/>
            <a:ext cx="10728325" cy="3960000"/>
          </a:xfrm>
        </p:spPr>
        <p:txBody>
          <a:bodyPr/>
          <a:lstStyle>
            <a:lvl1pPr marL="0" indent="0">
              <a:spcBef>
                <a:spcPts val="0"/>
              </a:spcBef>
              <a:buNone/>
              <a:defRPr>
                <a:solidFill>
                  <a:schemeClr val="tx1"/>
                </a:solidFill>
              </a:defRPr>
            </a:lvl1pPr>
            <a:lvl2pPr marL="266700" indent="0">
              <a:buNone/>
              <a:defRPr>
                <a:solidFill>
                  <a:schemeClr val="bg1"/>
                </a:solidFill>
              </a:defRPr>
            </a:lvl2pPr>
            <a:lvl3pPr marL="540000" indent="0">
              <a:buNone/>
              <a:defRPr>
                <a:solidFill>
                  <a:schemeClr val="bg1"/>
                </a:solidFill>
              </a:defRPr>
            </a:lvl3pPr>
            <a:lvl4pPr marL="808537" indent="0">
              <a:buNone/>
              <a:defRPr>
                <a:solidFill>
                  <a:schemeClr val="bg1"/>
                </a:solidFill>
              </a:defRPr>
            </a:lvl4pPr>
            <a:lvl5pPr marL="1080000" indent="0">
              <a:buNone/>
              <a:defRPr>
                <a:solidFill>
                  <a:schemeClr val="bg1"/>
                </a:solidFill>
              </a:defRPr>
            </a:lvl5pPr>
          </a:lstStyle>
          <a:p>
            <a:pPr lvl="0"/>
            <a:r>
              <a:rPr lang="de-DE" noProof="0"/>
              <a:t>Mastertextformat bearbeiten</a:t>
            </a:r>
          </a:p>
        </p:txBody>
      </p:sp>
      <p:sp>
        <p:nvSpPr>
          <p:cNvPr id="21" name="Bildplatzhalter 8">
            <a:extLst>
              <a:ext uri="{FF2B5EF4-FFF2-40B4-BE49-F238E27FC236}">
                <a16:creationId xmlns:a16="http://schemas.microsoft.com/office/drawing/2014/main" id="{794484F1-3B7F-46CE-AD0B-2310A557A990}"/>
              </a:ext>
            </a:extLst>
          </p:cNvPr>
          <p:cNvSpPr>
            <a:spLocks noGrp="1"/>
          </p:cNvSpPr>
          <p:nvPr>
            <p:ph type="pic" sz="quarter" idx="12"/>
          </p:nvPr>
        </p:nvSpPr>
        <p:spPr>
          <a:xfrm>
            <a:off x="10200163" y="6489088"/>
            <a:ext cx="1260000" cy="180000"/>
          </a:xfrm>
        </p:spPr>
        <p:txBody>
          <a:bodyPr/>
          <a:lstStyle>
            <a:lvl1pPr marL="0" indent="0" algn="l">
              <a:buNone/>
              <a:defRPr sz="700">
                <a:solidFill>
                  <a:schemeClr val="tx1"/>
                </a:solidFill>
              </a:defRPr>
            </a:lvl1pPr>
          </a:lstStyle>
          <a:p>
            <a:r>
              <a:rPr lang="de-DE" noProof="0"/>
              <a:t>Bild durch Klicken auf Symbol hinzufügen</a:t>
            </a:r>
            <a:endParaRPr lang="de-CH" noProof="0"/>
          </a:p>
        </p:txBody>
      </p:sp>
      <p:pic>
        <p:nvPicPr>
          <p:cNvPr id="22" name="Grafik 21">
            <a:extLst>
              <a:ext uri="{FF2B5EF4-FFF2-40B4-BE49-F238E27FC236}">
                <a16:creationId xmlns:a16="http://schemas.microsoft.com/office/drawing/2014/main" id="{F900572E-A73E-42BE-96FA-38ADC4E79FD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Tree>
    <p:extLst>
      <p:ext uri="{BB962C8B-B14F-4D97-AF65-F5344CB8AC3E}">
        <p14:creationId xmlns:p14="http://schemas.microsoft.com/office/powerpoint/2010/main" val="1752670339"/>
      </p:ext>
    </p:extLst>
  </p:cSld>
  <p:clrMapOvr>
    <a:masterClrMapping/>
  </p:clrMapOvr>
  <p:extLst>
    <p:ext uri="{DCECCB84-F9BA-43D5-87BE-67443E8EF086}">
      <p15:sldGuideLst xmlns:p15="http://schemas.microsoft.com/office/powerpoint/2012/main">
        <p15:guide id="1" pos="6698">
          <p15:clr>
            <a:srgbClr val="FBAE40"/>
          </p15:clr>
        </p15:guide>
        <p15:guide id="3" orient="horz" pos="640">
          <p15:clr>
            <a:srgbClr val="FBAE40"/>
          </p15:clr>
        </p15:guide>
        <p15:guide id="4" orient="horz" pos="395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9CEF804-E58C-481B-A606-7D35AF68FF55}"/>
              </a:ext>
            </a:extLst>
          </p:cNvPr>
          <p:cNvSpPr>
            <a:spLocks noGrp="1"/>
          </p:cNvSpPr>
          <p:nvPr>
            <p:ph type="title"/>
          </p:nvPr>
        </p:nvSpPr>
        <p:spPr>
          <a:xfrm>
            <a:off x="731837" y="260351"/>
            <a:ext cx="10728325" cy="900000"/>
          </a:xfrm>
          <a:prstGeom prst="rect">
            <a:avLst/>
          </a:prstGeom>
        </p:spPr>
        <p:txBody>
          <a:bodyPr vert="horz" lIns="0" tIns="0" rIns="0" bIns="0" rtlCol="0" anchor="t" anchorCtr="0">
            <a:noAutofit/>
          </a:bodyPr>
          <a:lstStyle/>
          <a:p>
            <a:r>
              <a:rPr lang="de-CH" noProof="0"/>
              <a:t>Mastertitelformat bearbeiten</a:t>
            </a:r>
          </a:p>
        </p:txBody>
      </p:sp>
      <p:sp>
        <p:nvSpPr>
          <p:cNvPr id="3" name="Textplatzhalter 2">
            <a:extLst>
              <a:ext uri="{FF2B5EF4-FFF2-40B4-BE49-F238E27FC236}">
                <a16:creationId xmlns:a16="http://schemas.microsoft.com/office/drawing/2014/main" id="{65C6EC0D-393C-42F2-B6A7-B19C9B098F2D}"/>
              </a:ext>
            </a:extLst>
          </p:cNvPr>
          <p:cNvSpPr>
            <a:spLocks noGrp="1"/>
          </p:cNvSpPr>
          <p:nvPr>
            <p:ph type="body" idx="1"/>
          </p:nvPr>
        </p:nvSpPr>
        <p:spPr>
          <a:xfrm>
            <a:off x="731837" y="1412875"/>
            <a:ext cx="10728325" cy="4680000"/>
          </a:xfrm>
          <a:prstGeom prst="rect">
            <a:avLst/>
          </a:prstGeom>
        </p:spPr>
        <p:txBody>
          <a:bodyPr vert="horz" lIns="0" tIns="0" rIns="0" bIns="0" rtlCol="0">
            <a:noAutofit/>
          </a:bodyPr>
          <a:lstStyle/>
          <a:p>
            <a:pPr lvl="0"/>
            <a:r>
              <a:rPr lang="de-CH" noProof="0"/>
              <a:t>Mastertextformat bearbeiten</a:t>
            </a:r>
          </a:p>
          <a:p>
            <a:pPr lvl="1"/>
            <a:r>
              <a:rPr lang="de-CH" noProof="0"/>
              <a:t>Zweite Ebene</a:t>
            </a:r>
          </a:p>
          <a:p>
            <a:pPr lvl="2"/>
            <a:r>
              <a:rPr lang="de-CH" noProof="0"/>
              <a:t>Dritte Ebene</a:t>
            </a:r>
          </a:p>
          <a:p>
            <a:pPr lvl="3"/>
            <a:r>
              <a:rPr lang="de-CH" noProof="0"/>
              <a:t>Vierte Ebene</a:t>
            </a:r>
          </a:p>
          <a:p>
            <a:pPr lvl="4"/>
            <a:r>
              <a:rPr lang="de-CH" noProof="0"/>
              <a:t>Fünfte Ebene</a:t>
            </a:r>
          </a:p>
        </p:txBody>
      </p:sp>
      <p:sp>
        <p:nvSpPr>
          <p:cNvPr id="4" name="Datumsplatzhalter 3">
            <a:extLst>
              <a:ext uri="{FF2B5EF4-FFF2-40B4-BE49-F238E27FC236}">
                <a16:creationId xmlns:a16="http://schemas.microsoft.com/office/drawing/2014/main" id="{37C96E51-36C9-4BEE-A761-33378A0DF03D}"/>
              </a:ext>
            </a:extLst>
          </p:cNvPr>
          <p:cNvSpPr>
            <a:spLocks noGrp="1"/>
          </p:cNvSpPr>
          <p:nvPr>
            <p:ph type="dt" sz="half" idx="2"/>
          </p:nvPr>
        </p:nvSpPr>
        <p:spPr>
          <a:xfrm>
            <a:off x="10473692" y="6522444"/>
            <a:ext cx="612000" cy="216000"/>
          </a:xfrm>
          <a:prstGeom prst="rect">
            <a:avLst/>
          </a:prstGeom>
        </p:spPr>
        <p:txBody>
          <a:bodyPr vert="horz" lIns="0" tIns="0" rIns="0" bIns="0" rtlCol="0" anchor="ctr"/>
          <a:lstStyle>
            <a:lvl1pPr algn="l">
              <a:defRPr sz="800">
                <a:solidFill>
                  <a:schemeClr val="tx1"/>
                </a:solidFill>
              </a:defRPr>
            </a:lvl1pPr>
          </a:lstStyle>
          <a:p>
            <a:fld id="{4A358CF3-A22A-46C1-A4E5-5810212466E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11EC403-6E63-4450-AFDD-66CA49D6CCBE}"/>
              </a:ext>
            </a:extLst>
          </p:cNvPr>
          <p:cNvSpPr>
            <a:spLocks noGrp="1"/>
          </p:cNvSpPr>
          <p:nvPr>
            <p:ph type="ftr" sz="quarter" idx="3"/>
          </p:nvPr>
        </p:nvSpPr>
        <p:spPr>
          <a:xfrm>
            <a:off x="2171700" y="6522444"/>
            <a:ext cx="5400000" cy="216000"/>
          </a:xfrm>
          <a:prstGeom prst="rect">
            <a:avLst/>
          </a:prstGeom>
        </p:spPr>
        <p:txBody>
          <a:bodyPr vert="horz" lIns="0" tIns="0" rIns="0" bIns="0" rtlCol="0" anchor="ctr"/>
          <a:lstStyle>
            <a:lvl1pPr algn="l">
              <a:defRPr sz="800">
                <a:solidFill>
                  <a:schemeClr val="tx1"/>
                </a:solidFill>
              </a:defRPr>
            </a:lvl1pPr>
          </a:lstStyle>
          <a:p>
            <a:endParaRPr lang="de-CH" noProof="0"/>
          </a:p>
        </p:txBody>
      </p:sp>
      <p:sp>
        <p:nvSpPr>
          <p:cNvPr id="6" name="Foliennummernplatzhalter 5">
            <a:extLst>
              <a:ext uri="{FF2B5EF4-FFF2-40B4-BE49-F238E27FC236}">
                <a16:creationId xmlns:a16="http://schemas.microsoft.com/office/drawing/2014/main" id="{7FDFCC57-7DDC-4B2C-A6BE-862DAF9C9F11}"/>
              </a:ext>
            </a:extLst>
          </p:cNvPr>
          <p:cNvSpPr>
            <a:spLocks noGrp="1"/>
          </p:cNvSpPr>
          <p:nvPr>
            <p:ph type="sldNum" sz="quarter" idx="4"/>
          </p:nvPr>
        </p:nvSpPr>
        <p:spPr>
          <a:xfrm>
            <a:off x="11137585" y="6522444"/>
            <a:ext cx="322577" cy="216000"/>
          </a:xfrm>
          <a:prstGeom prst="rect">
            <a:avLst/>
          </a:prstGeom>
        </p:spPr>
        <p:txBody>
          <a:bodyPr vert="horz" lIns="0" tIns="0" rIns="0" bIns="0" rtlCol="0" anchor="ctr"/>
          <a:lstStyle>
            <a:lvl1pPr algn="r">
              <a:defRPr sz="800">
                <a:solidFill>
                  <a:schemeClr val="tx1"/>
                </a:solidFill>
              </a:defRPr>
            </a:lvl1pPr>
          </a:lstStyle>
          <a:p>
            <a:fld id="{5ACA52AF-F19D-405C-AD5F-7D94B96A5CC3}" type="slidenum">
              <a:rPr lang="de-CH" noProof="0" smtClean="0"/>
              <a:pPr/>
              <a:t>‹#›</a:t>
            </a:fld>
            <a:endParaRPr lang="de-CH" noProof="0"/>
          </a:p>
        </p:txBody>
      </p:sp>
    </p:spTree>
    <p:extLst>
      <p:ext uri="{BB962C8B-B14F-4D97-AF65-F5344CB8AC3E}">
        <p14:creationId xmlns:p14="http://schemas.microsoft.com/office/powerpoint/2010/main" val="40960627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0"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p:txStyles>
    <p:titleStyle>
      <a:lvl1pPr algn="l" defTabSz="914400"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61" userDrawn="1">
          <p15:clr>
            <a:srgbClr val="F26B43"/>
          </p15:clr>
        </p15:guide>
        <p15:guide id="3" pos="7219" userDrawn="1">
          <p15:clr>
            <a:srgbClr val="F26B43"/>
          </p15:clr>
        </p15:guide>
        <p15:guide id="4" orient="horz" pos="164" userDrawn="1">
          <p15:clr>
            <a:srgbClr val="F26B43"/>
          </p15:clr>
        </p15:guide>
        <p15:guide id="5" orient="horz" pos="890" userDrawn="1">
          <p15:clr>
            <a:srgbClr val="F26B43"/>
          </p15:clr>
        </p15:guide>
        <p15:guide id="6" orient="horz" pos="4201" userDrawn="1">
          <p15:clr>
            <a:srgbClr val="F26B43"/>
          </p15:clr>
        </p15:guide>
        <p15:guide id="7"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 Id="rId9" Type="http://schemas.openxmlformats.org/officeDocument/2006/relationships/image" Target="../media/image1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4.svg"/><Relationship Id="rId4" Type="http://schemas.openxmlformats.org/officeDocument/2006/relationships/image" Target="../media/image2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ildplatzhalter 18" descr="Ein Bild, das Gebäude, Stadt, Schloss, Turm enthält.&#10;&#10;Automatisch generierte Beschreibung">
            <a:extLst>
              <a:ext uri="{FF2B5EF4-FFF2-40B4-BE49-F238E27FC236}">
                <a16:creationId xmlns:a16="http://schemas.microsoft.com/office/drawing/2014/main" id="{882FF669-564A-4497-A386-BA8B28F256B8}"/>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461" b="461"/>
          <a:stretch>
            <a:fillRect/>
          </a:stretch>
        </p:blipFill>
        <p:spPr/>
      </p:pic>
      <p:sp>
        <p:nvSpPr>
          <p:cNvPr id="3" name="Titel 2">
            <a:extLst>
              <a:ext uri="{FF2B5EF4-FFF2-40B4-BE49-F238E27FC236}">
                <a16:creationId xmlns:a16="http://schemas.microsoft.com/office/drawing/2014/main" id="{AC1FB292-90C1-439C-8480-EB4116CF2374}"/>
              </a:ext>
            </a:extLst>
          </p:cNvPr>
          <p:cNvSpPr>
            <a:spLocks noGrp="1"/>
          </p:cNvSpPr>
          <p:nvPr>
            <p:ph type="ctrTitle"/>
          </p:nvPr>
        </p:nvSpPr>
        <p:spPr/>
        <p:txBody>
          <a:bodyPr/>
          <a:lstStyle/>
          <a:p>
            <a:r>
              <a:rPr lang="de-DE" sz="3200" b="1" noProof="0" dirty="0">
                <a:ea typeface="+mj-lt"/>
                <a:cs typeface="+mj-lt"/>
              </a:rPr>
              <a:t>Final </a:t>
            </a:r>
            <a:r>
              <a:rPr lang="de-DE" sz="3200" b="1" noProof="0" dirty="0" err="1">
                <a:ea typeface="+mj-lt"/>
                <a:cs typeface="+mj-lt"/>
              </a:rPr>
              <a:t>Presentation</a:t>
            </a:r>
            <a:r>
              <a:rPr lang="de-DE" sz="3200" b="1" noProof="0" dirty="0">
                <a:ea typeface="+mj-lt"/>
                <a:cs typeface="+mj-lt"/>
              </a:rPr>
              <a:t> </a:t>
            </a:r>
            <a:br>
              <a:rPr lang="de-DE" sz="2800" b="1" noProof="0" dirty="0">
                <a:ea typeface="+mj-lt"/>
                <a:cs typeface="+mj-lt"/>
              </a:rPr>
            </a:br>
            <a:br>
              <a:rPr lang="de-DE" sz="1050" b="1" noProof="0" dirty="0">
                <a:ea typeface="+mj-lt"/>
                <a:cs typeface="+mj-lt"/>
              </a:rPr>
            </a:br>
            <a:r>
              <a:rPr lang="de-DE" sz="2400" b="1" i="1" noProof="0" dirty="0">
                <a:ea typeface="+mj-lt"/>
                <a:cs typeface="+mj-lt"/>
              </a:rPr>
              <a:t>Marketing Analytics</a:t>
            </a:r>
            <a:endParaRPr lang="en-US" sz="2800" b="1" i="1" noProof="0" dirty="0">
              <a:ea typeface="+mj-lt"/>
              <a:cs typeface="+mj-lt"/>
            </a:endParaRPr>
          </a:p>
        </p:txBody>
      </p:sp>
      <p:sp>
        <p:nvSpPr>
          <p:cNvPr id="2" name="Bildplatzhalter 1">
            <a:extLst>
              <a:ext uri="{FF2B5EF4-FFF2-40B4-BE49-F238E27FC236}">
                <a16:creationId xmlns:a16="http://schemas.microsoft.com/office/drawing/2014/main" id="{11ADABBC-2742-48DB-BA2B-E411F07CEE7C}"/>
              </a:ext>
            </a:extLst>
          </p:cNvPr>
          <p:cNvSpPr>
            <a:spLocks noGrp="1"/>
          </p:cNvSpPr>
          <p:nvPr>
            <p:ph type="pic" sz="quarter" idx="12"/>
          </p:nvPr>
        </p:nvSpPr>
        <p:spPr/>
        <p:txBody>
          <a:bodyPr/>
          <a:lstStyle/>
          <a:p>
            <a:endParaRPr lang="en-US" noProof="0"/>
          </a:p>
        </p:txBody>
      </p:sp>
      <p:sp>
        <p:nvSpPr>
          <p:cNvPr id="6" name="Textplatzhalter 5">
            <a:extLst>
              <a:ext uri="{FF2B5EF4-FFF2-40B4-BE49-F238E27FC236}">
                <a16:creationId xmlns:a16="http://schemas.microsoft.com/office/drawing/2014/main" id="{4171C1F6-869F-40B1-8975-92FF2042F4CD}"/>
              </a:ext>
            </a:extLst>
          </p:cNvPr>
          <p:cNvSpPr>
            <a:spLocks noGrp="1"/>
          </p:cNvSpPr>
          <p:nvPr>
            <p:ph type="body" sz="quarter" idx="13"/>
          </p:nvPr>
        </p:nvSpPr>
        <p:spPr>
          <a:xfrm>
            <a:off x="1069186" y="3774694"/>
            <a:ext cx="4680000" cy="1008000"/>
          </a:xfrm>
        </p:spPr>
        <p:txBody>
          <a:bodyPr vert="horz" lIns="0" tIns="0" rIns="0" bIns="0" rtlCol="0" anchor="t">
            <a:noAutofit/>
          </a:bodyPr>
          <a:lstStyle/>
          <a:p>
            <a:r>
              <a:rPr lang="en-US" b="1" noProof="0" dirty="0">
                <a:cs typeface="+mn-lt"/>
              </a:rPr>
              <a:t>Group 2:</a:t>
            </a:r>
          </a:p>
          <a:p>
            <a:endParaRPr lang="en-US" sz="1000" b="1" noProof="0" dirty="0">
              <a:cs typeface="+mn-lt"/>
            </a:endParaRPr>
          </a:p>
          <a:p>
            <a:r>
              <a:rPr lang="en-US" sz="1600" b="1" noProof="0" dirty="0">
                <a:cs typeface="+mn-lt"/>
              </a:rPr>
              <a:t>Constantin </a:t>
            </a:r>
            <a:r>
              <a:rPr lang="en-US" sz="1600" b="1" noProof="0" dirty="0" err="1">
                <a:cs typeface="+mn-lt"/>
              </a:rPr>
              <a:t>Cimpoes</a:t>
            </a:r>
            <a:r>
              <a:rPr lang="en-US" sz="1600" b="1" noProof="0" dirty="0">
                <a:cs typeface="+mn-lt"/>
              </a:rPr>
              <a:t>, Julius Voss</a:t>
            </a:r>
          </a:p>
        </p:txBody>
      </p:sp>
      <p:sp>
        <p:nvSpPr>
          <p:cNvPr id="9" name="Textplatzhalter 8">
            <a:extLst>
              <a:ext uri="{FF2B5EF4-FFF2-40B4-BE49-F238E27FC236}">
                <a16:creationId xmlns:a16="http://schemas.microsoft.com/office/drawing/2014/main" id="{C6B18E6F-BDD9-4B0B-9B9E-C25187E0E1F2}"/>
              </a:ext>
            </a:extLst>
          </p:cNvPr>
          <p:cNvSpPr>
            <a:spLocks noGrp="1"/>
          </p:cNvSpPr>
          <p:nvPr>
            <p:ph type="body" sz="quarter" idx="16"/>
          </p:nvPr>
        </p:nvSpPr>
        <p:spPr/>
        <p:txBody>
          <a:bodyPr/>
          <a:lstStyle/>
          <a:p>
            <a:r>
              <a:rPr lang="en-US" dirty="0"/>
              <a:t>Marketing Analytics</a:t>
            </a:r>
          </a:p>
        </p:txBody>
      </p:sp>
    </p:spTree>
    <p:extLst>
      <p:ext uri="{BB962C8B-B14F-4D97-AF65-F5344CB8AC3E}">
        <p14:creationId xmlns:p14="http://schemas.microsoft.com/office/powerpoint/2010/main" val="3536168811"/>
      </p:ext>
    </p:extLst>
  </p:cSld>
  <p:clrMapOvr>
    <a:masterClrMapping/>
  </p:clrMapOvr>
  <mc:AlternateContent xmlns:mc="http://schemas.openxmlformats.org/markup-compatibility/2006" xmlns:p14="http://schemas.microsoft.com/office/powerpoint/2010/main">
    <mc:Choice Requires="p14">
      <p:transition spd="slow" p14:dur="2000" advTm="14102"/>
    </mc:Choice>
    <mc:Fallback xmlns="">
      <p:transition spd="slow" advTm="1410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E4FEA-8533-AA4C-EC68-55BCD7F91F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AADCB5-84F2-7905-AA24-FBC93FACEF1F}"/>
              </a:ext>
            </a:extLst>
          </p:cNvPr>
          <p:cNvSpPr>
            <a:spLocks noGrp="1"/>
          </p:cNvSpPr>
          <p:nvPr>
            <p:ph type="title"/>
          </p:nvPr>
        </p:nvSpPr>
        <p:spPr>
          <a:xfrm>
            <a:off x="339788" y="178788"/>
            <a:ext cx="10728325" cy="900000"/>
          </a:xfrm>
        </p:spPr>
        <p:txBody>
          <a:bodyPr/>
          <a:lstStyle/>
          <a:p>
            <a:r>
              <a:rPr lang="en-US" dirty="0"/>
              <a:t>Introduction &amp; Problem Setup</a:t>
            </a:r>
          </a:p>
        </p:txBody>
      </p:sp>
      <p:sp>
        <p:nvSpPr>
          <p:cNvPr id="4" name="Datumsplatzhalter 3">
            <a:extLst>
              <a:ext uri="{FF2B5EF4-FFF2-40B4-BE49-F238E27FC236}">
                <a16:creationId xmlns:a16="http://schemas.microsoft.com/office/drawing/2014/main" id="{E4471ABE-9CCA-2783-5430-173CD9A5BDA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412B12A-5AC2-FE4B-A3FA-03800885E76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732EFAA0-41D0-3DB8-04E6-23F8E33E02D7}"/>
              </a:ext>
            </a:extLst>
          </p:cNvPr>
          <p:cNvSpPr>
            <a:spLocks noGrp="1"/>
          </p:cNvSpPr>
          <p:nvPr>
            <p:ph type="sldNum" sz="quarter" idx="12"/>
          </p:nvPr>
        </p:nvSpPr>
        <p:spPr/>
        <p:txBody>
          <a:bodyPr/>
          <a:lstStyle/>
          <a:p>
            <a:fld id="{5ACA52AF-F19D-405C-AD5F-7D94B96A5CC3}" type="slidenum">
              <a:rPr lang="de-CH" noProof="0" smtClean="0"/>
              <a:t>2</a:t>
            </a:fld>
            <a:endParaRPr lang="de-CH" noProof="0"/>
          </a:p>
        </p:txBody>
      </p:sp>
      <p:sp>
        <p:nvSpPr>
          <p:cNvPr id="3" name="TextBox 2">
            <a:extLst>
              <a:ext uri="{FF2B5EF4-FFF2-40B4-BE49-F238E27FC236}">
                <a16:creationId xmlns:a16="http://schemas.microsoft.com/office/drawing/2014/main" id="{80C951BB-CB32-4E95-B5F8-BE70D8D9D0B0}"/>
              </a:ext>
            </a:extLst>
          </p:cNvPr>
          <p:cNvSpPr txBox="1"/>
          <p:nvPr/>
        </p:nvSpPr>
        <p:spPr>
          <a:xfrm>
            <a:off x="1123887" y="894298"/>
            <a:ext cx="10378642" cy="2585323"/>
          </a:xfrm>
          <a:prstGeom prst="rect">
            <a:avLst/>
          </a:prstGeom>
          <a:noFill/>
        </p:spPr>
        <p:txBody>
          <a:bodyPr wrap="square" numCol="2" spcCol="1080000" rtlCol="0">
            <a:spAutoFit/>
          </a:bodyPr>
          <a:lstStyle/>
          <a:p>
            <a:pPr marL="285750" indent="-285750">
              <a:buClr>
                <a:srgbClr val="215CAF"/>
              </a:buClr>
              <a:buFont typeface="Wingdings" panose="05000000000000000000" pitchFamily="2" charset="2"/>
              <a:buChar char="Ø"/>
            </a:pPr>
            <a:r>
              <a:rPr lang="en-US" b="1" dirty="0" err="1"/>
              <a:t>Vibrent</a:t>
            </a:r>
            <a:r>
              <a:rPr lang="en-US" dirty="0"/>
              <a:t>: Norwegian fashion rental platform (high-frequency, high-churn business), 7,400 customers, 15,649 garments</a:t>
            </a:r>
          </a:p>
          <a:p>
            <a:endParaRPr lang="en-US" dirty="0"/>
          </a:p>
          <a:p>
            <a:pPr marL="285750" indent="-285750">
              <a:buClr>
                <a:srgbClr val="215CAF"/>
              </a:buClr>
              <a:buFont typeface="Wingdings" panose="05000000000000000000" pitchFamily="2" charset="2"/>
              <a:buChar char="Ø"/>
            </a:pPr>
            <a:r>
              <a:rPr lang="en-US" b="1" dirty="0"/>
              <a:t>CLV in rental ≠ discrete purchases</a:t>
            </a:r>
            <a:r>
              <a:rPr lang="en-US" dirty="0"/>
              <a:t>. It's driven by rental frequency, category preference, and duration </a:t>
            </a:r>
          </a:p>
          <a:p>
            <a:pPr marL="285750" indent="-285750">
              <a:buSzPct val="110000"/>
              <a:buFont typeface="Wingdings" panose="05000000000000000000" pitchFamily="2" charset="2"/>
              <a:buChar char="Ø"/>
            </a:pPr>
            <a:endParaRPr lang="en-US" dirty="0"/>
          </a:p>
          <a:p>
            <a:pPr marL="285750" indent="-285750">
              <a:buClr>
                <a:srgbClr val="B7352D"/>
              </a:buClr>
              <a:buSzPct val="110000"/>
              <a:buFont typeface="Wingdings" panose="05000000000000000000" pitchFamily="2" charset="2"/>
              <a:buChar char="Ø"/>
            </a:pPr>
            <a:r>
              <a:rPr lang="en-US" dirty="0"/>
              <a:t>Conventional models use only transactions, they </a:t>
            </a:r>
            <a:r>
              <a:rPr lang="en-US" b="1" dirty="0"/>
              <a:t>ignore what customers rent </a:t>
            </a:r>
          </a:p>
          <a:p>
            <a:pPr marL="285750" indent="-285750">
              <a:buFont typeface="Wingdings" panose="05000000000000000000" pitchFamily="2" charset="2"/>
              <a:buChar char="Ø"/>
            </a:pPr>
            <a:endParaRPr lang="en-US" dirty="0"/>
          </a:p>
          <a:p>
            <a:endParaRPr lang="en-US" dirty="0"/>
          </a:p>
          <a:p>
            <a:pPr marL="285750" indent="-285750">
              <a:buClr>
                <a:srgbClr val="B7352D"/>
              </a:buClr>
              <a:buFont typeface="Wingdings" panose="05000000000000000000" pitchFamily="2" charset="2"/>
              <a:buChar char="Ø"/>
            </a:pPr>
            <a:r>
              <a:rPr lang="en-US" b="1" dirty="0"/>
              <a:t>Research gap</a:t>
            </a:r>
            <a:r>
              <a:rPr lang="en-US" dirty="0"/>
              <a:t>: Does product-level intelligence improve customer-level revenue predictions and churn predictions?</a:t>
            </a:r>
          </a:p>
        </p:txBody>
      </p:sp>
      <p:grpSp>
        <p:nvGrpSpPr>
          <p:cNvPr id="20" name="Group 19">
            <a:extLst>
              <a:ext uri="{FF2B5EF4-FFF2-40B4-BE49-F238E27FC236}">
                <a16:creationId xmlns:a16="http://schemas.microsoft.com/office/drawing/2014/main" id="{AA1C4CD4-A110-DF1E-30FD-AB23DE7E4EB6}"/>
              </a:ext>
            </a:extLst>
          </p:cNvPr>
          <p:cNvGrpSpPr/>
          <p:nvPr/>
        </p:nvGrpSpPr>
        <p:grpSpPr>
          <a:xfrm>
            <a:off x="347240" y="3611300"/>
            <a:ext cx="7222604" cy="2743201"/>
            <a:chOff x="6310190" y="842989"/>
            <a:chExt cx="6313372" cy="2743201"/>
          </a:xfrm>
        </p:grpSpPr>
        <p:sp>
          <p:nvSpPr>
            <p:cNvPr id="9" name="TextBox 8">
              <a:extLst>
                <a:ext uri="{FF2B5EF4-FFF2-40B4-BE49-F238E27FC236}">
                  <a16:creationId xmlns:a16="http://schemas.microsoft.com/office/drawing/2014/main" id="{D337B51F-EC9D-55EC-1B2F-3359E5022A1E}"/>
                </a:ext>
              </a:extLst>
            </p:cNvPr>
            <p:cNvSpPr txBox="1"/>
            <p:nvPr/>
          </p:nvSpPr>
          <p:spPr>
            <a:xfrm>
              <a:off x="8358175" y="981974"/>
              <a:ext cx="1979455" cy="584775"/>
            </a:xfrm>
            <a:prstGeom prst="rect">
              <a:avLst/>
            </a:prstGeom>
            <a:gradFill flip="none" rotWithShape="1">
              <a:gsLst>
                <a:gs pos="0">
                  <a:srgbClr val="DFDA00">
                    <a:tint val="66000"/>
                    <a:satMod val="160000"/>
                  </a:srgbClr>
                </a:gs>
                <a:gs pos="50000">
                  <a:srgbClr val="DFDA00">
                    <a:tint val="44500"/>
                    <a:satMod val="160000"/>
                  </a:srgbClr>
                </a:gs>
                <a:gs pos="100000">
                  <a:srgbClr val="DFDA00">
                    <a:tint val="23500"/>
                    <a:satMod val="160000"/>
                  </a:srgbClr>
                </a:gs>
              </a:gsLst>
              <a:lin ang="8100000" scaled="1"/>
              <a:tileRect/>
            </a:gradFill>
          </p:spPr>
          <p:txBody>
            <a:bodyPr wrap="none" rtlCol="0">
              <a:spAutoFit/>
            </a:bodyPr>
            <a:lstStyle/>
            <a:p>
              <a:pPr algn="ctr"/>
              <a:r>
                <a:rPr lang="it-IT" sz="3200" b="1" dirty="0" err="1">
                  <a:latin typeface="Aptos Black" panose="020F0502020204030204" pitchFamily="34" charset="0"/>
                  <a:cs typeface="Aharoni" panose="020F0502020204030204" pitchFamily="2" charset="-79"/>
                </a:rPr>
                <a:t>Objectives</a:t>
              </a:r>
              <a:endParaRPr lang="en-US" sz="3200" b="1" dirty="0">
                <a:latin typeface="Aptos Black" panose="020F0502020204030204" pitchFamily="34" charset="0"/>
                <a:cs typeface="Aharoni" panose="020F0502020204030204" pitchFamily="2" charset="-79"/>
              </a:endParaRPr>
            </a:p>
          </p:txBody>
        </p:sp>
        <p:sp>
          <p:nvSpPr>
            <p:cNvPr id="13" name="TextBox 12">
              <a:extLst>
                <a:ext uri="{FF2B5EF4-FFF2-40B4-BE49-F238E27FC236}">
                  <a16:creationId xmlns:a16="http://schemas.microsoft.com/office/drawing/2014/main" id="{2E5F35AB-165D-7213-21B6-8D2C52A7B80B}"/>
                </a:ext>
              </a:extLst>
            </p:cNvPr>
            <p:cNvSpPr txBox="1"/>
            <p:nvPr/>
          </p:nvSpPr>
          <p:spPr>
            <a:xfrm>
              <a:off x="6394821" y="1698513"/>
              <a:ext cx="6228741" cy="1754326"/>
            </a:xfrm>
            <a:prstGeom prst="rect">
              <a:avLst/>
            </a:prstGeom>
            <a:noFill/>
          </p:spPr>
          <p:txBody>
            <a:bodyPr wrap="square" rtlCol="0">
              <a:spAutoFit/>
            </a:bodyPr>
            <a:lstStyle/>
            <a:p>
              <a:pPr marL="342900" indent="-342900">
                <a:buFont typeface="+mj-lt"/>
                <a:buAutoNum type="arabicParenR"/>
              </a:pPr>
              <a:r>
                <a:rPr lang="en-US" b="1" dirty="0"/>
                <a:t>Product Segmentation </a:t>
              </a:r>
              <a:r>
                <a:rPr lang="en-US" dirty="0"/>
                <a:t>→ Build a semantically meaningful product segmentation</a:t>
              </a:r>
            </a:p>
            <a:p>
              <a:pPr marL="342900" indent="-342900">
                <a:buFont typeface="+mj-lt"/>
                <a:buAutoNum type="arabicParenR"/>
              </a:pPr>
              <a:endParaRPr lang="en-US" dirty="0"/>
            </a:p>
            <a:p>
              <a:pPr marL="342900" indent="-342900">
                <a:buFont typeface="+mj-lt"/>
                <a:buAutoNum type="arabicParenR"/>
              </a:pPr>
              <a:r>
                <a:rPr lang="en-US" b="1" dirty="0"/>
                <a:t>Revenue Prediction</a:t>
              </a:r>
              <a:r>
                <a:rPr lang="en-US" dirty="0"/>
                <a:t> → Predict 12-month customer revenue</a:t>
              </a:r>
            </a:p>
            <a:p>
              <a:pPr marL="342900" indent="-342900">
                <a:buFont typeface="+mj-lt"/>
                <a:buAutoNum type="arabicParenR"/>
              </a:pPr>
              <a:endParaRPr lang="en-US" dirty="0"/>
            </a:p>
            <a:p>
              <a:pPr marL="342900" indent="-342900">
                <a:buFont typeface="+mj-lt"/>
                <a:buAutoNum type="arabicParenR"/>
              </a:pPr>
              <a:r>
                <a:rPr lang="en-US" b="1" dirty="0"/>
                <a:t>Churn Identification </a:t>
              </a:r>
              <a:r>
                <a:rPr lang="en-US" dirty="0"/>
                <a:t>→ Identify churners before they go silent</a:t>
              </a:r>
            </a:p>
          </p:txBody>
        </p:sp>
        <p:sp>
          <p:nvSpPr>
            <p:cNvPr id="19" name="Rectangle 18">
              <a:extLst>
                <a:ext uri="{FF2B5EF4-FFF2-40B4-BE49-F238E27FC236}">
                  <a16:creationId xmlns:a16="http://schemas.microsoft.com/office/drawing/2014/main" id="{9B6E61EB-6C64-622D-EBCA-0C12944094C2}"/>
                </a:ext>
              </a:extLst>
            </p:cNvPr>
            <p:cNvSpPr/>
            <p:nvPr/>
          </p:nvSpPr>
          <p:spPr>
            <a:xfrm>
              <a:off x="6310190" y="842989"/>
              <a:ext cx="6152083" cy="2743201"/>
            </a:xfrm>
            <a:prstGeom prst="rect">
              <a:avLst/>
            </a:prstGeom>
            <a:noFill/>
            <a:ln>
              <a:solidFill>
                <a:schemeClr val="tx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3E6FDC46-6E2A-9445-42AF-08AD9BD4FD5F}"/>
              </a:ext>
            </a:extLst>
          </p:cNvPr>
          <p:cNvSpPr txBox="1"/>
          <p:nvPr/>
        </p:nvSpPr>
        <p:spPr>
          <a:xfrm>
            <a:off x="689470" y="589710"/>
            <a:ext cx="6094140" cy="369332"/>
          </a:xfrm>
          <a:prstGeom prst="rect">
            <a:avLst/>
          </a:prstGeom>
          <a:noFill/>
        </p:spPr>
        <p:txBody>
          <a:bodyPr wrap="square">
            <a:spAutoFit/>
          </a:bodyPr>
          <a:lstStyle/>
          <a:p>
            <a:r>
              <a:rPr lang="en-US" b="1" i="1" dirty="0">
                <a:solidFill>
                  <a:srgbClr val="215CAF"/>
                </a:solidFill>
              </a:rPr>
              <a:t>Context</a:t>
            </a:r>
          </a:p>
        </p:txBody>
      </p:sp>
      <p:sp>
        <p:nvSpPr>
          <p:cNvPr id="10" name="TextBox 9">
            <a:extLst>
              <a:ext uri="{FF2B5EF4-FFF2-40B4-BE49-F238E27FC236}">
                <a16:creationId xmlns:a16="http://schemas.microsoft.com/office/drawing/2014/main" id="{0043CCDD-94B3-1DBF-13ED-3214F3186DFD}"/>
              </a:ext>
            </a:extLst>
          </p:cNvPr>
          <p:cNvSpPr txBox="1"/>
          <p:nvPr/>
        </p:nvSpPr>
        <p:spPr>
          <a:xfrm>
            <a:off x="6453769" y="597368"/>
            <a:ext cx="6094140" cy="369332"/>
          </a:xfrm>
          <a:prstGeom prst="rect">
            <a:avLst/>
          </a:prstGeom>
          <a:noFill/>
        </p:spPr>
        <p:txBody>
          <a:bodyPr wrap="square">
            <a:spAutoFit/>
          </a:bodyPr>
          <a:lstStyle/>
          <a:p>
            <a:r>
              <a:rPr lang="en-US" b="1" i="1" dirty="0">
                <a:solidFill>
                  <a:srgbClr val="B7352D"/>
                </a:solidFill>
              </a:rPr>
              <a:t>The Problem</a:t>
            </a:r>
          </a:p>
        </p:txBody>
      </p:sp>
      <p:sp>
        <p:nvSpPr>
          <p:cNvPr id="15" name="Arrow: Right 14">
            <a:extLst>
              <a:ext uri="{FF2B5EF4-FFF2-40B4-BE49-F238E27FC236}">
                <a16:creationId xmlns:a16="http://schemas.microsoft.com/office/drawing/2014/main" id="{C3EC8355-12B2-813A-D25A-B45CDA44C7B2}"/>
              </a:ext>
            </a:extLst>
          </p:cNvPr>
          <p:cNvSpPr/>
          <p:nvPr/>
        </p:nvSpPr>
        <p:spPr>
          <a:xfrm>
            <a:off x="7600617" y="4828478"/>
            <a:ext cx="828000" cy="288000"/>
          </a:xfrm>
          <a:prstGeom prst="rightArrow">
            <a:avLst/>
          </a:prstGeom>
          <a:gradFill flip="none" rotWithShape="1">
            <a:gsLst>
              <a:gs pos="0">
                <a:srgbClr val="FFFF00">
                  <a:tint val="66000"/>
                  <a:satMod val="160000"/>
                </a:srgbClr>
              </a:gs>
              <a:gs pos="50000">
                <a:srgbClr val="FFFF00">
                  <a:tint val="44500"/>
                  <a:satMod val="160000"/>
                </a:srgbClr>
              </a:gs>
              <a:gs pos="100000">
                <a:srgbClr val="FFFF00">
                  <a:tint val="23500"/>
                  <a:satMod val="160000"/>
                </a:srgbClr>
              </a:gs>
            </a:gsLst>
            <a:path path="circle">
              <a:fillToRect l="100000" t="100000"/>
            </a:path>
            <a:tileRect r="-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BF57282-EFF7-7733-E025-C101B9ABCC94}"/>
              </a:ext>
            </a:extLst>
          </p:cNvPr>
          <p:cNvSpPr txBox="1"/>
          <p:nvPr/>
        </p:nvSpPr>
        <p:spPr>
          <a:xfrm>
            <a:off x="8459390" y="3669133"/>
            <a:ext cx="3607304" cy="2677656"/>
          </a:xfrm>
          <a:prstGeom prst="rect">
            <a:avLst/>
          </a:prstGeom>
          <a:noFill/>
        </p:spPr>
        <p:txBody>
          <a:bodyPr wrap="square" rtlCol="0">
            <a:spAutoFit/>
          </a:bodyPr>
          <a:lstStyle/>
          <a:p>
            <a:pPr algn="ctr"/>
            <a:r>
              <a:rPr lang="en-US" sz="2400" b="1" i="1" dirty="0"/>
              <a:t>Fashion rental needs a smarter CLV model because if you don't know which customers are coming back, you can't decide what to buy or who to target</a:t>
            </a:r>
          </a:p>
        </p:txBody>
      </p:sp>
    </p:spTree>
    <p:extLst>
      <p:ext uri="{BB962C8B-B14F-4D97-AF65-F5344CB8AC3E}">
        <p14:creationId xmlns:p14="http://schemas.microsoft.com/office/powerpoint/2010/main" val="106652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C06B-0E51-EEF4-8E72-8E5979171921}"/>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8122B-60D8-D969-B2E1-ABAD96EF9395}"/>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9849114-7260-7D8D-3E51-B169720CA7D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2296BB-EE3E-CDEA-A6B0-C603ADCF1638}"/>
              </a:ext>
            </a:extLst>
          </p:cNvPr>
          <p:cNvSpPr>
            <a:spLocks noGrp="1"/>
          </p:cNvSpPr>
          <p:nvPr>
            <p:ph type="sldNum" sz="quarter" idx="12"/>
          </p:nvPr>
        </p:nvSpPr>
        <p:spPr/>
        <p:txBody>
          <a:bodyPr/>
          <a:lstStyle/>
          <a:p>
            <a:fld id="{5ACA52AF-F19D-405C-AD5F-7D94B96A5CC3}" type="slidenum">
              <a:rPr lang="de-CH" noProof="0" smtClean="0"/>
              <a:t>3</a:t>
            </a:fld>
            <a:endParaRPr lang="de-CH" noProof="0"/>
          </a:p>
        </p:txBody>
      </p:sp>
      <p:pic>
        <p:nvPicPr>
          <p:cNvPr id="23" name="Picture 22">
            <a:extLst>
              <a:ext uri="{FF2B5EF4-FFF2-40B4-BE49-F238E27FC236}">
                <a16:creationId xmlns:a16="http://schemas.microsoft.com/office/drawing/2014/main" id="{8A43F329-3E81-CB62-78E3-6BA849AFC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640" y="3265246"/>
            <a:ext cx="5400000" cy="3221436"/>
          </a:xfrm>
          <a:prstGeom prst="rect">
            <a:avLst/>
          </a:prstGeom>
        </p:spPr>
      </p:pic>
      <p:sp>
        <p:nvSpPr>
          <p:cNvPr id="24" name="TextBox 23">
            <a:extLst>
              <a:ext uri="{FF2B5EF4-FFF2-40B4-BE49-F238E27FC236}">
                <a16:creationId xmlns:a16="http://schemas.microsoft.com/office/drawing/2014/main" id="{053DEFC8-6BC6-8B66-A1DC-5EB8A93BDE6A}"/>
              </a:ext>
            </a:extLst>
          </p:cNvPr>
          <p:cNvSpPr txBox="1"/>
          <p:nvPr/>
        </p:nvSpPr>
        <p:spPr>
          <a:xfrm>
            <a:off x="154593" y="1439367"/>
            <a:ext cx="5586449" cy="1954381"/>
          </a:xfrm>
          <a:prstGeom prst="rect">
            <a:avLst/>
          </a:prstGeom>
          <a:noFill/>
        </p:spPr>
        <p:txBody>
          <a:bodyPr wrap="square" rtlCol="0">
            <a:spAutoFit/>
          </a:bodyPr>
          <a:lstStyle/>
          <a:p>
            <a:pPr marL="285750" indent="-285750">
              <a:buFont typeface="Wingdings" panose="05000000000000000000" pitchFamily="2" charset="2"/>
              <a:buChar char="q"/>
            </a:pPr>
            <a:r>
              <a:rPr lang="en-US" b="1" dirty="0"/>
              <a:t>April 2020 structural break</a:t>
            </a:r>
            <a:r>
              <a:rPr lang="en-US" dirty="0"/>
              <a:t>: </a:t>
            </a:r>
            <a:br>
              <a:rPr lang="en-US" dirty="0"/>
            </a:br>
            <a:r>
              <a:rPr lang="en-US" dirty="0"/>
              <a:t>spot-rental → subscription model </a:t>
            </a:r>
            <a:br>
              <a:rPr lang="en-US" dirty="0"/>
            </a:br>
            <a:endParaRPr lang="en-US" sz="400" dirty="0"/>
          </a:p>
          <a:p>
            <a:pPr marL="742950" lvl="1" indent="-285750">
              <a:buFont typeface="Courier New" panose="02070309020205020404" pitchFamily="49" charset="0"/>
              <a:buChar char="o"/>
            </a:pPr>
            <a:r>
              <a:rPr lang="en-US" sz="1600" b="1" dirty="0"/>
              <a:t>Median duration</a:t>
            </a:r>
            <a:r>
              <a:rPr lang="en-US" sz="1600" dirty="0"/>
              <a:t>: </a:t>
            </a:r>
            <a:br>
              <a:rPr lang="en-US" sz="1600" dirty="0"/>
            </a:br>
            <a:r>
              <a:rPr lang="en-US" sz="1600" dirty="0"/>
              <a:t>4 days → 30 days </a:t>
            </a:r>
          </a:p>
          <a:p>
            <a:pPr marL="742950" lvl="1" indent="-285750">
              <a:buFont typeface="Courier New" panose="02070309020205020404" pitchFamily="49" charset="0"/>
              <a:buChar char="o"/>
            </a:pPr>
            <a:endParaRPr lang="en-US" sz="600" dirty="0"/>
          </a:p>
          <a:p>
            <a:pPr marL="742950" lvl="1" indent="-285750">
              <a:buFont typeface="Courier New" panose="02070309020205020404" pitchFamily="49" charset="0"/>
              <a:buChar char="o"/>
            </a:pPr>
            <a:r>
              <a:rPr lang="en-US" sz="1600" b="1" dirty="0"/>
              <a:t>Monthly transactions</a:t>
            </a:r>
            <a:r>
              <a:rPr lang="en-US" sz="1600" dirty="0"/>
              <a:t>: </a:t>
            </a:r>
            <a:br>
              <a:rPr lang="en-US" sz="1600" dirty="0"/>
            </a:br>
            <a:r>
              <a:rPr lang="en-US" sz="1600" dirty="0"/>
              <a:t>~100 → ~2,000 </a:t>
            </a:r>
          </a:p>
          <a:p>
            <a:pPr marL="285750" indent="-285750">
              <a:buFont typeface="Wingdings" panose="05000000000000000000" pitchFamily="2" charset="2"/>
              <a:buChar char="ü"/>
            </a:pPr>
            <a:endParaRPr lang="en-US" sz="1100" b="1" dirty="0"/>
          </a:p>
        </p:txBody>
      </p:sp>
      <p:sp>
        <p:nvSpPr>
          <p:cNvPr id="25" name="Titel 1">
            <a:extLst>
              <a:ext uri="{FF2B5EF4-FFF2-40B4-BE49-F238E27FC236}">
                <a16:creationId xmlns:a16="http://schemas.microsoft.com/office/drawing/2014/main" id="{62894E07-EB0E-C21C-8DF0-CB3754AA31FE}"/>
              </a:ext>
            </a:extLst>
          </p:cNvPr>
          <p:cNvSpPr txBox="1">
            <a:spLocks/>
          </p:cNvSpPr>
          <p:nvPr/>
        </p:nvSpPr>
        <p:spPr>
          <a:xfrm>
            <a:off x="386088" y="15563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Data &amp; The April 2020 Structural Break</a:t>
            </a:r>
          </a:p>
        </p:txBody>
      </p:sp>
      <p:sp>
        <p:nvSpPr>
          <p:cNvPr id="26" name="TextBox 25">
            <a:extLst>
              <a:ext uri="{FF2B5EF4-FFF2-40B4-BE49-F238E27FC236}">
                <a16:creationId xmlns:a16="http://schemas.microsoft.com/office/drawing/2014/main" id="{1AB8CD89-BDEF-89A2-1802-80EC6192341C}"/>
              </a:ext>
            </a:extLst>
          </p:cNvPr>
          <p:cNvSpPr txBox="1"/>
          <p:nvPr/>
        </p:nvSpPr>
        <p:spPr>
          <a:xfrm>
            <a:off x="386089" y="709812"/>
            <a:ext cx="4795028" cy="584775"/>
          </a:xfrm>
          <a:prstGeom prst="rect">
            <a:avLst/>
          </a:prstGeom>
          <a:noFill/>
          <a:ln w="19050">
            <a:solidFill>
              <a:schemeClr val="tx2"/>
            </a:solidFill>
          </a:ln>
        </p:spPr>
        <p:txBody>
          <a:bodyPr wrap="square" rtlCol="0">
            <a:spAutoFit/>
          </a:bodyPr>
          <a:lstStyle/>
          <a:p>
            <a:pPr algn="ctr"/>
            <a:r>
              <a:rPr lang="en-US" sz="1600" b="1" dirty="0"/>
              <a:t>March 2016 – September 2023</a:t>
            </a:r>
          </a:p>
          <a:p>
            <a:pPr algn="ctr"/>
            <a:r>
              <a:rPr lang="en-US" sz="1600" b="1" dirty="0"/>
              <a:t>77,100 rental events | 7,400 customers </a:t>
            </a:r>
          </a:p>
        </p:txBody>
      </p:sp>
      <p:sp>
        <p:nvSpPr>
          <p:cNvPr id="30" name="TextBox 29">
            <a:extLst>
              <a:ext uri="{FF2B5EF4-FFF2-40B4-BE49-F238E27FC236}">
                <a16:creationId xmlns:a16="http://schemas.microsoft.com/office/drawing/2014/main" id="{E106B471-13BA-C468-F7E8-7874A8182EE3}"/>
              </a:ext>
            </a:extLst>
          </p:cNvPr>
          <p:cNvSpPr txBox="1"/>
          <p:nvPr/>
        </p:nvSpPr>
        <p:spPr>
          <a:xfrm>
            <a:off x="2171700" y="6319777"/>
            <a:ext cx="184731" cy="369332"/>
          </a:xfrm>
          <a:prstGeom prst="rect">
            <a:avLst/>
          </a:prstGeom>
          <a:noFill/>
        </p:spPr>
        <p:txBody>
          <a:bodyPr wrap="none" rtlCol="0">
            <a:spAutoFit/>
          </a:bodyPr>
          <a:lstStyle/>
          <a:p>
            <a:endParaRPr lang="en-US" dirty="0"/>
          </a:p>
        </p:txBody>
      </p:sp>
      <p:sp>
        <p:nvSpPr>
          <p:cNvPr id="38" name="TextBox 37">
            <a:extLst>
              <a:ext uri="{FF2B5EF4-FFF2-40B4-BE49-F238E27FC236}">
                <a16:creationId xmlns:a16="http://schemas.microsoft.com/office/drawing/2014/main" id="{B255A6BD-D04B-33F8-C948-1DCCC368450E}"/>
              </a:ext>
            </a:extLst>
          </p:cNvPr>
          <p:cNvSpPr txBox="1"/>
          <p:nvPr/>
        </p:nvSpPr>
        <p:spPr>
          <a:xfrm>
            <a:off x="5636870" y="1237030"/>
            <a:ext cx="6439339" cy="2000548"/>
          </a:xfrm>
          <a:prstGeom prst="rect">
            <a:avLst/>
          </a:prstGeom>
          <a:noFill/>
          <a:ln w="28575">
            <a:solidFill>
              <a:schemeClr val="bg1"/>
            </a:solidFill>
          </a:ln>
        </p:spPr>
        <p:txBody>
          <a:bodyPr wrap="square" rtlCol="0">
            <a:spAutoFit/>
          </a:bodyPr>
          <a:lstStyle/>
          <a:p>
            <a:pPr marL="285750" indent="-285750">
              <a:buFont typeface="Wingdings" panose="05000000000000000000" pitchFamily="2" charset="2"/>
              <a:buChar char="Ø"/>
            </a:pPr>
            <a:r>
              <a:rPr lang="en-US" b="1" u="sng" dirty="0">
                <a:solidFill>
                  <a:srgbClr val="B7352D"/>
                </a:solidFill>
              </a:rPr>
              <a:t>Problem</a:t>
            </a:r>
            <a:r>
              <a:rPr lang="en-US" b="1" dirty="0"/>
              <a:t>:</a:t>
            </a:r>
            <a:r>
              <a:rPr lang="en-US" dirty="0"/>
              <a:t> throwing away pre-2020 data entirely </a:t>
            </a:r>
            <a:r>
              <a:rPr lang="en-US" b="1" dirty="0"/>
              <a:t>loses deep behavioral context</a:t>
            </a:r>
            <a:r>
              <a:rPr lang="en-US" dirty="0"/>
              <a:t> (tenure, early loyalty signals) </a:t>
            </a:r>
          </a:p>
          <a:p>
            <a:pPr marL="285750" indent="-285750">
              <a:buFont typeface="Wingdings" panose="05000000000000000000" pitchFamily="2" charset="2"/>
              <a:buChar char="Ø"/>
            </a:pPr>
            <a:endParaRPr lang="en-US" sz="800" dirty="0"/>
          </a:p>
          <a:p>
            <a:pPr marL="285750" indent="-285750">
              <a:buFont typeface="Wingdings" panose="05000000000000000000" pitchFamily="2" charset="2"/>
              <a:buChar char="Ø"/>
            </a:pPr>
            <a:r>
              <a:rPr lang="en-US" b="1" u="sng" dirty="0">
                <a:solidFill>
                  <a:srgbClr val="215CAF"/>
                </a:solidFill>
              </a:rPr>
              <a:t>Solution</a:t>
            </a:r>
            <a:r>
              <a:rPr lang="en-US" b="1" dirty="0">
                <a:solidFill>
                  <a:srgbClr val="215CAF"/>
                </a:solidFill>
              </a:rPr>
              <a:t>:</a:t>
            </a:r>
            <a:r>
              <a:rPr lang="en-US" dirty="0"/>
              <a:t> </a:t>
            </a:r>
            <a:r>
              <a:rPr lang="en-US" b="1" dirty="0"/>
              <a:t>features engineered</a:t>
            </a:r>
            <a:r>
              <a:rPr lang="en-US" dirty="0"/>
              <a:t> on full history 2016–2023, </a:t>
            </a:r>
            <a:r>
              <a:rPr lang="en-US" b="1" dirty="0"/>
              <a:t>labels</a:t>
            </a:r>
            <a:r>
              <a:rPr lang="en-US" dirty="0"/>
              <a:t> strictly from post-2020 periods </a:t>
            </a:r>
          </a:p>
          <a:p>
            <a:pPr marL="285750" indent="-285750">
              <a:buFont typeface="Wingdings" panose="05000000000000000000" pitchFamily="2" charset="2"/>
              <a:buChar char="Ø"/>
            </a:pPr>
            <a:endParaRPr lang="en-US" sz="700" b="1" dirty="0"/>
          </a:p>
          <a:p>
            <a:pPr marL="285750" indent="-285750">
              <a:buFont typeface="Wingdings" panose="05000000000000000000" pitchFamily="2" charset="2"/>
              <a:buChar char="Ø"/>
            </a:pPr>
            <a:r>
              <a:rPr lang="en-US" b="1" u="sng" dirty="0">
                <a:solidFill>
                  <a:srgbClr val="00B050"/>
                </a:solidFill>
              </a:rPr>
              <a:t>Results</a:t>
            </a:r>
            <a:r>
              <a:rPr lang="en-US" b="1" dirty="0">
                <a:solidFill>
                  <a:srgbClr val="00B050"/>
                </a:solidFill>
              </a:rPr>
              <a:t>:</a:t>
            </a:r>
            <a:r>
              <a:rPr lang="en-US" dirty="0"/>
              <a:t> using full history reduces MAE by </a:t>
            </a:r>
            <a:r>
              <a:rPr lang="en-US" b="1" dirty="0"/>
              <a:t>74%</a:t>
            </a:r>
            <a:r>
              <a:rPr lang="en-US" dirty="0"/>
              <a:t> vs. post-2020 data alone (12,674 → 3,296 NOK)</a:t>
            </a:r>
          </a:p>
        </p:txBody>
      </p:sp>
      <p:sp>
        <p:nvSpPr>
          <p:cNvPr id="3" name="TextBox 2">
            <a:extLst>
              <a:ext uri="{FF2B5EF4-FFF2-40B4-BE49-F238E27FC236}">
                <a16:creationId xmlns:a16="http://schemas.microsoft.com/office/drawing/2014/main" id="{C546E585-B7D3-5E01-8435-2EF3CD719B56}"/>
              </a:ext>
            </a:extLst>
          </p:cNvPr>
          <p:cNvSpPr txBox="1"/>
          <p:nvPr/>
        </p:nvSpPr>
        <p:spPr>
          <a:xfrm>
            <a:off x="6342928" y="155947"/>
            <a:ext cx="5733282" cy="923330"/>
          </a:xfrm>
          <a:prstGeom prst="rect">
            <a:avLst/>
          </a:prstGeom>
          <a:noFill/>
        </p:spPr>
        <p:txBody>
          <a:bodyPr wrap="square">
            <a:spAutoFit/>
          </a:bodyPr>
          <a:lstStyle/>
          <a:p>
            <a:pPr lvl="1">
              <a:buSzPct val="200000"/>
            </a:pPr>
            <a:r>
              <a:rPr lang="en-US" b="1" dirty="0"/>
              <a:t>Why it matters:</a:t>
            </a:r>
            <a:r>
              <a:rPr lang="en-US" dirty="0"/>
              <a:t> A model trained on pre-2020 data learns the wrong business. Labels and model evaluation must use only post-2020 dynamics</a:t>
            </a:r>
          </a:p>
        </p:txBody>
      </p:sp>
      <p:grpSp>
        <p:nvGrpSpPr>
          <p:cNvPr id="10" name="Group 9">
            <a:extLst>
              <a:ext uri="{FF2B5EF4-FFF2-40B4-BE49-F238E27FC236}">
                <a16:creationId xmlns:a16="http://schemas.microsoft.com/office/drawing/2014/main" id="{4C97B938-B3A0-DCF5-BCCC-6F06FAF398DB}"/>
              </a:ext>
            </a:extLst>
          </p:cNvPr>
          <p:cNvGrpSpPr/>
          <p:nvPr/>
        </p:nvGrpSpPr>
        <p:grpSpPr>
          <a:xfrm>
            <a:off x="5578995" y="3436291"/>
            <a:ext cx="6497214" cy="2662267"/>
            <a:chOff x="5578995" y="3436291"/>
            <a:chExt cx="6497214" cy="2662267"/>
          </a:xfrm>
        </p:grpSpPr>
        <p:sp>
          <p:nvSpPr>
            <p:cNvPr id="39" name="TextBox 38">
              <a:extLst>
                <a:ext uri="{FF2B5EF4-FFF2-40B4-BE49-F238E27FC236}">
                  <a16:creationId xmlns:a16="http://schemas.microsoft.com/office/drawing/2014/main" id="{9807A180-9F9E-F7CA-4FDC-8E1A03078D26}"/>
                </a:ext>
              </a:extLst>
            </p:cNvPr>
            <p:cNvSpPr txBox="1"/>
            <p:nvPr/>
          </p:nvSpPr>
          <p:spPr>
            <a:xfrm>
              <a:off x="5636870" y="3805623"/>
              <a:ext cx="6439339" cy="2292935"/>
            </a:xfrm>
            <a:prstGeom prst="rect">
              <a:avLst/>
            </a:prstGeom>
            <a:noFill/>
            <a:ln w="28575">
              <a:solidFill>
                <a:schemeClr val="tx1"/>
              </a:solidFill>
            </a:ln>
          </p:spPr>
          <p:txBody>
            <a:bodyPr wrap="square" rtlCol="0">
              <a:spAutoFit/>
            </a:bodyPr>
            <a:lstStyle/>
            <a:p>
              <a:r>
                <a:rPr lang="en-US" sz="1600" b="1" dirty="0">
                  <a:solidFill>
                    <a:srgbClr val="FFC000"/>
                  </a:solidFill>
                </a:rPr>
                <a:t>Train:</a:t>
              </a:r>
              <a:r>
                <a:rPr lang="en-US" sz="1600" dirty="0"/>
                <a:t> </a:t>
              </a:r>
              <a:r>
                <a:rPr lang="en-US" sz="1600" b="1" dirty="0"/>
                <a:t>features</a:t>
              </a:r>
              <a:r>
                <a:rPr lang="en-US" sz="1600" dirty="0"/>
                <a:t> up to Sep 2021 → </a:t>
              </a:r>
              <a:r>
                <a:rPr lang="en-US" sz="1600" b="1" dirty="0"/>
                <a:t>labels</a:t>
              </a:r>
              <a:r>
                <a:rPr lang="en-US" sz="1600" dirty="0"/>
                <a:t> Sep 2021–2022 </a:t>
              </a:r>
              <a:br>
                <a:rPr lang="en-US" sz="1600" dirty="0"/>
              </a:br>
              <a:r>
                <a:rPr lang="en-US" sz="1600" dirty="0"/>
                <a:t>(n = 5,943) </a:t>
              </a:r>
            </a:p>
            <a:p>
              <a:endParaRPr lang="en-US" sz="800" dirty="0"/>
            </a:p>
            <a:p>
              <a:r>
                <a:rPr lang="en-US" sz="1600" b="1" dirty="0">
                  <a:solidFill>
                    <a:srgbClr val="A30774"/>
                  </a:solidFill>
                </a:rPr>
                <a:t>Test:</a:t>
              </a:r>
              <a:r>
                <a:rPr lang="en-US" sz="1600" dirty="0"/>
                <a:t> </a:t>
              </a:r>
              <a:r>
                <a:rPr lang="en-US" sz="1600" b="1" dirty="0"/>
                <a:t>features</a:t>
              </a:r>
              <a:r>
                <a:rPr lang="en-US" sz="1600" dirty="0"/>
                <a:t> up to Sep 2022 → </a:t>
              </a:r>
              <a:r>
                <a:rPr lang="en-US" sz="1600" b="1" dirty="0"/>
                <a:t>labels</a:t>
              </a:r>
              <a:r>
                <a:rPr lang="en-US" sz="1600" dirty="0"/>
                <a:t> Sep 2022–2023 </a:t>
              </a:r>
              <a:br>
                <a:rPr lang="en-US" sz="1600" dirty="0"/>
              </a:br>
              <a:r>
                <a:rPr lang="en-US" sz="1600" dirty="0"/>
                <a:t>(n = 6,809) </a:t>
              </a:r>
            </a:p>
            <a:p>
              <a:endParaRPr lang="en-US" sz="800" dirty="0"/>
            </a:p>
            <a:p>
              <a:r>
                <a:rPr lang="en-US" sz="1600" b="1" dirty="0">
                  <a:solidFill>
                    <a:srgbClr val="007894"/>
                  </a:solidFill>
                </a:rPr>
                <a:t>Submission:</a:t>
              </a:r>
              <a:r>
                <a:rPr lang="en-US" sz="1600" dirty="0"/>
                <a:t> </a:t>
              </a:r>
              <a:r>
                <a:rPr lang="en-US" sz="1600" b="1" dirty="0"/>
                <a:t>features</a:t>
              </a:r>
              <a:r>
                <a:rPr lang="en-US" sz="1600" dirty="0"/>
                <a:t> up to Sep 2023 → </a:t>
              </a:r>
              <a:r>
                <a:rPr lang="en-US" sz="1600" b="1" dirty="0"/>
                <a:t>predict</a:t>
              </a:r>
              <a:r>
                <a:rPr lang="en-US" sz="1600" dirty="0"/>
                <a:t> Sep 2023–2024 </a:t>
              </a:r>
            </a:p>
            <a:p>
              <a:endParaRPr lang="en-US" sz="1050" i="1" u="sng" dirty="0"/>
            </a:p>
            <a:p>
              <a:r>
                <a:rPr lang="en-US" sz="1600" i="1" u="sng" dirty="0"/>
                <a:t>Window expands forward in time, thus the model never sees the future it is predicting</a:t>
              </a:r>
            </a:p>
          </p:txBody>
        </p:sp>
        <p:sp>
          <p:nvSpPr>
            <p:cNvPr id="7" name="TextBox 6">
              <a:extLst>
                <a:ext uri="{FF2B5EF4-FFF2-40B4-BE49-F238E27FC236}">
                  <a16:creationId xmlns:a16="http://schemas.microsoft.com/office/drawing/2014/main" id="{3224CC86-23B5-9514-B859-E919E885F5B5}"/>
                </a:ext>
              </a:extLst>
            </p:cNvPr>
            <p:cNvSpPr txBox="1"/>
            <p:nvPr/>
          </p:nvSpPr>
          <p:spPr>
            <a:xfrm>
              <a:off x="5578995" y="3436291"/>
              <a:ext cx="2395960" cy="369332"/>
            </a:xfrm>
            <a:prstGeom prst="rect">
              <a:avLst/>
            </a:prstGeom>
            <a:noFill/>
          </p:spPr>
          <p:txBody>
            <a:bodyPr wrap="square" rtlCol="0">
              <a:spAutoFit/>
            </a:bodyPr>
            <a:lstStyle/>
            <a:p>
              <a:r>
                <a:rPr lang="en-US" b="1" i="1" dirty="0"/>
                <a:t>Temporal validation</a:t>
              </a:r>
            </a:p>
          </p:txBody>
        </p:sp>
      </p:grpSp>
      <p:sp>
        <p:nvSpPr>
          <p:cNvPr id="11" name="TextBox 10">
            <a:extLst>
              <a:ext uri="{FF2B5EF4-FFF2-40B4-BE49-F238E27FC236}">
                <a16:creationId xmlns:a16="http://schemas.microsoft.com/office/drawing/2014/main" id="{8F52B19C-3F10-F38D-3D02-D7812D8F9124}"/>
              </a:ext>
            </a:extLst>
          </p:cNvPr>
          <p:cNvSpPr txBox="1"/>
          <p:nvPr/>
        </p:nvSpPr>
        <p:spPr>
          <a:xfrm>
            <a:off x="6342927" y="171295"/>
            <a:ext cx="466794" cy="646331"/>
          </a:xfrm>
          <a:prstGeom prst="rect">
            <a:avLst/>
          </a:prstGeom>
          <a:noFill/>
        </p:spPr>
        <p:txBody>
          <a:bodyPr wrap="none" rtlCol="0">
            <a:spAutoFit/>
          </a:bodyPr>
          <a:lstStyle/>
          <a:p>
            <a:r>
              <a:rPr lang="it-IT" sz="3600" b="1" dirty="0"/>
              <a:t>?</a:t>
            </a:r>
            <a:endParaRPr lang="en-US" sz="3600" b="1" dirty="0"/>
          </a:p>
        </p:txBody>
      </p:sp>
    </p:spTree>
    <p:extLst>
      <p:ext uri="{BB962C8B-B14F-4D97-AF65-F5344CB8AC3E}">
        <p14:creationId xmlns:p14="http://schemas.microsoft.com/office/powerpoint/2010/main" val="2336495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2C49C-5C77-105B-29B8-A7771E564C1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F77FF210-75CD-C881-D375-2A483BF04641}"/>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5E1541E-A40C-C9CB-302E-5FBD64F029B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56A4B7E2-B4D9-A180-E5C2-215C6AB14D18}"/>
              </a:ext>
            </a:extLst>
          </p:cNvPr>
          <p:cNvSpPr>
            <a:spLocks noGrp="1"/>
          </p:cNvSpPr>
          <p:nvPr>
            <p:ph type="sldNum" sz="quarter" idx="12"/>
          </p:nvPr>
        </p:nvSpPr>
        <p:spPr/>
        <p:txBody>
          <a:bodyPr/>
          <a:lstStyle/>
          <a:p>
            <a:fld id="{5ACA52AF-F19D-405C-AD5F-7D94B96A5CC3}" type="slidenum">
              <a:rPr lang="de-CH" noProof="0" smtClean="0"/>
              <a:t>4</a:t>
            </a:fld>
            <a:endParaRPr lang="de-CH" noProof="0"/>
          </a:p>
        </p:txBody>
      </p:sp>
      <p:sp>
        <p:nvSpPr>
          <p:cNvPr id="25" name="Titel 1">
            <a:extLst>
              <a:ext uri="{FF2B5EF4-FFF2-40B4-BE49-F238E27FC236}">
                <a16:creationId xmlns:a16="http://schemas.microsoft.com/office/drawing/2014/main" id="{8508A2B9-C77D-4584-88FE-6F4C4728270F}"/>
              </a:ext>
            </a:extLst>
          </p:cNvPr>
          <p:cNvSpPr txBox="1">
            <a:spLocks/>
          </p:cNvSpPr>
          <p:nvPr/>
        </p:nvSpPr>
        <p:spPr>
          <a:xfrm>
            <a:off x="176456" y="158634"/>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The Clustering Pipeline</a:t>
            </a:r>
          </a:p>
        </p:txBody>
      </p:sp>
      <p:graphicFrame>
        <p:nvGraphicFramePr>
          <p:cNvPr id="8" name="Diagram 7">
            <a:extLst>
              <a:ext uri="{FF2B5EF4-FFF2-40B4-BE49-F238E27FC236}">
                <a16:creationId xmlns:a16="http://schemas.microsoft.com/office/drawing/2014/main" id="{085E26FE-A008-8352-1AF2-FC3A8106A068}"/>
              </a:ext>
            </a:extLst>
          </p:cNvPr>
          <p:cNvGraphicFramePr/>
          <p:nvPr>
            <p:extLst>
              <p:ext uri="{D42A27DB-BD31-4B8C-83A1-F6EECF244321}">
                <p14:modId xmlns:p14="http://schemas.microsoft.com/office/powerpoint/2010/main" val="3033101486"/>
              </p:ext>
            </p:extLst>
          </p:nvPr>
        </p:nvGraphicFramePr>
        <p:xfrm>
          <a:off x="176457" y="747530"/>
          <a:ext cx="7395243" cy="56407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Picture 9">
            <a:extLst>
              <a:ext uri="{FF2B5EF4-FFF2-40B4-BE49-F238E27FC236}">
                <a16:creationId xmlns:a16="http://schemas.microsoft.com/office/drawing/2014/main" id="{92684321-A276-3AA2-C4D4-C092EB378C4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037554" y="3312970"/>
            <a:ext cx="3798684" cy="3140246"/>
          </a:xfrm>
          <a:prstGeom prst="rect">
            <a:avLst/>
          </a:prstGeom>
        </p:spPr>
      </p:pic>
      <p:grpSp>
        <p:nvGrpSpPr>
          <p:cNvPr id="14" name="Group 13">
            <a:extLst>
              <a:ext uri="{FF2B5EF4-FFF2-40B4-BE49-F238E27FC236}">
                <a16:creationId xmlns:a16="http://schemas.microsoft.com/office/drawing/2014/main" id="{3CA6266E-CE26-A52A-6454-C690450C9CA7}"/>
              </a:ext>
            </a:extLst>
          </p:cNvPr>
          <p:cNvGrpSpPr/>
          <p:nvPr/>
        </p:nvGrpSpPr>
        <p:grpSpPr>
          <a:xfrm>
            <a:off x="7846675" y="608634"/>
            <a:ext cx="4180443" cy="2635108"/>
            <a:chOff x="7800582" y="3648983"/>
            <a:chExt cx="4180443" cy="2635108"/>
          </a:xfrm>
        </p:grpSpPr>
        <p:pic>
          <p:nvPicPr>
            <p:cNvPr id="12" name="Picture 11">
              <a:extLst>
                <a:ext uri="{FF2B5EF4-FFF2-40B4-BE49-F238E27FC236}">
                  <a16:creationId xmlns:a16="http://schemas.microsoft.com/office/drawing/2014/main" id="{DDFAF275-75CA-EA77-B191-9F92701C25A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800582" y="3648983"/>
              <a:ext cx="4180443" cy="2635108"/>
            </a:xfrm>
            <a:prstGeom prst="rect">
              <a:avLst/>
            </a:prstGeom>
          </p:spPr>
        </p:pic>
        <p:sp>
          <p:nvSpPr>
            <p:cNvPr id="13" name="Oval 12">
              <a:extLst>
                <a:ext uri="{FF2B5EF4-FFF2-40B4-BE49-F238E27FC236}">
                  <a16:creationId xmlns:a16="http://schemas.microsoft.com/office/drawing/2014/main" id="{B0D7A4A0-06F4-8909-4BE5-F262DFC9829D}"/>
                </a:ext>
              </a:extLst>
            </p:cNvPr>
            <p:cNvSpPr/>
            <p:nvPr/>
          </p:nvSpPr>
          <p:spPr>
            <a:xfrm>
              <a:off x="9225022" y="4653020"/>
              <a:ext cx="522000" cy="520861"/>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1848C135-1C00-2148-F921-7BC6A8EC220E}"/>
              </a:ext>
            </a:extLst>
          </p:cNvPr>
          <p:cNvSpPr txBox="1"/>
          <p:nvPr/>
        </p:nvSpPr>
        <p:spPr>
          <a:xfrm>
            <a:off x="3960034" y="6230334"/>
            <a:ext cx="3813865" cy="400110"/>
          </a:xfrm>
          <a:prstGeom prst="rect">
            <a:avLst/>
          </a:prstGeom>
          <a:noFill/>
        </p:spPr>
        <p:txBody>
          <a:bodyPr wrap="none" rtlCol="0">
            <a:spAutoFit/>
          </a:bodyPr>
          <a:lstStyle/>
          <a:p>
            <a:r>
              <a:rPr lang="en-US" sz="2000" b="1" dirty="0"/>
              <a:t>	  8 coherent segments</a:t>
            </a:r>
          </a:p>
        </p:txBody>
      </p:sp>
      <p:sp>
        <p:nvSpPr>
          <p:cNvPr id="16" name="TextBox 15">
            <a:extLst>
              <a:ext uri="{FF2B5EF4-FFF2-40B4-BE49-F238E27FC236}">
                <a16:creationId xmlns:a16="http://schemas.microsoft.com/office/drawing/2014/main" id="{15B46C78-0DCC-C412-3234-286DAE28812E}"/>
              </a:ext>
            </a:extLst>
          </p:cNvPr>
          <p:cNvSpPr txBox="1"/>
          <p:nvPr/>
        </p:nvSpPr>
        <p:spPr>
          <a:xfrm>
            <a:off x="3879009" y="6241909"/>
            <a:ext cx="1142236" cy="369332"/>
          </a:xfrm>
          <a:prstGeom prst="rect">
            <a:avLst/>
          </a:prstGeom>
          <a:gradFill flip="none" rotWithShape="1">
            <a:gsLst>
              <a:gs pos="0">
                <a:srgbClr val="D5D000">
                  <a:tint val="66000"/>
                  <a:satMod val="160000"/>
                </a:srgbClr>
              </a:gs>
              <a:gs pos="50000">
                <a:srgbClr val="D5D000">
                  <a:tint val="44500"/>
                  <a:satMod val="160000"/>
                </a:srgbClr>
              </a:gs>
              <a:gs pos="100000">
                <a:srgbClr val="D5D000">
                  <a:tint val="23500"/>
                  <a:satMod val="160000"/>
                </a:srgbClr>
              </a:gs>
            </a:gsLst>
            <a:lin ang="10800000" scaled="1"/>
            <a:tileRect/>
          </a:gradFill>
        </p:spPr>
        <p:txBody>
          <a:bodyPr wrap="none" rtlCol="0">
            <a:spAutoFit/>
          </a:bodyPr>
          <a:lstStyle/>
          <a:p>
            <a:r>
              <a:rPr lang="it-IT" b="1" dirty="0"/>
              <a:t>RESULT:</a:t>
            </a:r>
            <a:endParaRPr lang="en-US" dirty="0"/>
          </a:p>
        </p:txBody>
      </p:sp>
    </p:spTree>
    <p:extLst>
      <p:ext uri="{BB962C8B-B14F-4D97-AF65-F5344CB8AC3E}">
        <p14:creationId xmlns:p14="http://schemas.microsoft.com/office/powerpoint/2010/main" val="1143225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5A0B2-401A-47B3-C8E8-F1EEEAFFD3EF}"/>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5F281D0B-D0F7-1487-D8A5-6ACC7D269028}"/>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FDF7C63-FC6D-19D8-41CA-8F4FE4B4CE6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222E101-6203-328B-9933-724829DDC043}"/>
              </a:ext>
            </a:extLst>
          </p:cNvPr>
          <p:cNvSpPr>
            <a:spLocks noGrp="1"/>
          </p:cNvSpPr>
          <p:nvPr>
            <p:ph type="sldNum" sz="quarter" idx="12"/>
          </p:nvPr>
        </p:nvSpPr>
        <p:spPr/>
        <p:txBody>
          <a:bodyPr/>
          <a:lstStyle/>
          <a:p>
            <a:fld id="{5ACA52AF-F19D-405C-AD5F-7D94B96A5CC3}" type="slidenum">
              <a:rPr lang="de-CH" noProof="0" smtClean="0"/>
              <a:t>5</a:t>
            </a:fld>
            <a:endParaRPr lang="de-CH" noProof="0"/>
          </a:p>
        </p:txBody>
      </p:sp>
      <p:sp>
        <p:nvSpPr>
          <p:cNvPr id="25" name="Titel 1">
            <a:extLst>
              <a:ext uri="{FF2B5EF4-FFF2-40B4-BE49-F238E27FC236}">
                <a16:creationId xmlns:a16="http://schemas.microsoft.com/office/drawing/2014/main" id="{352C5B5D-10A0-3BCD-4502-EF9623605D3D}"/>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Business Profiling: four strategic roles</a:t>
            </a:r>
          </a:p>
        </p:txBody>
      </p:sp>
      <p:grpSp>
        <p:nvGrpSpPr>
          <p:cNvPr id="2" name="Group 1">
            <a:extLst>
              <a:ext uri="{FF2B5EF4-FFF2-40B4-BE49-F238E27FC236}">
                <a16:creationId xmlns:a16="http://schemas.microsoft.com/office/drawing/2014/main" id="{DA932616-0C2E-968E-C7A4-089BF06A0FA4}"/>
              </a:ext>
            </a:extLst>
          </p:cNvPr>
          <p:cNvGrpSpPr>
            <a:grpSpLocks noChangeAspect="1"/>
          </p:cNvGrpSpPr>
          <p:nvPr/>
        </p:nvGrpSpPr>
        <p:grpSpPr>
          <a:xfrm>
            <a:off x="3471483" y="782122"/>
            <a:ext cx="5603070" cy="3553238"/>
            <a:chOff x="3045037" y="1058634"/>
            <a:chExt cx="6704170" cy="4251511"/>
          </a:xfrm>
        </p:grpSpPr>
        <p:pic>
          <p:nvPicPr>
            <p:cNvPr id="9" name="Picture 8">
              <a:extLst>
                <a:ext uri="{FF2B5EF4-FFF2-40B4-BE49-F238E27FC236}">
                  <a16:creationId xmlns:a16="http://schemas.microsoft.com/office/drawing/2014/main" id="{AFE52168-7F1B-02FB-98E3-255419F99E0F}"/>
                </a:ext>
              </a:extLst>
            </p:cNvPr>
            <p:cNvPicPr>
              <a:picLocks noChangeAspect="1"/>
            </p:cNvPicPr>
            <p:nvPr/>
          </p:nvPicPr>
          <p:blipFill>
            <a:blip r:embed="rId3">
              <a:extLst>
                <a:ext uri="{28A0092B-C50C-407E-A947-70E740481C1C}">
                  <a14:useLocalDpi xmlns:a14="http://schemas.microsoft.com/office/drawing/2010/main" val="0"/>
                </a:ext>
              </a:extLst>
            </a:blip>
            <a:srcRect r="21371"/>
            <a:stretch>
              <a:fillRect/>
            </a:stretch>
          </p:blipFill>
          <p:spPr>
            <a:xfrm>
              <a:off x="3045037" y="1058634"/>
              <a:ext cx="6704170" cy="4251511"/>
            </a:xfrm>
            <a:prstGeom prst="rect">
              <a:avLst/>
            </a:prstGeom>
          </p:spPr>
        </p:pic>
        <p:pic>
          <p:nvPicPr>
            <p:cNvPr id="11" name="Picture 10">
              <a:extLst>
                <a:ext uri="{FF2B5EF4-FFF2-40B4-BE49-F238E27FC236}">
                  <a16:creationId xmlns:a16="http://schemas.microsoft.com/office/drawing/2014/main" id="{6C64E64A-0061-5589-657F-F05BEE95B681}"/>
                </a:ext>
              </a:extLst>
            </p:cNvPr>
            <p:cNvPicPr>
              <a:picLocks noChangeAspect="1"/>
            </p:cNvPicPr>
            <p:nvPr/>
          </p:nvPicPr>
          <p:blipFill>
            <a:blip r:embed="rId3">
              <a:extLst>
                <a:ext uri="{28A0092B-C50C-407E-A947-70E740481C1C}">
                  <a14:useLocalDpi xmlns:a14="http://schemas.microsoft.com/office/drawing/2010/main" val="0"/>
                </a:ext>
              </a:extLst>
            </a:blip>
            <a:srcRect l="79121" t="4458" b="30475"/>
            <a:stretch>
              <a:fillRect/>
            </a:stretch>
          </p:blipFill>
          <p:spPr>
            <a:xfrm>
              <a:off x="6798629" y="1414156"/>
              <a:ext cx="1654552" cy="2571061"/>
            </a:xfrm>
            <a:prstGeom prst="rect">
              <a:avLst/>
            </a:prstGeom>
          </p:spPr>
        </p:pic>
      </p:grpSp>
      <p:sp>
        <p:nvSpPr>
          <p:cNvPr id="7" name="TextBox 6">
            <a:extLst>
              <a:ext uri="{FF2B5EF4-FFF2-40B4-BE49-F238E27FC236}">
                <a16:creationId xmlns:a16="http://schemas.microsoft.com/office/drawing/2014/main" id="{2F858079-1B0A-7B32-130A-12C03FE44BFE}"/>
              </a:ext>
            </a:extLst>
          </p:cNvPr>
          <p:cNvSpPr txBox="1"/>
          <p:nvPr/>
        </p:nvSpPr>
        <p:spPr>
          <a:xfrm>
            <a:off x="9224102" y="1252176"/>
            <a:ext cx="2874294" cy="247760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Revenue Engine</a:t>
            </a:r>
            <a:r>
              <a:rPr kumimoji="0" lang="en-US" sz="2200" b="0" i="0" u="sng" strike="noStrike" kern="1200" cap="none" spc="0" normalizeH="0" baseline="0" noProof="0" dirty="0">
                <a:ln>
                  <a:noFill/>
                </a:ln>
                <a:solidFill>
                  <a:prstClr val="black"/>
                </a:solidFill>
                <a:effectLst/>
                <a:uLnTx/>
                <a:uFillTx/>
                <a:latin typeface="Arial"/>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0" i="0" u="none" strike="noStrike" kern="1200" cap="none" spc="0" normalizeH="0" baseline="0" noProof="0" dirty="0">
              <a:ln>
                <a:noFill/>
              </a:ln>
              <a:solidFill>
                <a:prstClr val="black"/>
              </a:solidFill>
              <a:effectLst/>
              <a:uLnTx/>
              <a:uFillTx/>
              <a:latin typeface="Arial"/>
              <a:ea typeface="+mn-ea"/>
              <a:cs typeface="+mn-cs"/>
            </a:endParaRPr>
          </a:p>
          <a:p>
            <a:pPr marL="285750" marR="0" lvl="0" indent="-285750" algn="l" defTabSz="914400" rtl="0" eaLnBrk="1" fontAlgn="auto" latinLnBrk="0" hangingPunct="1">
              <a:lnSpc>
                <a:spcPct val="100000"/>
              </a:lnSpc>
              <a:spcBef>
                <a:spcPts val="0"/>
              </a:spcBef>
              <a:spcAft>
                <a:spcPts val="0"/>
              </a:spcAft>
              <a:buClr>
                <a:prstClr val="black"/>
              </a:buClr>
              <a:buSzTx/>
              <a:buFont typeface="Wingdings" panose="05000000000000000000" pitchFamily="2" charset="2"/>
              <a:buChar char="§"/>
              <a:tabLst/>
              <a:defRPr/>
            </a:pPr>
            <a:r>
              <a:rPr kumimoji="0" lang="en-US" sz="1600" b="1" i="0" u="none" strike="noStrike" kern="1200" cap="none" spc="0" normalizeH="0" baseline="0" noProof="0" dirty="0">
                <a:ln>
                  <a:noFill/>
                </a:ln>
                <a:solidFill>
                  <a:srgbClr val="FF7E0D"/>
                </a:solidFill>
                <a:effectLst/>
                <a:uLnTx/>
                <a:uFillTx/>
                <a:latin typeface="Arial"/>
                <a:ea typeface="+mn-ea"/>
                <a:cs typeface="+mn-cs"/>
              </a:rPr>
              <a:t>Dresses &amp; Jumpsuits</a:t>
            </a:r>
            <a:r>
              <a:rPr kumimoji="0" lang="en-US" sz="1600" b="0" i="0" u="none" strike="noStrike" kern="1200" cap="none" spc="0" normalizeH="0" baseline="0" noProof="0" dirty="0">
                <a:ln>
                  <a:noFill/>
                </a:ln>
                <a:solidFill>
                  <a:prstClr val="black"/>
                </a:solidFill>
                <a:effectLst/>
                <a:uLnTx/>
                <a:uFillTx/>
                <a:latin typeface="Arial"/>
                <a:ea typeface="+mn-ea"/>
                <a:cs typeface="+mn-cs"/>
              </a:rPr>
              <a:t>:</a:t>
            </a:r>
          </a:p>
          <a:p>
            <a:pPr marL="742950" lvl="1" indent="-285750">
              <a:buClr>
                <a:prstClr val="black"/>
              </a:buClr>
              <a:buFont typeface="Courier New" panose="02070309020205020404" pitchFamily="49" charset="0"/>
              <a:buChar char="o"/>
              <a:defRPr/>
            </a:pPr>
            <a:r>
              <a:rPr kumimoji="0" lang="de-DE" sz="1600" b="0" i="0" u="none" strike="noStrike" kern="1200" cap="none" spc="0" normalizeH="0" baseline="0" noProof="0" dirty="0" err="1">
                <a:ln>
                  <a:noFill/>
                </a:ln>
                <a:solidFill>
                  <a:prstClr val="black"/>
                </a:solidFill>
                <a:effectLst/>
                <a:uLnTx/>
                <a:uFillTx/>
                <a:latin typeface="Arial"/>
                <a:ea typeface="+mn-ea"/>
                <a:cs typeface="+mn-cs"/>
              </a:rPr>
              <a:t>Outlier</a:t>
            </a:r>
            <a:r>
              <a:rPr kumimoji="0" lang="de-DE" sz="1600" b="0" i="0" u="none" strike="noStrike" kern="1200" cap="none" spc="0" normalizeH="0" baseline="0" noProof="0" dirty="0">
                <a:ln>
                  <a:noFill/>
                </a:ln>
                <a:solidFill>
                  <a:prstClr val="black"/>
                </a:solidFill>
                <a:effectLst/>
                <a:uLnTx/>
                <a:uFillTx/>
                <a:latin typeface="Arial"/>
                <a:ea typeface="+mn-ea"/>
                <a:cs typeface="+mn-cs"/>
              </a:rPr>
              <a:t> in </a:t>
            </a:r>
            <a:r>
              <a:rPr kumimoji="0" lang="de-DE" sz="1600" b="1" i="0" u="none" strike="noStrike" kern="1200" cap="none" spc="0" normalizeH="0" baseline="0" noProof="0" dirty="0">
                <a:ln>
                  <a:noFill/>
                </a:ln>
                <a:solidFill>
                  <a:prstClr val="black"/>
                </a:solidFill>
                <a:effectLst/>
                <a:uLnTx/>
                <a:uFillTx/>
                <a:latin typeface="Arial"/>
                <a:ea typeface="+mn-ea"/>
                <a:cs typeface="+mn-cs"/>
              </a:rPr>
              <a:t>absolute </a:t>
            </a:r>
            <a:r>
              <a:rPr kumimoji="0" lang="de-DE" sz="1600" b="1" i="0" u="none" strike="noStrike" kern="1200" cap="none" spc="0" normalizeH="0" baseline="0" noProof="0" dirty="0" err="1">
                <a:ln>
                  <a:noFill/>
                </a:ln>
                <a:solidFill>
                  <a:prstClr val="black"/>
                </a:solidFill>
                <a:effectLst/>
                <a:uLnTx/>
                <a:uFillTx/>
                <a:latin typeface="Arial"/>
                <a:ea typeface="+mn-ea"/>
                <a:cs typeface="+mn-cs"/>
              </a:rPr>
              <a:t>volume</a:t>
            </a:r>
            <a:r>
              <a:rPr kumimoji="0" lang="de-DE" sz="1600" b="0" i="0" u="none" strike="noStrike" kern="1200" cap="none" spc="0" normalizeH="0" baseline="0" noProof="0" dirty="0">
                <a:ln>
                  <a:noFill/>
                </a:ln>
                <a:solidFill>
                  <a:prstClr val="black"/>
                </a:solidFill>
                <a:effectLst/>
                <a:uLnTx/>
                <a:uFillTx/>
                <a:latin typeface="Arial"/>
                <a:ea typeface="+mn-ea"/>
                <a:cs typeface="+mn-cs"/>
              </a:rPr>
              <a:t> (~27,000 </a:t>
            </a:r>
            <a:r>
              <a:rPr kumimoji="0" lang="de-DE" sz="1600" b="0" i="0" u="none" strike="noStrike" kern="1200" cap="none" spc="0" normalizeH="0" baseline="0" noProof="0" dirty="0" err="1">
                <a:ln>
                  <a:noFill/>
                </a:ln>
                <a:solidFill>
                  <a:prstClr val="black"/>
                </a:solidFill>
                <a:effectLst/>
                <a:uLnTx/>
                <a:uFillTx/>
                <a:latin typeface="Arial"/>
                <a:ea typeface="+mn-ea"/>
                <a:cs typeface="+mn-cs"/>
              </a:rPr>
              <a:t>rentals</a:t>
            </a:r>
            <a:endParaRPr lang="de-DE" sz="1600" dirty="0">
              <a:solidFill>
                <a:prstClr val="black"/>
              </a:solidFill>
              <a:latin typeface="Arial"/>
            </a:endParaRP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41.9% of </a:t>
            </a:r>
            <a:r>
              <a:rPr kumimoji="0" lang="en-US" sz="1600" b="1" i="0" u="none" strike="noStrike" kern="1200" cap="none" spc="0" normalizeH="0" baseline="0" noProof="0" dirty="0">
                <a:ln>
                  <a:noFill/>
                </a:ln>
                <a:solidFill>
                  <a:prstClr val="black"/>
                </a:solidFill>
                <a:effectLst/>
                <a:uLnTx/>
                <a:uFillTx/>
                <a:latin typeface="Arial"/>
                <a:ea typeface="+mn-ea"/>
                <a:cs typeface="+mn-cs"/>
              </a:rPr>
              <a:t>revenue</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42.3% of </a:t>
            </a:r>
            <a:r>
              <a:rPr kumimoji="0" lang="en-US" sz="1600" b="1" i="0" u="none" strike="noStrike" kern="1200" cap="none" spc="0" normalizeH="0" baseline="0" noProof="0" dirty="0">
                <a:ln>
                  <a:noFill/>
                </a:ln>
                <a:solidFill>
                  <a:prstClr val="black"/>
                </a:solidFill>
                <a:effectLst/>
                <a:uLnTx/>
                <a:uFillTx/>
                <a:latin typeface="Arial"/>
                <a:ea typeface="+mn-ea"/>
                <a:cs typeface="+mn-cs"/>
              </a:rPr>
              <a:t>inventory</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ROI</a:t>
            </a:r>
            <a:r>
              <a:rPr kumimoji="0" lang="en-US" sz="1600" b="0" i="0" u="none" strike="noStrike" kern="1200" cap="none" spc="0" normalizeH="0" baseline="0" noProof="0" dirty="0">
                <a:ln>
                  <a:noFill/>
                </a:ln>
                <a:solidFill>
                  <a:prstClr val="black"/>
                </a:solidFill>
                <a:effectLst/>
                <a:uLnTx/>
                <a:uFillTx/>
                <a:latin typeface="Arial"/>
                <a:ea typeface="+mn-ea"/>
                <a:cs typeface="+mn-cs"/>
              </a:rPr>
              <a:t> 2.76</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Perfectly balanced </a:t>
            </a:r>
          </a:p>
        </p:txBody>
      </p:sp>
      <p:sp>
        <p:nvSpPr>
          <p:cNvPr id="10" name="TextBox 9">
            <a:extLst>
              <a:ext uri="{FF2B5EF4-FFF2-40B4-BE49-F238E27FC236}">
                <a16:creationId xmlns:a16="http://schemas.microsoft.com/office/drawing/2014/main" id="{1D79F8D8-E443-787C-D4DA-7A42ECFC8B36}"/>
              </a:ext>
            </a:extLst>
          </p:cNvPr>
          <p:cNvSpPr txBox="1"/>
          <p:nvPr/>
        </p:nvSpPr>
        <p:spPr>
          <a:xfrm>
            <a:off x="93604" y="782122"/>
            <a:ext cx="3377879" cy="5216813"/>
          </a:xfrm>
          <a:prstGeom prst="rect">
            <a:avLst/>
          </a:prstGeom>
          <a:noFill/>
        </p:spPr>
        <p:txBody>
          <a:bodyPr wrap="square">
            <a:spAutoFit/>
          </a:bodyPr>
          <a:lstStyle/>
          <a:p>
            <a:r>
              <a:rPr lang="en-US" sz="2200" b="1" i="1" u="sng" dirty="0"/>
              <a:t>Hidden White Space</a:t>
            </a:r>
          </a:p>
          <a:p>
            <a:endParaRPr lang="en-US" sz="600" b="1" i="1" dirty="0"/>
          </a:p>
          <a:p>
            <a:pPr marL="285750" indent="-285750">
              <a:buClr>
                <a:schemeClr val="tx1"/>
              </a:buClr>
              <a:buFont typeface="Wingdings" panose="05000000000000000000" pitchFamily="2" charset="2"/>
              <a:buChar char="§"/>
            </a:pPr>
            <a:r>
              <a:rPr lang="en-US" sz="1600" b="1" dirty="0">
                <a:solidFill>
                  <a:srgbClr val="1D76B3"/>
                </a:solidFill>
              </a:rPr>
              <a:t>Bags &amp; Accessories</a:t>
            </a:r>
            <a:r>
              <a:rPr lang="en-US" sz="1600" dirty="0"/>
              <a:t>: utilization rate 7.05 (71% above avg), revenue-per-item 10,139 NOK</a:t>
            </a:r>
          </a:p>
          <a:p>
            <a:pPr marL="285750" indent="-285750">
              <a:buClr>
                <a:schemeClr val="tx1"/>
              </a:buClr>
              <a:buFont typeface="Wingdings" panose="05000000000000000000" pitchFamily="2" charset="2"/>
              <a:buChar char="§"/>
            </a:pPr>
            <a:endParaRPr lang="en-US" sz="400" dirty="0"/>
          </a:p>
          <a:p>
            <a:pPr marL="742950" lvl="1" indent="-285750">
              <a:buFont typeface="Courier New" panose="02070309020205020404" pitchFamily="49" charset="0"/>
              <a:buChar char="o"/>
            </a:pPr>
            <a:r>
              <a:rPr lang="en-US" sz="1600" b="1" dirty="0"/>
              <a:t>Lowest ROI</a:t>
            </a:r>
            <a:r>
              <a:rPr lang="en-US" sz="1600" dirty="0"/>
              <a:t> (1.98): high acquisition cost makes this a capital-intensive growth lever, not an efficiency play </a:t>
            </a:r>
          </a:p>
          <a:p>
            <a:pPr marL="742950" lvl="1" indent="-285750">
              <a:buFont typeface="Courier New" panose="02070309020205020404" pitchFamily="49" charset="0"/>
              <a:buChar char="o"/>
            </a:pPr>
            <a:endParaRPr lang="en-US" sz="400" dirty="0"/>
          </a:p>
          <a:p>
            <a:pPr marL="742950" lvl="1" indent="-285750">
              <a:buFont typeface="Courier New" panose="02070309020205020404" pitchFamily="49" charset="0"/>
              <a:buChar char="o"/>
            </a:pPr>
            <a:r>
              <a:rPr lang="en-US" sz="1600" b="1" dirty="0"/>
              <a:t>Only 20% dead inventory</a:t>
            </a:r>
            <a:r>
              <a:rPr lang="en-US" sz="1600" dirty="0"/>
              <a:t>: supply is the binding constraint, not demand</a:t>
            </a:r>
          </a:p>
          <a:p>
            <a:pPr marL="285750" indent="-285750">
              <a:buFont typeface="Wingdings" panose="05000000000000000000" pitchFamily="2" charset="2"/>
              <a:buChar char="§"/>
            </a:pPr>
            <a:endParaRPr lang="en-US" sz="500" dirty="0"/>
          </a:p>
          <a:p>
            <a:pPr marL="285750" indent="-285750">
              <a:buClr>
                <a:schemeClr val="tx1"/>
              </a:buClr>
              <a:buFont typeface="Wingdings" panose="05000000000000000000" pitchFamily="2" charset="2"/>
              <a:buChar char="§"/>
            </a:pPr>
            <a:r>
              <a:rPr lang="en-US" sz="1600" b="1" dirty="0">
                <a:solidFill>
                  <a:srgbClr val="2CA02C"/>
                </a:solidFill>
              </a:rPr>
              <a:t>Jackets &amp; Coats</a:t>
            </a:r>
            <a:r>
              <a:rPr lang="en-US" sz="1600" dirty="0"/>
              <a:t>: The </a:t>
            </a:r>
            <a:r>
              <a:rPr lang="en-US" sz="1600" b="1" dirty="0"/>
              <a:t>Premium Anchor</a:t>
            </a:r>
            <a:r>
              <a:rPr lang="en-US" sz="1600" dirty="0"/>
              <a:t> commanding the highest median monthly price (1,800 NOK)</a:t>
            </a:r>
          </a:p>
          <a:p>
            <a:pPr marL="285750" indent="-285750">
              <a:buClr>
                <a:schemeClr val="tx1"/>
              </a:buClr>
              <a:buFont typeface="Wingdings" panose="05000000000000000000" pitchFamily="2" charset="2"/>
              <a:buChar char="§"/>
            </a:pPr>
            <a:endParaRPr lang="en-US" sz="400" dirty="0"/>
          </a:p>
          <a:p>
            <a:pPr marL="742950" lvl="1" indent="-285750">
              <a:buClr>
                <a:schemeClr val="tx1"/>
              </a:buClr>
              <a:buFont typeface="Courier New" panose="02070309020205020404" pitchFamily="49" charset="0"/>
              <a:buChar char="o"/>
            </a:pPr>
            <a:r>
              <a:rPr lang="en-US" sz="1600" b="1" dirty="0"/>
              <a:t>Dead Inventory</a:t>
            </a:r>
            <a:r>
              <a:rPr lang="en-US" sz="1600" dirty="0"/>
              <a:t>: never-rented rates as high as 36.7%</a:t>
            </a:r>
          </a:p>
        </p:txBody>
      </p:sp>
      <p:sp>
        <p:nvSpPr>
          <p:cNvPr id="12" name="Oval 11">
            <a:extLst>
              <a:ext uri="{FF2B5EF4-FFF2-40B4-BE49-F238E27FC236}">
                <a16:creationId xmlns:a16="http://schemas.microsoft.com/office/drawing/2014/main" id="{C5EBB814-48B5-8EB5-9321-FBE78A43D9DE}"/>
              </a:ext>
            </a:extLst>
          </p:cNvPr>
          <p:cNvSpPr/>
          <p:nvPr/>
        </p:nvSpPr>
        <p:spPr>
          <a:xfrm>
            <a:off x="4020961" y="802176"/>
            <a:ext cx="1701478" cy="90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Connector: Curved 14">
            <a:extLst>
              <a:ext uri="{FF2B5EF4-FFF2-40B4-BE49-F238E27FC236}">
                <a16:creationId xmlns:a16="http://schemas.microsoft.com/office/drawing/2014/main" id="{B3BFFAF7-EBAE-9D4A-BA88-D5620AD43F33}"/>
              </a:ext>
            </a:extLst>
          </p:cNvPr>
          <p:cNvCxnSpPr>
            <a:stCxn id="12" idx="1"/>
          </p:cNvCxnSpPr>
          <p:nvPr/>
        </p:nvCxnSpPr>
        <p:spPr>
          <a:xfrm rot="16200000" flipH="1" flipV="1">
            <a:off x="3794250" y="461661"/>
            <a:ext cx="3571" cy="948203"/>
          </a:xfrm>
          <a:prstGeom prst="curvedConnector4">
            <a:avLst>
              <a:gd name="adj1" fmla="val -2512013"/>
              <a:gd name="adj2" fmla="val 9365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F7A452F0-42C2-5554-8711-EB288B626D51}"/>
              </a:ext>
            </a:extLst>
          </p:cNvPr>
          <p:cNvSpPr/>
          <p:nvPr/>
        </p:nvSpPr>
        <p:spPr>
          <a:xfrm>
            <a:off x="8274978" y="2236053"/>
            <a:ext cx="833378" cy="64537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9F999A3C-E1D8-C60F-C496-1F25CBA0BE94}"/>
              </a:ext>
            </a:extLst>
          </p:cNvPr>
          <p:cNvCxnSpPr>
            <a:cxnSpLocks/>
            <a:stCxn id="18" idx="0"/>
          </p:cNvCxnSpPr>
          <p:nvPr/>
        </p:nvCxnSpPr>
        <p:spPr>
          <a:xfrm flipV="1">
            <a:off x="8691667" y="1585732"/>
            <a:ext cx="532435" cy="6503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0DC3489B-AE83-6956-E663-CE24D9876C1C}"/>
              </a:ext>
            </a:extLst>
          </p:cNvPr>
          <p:cNvSpPr/>
          <p:nvPr/>
        </p:nvSpPr>
        <p:spPr>
          <a:xfrm rot="19153477">
            <a:off x="4820358" y="2907596"/>
            <a:ext cx="1010557" cy="12171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08A53EF-5E76-30D9-FB36-9C06DAB1F3B9}"/>
              </a:ext>
            </a:extLst>
          </p:cNvPr>
          <p:cNvSpPr txBox="1"/>
          <p:nvPr/>
        </p:nvSpPr>
        <p:spPr>
          <a:xfrm>
            <a:off x="7511051" y="4506219"/>
            <a:ext cx="4217043" cy="173893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Capital Workhorses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1" i="1" u="none" strike="noStrike" kern="1200" cap="none" spc="0" normalizeH="0" baseline="0" noProof="0" dirty="0">
              <a:ln>
                <a:noFill/>
              </a:ln>
              <a:solidFill>
                <a:prstClr val="black"/>
              </a:solidFill>
              <a:effectLst/>
              <a:uLnTx/>
              <a:uFillTx/>
              <a:latin typeface="Arial"/>
              <a:ea typeface="+mn-ea"/>
              <a:cs typeface="+mn-cs"/>
            </a:endParaRPr>
          </a:p>
          <a:p>
            <a:pPr marL="285750" lvl="0" indent="-285750">
              <a:buClr>
                <a:prstClr val="black"/>
              </a:buClr>
              <a:buFont typeface="Wingdings" panose="05000000000000000000" pitchFamily="2" charset="2"/>
              <a:buChar char="§"/>
              <a:defRPr/>
            </a:pPr>
            <a:r>
              <a:rPr kumimoji="0" lang="en-US" sz="1600" b="1" i="0" u="none" strike="noStrike" kern="1200" cap="none" spc="0" normalizeH="0" baseline="0" noProof="0" dirty="0">
                <a:ln>
                  <a:noFill/>
                </a:ln>
                <a:solidFill>
                  <a:srgbClr val="E999D1"/>
                </a:solidFill>
                <a:effectLst/>
                <a:uLnTx/>
                <a:uFillTx/>
                <a:latin typeface="Arial"/>
                <a:ea typeface="+mn-ea"/>
                <a:cs typeface="+mn-cs"/>
              </a:rPr>
              <a:t>Tops &amp; Blouses</a:t>
            </a:r>
            <a:r>
              <a:rPr kumimoji="0" lang="en-US" sz="1600" b="0" i="0" u="none" strike="noStrike" kern="1200" cap="none" spc="0" normalizeH="0" baseline="0" noProof="0" dirty="0">
                <a:ln>
                  <a:noFill/>
                </a:ln>
                <a:solidFill>
                  <a:prstClr val="black"/>
                </a:solidFill>
                <a:effectLst/>
                <a:uLnTx/>
                <a:uFillTx/>
                <a:latin typeface="Arial"/>
                <a:ea typeface="+mn-ea"/>
                <a:cs typeface="+mn-cs"/>
              </a:rPr>
              <a:t> (ROI 3.79) and </a:t>
            </a:r>
            <a:r>
              <a:rPr kumimoji="0" lang="en-US" sz="1600" b="1" i="0" u="none" strike="noStrike" kern="1200" cap="none" spc="0" normalizeH="0" baseline="0" noProof="0" dirty="0">
                <a:ln>
                  <a:noFill/>
                </a:ln>
                <a:solidFill>
                  <a:srgbClr val="82483C"/>
                </a:solidFill>
                <a:effectLst/>
                <a:uLnTx/>
                <a:uFillTx/>
                <a:latin typeface="Arial"/>
                <a:ea typeface="+mn-ea"/>
                <a:cs typeface="+mn-cs"/>
              </a:rPr>
              <a:t>Sweaters &amp; Knitwear</a:t>
            </a:r>
            <a:r>
              <a:rPr kumimoji="0" lang="en-US" sz="1600" b="0" i="0" u="none" strike="noStrike" kern="1200" cap="none" spc="0" normalizeH="0" baseline="0" noProof="0" dirty="0">
                <a:ln>
                  <a:noFill/>
                </a:ln>
                <a:solidFill>
                  <a:prstClr val="black"/>
                </a:solidFill>
                <a:effectLst/>
                <a:uLnTx/>
                <a:uFillTx/>
                <a:latin typeface="Arial"/>
                <a:ea typeface="+mn-ea"/>
                <a:cs typeface="+mn-cs"/>
              </a:rPr>
              <a:t> (ROI 3.59)</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l</a:t>
            </a:r>
            <a:r>
              <a:rPr lang="en-US" sz="1600" dirty="0">
                <a:solidFill>
                  <a:prstClr val="black"/>
                </a:solidFill>
              </a:rPr>
              <a:t>ow cost-base and high turnover allow these to recover their cost nearly 4x over.</a:t>
            </a:r>
            <a:r>
              <a:rPr kumimoji="0" lang="en-US" sz="1600" b="0" i="0" u="none" strike="noStrike" kern="1200" cap="none" spc="0" normalizeH="0" baseline="0" noProof="0" dirty="0">
                <a:ln>
                  <a:noFill/>
                </a:ln>
                <a:solidFill>
                  <a:prstClr val="black"/>
                </a:solidFill>
                <a:effectLst/>
                <a:uLnTx/>
                <a:uFillTx/>
                <a:latin typeface="Arial"/>
                <a:ea typeface="+mn-ea"/>
                <a:cs typeface="+mn-cs"/>
              </a:rPr>
              <a:t> </a:t>
            </a:r>
          </a:p>
        </p:txBody>
      </p:sp>
      <p:cxnSp>
        <p:nvCxnSpPr>
          <p:cNvPr id="38" name="Straight Arrow Connector 37">
            <a:extLst>
              <a:ext uri="{FF2B5EF4-FFF2-40B4-BE49-F238E27FC236}">
                <a16:creationId xmlns:a16="http://schemas.microsoft.com/office/drawing/2014/main" id="{9FBC40F0-1111-7D3D-78B9-D6145B85420E}"/>
              </a:ext>
            </a:extLst>
          </p:cNvPr>
          <p:cNvCxnSpPr>
            <a:cxnSpLocks/>
          </p:cNvCxnSpPr>
          <p:nvPr/>
        </p:nvCxnSpPr>
        <p:spPr>
          <a:xfrm>
            <a:off x="5819775" y="3851910"/>
            <a:ext cx="1657473" cy="8000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78F9F06D-1B59-7EDF-EC1A-F58C167556A3}"/>
              </a:ext>
            </a:extLst>
          </p:cNvPr>
          <p:cNvSpPr txBox="1"/>
          <p:nvPr/>
        </p:nvSpPr>
        <p:spPr>
          <a:xfrm>
            <a:off x="3796036" y="4762091"/>
            <a:ext cx="2812545" cy="1846659"/>
          </a:xfrm>
          <a:prstGeom prst="rect">
            <a:avLst/>
          </a:prstGeom>
          <a:noFill/>
        </p:spPr>
        <p:txBody>
          <a:bodyPr wrap="square">
            <a:spAutoFit/>
          </a:bodyPr>
          <a:lstStyle/>
          <a:p>
            <a:r>
              <a:rPr lang="en-US" sz="2200" b="1" i="1" u="sng" dirty="0"/>
              <a:t>Structural underperformers</a:t>
            </a:r>
          </a:p>
          <a:p>
            <a:endParaRPr lang="en-US" sz="600" b="1" i="1" dirty="0"/>
          </a:p>
          <a:p>
            <a:pPr marL="285750" indent="-285750">
              <a:buClr>
                <a:schemeClr val="tx1"/>
              </a:buClr>
              <a:buFont typeface="Wingdings" panose="05000000000000000000" pitchFamily="2" charset="2"/>
              <a:buChar char="§"/>
            </a:pPr>
            <a:r>
              <a:rPr lang="en-US" sz="1600" b="1" dirty="0">
                <a:solidFill>
                  <a:srgbClr val="7A7A7A"/>
                </a:solidFill>
              </a:rPr>
              <a:t>Trousers &amp; Skirts</a:t>
            </a:r>
            <a:r>
              <a:rPr lang="en-US" sz="1600" dirty="0"/>
              <a:t>:16% of inventory, 11% of revenue, never-rented rates up to 35.8%</a:t>
            </a:r>
          </a:p>
        </p:txBody>
      </p:sp>
      <p:sp>
        <p:nvSpPr>
          <p:cNvPr id="47" name="Oval 46">
            <a:extLst>
              <a:ext uri="{FF2B5EF4-FFF2-40B4-BE49-F238E27FC236}">
                <a16:creationId xmlns:a16="http://schemas.microsoft.com/office/drawing/2014/main" id="{0E5F1541-15DB-7424-73A3-5C427BCD06B6}"/>
              </a:ext>
            </a:extLst>
          </p:cNvPr>
          <p:cNvSpPr/>
          <p:nvPr/>
        </p:nvSpPr>
        <p:spPr>
          <a:xfrm>
            <a:off x="4386849" y="3104312"/>
            <a:ext cx="368031" cy="411999"/>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83FB2521-4453-CEEE-F140-5FA2EA27845C}"/>
              </a:ext>
            </a:extLst>
          </p:cNvPr>
          <p:cNvCxnSpPr>
            <a:stCxn id="47" idx="4"/>
          </p:cNvCxnSpPr>
          <p:nvPr/>
        </p:nvCxnSpPr>
        <p:spPr>
          <a:xfrm flipH="1">
            <a:off x="4386849" y="3516311"/>
            <a:ext cx="184016" cy="129952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916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B087D-7537-4179-1CFE-342CCC86243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E5223-6089-2258-4CB6-2629BB123D5F}"/>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3473A28E-DA5A-1516-6BAF-9771CC07EE83}"/>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6D42F55-3ABF-E466-9F50-FC1F03A58B05}"/>
              </a:ext>
            </a:extLst>
          </p:cNvPr>
          <p:cNvSpPr>
            <a:spLocks noGrp="1"/>
          </p:cNvSpPr>
          <p:nvPr>
            <p:ph type="sldNum" sz="quarter" idx="12"/>
          </p:nvPr>
        </p:nvSpPr>
        <p:spPr/>
        <p:txBody>
          <a:bodyPr/>
          <a:lstStyle/>
          <a:p>
            <a:fld id="{5ACA52AF-F19D-405C-AD5F-7D94B96A5CC3}" type="slidenum">
              <a:rPr lang="de-CH" noProof="0" smtClean="0"/>
              <a:t>6</a:t>
            </a:fld>
            <a:endParaRPr lang="de-CH" noProof="0"/>
          </a:p>
        </p:txBody>
      </p:sp>
      <p:sp>
        <p:nvSpPr>
          <p:cNvPr id="25" name="Titel 1">
            <a:extLst>
              <a:ext uri="{FF2B5EF4-FFF2-40B4-BE49-F238E27FC236}">
                <a16:creationId xmlns:a16="http://schemas.microsoft.com/office/drawing/2014/main" id="{E921A688-4E33-3968-7191-F1FD6EA191B0}"/>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Customer Affinity: style diversity predicts loyalty</a:t>
            </a:r>
          </a:p>
        </p:txBody>
      </p:sp>
      <p:pic>
        <p:nvPicPr>
          <p:cNvPr id="8" name="Picture 7">
            <a:extLst>
              <a:ext uri="{FF2B5EF4-FFF2-40B4-BE49-F238E27FC236}">
                <a16:creationId xmlns:a16="http://schemas.microsoft.com/office/drawing/2014/main" id="{34BD9E8B-44DA-ED0C-1DAC-85C0C80820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764" y="809018"/>
            <a:ext cx="7432532" cy="3688136"/>
          </a:xfrm>
          <a:prstGeom prst="rect">
            <a:avLst/>
          </a:prstGeom>
        </p:spPr>
      </p:pic>
      <p:sp>
        <p:nvSpPr>
          <p:cNvPr id="13" name="TextBox 12">
            <a:extLst>
              <a:ext uri="{FF2B5EF4-FFF2-40B4-BE49-F238E27FC236}">
                <a16:creationId xmlns:a16="http://schemas.microsoft.com/office/drawing/2014/main" id="{BBAF5380-3EE1-9A6A-E326-F00DEC6F158B}"/>
              </a:ext>
            </a:extLst>
          </p:cNvPr>
          <p:cNvSpPr txBox="1"/>
          <p:nvPr/>
        </p:nvSpPr>
        <p:spPr>
          <a:xfrm>
            <a:off x="7731889" y="726583"/>
            <a:ext cx="4460111" cy="3854901"/>
          </a:xfrm>
          <a:prstGeom prst="rect">
            <a:avLst/>
          </a:prstGeom>
          <a:noFill/>
        </p:spPr>
        <p:txBody>
          <a:bodyPr wrap="square" rtlCol="0">
            <a:spAutoFit/>
          </a:bodyPr>
          <a:lstStyle/>
          <a:p>
            <a:pPr marL="285750" indent="-285750">
              <a:buClr>
                <a:schemeClr val="tx1"/>
              </a:buClr>
              <a:buFont typeface="Wingdings" panose="05000000000000000000" pitchFamily="2" charset="2"/>
              <a:buChar char="Ø"/>
            </a:pPr>
            <a:r>
              <a:rPr lang="en-US" b="1" dirty="0">
                <a:solidFill>
                  <a:srgbClr val="66C2A5"/>
                </a:solidFill>
              </a:rPr>
              <a:t>Loyal</a:t>
            </a:r>
            <a:r>
              <a:rPr lang="en-US" dirty="0"/>
              <a:t> and </a:t>
            </a:r>
            <a:r>
              <a:rPr lang="en-US" b="1" dirty="0">
                <a:solidFill>
                  <a:srgbClr val="A6D854"/>
                </a:solidFill>
              </a:rPr>
              <a:t>Dormant</a:t>
            </a:r>
            <a:r>
              <a:rPr lang="en-US" dirty="0"/>
              <a:t> customers look </a:t>
            </a:r>
            <a:r>
              <a:rPr lang="en-US" b="1" dirty="0"/>
              <a:t>nearly identical</a:t>
            </a:r>
            <a:r>
              <a:rPr lang="en-US" dirty="0"/>
              <a:t> in style preference: ~39% Dresses, ~16% Jackets, ~15% Tops, ~13% Knitwear. Overall a broad engagement across 5+ categories </a:t>
            </a:r>
          </a:p>
          <a:p>
            <a:pPr marL="285750" indent="-285750">
              <a:buClr>
                <a:schemeClr val="tx1"/>
              </a:buClr>
              <a:buFont typeface="Wingdings" panose="05000000000000000000" pitchFamily="2" charset="2"/>
              <a:buChar char="Ø"/>
            </a:pPr>
            <a:endParaRPr lang="en-US" sz="1050" dirty="0"/>
          </a:p>
          <a:p>
            <a:pPr marL="285750" indent="-285750">
              <a:buClr>
                <a:schemeClr val="tx1"/>
              </a:buClr>
              <a:buFont typeface="Wingdings" panose="05000000000000000000" pitchFamily="2" charset="2"/>
              <a:buChar char="Ø"/>
            </a:pPr>
            <a:r>
              <a:rPr lang="en-US" b="1" dirty="0">
                <a:solidFill>
                  <a:srgbClr val="B1B1B1"/>
                </a:solidFill>
              </a:rPr>
              <a:t>At-Risk</a:t>
            </a:r>
            <a:r>
              <a:rPr lang="en-US" dirty="0"/>
              <a:t> customers: </a:t>
            </a:r>
            <a:r>
              <a:rPr lang="en-US" b="1" dirty="0"/>
              <a:t>79% of spending concentrated in a single category </a:t>
            </a:r>
            <a:r>
              <a:rPr lang="en-US" dirty="0"/>
              <a:t>(Dresses)</a:t>
            </a:r>
          </a:p>
          <a:p>
            <a:endParaRPr lang="en-US" dirty="0"/>
          </a:p>
          <a:p>
            <a:r>
              <a:rPr lang="en-US" b="1" i="1" u="sng" dirty="0"/>
              <a:t>Interpretation</a:t>
            </a:r>
            <a:r>
              <a:rPr lang="en-US" dirty="0"/>
              <a:t>: </a:t>
            </a:r>
            <a:r>
              <a:rPr lang="en-US" b="1" dirty="0">
                <a:solidFill>
                  <a:srgbClr val="B1B1B1"/>
                </a:solidFill>
              </a:rPr>
              <a:t>At-Risk</a:t>
            </a:r>
            <a:r>
              <a:rPr lang="en-US" dirty="0"/>
              <a:t> users come to </a:t>
            </a:r>
            <a:r>
              <a:rPr lang="en-US" dirty="0" err="1"/>
              <a:t>Vibrent</a:t>
            </a:r>
            <a:r>
              <a:rPr lang="en-US" dirty="0"/>
              <a:t> for a </a:t>
            </a:r>
            <a:r>
              <a:rPr lang="en-US" b="1" dirty="0"/>
              <a:t>one-time occasion</a:t>
            </a:r>
            <a:r>
              <a:rPr lang="en-US" dirty="0"/>
              <a:t> (a wedding, a gala), solve that need, then churn</a:t>
            </a:r>
          </a:p>
        </p:txBody>
      </p:sp>
      <p:sp>
        <p:nvSpPr>
          <p:cNvPr id="16" name="TextBox 15">
            <a:extLst>
              <a:ext uri="{FF2B5EF4-FFF2-40B4-BE49-F238E27FC236}">
                <a16:creationId xmlns:a16="http://schemas.microsoft.com/office/drawing/2014/main" id="{2FBD0106-54BC-71EB-9A35-8B58F31FB528}"/>
              </a:ext>
            </a:extLst>
          </p:cNvPr>
          <p:cNvSpPr txBox="1"/>
          <p:nvPr/>
        </p:nvSpPr>
        <p:spPr>
          <a:xfrm>
            <a:off x="9188904" y="4891785"/>
            <a:ext cx="2767746" cy="1323439"/>
          </a:xfrm>
          <a:prstGeom prst="rect">
            <a:avLst/>
          </a:prstGeom>
          <a:noFill/>
        </p:spPr>
        <p:txBody>
          <a:bodyPr wrap="square" rtlCol="0">
            <a:spAutoFit/>
          </a:bodyPr>
          <a:lstStyle/>
          <a:p>
            <a:pPr algn="ctr"/>
            <a:r>
              <a:rPr lang="en-US" sz="2000" b="1" dirty="0"/>
              <a:t>Later confirmed independently by the churn classifier's SFS feature selection</a:t>
            </a:r>
          </a:p>
        </p:txBody>
      </p:sp>
      <p:sp>
        <p:nvSpPr>
          <p:cNvPr id="17" name="TextBox 16">
            <a:extLst>
              <a:ext uri="{FF2B5EF4-FFF2-40B4-BE49-F238E27FC236}">
                <a16:creationId xmlns:a16="http://schemas.microsoft.com/office/drawing/2014/main" id="{517F1B99-D65F-B46B-3A16-F68A555568BB}"/>
              </a:ext>
            </a:extLst>
          </p:cNvPr>
          <p:cNvSpPr txBox="1"/>
          <p:nvPr/>
        </p:nvSpPr>
        <p:spPr>
          <a:xfrm>
            <a:off x="206076" y="4817301"/>
            <a:ext cx="3868214" cy="1384995"/>
          </a:xfrm>
          <a:prstGeom prst="rect">
            <a:avLst/>
          </a:prstGeom>
          <a:noFill/>
        </p:spPr>
        <p:txBody>
          <a:bodyPr wrap="square" rtlCol="0">
            <a:spAutoFit/>
          </a:bodyPr>
          <a:lstStyle/>
          <a:p>
            <a:r>
              <a:rPr lang="en-US" sz="2000" b="1" dirty="0"/>
              <a:t>Why this matters for modeling</a:t>
            </a:r>
          </a:p>
          <a:p>
            <a:endParaRPr lang="en-US" sz="1000" b="1" dirty="0"/>
          </a:p>
          <a:p>
            <a:r>
              <a:rPr lang="en-US" dirty="0"/>
              <a:t>Loyalty is not driven by which cluster a customer prefers, but by the diversity of their engagement </a:t>
            </a:r>
          </a:p>
        </p:txBody>
      </p:sp>
      <p:sp>
        <p:nvSpPr>
          <p:cNvPr id="19" name="TextBox 18">
            <a:extLst>
              <a:ext uri="{FF2B5EF4-FFF2-40B4-BE49-F238E27FC236}">
                <a16:creationId xmlns:a16="http://schemas.microsoft.com/office/drawing/2014/main" id="{E6CC9AA8-470C-4A26-52BB-B389C2499582}"/>
              </a:ext>
            </a:extLst>
          </p:cNvPr>
          <p:cNvSpPr txBox="1"/>
          <p:nvPr/>
        </p:nvSpPr>
        <p:spPr>
          <a:xfrm>
            <a:off x="4813825" y="4753286"/>
            <a:ext cx="3774589" cy="1600438"/>
          </a:xfrm>
          <a:prstGeom prst="rect">
            <a:avLst/>
          </a:prstGeom>
          <a:noFill/>
        </p:spPr>
        <p:txBody>
          <a:bodyPr wrap="square" rtlCol="0">
            <a:spAutoFit/>
          </a:bodyPr>
          <a:lstStyle/>
          <a:p>
            <a:r>
              <a:rPr lang="en-US" sz="2000" b="1" dirty="0"/>
              <a:t>This is formalized as Style Entropy</a:t>
            </a:r>
            <a:br>
              <a:rPr lang="en-US" sz="2000" b="1" u="sng" dirty="0"/>
            </a:br>
            <a:r>
              <a:rPr lang="en-US" sz="1200" dirty="0"/>
              <a:t>(Shannon entropy across cluster affinity shares)</a:t>
            </a:r>
          </a:p>
          <a:p>
            <a:endParaRPr lang="en-US" sz="1000" dirty="0"/>
          </a:p>
          <a:p>
            <a:r>
              <a:rPr lang="en-US" dirty="0"/>
              <a:t>The primary early-warning signal for latent attrition </a:t>
            </a:r>
          </a:p>
        </p:txBody>
      </p:sp>
      <p:cxnSp>
        <p:nvCxnSpPr>
          <p:cNvPr id="24" name="Straight Arrow Connector 23">
            <a:extLst>
              <a:ext uri="{FF2B5EF4-FFF2-40B4-BE49-F238E27FC236}">
                <a16:creationId xmlns:a16="http://schemas.microsoft.com/office/drawing/2014/main" id="{3774F50B-D184-AB94-A086-3EC2432F24BF}"/>
              </a:ext>
            </a:extLst>
          </p:cNvPr>
          <p:cNvCxnSpPr/>
          <p:nvPr/>
        </p:nvCxnSpPr>
        <p:spPr>
          <a:xfrm>
            <a:off x="4004841"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4C3EA91-358E-CEDC-1C85-F08F1632062D}"/>
              </a:ext>
            </a:extLst>
          </p:cNvPr>
          <p:cNvCxnSpPr/>
          <p:nvPr/>
        </p:nvCxnSpPr>
        <p:spPr>
          <a:xfrm>
            <a:off x="8391649"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8669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E8-D6F4-8EB9-7944-C940CC034C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E5E5FD5-7C7A-5D8B-B864-6B4B561EAF6A}"/>
              </a:ext>
            </a:extLst>
          </p:cNvPr>
          <p:cNvSpPr>
            <a:spLocks noGrp="1"/>
          </p:cNvSpPr>
          <p:nvPr>
            <p:ph type="title"/>
          </p:nvPr>
        </p:nvSpPr>
        <p:spPr/>
        <p:txBody>
          <a:bodyPr/>
          <a:lstStyle/>
          <a:p>
            <a:r>
              <a:rPr lang="de-DE" dirty="0"/>
              <a:t>The Baseline - </a:t>
            </a:r>
            <a:r>
              <a:rPr lang="en-US" dirty="0"/>
              <a:t>Comparing RFM-based Models</a:t>
            </a:r>
          </a:p>
        </p:txBody>
      </p:sp>
      <p:sp>
        <p:nvSpPr>
          <p:cNvPr id="4" name="Datumsplatzhalter 3">
            <a:extLst>
              <a:ext uri="{FF2B5EF4-FFF2-40B4-BE49-F238E27FC236}">
                <a16:creationId xmlns:a16="http://schemas.microsoft.com/office/drawing/2014/main" id="{03C7CEAA-E7E1-33D0-A27C-755DA6D64D17}"/>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25F40C72-0A4C-15E0-04ED-E35CDAC951A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6CB852D8-B209-4738-E27C-04B18571254A}"/>
              </a:ext>
            </a:extLst>
          </p:cNvPr>
          <p:cNvSpPr>
            <a:spLocks noGrp="1"/>
          </p:cNvSpPr>
          <p:nvPr>
            <p:ph type="sldNum" sz="quarter" idx="12"/>
          </p:nvPr>
        </p:nvSpPr>
        <p:spPr/>
        <p:txBody>
          <a:bodyPr/>
          <a:lstStyle/>
          <a:p>
            <a:fld id="{5ACA52AF-F19D-405C-AD5F-7D94B96A5CC3}" type="slidenum">
              <a:rPr lang="de-CH" noProof="0" smtClean="0"/>
              <a:t>7</a:t>
            </a:fld>
            <a:endParaRPr lang="de-CH" noProof="0"/>
          </a:p>
        </p:txBody>
      </p:sp>
      <p:sp>
        <p:nvSpPr>
          <p:cNvPr id="10" name="Inhaltsplatzhalter 9">
            <a:extLst>
              <a:ext uri="{FF2B5EF4-FFF2-40B4-BE49-F238E27FC236}">
                <a16:creationId xmlns:a16="http://schemas.microsoft.com/office/drawing/2014/main" id="{3A31A4A3-6617-7FB5-F944-46ABCB3B37EE}"/>
              </a:ext>
            </a:extLst>
          </p:cNvPr>
          <p:cNvSpPr>
            <a:spLocks noGrp="1"/>
          </p:cNvSpPr>
          <p:nvPr>
            <p:ph idx="1"/>
          </p:nvPr>
        </p:nvSpPr>
        <p:spPr>
          <a:xfrm>
            <a:off x="7779573" y="4249919"/>
            <a:ext cx="3975720" cy="1402541"/>
          </a:xfrm>
          <a:solidFill>
            <a:srgbClr val="FF7D7D"/>
          </a:solidFill>
          <a:ln w="38100">
            <a:solidFill>
              <a:srgbClr val="FF0000"/>
            </a:solidFill>
          </a:ln>
        </p:spPr>
        <p:txBody>
          <a:bodyPr anchor="ctr"/>
          <a:lstStyle/>
          <a:p>
            <a:pPr marL="182563" indent="0">
              <a:buNone/>
            </a:pPr>
            <a:r>
              <a:rPr lang="de-DE" dirty="0"/>
              <a:t>Problem: 2 different </a:t>
            </a:r>
            <a:r>
              <a:rPr lang="de-DE" dirty="0" err="1"/>
              <a:t>datasets</a:t>
            </a:r>
            <a:r>
              <a:rPr lang="de-DE" dirty="0"/>
              <a:t> used</a:t>
            </a:r>
          </a:p>
          <a:p>
            <a:pPr lvl="1"/>
            <a:r>
              <a:rPr lang="de-DE" dirty="0"/>
              <a:t>RFM Ridge &amp; </a:t>
            </a:r>
            <a:r>
              <a:rPr lang="de-DE" dirty="0" err="1"/>
              <a:t>LightGBM</a:t>
            </a:r>
            <a:r>
              <a:rPr lang="de-DE" dirty="0"/>
              <a:t> trained on post-2020 </a:t>
            </a:r>
            <a:r>
              <a:rPr lang="de-DE" dirty="0" err="1"/>
              <a:t>data</a:t>
            </a:r>
            <a:endParaRPr lang="de-DE" dirty="0"/>
          </a:p>
          <a:p>
            <a:pPr lvl="1"/>
            <a:r>
              <a:rPr lang="de-DE" dirty="0" err="1"/>
              <a:t>CLVTools</a:t>
            </a:r>
            <a:r>
              <a:rPr lang="de-DE" dirty="0"/>
              <a:t> on </a:t>
            </a:r>
            <a:r>
              <a:rPr lang="de-DE" dirty="0" err="1"/>
              <a:t>whole</a:t>
            </a:r>
            <a:r>
              <a:rPr lang="de-DE" dirty="0"/>
              <a:t> </a:t>
            </a:r>
            <a:r>
              <a:rPr lang="de-DE" dirty="0" err="1"/>
              <a:t>dataset</a:t>
            </a:r>
            <a:r>
              <a:rPr lang="de-DE" dirty="0"/>
              <a:t> </a:t>
            </a:r>
            <a:endParaRPr lang="en-US" dirty="0"/>
          </a:p>
        </p:txBody>
      </p:sp>
      <p:pic>
        <p:nvPicPr>
          <p:cNvPr id="14" name="Grafik 13">
            <a:extLst>
              <a:ext uri="{FF2B5EF4-FFF2-40B4-BE49-F238E27FC236}">
                <a16:creationId xmlns:a16="http://schemas.microsoft.com/office/drawing/2014/main" id="{4F144D59-303A-7D16-AC81-8EDD1A3A5B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5146" y="1600765"/>
            <a:ext cx="6826280" cy="4051695"/>
          </a:xfrm>
          <a:prstGeom prst="rect">
            <a:avLst/>
          </a:prstGeom>
        </p:spPr>
      </p:pic>
      <p:sp>
        <p:nvSpPr>
          <p:cNvPr id="3" name="Inhaltsplatzhalter 9">
            <a:extLst>
              <a:ext uri="{FF2B5EF4-FFF2-40B4-BE49-F238E27FC236}">
                <a16:creationId xmlns:a16="http://schemas.microsoft.com/office/drawing/2014/main" id="{19AACD25-75AC-77FA-3B17-52C76744CAAA}"/>
              </a:ext>
            </a:extLst>
          </p:cNvPr>
          <p:cNvSpPr txBox="1">
            <a:spLocks/>
          </p:cNvSpPr>
          <p:nvPr/>
        </p:nvSpPr>
        <p:spPr>
          <a:xfrm>
            <a:off x="7779573" y="1737586"/>
            <a:ext cx="3975720" cy="2221228"/>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CLVTools</a:t>
            </a:r>
            <a:r>
              <a:rPr lang="de-DE" dirty="0"/>
              <a:t>‘ Pareto/NBD </a:t>
            </a:r>
            <a:r>
              <a:rPr lang="de-DE" dirty="0" err="1"/>
              <a:t>model</a:t>
            </a:r>
            <a:r>
              <a:rPr lang="de-DE" dirty="0"/>
              <a:t> </a:t>
            </a:r>
            <a:r>
              <a:rPr lang="de-DE" dirty="0" err="1"/>
              <a:t>outperforms</a:t>
            </a:r>
            <a:r>
              <a:rPr lang="de-DE" dirty="0"/>
              <a:t> simple RFM-</a:t>
            </a:r>
            <a:r>
              <a:rPr lang="de-DE" dirty="0" err="1"/>
              <a:t>based</a:t>
            </a:r>
            <a:r>
              <a:rPr lang="de-DE" dirty="0"/>
              <a:t> </a:t>
            </a:r>
            <a:r>
              <a:rPr lang="de-DE" dirty="0" err="1"/>
              <a:t>models</a:t>
            </a:r>
            <a:endParaRPr lang="de-DE" dirty="0"/>
          </a:p>
          <a:p>
            <a:r>
              <a:rPr lang="de-DE" dirty="0"/>
              <a:t>Good </a:t>
            </a:r>
            <a:r>
              <a:rPr lang="de-DE" dirty="0" err="1"/>
              <a:t>starting</a:t>
            </a:r>
            <a:r>
              <a:rPr lang="de-DE" dirty="0"/>
              <a:t> </a:t>
            </a:r>
            <a:r>
              <a:rPr lang="de-DE" dirty="0" err="1"/>
              <a:t>point</a:t>
            </a:r>
            <a:r>
              <a:rPr lang="de-DE" dirty="0"/>
              <a:t> to </a:t>
            </a:r>
            <a:r>
              <a:rPr lang="de-DE" dirty="0" err="1"/>
              <a:t>compare</a:t>
            </a:r>
            <a:r>
              <a:rPr lang="de-DE" dirty="0"/>
              <a:t> </a:t>
            </a:r>
            <a:r>
              <a:rPr lang="de-DE" dirty="0" err="1"/>
              <a:t>baseline</a:t>
            </a:r>
            <a:r>
              <a:rPr lang="de-DE" dirty="0"/>
              <a:t> </a:t>
            </a:r>
            <a:r>
              <a:rPr lang="de-DE" dirty="0" err="1"/>
              <a:t>agains</a:t>
            </a:r>
            <a:r>
              <a:rPr lang="de-DE" dirty="0"/>
              <a:t> </a:t>
            </a:r>
            <a:r>
              <a:rPr lang="de-DE" dirty="0" err="1"/>
              <a:t>more</a:t>
            </a:r>
            <a:r>
              <a:rPr lang="de-DE" dirty="0"/>
              <a:t> </a:t>
            </a:r>
            <a:r>
              <a:rPr lang="de-DE" dirty="0" err="1"/>
              <a:t>advanced</a:t>
            </a:r>
            <a:r>
              <a:rPr lang="de-DE" dirty="0"/>
              <a:t> </a:t>
            </a:r>
            <a:r>
              <a:rPr lang="de-DE" dirty="0" err="1"/>
              <a:t>models</a:t>
            </a:r>
            <a:r>
              <a:rPr lang="de-DE" dirty="0"/>
              <a:t> with </a:t>
            </a:r>
            <a:r>
              <a:rPr lang="de-DE" dirty="0" err="1"/>
              <a:t>more</a:t>
            </a:r>
            <a:r>
              <a:rPr lang="de-DE" dirty="0"/>
              <a:t> </a:t>
            </a:r>
            <a:r>
              <a:rPr lang="de-DE" dirty="0" err="1"/>
              <a:t>features</a:t>
            </a:r>
            <a:endParaRPr lang="en-US" dirty="0"/>
          </a:p>
        </p:txBody>
      </p:sp>
    </p:spTree>
    <p:extLst>
      <p:ext uri="{BB962C8B-B14F-4D97-AF65-F5344CB8AC3E}">
        <p14:creationId xmlns:p14="http://schemas.microsoft.com/office/powerpoint/2010/main" val="3996090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D4647-6340-A6D3-4FB0-F0843325A1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4CF02FC-3047-4B5C-A799-176506FFEC75}"/>
              </a:ext>
            </a:extLst>
          </p:cNvPr>
          <p:cNvSpPr>
            <a:spLocks noGrp="1"/>
          </p:cNvSpPr>
          <p:nvPr>
            <p:ph type="title"/>
          </p:nvPr>
        </p:nvSpPr>
        <p:spPr/>
        <p:txBody>
          <a:bodyPr/>
          <a:lstStyle/>
          <a:p>
            <a:r>
              <a:rPr lang="de-DE" dirty="0"/>
              <a:t>The Baseline - </a:t>
            </a:r>
            <a:r>
              <a:rPr lang="en-US" dirty="0" err="1"/>
              <a:t>LightGBM</a:t>
            </a:r>
            <a:r>
              <a:rPr lang="en-US" dirty="0"/>
              <a:t> Already Beats the Industry Benchmark on RFM-Features</a:t>
            </a:r>
          </a:p>
        </p:txBody>
      </p:sp>
      <p:sp>
        <p:nvSpPr>
          <p:cNvPr id="4" name="Datumsplatzhalter 3">
            <a:extLst>
              <a:ext uri="{FF2B5EF4-FFF2-40B4-BE49-F238E27FC236}">
                <a16:creationId xmlns:a16="http://schemas.microsoft.com/office/drawing/2014/main" id="{730BE25F-08CF-12D5-098D-A017042BCF79}"/>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7B4C5EC-B4D0-CB46-5FAA-B96FF38D302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B3B88916-B099-8517-49BB-80572B5A93A0}"/>
              </a:ext>
            </a:extLst>
          </p:cNvPr>
          <p:cNvSpPr>
            <a:spLocks noGrp="1"/>
          </p:cNvSpPr>
          <p:nvPr>
            <p:ph type="sldNum" sz="quarter" idx="12"/>
          </p:nvPr>
        </p:nvSpPr>
        <p:spPr/>
        <p:txBody>
          <a:bodyPr/>
          <a:lstStyle/>
          <a:p>
            <a:fld id="{5ACA52AF-F19D-405C-AD5F-7D94B96A5CC3}" type="slidenum">
              <a:rPr lang="de-CH" noProof="0" smtClean="0"/>
              <a:t>8</a:t>
            </a:fld>
            <a:endParaRPr lang="de-CH" noProof="0"/>
          </a:p>
        </p:txBody>
      </p:sp>
      <p:sp>
        <p:nvSpPr>
          <p:cNvPr id="10" name="Inhaltsplatzhalter 9">
            <a:extLst>
              <a:ext uri="{FF2B5EF4-FFF2-40B4-BE49-F238E27FC236}">
                <a16:creationId xmlns:a16="http://schemas.microsoft.com/office/drawing/2014/main" id="{8755E392-7CBB-5EC3-5428-882110E5FFB5}"/>
              </a:ext>
            </a:extLst>
          </p:cNvPr>
          <p:cNvSpPr>
            <a:spLocks noGrp="1"/>
          </p:cNvSpPr>
          <p:nvPr>
            <p:ph idx="1"/>
          </p:nvPr>
        </p:nvSpPr>
        <p:spPr>
          <a:xfrm>
            <a:off x="7691718" y="1160351"/>
            <a:ext cx="3975720" cy="4932524"/>
          </a:xfrm>
        </p:spPr>
        <p:txBody>
          <a:bodyPr/>
          <a:lstStyle/>
          <a:p>
            <a:r>
              <a:rPr lang="en-US" b="1" dirty="0"/>
              <a:t>Ridge (4,385):</a:t>
            </a:r>
            <a:r>
              <a:rPr lang="en-US" dirty="0"/>
              <a:t> Wrong assumptions, linearity can't capture churn</a:t>
            </a:r>
          </a:p>
          <a:p>
            <a:pPr lvl="1">
              <a:buFont typeface="Wingdings" panose="05000000000000000000" pitchFamily="2" charset="2"/>
              <a:buChar char="§"/>
            </a:pPr>
            <a:r>
              <a:rPr lang="en-US" dirty="0"/>
              <a:t>Example:</a:t>
            </a:r>
          </a:p>
          <a:p>
            <a:pPr lvl="2">
              <a:buFont typeface="Courier New" panose="02070309020205020404" pitchFamily="49" charset="0"/>
              <a:buChar char="o"/>
            </a:pPr>
            <a:r>
              <a:rPr lang="en-US" dirty="0"/>
              <a:t>Recency: 245 days</a:t>
            </a:r>
          </a:p>
          <a:p>
            <a:pPr lvl="2">
              <a:buFont typeface="Courier New" panose="02070309020205020404" pitchFamily="49" charset="0"/>
              <a:buChar char="o"/>
            </a:pPr>
            <a:r>
              <a:rPr lang="en-US" dirty="0"/>
              <a:t>Frequency: 33 rentals</a:t>
            </a:r>
          </a:p>
          <a:p>
            <a:pPr lvl="2">
              <a:buFont typeface="Courier New" panose="02070309020205020404" pitchFamily="49" charset="0"/>
              <a:buChar char="o"/>
            </a:pPr>
            <a:r>
              <a:rPr lang="en-US" dirty="0"/>
              <a:t>Monetary: 55,451.33 NOK</a:t>
            </a:r>
          </a:p>
          <a:p>
            <a:pPr lvl="1">
              <a:buFont typeface="Wingdings" panose="05000000000000000000" pitchFamily="2" charset="2"/>
              <a:buChar char="§"/>
            </a:pPr>
            <a:r>
              <a:rPr lang="en-US" dirty="0"/>
              <a:t>Actual Revenue: 0 NOK</a:t>
            </a:r>
          </a:p>
          <a:p>
            <a:pPr lvl="1">
              <a:buFont typeface="Wingdings" panose="05000000000000000000" pitchFamily="2" charset="2"/>
              <a:buChar char="§"/>
            </a:pPr>
            <a:r>
              <a:rPr lang="en-US" dirty="0"/>
              <a:t>Predicted: 23,884.28 NOK</a:t>
            </a:r>
          </a:p>
          <a:p>
            <a:r>
              <a:rPr lang="en-US" b="1" dirty="0"/>
              <a:t>Pareto/NBD (3,756):</a:t>
            </a:r>
            <a:r>
              <a:rPr lang="en-US" dirty="0"/>
              <a:t> Industry benchmark, built for this problem, but constrained by fixed statistical assumptions</a:t>
            </a:r>
          </a:p>
          <a:p>
            <a:r>
              <a:rPr lang="en-US" b="1" dirty="0" err="1"/>
              <a:t>LightGBM</a:t>
            </a:r>
            <a:r>
              <a:rPr lang="en-US" b="1" dirty="0"/>
              <a:t> (2,536):</a:t>
            </a:r>
            <a:r>
              <a:rPr lang="en-US" dirty="0"/>
              <a:t> Learns churn from data directly → no assumptions needed</a:t>
            </a:r>
          </a:p>
        </p:txBody>
      </p:sp>
      <p:pic>
        <p:nvPicPr>
          <p:cNvPr id="14" name="Grafik 13">
            <a:extLst>
              <a:ext uri="{FF2B5EF4-FFF2-40B4-BE49-F238E27FC236}">
                <a16:creationId xmlns:a16="http://schemas.microsoft.com/office/drawing/2014/main" id="{C58F3C9C-C725-A9F3-0CA6-65F4A095B05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4872" y="1600765"/>
            <a:ext cx="6826828" cy="4051695"/>
          </a:xfrm>
          <a:prstGeom prst="rect">
            <a:avLst/>
          </a:prstGeom>
        </p:spPr>
      </p:pic>
      <p:sp>
        <p:nvSpPr>
          <p:cNvPr id="15" name="TextBox 9">
            <a:extLst>
              <a:ext uri="{FF2B5EF4-FFF2-40B4-BE49-F238E27FC236}">
                <a16:creationId xmlns:a16="http://schemas.microsoft.com/office/drawing/2014/main" id="{45340DE4-FDF0-8CA1-F53D-01B17105BE16}"/>
              </a:ext>
            </a:extLst>
          </p:cNvPr>
          <p:cNvSpPr txBox="1"/>
          <p:nvPr/>
        </p:nvSpPr>
        <p:spPr>
          <a:xfrm>
            <a:off x="3509874" y="1861058"/>
            <a:ext cx="1077065" cy="338554"/>
          </a:xfrm>
          <a:prstGeom prst="rect">
            <a:avLst/>
          </a:prstGeom>
          <a:noFill/>
        </p:spPr>
        <p:txBody>
          <a:bodyPr wrap="square" rtlCol="0">
            <a:spAutoFit/>
          </a:bodyPr>
          <a:lstStyle/>
          <a:p>
            <a:pPr algn="l"/>
            <a:r>
              <a:rPr lang="en-US" sz="1600" b="1" spc="0" baseline="0" dirty="0">
                <a:ln/>
                <a:solidFill>
                  <a:srgbClr val="FF0000"/>
                </a:solidFill>
                <a:latin typeface="Segoe UI"/>
                <a:cs typeface="Segoe UI"/>
                <a:sym typeface="Segoe UI"/>
                <a:rtl val="0"/>
              </a:rPr>
              <a:t>−</a:t>
            </a:r>
            <a:r>
              <a:rPr lang="en-US" sz="1600" b="1" dirty="0">
                <a:ln/>
                <a:solidFill>
                  <a:srgbClr val="FF0000"/>
                </a:solidFill>
                <a:latin typeface="Segoe UI"/>
                <a:cs typeface="Segoe UI"/>
                <a:sym typeface="Segoe UI"/>
                <a:rtl val="0"/>
              </a:rPr>
              <a:t>16.7</a:t>
            </a:r>
            <a:r>
              <a:rPr lang="en-US" sz="1600" b="1" spc="0" baseline="0" dirty="0">
                <a:ln/>
                <a:solidFill>
                  <a:srgbClr val="FF0000"/>
                </a:solidFill>
                <a:latin typeface="Segoe UI"/>
                <a:cs typeface="Segoe UI"/>
                <a:sym typeface="Segoe UI"/>
                <a:rtl val="0"/>
              </a:rPr>
              <a:t>%</a:t>
            </a:r>
          </a:p>
        </p:txBody>
      </p:sp>
      <p:cxnSp>
        <p:nvCxnSpPr>
          <p:cNvPr id="16" name="Straight Arrow Connector 12">
            <a:extLst>
              <a:ext uri="{FF2B5EF4-FFF2-40B4-BE49-F238E27FC236}">
                <a16:creationId xmlns:a16="http://schemas.microsoft.com/office/drawing/2014/main" id="{114E658D-A7BF-6A83-F27D-751C65EDAD61}"/>
              </a:ext>
            </a:extLst>
          </p:cNvPr>
          <p:cNvCxnSpPr>
            <a:cxnSpLocks/>
          </p:cNvCxnSpPr>
          <p:nvPr/>
        </p:nvCxnSpPr>
        <p:spPr>
          <a:xfrm>
            <a:off x="5262040" y="2746283"/>
            <a:ext cx="833960" cy="606410"/>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2">
            <a:extLst>
              <a:ext uri="{FF2B5EF4-FFF2-40B4-BE49-F238E27FC236}">
                <a16:creationId xmlns:a16="http://schemas.microsoft.com/office/drawing/2014/main" id="{43B77D13-A6E2-E9CA-4C3F-9ED9651E12E6}"/>
              </a:ext>
            </a:extLst>
          </p:cNvPr>
          <p:cNvCxnSpPr>
            <a:cxnSpLocks/>
          </p:cNvCxnSpPr>
          <p:nvPr/>
        </p:nvCxnSpPr>
        <p:spPr>
          <a:xfrm flipH="1" flipV="1">
            <a:off x="3302598" y="2030335"/>
            <a:ext cx="645458" cy="338554"/>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9">
            <a:extLst>
              <a:ext uri="{FF2B5EF4-FFF2-40B4-BE49-F238E27FC236}">
                <a16:creationId xmlns:a16="http://schemas.microsoft.com/office/drawing/2014/main" id="{D2CD130B-AFD3-667E-D3E8-35BC447CCE99}"/>
              </a:ext>
            </a:extLst>
          </p:cNvPr>
          <p:cNvSpPr txBox="1"/>
          <p:nvPr/>
        </p:nvSpPr>
        <p:spPr>
          <a:xfrm>
            <a:off x="5703383" y="2818249"/>
            <a:ext cx="977116" cy="338554"/>
          </a:xfrm>
          <a:prstGeom prst="rect">
            <a:avLst/>
          </a:prstGeom>
          <a:noFill/>
        </p:spPr>
        <p:txBody>
          <a:bodyPr wrap="square" rtlCol="0">
            <a:spAutoFit/>
          </a:bodyPr>
          <a:lstStyle/>
          <a:p>
            <a:pPr algn="l"/>
            <a:r>
              <a:rPr lang="en-US" sz="1600" b="1" spc="0" baseline="0" dirty="0">
                <a:ln/>
                <a:solidFill>
                  <a:srgbClr val="00B050"/>
                </a:solidFill>
                <a:latin typeface="Segoe UI"/>
                <a:cs typeface="Segoe UI"/>
                <a:sym typeface="Segoe UI"/>
                <a:rtl val="0"/>
              </a:rPr>
              <a:t>−32,5%</a:t>
            </a:r>
          </a:p>
        </p:txBody>
      </p:sp>
    </p:spTree>
    <p:extLst>
      <p:ext uri="{BB962C8B-B14F-4D97-AF65-F5344CB8AC3E}">
        <p14:creationId xmlns:p14="http://schemas.microsoft.com/office/powerpoint/2010/main" val="425783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759AEA-ADE0-8B5F-9FC5-40C26593B114}"/>
              </a:ext>
            </a:extLst>
          </p:cNvPr>
          <p:cNvSpPr>
            <a:spLocks noGrp="1"/>
          </p:cNvSpPr>
          <p:nvPr>
            <p:ph type="title"/>
          </p:nvPr>
        </p:nvSpPr>
        <p:spPr/>
        <p:txBody>
          <a:bodyPr/>
          <a:lstStyle/>
          <a:p>
            <a:r>
              <a:rPr lang="de-DE" dirty="0"/>
              <a:t>The Modeling Journey – </a:t>
            </a:r>
            <a:r>
              <a:rPr lang="de-DE" dirty="0" err="1"/>
              <a:t>Four</a:t>
            </a:r>
            <a:r>
              <a:rPr lang="de-DE" dirty="0"/>
              <a:t> Problems, </a:t>
            </a:r>
            <a:r>
              <a:rPr lang="de-DE" dirty="0" err="1"/>
              <a:t>Four</a:t>
            </a:r>
            <a:r>
              <a:rPr lang="de-DE" dirty="0"/>
              <a:t> Solutions, </a:t>
            </a:r>
            <a:r>
              <a:rPr lang="de-DE" dirty="0" err="1"/>
              <a:t>Three</a:t>
            </a:r>
            <a:r>
              <a:rPr lang="de-DE" dirty="0"/>
              <a:t> </a:t>
            </a:r>
            <a:r>
              <a:rPr lang="de-DE" dirty="0" err="1"/>
              <a:t>Improvements</a:t>
            </a:r>
            <a:endParaRPr lang="en-US" dirty="0"/>
          </a:p>
        </p:txBody>
      </p:sp>
      <p:sp>
        <p:nvSpPr>
          <p:cNvPr id="4" name="Datumsplatzhalter 3">
            <a:extLst>
              <a:ext uri="{FF2B5EF4-FFF2-40B4-BE49-F238E27FC236}">
                <a16:creationId xmlns:a16="http://schemas.microsoft.com/office/drawing/2014/main" id="{0C6FD19B-C7D3-84C1-8505-5608E91C6B7D}"/>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B0EB1B7D-4C4D-339B-E3C1-135A51F87D88}"/>
              </a:ext>
            </a:extLst>
          </p:cNvPr>
          <p:cNvSpPr>
            <a:spLocks noGrp="1"/>
          </p:cNvSpPr>
          <p:nvPr>
            <p:ph type="ftr" sz="quarter" idx="11"/>
          </p:nvPr>
        </p:nvSpPr>
        <p:spPr>
          <a:xfrm>
            <a:off x="2106674" y="6522444"/>
            <a:ext cx="5400000" cy="216000"/>
          </a:xfrm>
        </p:spPr>
        <p:txBody>
          <a:bodyPr/>
          <a:lstStyle/>
          <a:p>
            <a:r>
              <a:rPr lang="en-US" dirty="0"/>
              <a:t>Marketing Analytics</a:t>
            </a:r>
          </a:p>
        </p:txBody>
      </p:sp>
      <p:sp>
        <p:nvSpPr>
          <p:cNvPr id="6" name="Foliennummernplatzhalter 5">
            <a:extLst>
              <a:ext uri="{FF2B5EF4-FFF2-40B4-BE49-F238E27FC236}">
                <a16:creationId xmlns:a16="http://schemas.microsoft.com/office/drawing/2014/main" id="{D55B950A-9322-E0B8-2BC3-CF7E094AB132}"/>
              </a:ext>
            </a:extLst>
          </p:cNvPr>
          <p:cNvSpPr>
            <a:spLocks noGrp="1"/>
          </p:cNvSpPr>
          <p:nvPr>
            <p:ph type="sldNum" sz="quarter" idx="12"/>
          </p:nvPr>
        </p:nvSpPr>
        <p:spPr/>
        <p:txBody>
          <a:bodyPr/>
          <a:lstStyle/>
          <a:p>
            <a:fld id="{5ACA52AF-F19D-405C-AD5F-7D94B96A5CC3}" type="slidenum">
              <a:rPr lang="de-CH" noProof="0" smtClean="0"/>
              <a:t>9</a:t>
            </a:fld>
            <a:endParaRPr lang="de-CH" noProof="0"/>
          </a:p>
        </p:txBody>
      </p:sp>
      <p:sp>
        <p:nvSpPr>
          <p:cNvPr id="7" name="Textplatzhalter 9">
            <a:extLst>
              <a:ext uri="{FF2B5EF4-FFF2-40B4-BE49-F238E27FC236}">
                <a16:creationId xmlns:a16="http://schemas.microsoft.com/office/drawing/2014/main" id="{3A37B601-8638-6240-48F4-199AAAA28A26}"/>
              </a:ext>
            </a:extLst>
          </p:cNvPr>
          <p:cNvSpPr txBox="1">
            <a:spLocks/>
          </p:cNvSpPr>
          <p:nvPr/>
        </p:nvSpPr>
        <p:spPr bwMode="auto">
          <a:xfrm>
            <a:off x="1080000"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Problem </a:t>
            </a:r>
            <a:r>
              <a:rPr lang="de-DE" dirty="0" err="1"/>
              <a:t>Identified</a:t>
            </a:r>
            <a:endParaRPr lang="de-DE" dirty="0"/>
          </a:p>
        </p:txBody>
      </p:sp>
      <p:sp>
        <p:nvSpPr>
          <p:cNvPr id="11" name="Textplatzhalter 9">
            <a:extLst>
              <a:ext uri="{FF2B5EF4-FFF2-40B4-BE49-F238E27FC236}">
                <a16:creationId xmlns:a16="http://schemas.microsoft.com/office/drawing/2014/main" id="{BE4D74C0-67D6-E35E-7893-9267BB4010AA}"/>
              </a:ext>
            </a:extLst>
          </p:cNvPr>
          <p:cNvSpPr txBox="1">
            <a:spLocks/>
          </p:cNvSpPr>
          <p:nvPr/>
        </p:nvSpPr>
        <p:spPr bwMode="auto">
          <a:xfrm>
            <a:off x="7669351"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MAE Impact</a:t>
            </a:r>
          </a:p>
        </p:txBody>
      </p:sp>
      <p:sp>
        <p:nvSpPr>
          <p:cNvPr id="12" name="Textplatzhalter 9">
            <a:extLst>
              <a:ext uri="{FF2B5EF4-FFF2-40B4-BE49-F238E27FC236}">
                <a16:creationId xmlns:a16="http://schemas.microsoft.com/office/drawing/2014/main" id="{96C98B6E-9473-89A0-25BA-9042C3415D10}"/>
              </a:ext>
            </a:extLst>
          </p:cNvPr>
          <p:cNvSpPr txBox="1">
            <a:spLocks/>
          </p:cNvSpPr>
          <p:nvPr/>
        </p:nvSpPr>
        <p:spPr bwMode="auto">
          <a:xfrm>
            <a:off x="4374676"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Solution Applied</a:t>
            </a:r>
          </a:p>
        </p:txBody>
      </p:sp>
      <p:grpSp>
        <p:nvGrpSpPr>
          <p:cNvPr id="25" name="Gruppieren 24">
            <a:extLst>
              <a:ext uri="{FF2B5EF4-FFF2-40B4-BE49-F238E27FC236}">
                <a16:creationId xmlns:a16="http://schemas.microsoft.com/office/drawing/2014/main" id="{0FE0CD6B-EE5C-9611-085D-AEF7DF7CDF8E}"/>
              </a:ext>
            </a:extLst>
          </p:cNvPr>
          <p:cNvGrpSpPr/>
          <p:nvPr/>
        </p:nvGrpSpPr>
        <p:grpSpPr>
          <a:xfrm>
            <a:off x="1080000" y="2299320"/>
            <a:ext cx="9721350" cy="540000"/>
            <a:chOff x="1080000" y="2299320"/>
            <a:chExt cx="9721350" cy="540000"/>
          </a:xfrm>
        </p:grpSpPr>
        <p:sp>
          <p:nvSpPr>
            <p:cNvPr id="13" name="Textplatzhalter 31">
              <a:extLst>
                <a:ext uri="{FF2B5EF4-FFF2-40B4-BE49-F238E27FC236}">
                  <a16:creationId xmlns:a16="http://schemas.microsoft.com/office/drawing/2014/main" id="{5744B351-07F3-B1CE-25FB-72D9403AF08E}"/>
                </a:ext>
              </a:extLst>
            </p:cNvPr>
            <p:cNvSpPr txBox="1">
              <a:spLocks/>
            </p:cNvSpPr>
            <p:nvPr/>
          </p:nvSpPr>
          <p:spPr>
            <a:xfrm>
              <a:off x="1080000"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Baseline </a:t>
              </a:r>
              <a:r>
                <a:rPr lang="de-DE" dirty="0" err="1"/>
                <a:t>soley</a:t>
              </a:r>
              <a:r>
                <a:rPr lang="de-DE" dirty="0"/>
                <a:t> </a:t>
              </a:r>
              <a:r>
                <a:rPr lang="de-DE" dirty="0" err="1"/>
                <a:t>relies</a:t>
              </a:r>
              <a:r>
                <a:rPr lang="de-DE" dirty="0"/>
                <a:t> on 3 </a:t>
              </a:r>
              <a:r>
                <a:rPr lang="de-DE" dirty="0" err="1"/>
                <a:t>features</a:t>
              </a:r>
              <a:endParaRPr lang="de-DE" dirty="0"/>
            </a:p>
          </p:txBody>
        </p:sp>
        <p:sp>
          <p:nvSpPr>
            <p:cNvPr id="14" name="Textplatzhalter 31">
              <a:extLst>
                <a:ext uri="{FF2B5EF4-FFF2-40B4-BE49-F238E27FC236}">
                  <a16:creationId xmlns:a16="http://schemas.microsoft.com/office/drawing/2014/main" id="{7EC80B23-0B3A-2979-151B-2C49047D0AF3}"/>
                </a:ext>
              </a:extLst>
            </p:cNvPr>
            <p:cNvSpPr txBox="1">
              <a:spLocks/>
            </p:cNvSpPr>
            <p:nvPr/>
          </p:nvSpPr>
          <p:spPr>
            <a:xfrm>
              <a:off x="4374675"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Feature </a:t>
              </a:r>
              <a:r>
                <a:rPr lang="de-DE" dirty="0" err="1"/>
                <a:t>engineering</a:t>
              </a:r>
              <a:r>
                <a:rPr lang="de-DE" dirty="0"/>
                <a:t> </a:t>
              </a:r>
              <a:r>
                <a:rPr lang="de-DE" dirty="0" err="1"/>
                <a:t>of</a:t>
              </a:r>
              <a:r>
                <a:rPr lang="de-DE" dirty="0"/>
                <a:t> additional 33 </a:t>
              </a:r>
              <a:r>
                <a:rPr lang="de-DE" dirty="0" err="1"/>
                <a:t>features</a:t>
              </a:r>
              <a:endParaRPr lang="de-DE" dirty="0"/>
            </a:p>
          </p:txBody>
        </p:sp>
        <p:sp>
          <p:nvSpPr>
            <p:cNvPr id="15" name="Textplatzhalter 31">
              <a:extLst>
                <a:ext uri="{FF2B5EF4-FFF2-40B4-BE49-F238E27FC236}">
                  <a16:creationId xmlns:a16="http://schemas.microsoft.com/office/drawing/2014/main" id="{D07B4449-0CFA-D297-31BB-25338E6EED90}"/>
                </a:ext>
              </a:extLst>
            </p:cNvPr>
            <p:cNvSpPr txBox="1">
              <a:spLocks/>
            </p:cNvSpPr>
            <p:nvPr/>
          </p:nvSpPr>
          <p:spPr>
            <a:xfrm>
              <a:off x="7669351"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2,536 → 3,296 NOK</a:t>
              </a:r>
            </a:p>
          </p:txBody>
        </p:sp>
      </p:grpSp>
      <p:grpSp>
        <p:nvGrpSpPr>
          <p:cNvPr id="26" name="Gruppieren 25">
            <a:extLst>
              <a:ext uri="{FF2B5EF4-FFF2-40B4-BE49-F238E27FC236}">
                <a16:creationId xmlns:a16="http://schemas.microsoft.com/office/drawing/2014/main" id="{94B29011-837E-BF3C-CCF0-78FF623A0F90}"/>
              </a:ext>
            </a:extLst>
          </p:cNvPr>
          <p:cNvGrpSpPr/>
          <p:nvPr/>
        </p:nvGrpSpPr>
        <p:grpSpPr>
          <a:xfrm>
            <a:off x="1080000" y="3355741"/>
            <a:ext cx="9721350" cy="540000"/>
            <a:chOff x="1080000" y="3194428"/>
            <a:chExt cx="9721350" cy="540000"/>
          </a:xfrm>
        </p:grpSpPr>
        <p:sp>
          <p:nvSpPr>
            <p:cNvPr id="16" name="Textplatzhalter 31">
              <a:extLst>
                <a:ext uri="{FF2B5EF4-FFF2-40B4-BE49-F238E27FC236}">
                  <a16:creationId xmlns:a16="http://schemas.microsoft.com/office/drawing/2014/main" id="{E6ED1C34-6A7C-735C-89AA-F51AC68FE057}"/>
                </a:ext>
              </a:extLst>
            </p:cNvPr>
            <p:cNvSpPr txBox="1">
              <a:spLocks/>
            </p:cNvSpPr>
            <p:nvPr/>
          </p:nvSpPr>
          <p:spPr>
            <a:xfrm>
              <a:off x="1080000"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93% </a:t>
              </a:r>
              <a:r>
                <a:rPr lang="de-DE" dirty="0" err="1"/>
                <a:t>of</a:t>
              </a:r>
              <a:r>
                <a:rPr lang="de-DE" dirty="0"/>
                <a:t> </a:t>
              </a:r>
              <a:r>
                <a:rPr lang="de-DE" dirty="0" err="1"/>
                <a:t>customers</a:t>
              </a:r>
              <a:r>
                <a:rPr lang="de-DE" dirty="0"/>
                <a:t> </a:t>
              </a:r>
              <a:r>
                <a:rPr lang="de-DE" dirty="0" err="1"/>
                <a:t>generate</a:t>
              </a:r>
              <a:r>
                <a:rPr lang="de-DE" dirty="0"/>
                <a:t> </a:t>
              </a:r>
              <a:r>
                <a:rPr lang="de-DE" dirty="0" err="1"/>
                <a:t>zero</a:t>
              </a:r>
              <a:r>
                <a:rPr lang="de-DE" dirty="0"/>
                <a:t> </a:t>
              </a:r>
              <a:r>
                <a:rPr lang="de-DE" dirty="0" err="1"/>
                <a:t>revenue</a:t>
              </a:r>
              <a:endParaRPr lang="de-DE" dirty="0"/>
            </a:p>
          </p:txBody>
        </p:sp>
        <p:sp>
          <p:nvSpPr>
            <p:cNvPr id="17" name="Textplatzhalter 31">
              <a:extLst>
                <a:ext uri="{FF2B5EF4-FFF2-40B4-BE49-F238E27FC236}">
                  <a16:creationId xmlns:a16="http://schemas.microsoft.com/office/drawing/2014/main" id="{6D24B187-DD88-F406-AA69-1018872F06DE}"/>
                </a:ext>
              </a:extLst>
            </p:cNvPr>
            <p:cNvSpPr txBox="1">
              <a:spLocks/>
            </p:cNvSpPr>
            <p:nvPr/>
          </p:nvSpPr>
          <p:spPr>
            <a:xfrm>
              <a:off x="4374675"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Tweedie </a:t>
              </a:r>
              <a:r>
                <a:rPr lang="de-DE" dirty="0" err="1"/>
                <a:t>distribution</a:t>
              </a:r>
              <a:r>
                <a:rPr lang="de-DE" dirty="0"/>
                <a:t> </a:t>
              </a:r>
              <a:r>
                <a:rPr lang="de-DE" dirty="0" err="1"/>
                <a:t>objective</a:t>
              </a:r>
              <a:r>
                <a:rPr lang="de-DE" dirty="0"/>
                <a:t> </a:t>
              </a:r>
            </a:p>
          </p:txBody>
        </p:sp>
        <p:sp>
          <p:nvSpPr>
            <p:cNvPr id="18" name="Textplatzhalter 31">
              <a:extLst>
                <a:ext uri="{FF2B5EF4-FFF2-40B4-BE49-F238E27FC236}">
                  <a16:creationId xmlns:a16="http://schemas.microsoft.com/office/drawing/2014/main" id="{BE0D14C2-54D3-C85F-DB36-591FD2CB0C5F}"/>
                </a:ext>
              </a:extLst>
            </p:cNvPr>
            <p:cNvSpPr txBox="1">
              <a:spLocks/>
            </p:cNvSpPr>
            <p:nvPr/>
          </p:nvSpPr>
          <p:spPr>
            <a:xfrm>
              <a:off x="7669351"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3,296 → 2,595 NOK</a:t>
              </a:r>
            </a:p>
          </p:txBody>
        </p:sp>
      </p:grpSp>
      <p:grpSp>
        <p:nvGrpSpPr>
          <p:cNvPr id="27" name="Gruppieren 26">
            <a:extLst>
              <a:ext uri="{FF2B5EF4-FFF2-40B4-BE49-F238E27FC236}">
                <a16:creationId xmlns:a16="http://schemas.microsoft.com/office/drawing/2014/main" id="{3451980C-B3AC-AEF9-A19F-946C23990AAA}"/>
              </a:ext>
            </a:extLst>
          </p:cNvPr>
          <p:cNvGrpSpPr/>
          <p:nvPr/>
        </p:nvGrpSpPr>
        <p:grpSpPr>
          <a:xfrm>
            <a:off x="1080000" y="4412162"/>
            <a:ext cx="9721350" cy="540000"/>
            <a:chOff x="1080000" y="4089536"/>
            <a:chExt cx="9721350" cy="540000"/>
          </a:xfrm>
        </p:grpSpPr>
        <p:sp>
          <p:nvSpPr>
            <p:cNvPr id="19" name="Textplatzhalter 31">
              <a:extLst>
                <a:ext uri="{FF2B5EF4-FFF2-40B4-BE49-F238E27FC236}">
                  <a16:creationId xmlns:a16="http://schemas.microsoft.com/office/drawing/2014/main" id="{4202EA5D-5CDD-6EEB-BDFD-1D492C1BB987}"/>
                </a:ext>
              </a:extLst>
            </p:cNvPr>
            <p:cNvSpPr txBox="1">
              <a:spLocks/>
            </p:cNvSpPr>
            <p:nvPr/>
          </p:nvSpPr>
          <p:spPr>
            <a:xfrm>
              <a:off x="1080000"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Redundant &amp; </a:t>
              </a:r>
              <a:r>
                <a:rPr lang="de-DE" dirty="0" err="1"/>
                <a:t>noisy</a:t>
              </a:r>
              <a:r>
                <a:rPr lang="de-DE" dirty="0"/>
                <a:t> </a:t>
              </a:r>
              <a:r>
                <a:rPr lang="de-DE" dirty="0" err="1"/>
                <a:t>features</a:t>
              </a:r>
              <a:endParaRPr lang="de-DE" dirty="0"/>
            </a:p>
          </p:txBody>
        </p:sp>
        <p:sp>
          <p:nvSpPr>
            <p:cNvPr id="20" name="Textplatzhalter 31">
              <a:extLst>
                <a:ext uri="{FF2B5EF4-FFF2-40B4-BE49-F238E27FC236}">
                  <a16:creationId xmlns:a16="http://schemas.microsoft.com/office/drawing/2014/main" id="{A7A6404A-B40A-9F31-E6FF-17CA4A95C62F}"/>
                </a:ext>
              </a:extLst>
            </p:cNvPr>
            <p:cNvSpPr txBox="1">
              <a:spLocks/>
            </p:cNvSpPr>
            <p:nvPr/>
          </p:nvSpPr>
          <p:spPr>
            <a:xfrm>
              <a:off x="4374675"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err="1"/>
                <a:t>Sequential</a:t>
              </a:r>
              <a:r>
                <a:rPr lang="de-DE" dirty="0"/>
                <a:t> Forward </a:t>
              </a:r>
              <a:r>
                <a:rPr lang="de-DE" dirty="0" err="1"/>
                <a:t>Selection</a:t>
              </a:r>
              <a:r>
                <a:rPr lang="de-DE" dirty="0"/>
                <a:t> (18 </a:t>
              </a:r>
              <a:r>
                <a:rPr lang="de-DE" dirty="0" err="1"/>
                <a:t>features</a:t>
              </a:r>
              <a:r>
                <a:rPr lang="de-DE" dirty="0"/>
                <a:t>)</a:t>
              </a:r>
            </a:p>
          </p:txBody>
        </p:sp>
        <p:sp>
          <p:nvSpPr>
            <p:cNvPr id="21" name="Textplatzhalter 31">
              <a:extLst>
                <a:ext uri="{FF2B5EF4-FFF2-40B4-BE49-F238E27FC236}">
                  <a16:creationId xmlns:a16="http://schemas.microsoft.com/office/drawing/2014/main" id="{EC870E93-CF03-2AB7-74CA-7537ACC07B5C}"/>
                </a:ext>
              </a:extLst>
            </p:cNvPr>
            <p:cNvSpPr txBox="1">
              <a:spLocks/>
            </p:cNvSpPr>
            <p:nvPr/>
          </p:nvSpPr>
          <p:spPr>
            <a:xfrm>
              <a:off x="7669351"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2,595 → 2,408 NOK</a:t>
              </a:r>
            </a:p>
          </p:txBody>
        </p:sp>
      </p:grpSp>
      <p:grpSp>
        <p:nvGrpSpPr>
          <p:cNvPr id="28" name="Gruppieren 27">
            <a:extLst>
              <a:ext uri="{FF2B5EF4-FFF2-40B4-BE49-F238E27FC236}">
                <a16:creationId xmlns:a16="http://schemas.microsoft.com/office/drawing/2014/main" id="{768AB2A1-9535-0F9D-44FD-41747F8BE797}"/>
              </a:ext>
            </a:extLst>
          </p:cNvPr>
          <p:cNvGrpSpPr/>
          <p:nvPr/>
        </p:nvGrpSpPr>
        <p:grpSpPr>
          <a:xfrm>
            <a:off x="1080000" y="5468583"/>
            <a:ext cx="9721350" cy="540000"/>
            <a:chOff x="1080000" y="4984644"/>
            <a:chExt cx="9721350" cy="540000"/>
          </a:xfrm>
        </p:grpSpPr>
        <p:sp>
          <p:nvSpPr>
            <p:cNvPr id="22" name="Textplatzhalter 31">
              <a:extLst>
                <a:ext uri="{FF2B5EF4-FFF2-40B4-BE49-F238E27FC236}">
                  <a16:creationId xmlns:a16="http://schemas.microsoft.com/office/drawing/2014/main" id="{B1DB0097-357C-EB16-A64C-E6F35B29F741}"/>
                </a:ext>
              </a:extLst>
            </p:cNvPr>
            <p:cNvSpPr txBox="1">
              <a:spLocks/>
            </p:cNvSpPr>
            <p:nvPr/>
          </p:nvSpPr>
          <p:spPr>
            <a:xfrm>
              <a:off x="1080000"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Latent </a:t>
              </a:r>
              <a:r>
                <a:rPr lang="de-DE" dirty="0" err="1"/>
                <a:t>churners</a:t>
              </a:r>
              <a:r>
                <a:rPr lang="de-DE" dirty="0"/>
                <a:t> </a:t>
              </a:r>
              <a:r>
                <a:rPr lang="de-DE" dirty="0" err="1"/>
                <a:t>inflate</a:t>
              </a:r>
              <a:r>
                <a:rPr lang="de-DE" dirty="0"/>
                <a:t> </a:t>
              </a:r>
              <a:r>
                <a:rPr lang="de-DE" dirty="0" err="1"/>
                <a:t>predictions</a:t>
              </a:r>
              <a:endParaRPr lang="de-DE" dirty="0"/>
            </a:p>
          </p:txBody>
        </p:sp>
        <p:sp>
          <p:nvSpPr>
            <p:cNvPr id="23" name="Textplatzhalter 31">
              <a:extLst>
                <a:ext uri="{FF2B5EF4-FFF2-40B4-BE49-F238E27FC236}">
                  <a16:creationId xmlns:a16="http://schemas.microsoft.com/office/drawing/2014/main" id="{7EC573C4-C692-2DF1-6276-61129A19C475}"/>
                </a:ext>
              </a:extLst>
            </p:cNvPr>
            <p:cNvSpPr txBox="1">
              <a:spLocks/>
            </p:cNvSpPr>
            <p:nvPr/>
          </p:nvSpPr>
          <p:spPr>
            <a:xfrm>
              <a:off x="4374675"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Hybrid Two-Stage Model</a:t>
              </a:r>
            </a:p>
          </p:txBody>
        </p:sp>
        <p:sp>
          <p:nvSpPr>
            <p:cNvPr id="24" name="Textplatzhalter 31">
              <a:extLst>
                <a:ext uri="{FF2B5EF4-FFF2-40B4-BE49-F238E27FC236}">
                  <a16:creationId xmlns:a16="http://schemas.microsoft.com/office/drawing/2014/main" id="{E6959372-BC93-2314-E245-EFA40F7D1740}"/>
                </a:ext>
              </a:extLst>
            </p:cNvPr>
            <p:cNvSpPr txBox="1">
              <a:spLocks/>
            </p:cNvSpPr>
            <p:nvPr/>
          </p:nvSpPr>
          <p:spPr>
            <a:xfrm>
              <a:off x="7669351"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2,408 → 2,387 NOK</a:t>
              </a:r>
            </a:p>
          </p:txBody>
        </p:sp>
      </p:grpSp>
      <p:pic>
        <p:nvPicPr>
          <p:cNvPr id="29" name="Graphic 3" descr="Badge 1 with solid fill">
            <a:extLst>
              <a:ext uri="{FF2B5EF4-FFF2-40B4-BE49-F238E27FC236}">
                <a16:creationId xmlns:a16="http://schemas.microsoft.com/office/drawing/2014/main" id="{0CCA921C-9998-E2B3-9917-D5EDE52A19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8069" y="2318355"/>
            <a:ext cx="501930" cy="501930"/>
          </a:xfrm>
          <a:prstGeom prst="rect">
            <a:avLst/>
          </a:prstGeom>
        </p:spPr>
      </p:pic>
      <p:pic>
        <p:nvPicPr>
          <p:cNvPr id="30" name="Graphic 10" descr="Badge with solid fill">
            <a:extLst>
              <a:ext uri="{FF2B5EF4-FFF2-40B4-BE49-F238E27FC236}">
                <a16:creationId xmlns:a16="http://schemas.microsoft.com/office/drawing/2014/main" id="{12E32170-1A81-9AEC-DF7E-7F324A997C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069" y="3428877"/>
            <a:ext cx="501930" cy="501930"/>
          </a:xfrm>
          <a:prstGeom prst="rect">
            <a:avLst/>
          </a:prstGeom>
        </p:spPr>
      </p:pic>
      <p:pic>
        <p:nvPicPr>
          <p:cNvPr id="31" name="Graphic 13" descr="Badge 3 with solid fill">
            <a:extLst>
              <a:ext uri="{FF2B5EF4-FFF2-40B4-BE49-F238E27FC236}">
                <a16:creationId xmlns:a16="http://schemas.microsoft.com/office/drawing/2014/main" id="{A4C5F34B-C32F-DEEA-0C89-F021BE73F8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8069" y="4436964"/>
            <a:ext cx="501930" cy="501930"/>
          </a:xfrm>
          <a:prstGeom prst="rect">
            <a:avLst/>
          </a:prstGeom>
        </p:spPr>
      </p:pic>
      <p:pic>
        <p:nvPicPr>
          <p:cNvPr id="37" name="Inhaltsplatzhalter 99">
            <a:extLst>
              <a:ext uri="{FF2B5EF4-FFF2-40B4-BE49-F238E27FC236}">
                <a16:creationId xmlns:a16="http://schemas.microsoft.com/office/drawing/2014/main" id="{C2C4CDEC-88EF-0A85-1C0C-236FB844422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bwMode="auto">
          <a:xfrm>
            <a:off x="1079999" y="1308382"/>
            <a:ext cx="539750" cy="539750"/>
          </a:xfrm>
          <a:prstGeom prst="rect">
            <a:avLst/>
          </a:prstGeom>
          <a:noFill/>
          <a:ln>
            <a:noFill/>
          </a:ln>
        </p:spPr>
      </p:pic>
      <p:pic>
        <p:nvPicPr>
          <p:cNvPr id="38" name="Inhaltsplatzhalter 100">
            <a:extLst>
              <a:ext uri="{FF2B5EF4-FFF2-40B4-BE49-F238E27FC236}">
                <a16:creationId xmlns:a16="http://schemas.microsoft.com/office/drawing/2014/main" id="{9FD4F576-E989-409A-3225-B28F4737FA6B}"/>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374675" y="1308132"/>
            <a:ext cx="540000" cy="540000"/>
          </a:xfrm>
          <a:prstGeom prst="rect">
            <a:avLst/>
          </a:prstGeom>
        </p:spPr>
      </p:pic>
      <p:pic>
        <p:nvPicPr>
          <p:cNvPr id="39" name="Inhaltsplatzhalter 70">
            <a:extLst>
              <a:ext uri="{FF2B5EF4-FFF2-40B4-BE49-F238E27FC236}">
                <a16:creationId xmlns:a16="http://schemas.microsoft.com/office/drawing/2014/main" id="{4DDF1926-360E-B831-6BD4-4393846F064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bwMode="auto">
          <a:xfrm>
            <a:off x="7669351" y="1308132"/>
            <a:ext cx="540000" cy="540000"/>
          </a:xfrm>
          <a:prstGeom prst="rect">
            <a:avLst/>
          </a:prstGeom>
          <a:noFill/>
          <a:ln>
            <a:noFill/>
          </a:ln>
        </p:spPr>
      </p:pic>
      <p:pic>
        <p:nvPicPr>
          <p:cNvPr id="41" name="Grafik 40" descr="Marke 4 mit einfarbiger Füllung">
            <a:extLst>
              <a:ext uri="{FF2B5EF4-FFF2-40B4-BE49-F238E27FC236}">
                <a16:creationId xmlns:a16="http://schemas.microsoft.com/office/drawing/2014/main" id="{4C0F322F-B4C7-8B33-55F5-C06F2EB27AB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78069" y="5487618"/>
            <a:ext cx="501930" cy="501930"/>
          </a:xfrm>
          <a:prstGeom prst="rect">
            <a:avLst/>
          </a:prstGeom>
        </p:spPr>
      </p:pic>
    </p:spTree>
    <p:extLst>
      <p:ext uri="{BB962C8B-B14F-4D97-AF65-F5344CB8AC3E}">
        <p14:creationId xmlns:p14="http://schemas.microsoft.com/office/powerpoint/2010/main" val="3365470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63B40-9D88-A698-342B-D4BF475EFCD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6B756B-35C0-3FFD-A560-EC5A51C51C84}"/>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632D7C39-11CC-C55F-0198-7B9D102B865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6EE2FA85-0A95-2924-3338-1C73798A4F5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91F371B2-FB30-D8D1-7475-8FF93F5EB58E}"/>
              </a:ext>
            </a:extLst>
          </p:cNvPr>
          <p:cNvSpPr>
            <a:spLocks noGrp="1"/>
          </p:cNvSpPr>
          <p:nvPr>
            <p:ph type="sldNum" sz="quarter" idx="12"/>
          </p:nvPr>
        </p:nvSpPr>
        <p:spPr/>
        <p:txBody>
          <a:bodyPr/>
          <a:lstStyle/>
          <a:p>
            <a:fld id="{5ACA52AF-F19D-405C-AD5F-7D94B96A5CC3}" type="slidenum">
              <a:rPr lang="de-CH" noProof="0" smtClean="0"/>
              <a:t>10</a:t>
            </a:fld>
            <a:endParaRPr lang="de-CH" noProof="0"/>
          </a:p>
        </p:txBody>
      </p:sp>
      <p:sp>
        <p:nvSpPr>
          <p:cNvPr id="9" name="Ellipse 8">
            <a:extLst>
              <a:ext uri="{FF2B5EF4-FFF2-40B4-BE49-F238E27FC236}">
                <a16:creationId xmlns:a16="http://schemas.microsoft.com/office/drawing/2014/main" id="{F21A652C-EF5F-361C-1C3F-867324111F17}"/>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64349104-A0CA-60BD-98A3-E776BC66E1FC}"/>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AA56B318-D467-1B6A-3063-754BA3752937}"/>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42F352B7-E43C-0161-731C-C1898195F47B}"/>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Single-Stage </a:t>
            </a: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568E6531-E5E2-8296-2A92-F86DAAE8D1D4}"/>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BB614301-4E7D-FD57-8726-1BBCD87310C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E71DB375-50A8-D5D3-F8BB-72E4E3DFB11E}"/>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6364E69B-14FE-F202-591E-C9EB468992A4}"/>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62A4303F-9859-1655-63B2-C55658DBD47D}"/>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F6D6DE5-8AC4-89E0-8796-D03B8F4C947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BF79C5BE-B7F3-F0AA-449A-6A330158ACFF}"/>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D127A36A-B61C-DC47-C75E-87B549AFD355}"/>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E0D9C499-5C74-CEFD-2457-0EB07F40DA32}"/>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8D5D5BB4-C0E3-6029-8530-B60FD22CDB82}"/>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EC1A897E-7BB1-90E6-260B-48206C189140}"/>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5CC9ACFF-2AE3-3508-082D-F00707668D90}"/>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37AFA877-7EA0-B991-32AA-D07740FBEBD1}"/>
              </a:ext>
            </a:extLst>
          </p:cNvPr>
          <p:cNvSpPr/>
          <p:nvPr/>
        </p:nvSpPr>
        <p:spPr>
          <a:xfrm>
            <a:off x="731837" y="4205370"/>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058FD6B5-3F5C-6E95-43AB-8CB4AE0F6FB5}"/>
              </a:ext>
            </a:extLst>
          </p:cNvPr>
          <p:cNvSpPr/>
          <p:nvPr/>
        </p:nvSpPr>
        <p:spPr>
          <a:xfrm>
            <a:off x="6388607" y="4200231"/>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635480CD-CF84-5A28-0EB7-7EC71982F1FD}"/>
              </a:ext>
            </a:extLst>
          </p:cNvPr>
          <p:cNvSpPr/>
          <p:nvPr/>
        </p:nvSpPr>
        <p:spPr>
          <a:xfrm>
            <a:off x="73183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AB1211C4-8C5B-0A3C-02A3-1FC463677E97}"/>
              </a:ext>
            </a:extLst>
          </p:cNvPr>
          <p:cNvSpPr/>
          <p:nvPr/>
        </p:nvSpPr>
        <p:spPr>
          <a:xfrm>
            <a:off x="638722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Tree>
    <p:extLst>
      <p:ext uri="{BB962C8B-B14F-4D97-AF65-F5344CB8AC3E}">
        <p14:creationId xmlns:p14="http://schemas.microsoft.com/office/powerpoint/2010/main" val="2526911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02F4A6-B473-4556-C899-8C1DB53ADD9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3EFBBF9-F258-7438-A0C7-15E9AA40397E}"/>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242903B3-DDE1-B692-DA71-06F992BF956C}"/>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04EE266-ACB2-232F-B8BF-F020399538D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AFF97AB-EC78-690C-9EA1-8315D78EA51D}"/>
              </a:ext>
            </a:extLst>
          </p:cNvPr>
          <p:cNvSpPr>
            <a:spLocks noGrp="1"/>
          </p:cNvSpPr>
          <p:nvPr>
            <p:ph type="sldNum" sz="quarter" idx="12"/>
          </p:nvPr>
        </p:nvSpPr>
        <p:spPr/>
        <p:txBody>
          <a:bodyPr/>
          <a:lstStyle/>
          <a:p>
            <a:fld id="{5ACA52AF-F19D-405C-AD5F-7D94B96A5CC3}" type="slidenum">
              <a:rPr lang="de-CH" noProof="0" smtClean="0"/>
              <a:t>11</a:t>
            </a:fld>
            <a:endParaRPr lang="de-CH" noProof="0"/>
          </a:p>
        </p:txBody>
      </p:sp>
      <p:sp>
        <p:nvSpPr>
          <p:cNvPr id="8" name="Inhaltsplatzhalter 7">
            <a:extLst>
              <a:ext uri="{FF2B5EF4-FFF2-40B4-BE49-F238E27FC236}">
                <a16:creationId xmlns:a16="http://schemas.microsoft.com/office/drawing/2014/main" id="{E213D0B8-0037-B088-4513-3B84D66357AB}"/>
              </a:ext>
            </a:extLst>
          </p:cNvPr>
          <p:cNvSpPr>
            <a:spLocks noGrp="1"/>
          </p:cNvSpPr>
          <p:nvPr>
            <p:ph idx="1"/>
          </p:nvPr>
        </p:nvSpPr>
        <p:spPr>
          <a:xfrm>
            <a:off x="731837" y="5781099"/>
            <a:ext cx="10728325" cy="598372"/>
          </a:xfrm>
        </p:spPr>
        <p:txBody>
          <a:bodyPr/>
          <a:lstStyle/>
          <a:p>
            <a:pPr marL="0" indent="0">
              <a:buNone/>
            </a:pPr>
            <a:r>
              <a:rPr lang="de-DE" dirty="0"/>
              <a:t>Architecture </a:t>
            </a:r>
            <a:r>
              <a:rPr lang="de-DE" dirty="0" err="1"/>
              <a:t>provides</a:t>
            </a:r>
            <a:r>
              <a:rPr lang="de-DE" dirty="0"/>
              <a:t> a final MAE </a:t>
            </a:r>
            <a:r>
              <a:rPr lang="de-DE" dirty="0" err="1"/>
              <a:t>of</a:t>
            </a:r>
            <a:r>
              <a:rPr lang="de-DE" dirty="0"/>
              <a:t> 2387 NOK – </a:t>
            </a:r>
            <a:r>
              <a:rPr lang="de-DE" dirty="0" err="1"/>
              <a:t>improvement</a:t>
            </a:r>
            <a:r>
              <a:rPr lang="de-DE" dirty="0"/>
              <a:t> </a:t>
            </a:r>
            <a:r>
              <a:rPr lang="de-DE" dirty="0" err="1"/>
              <a:t>by</a:t>
            </a:r>
            <a:r>
              <a:rPr lang="de-DE" dirty="0"/>
              <a:t> 6% </a:t>
            </a:r>
            <a:r>
              <a:rPr lang="de-DE" dirty="0" err="1"/>
              <a:t>compared</a:t>
            </a:r>
            <a:r>
              <a:rPr lang="de-DE" dirty="0"/>
              <a:t> to </a:t>
            </a:r>
            <a:r>
              <a:rPr lang="de-DE" dirty="0" err="1"/>
              <a:t>the</a:t>
            </a:r>
            <a:r>
              <a:rPr lang="de-DE" dirty="0"/>
              <a:t> single-stage </a:t>
            </a:r>
            <a:r>
              <a:rPr lang="de-DE" dirty="0" err="1"/>
              <a:t>model</a:t>
            </a:r>
            <a:r>
              <a:rPr lang="de-DE" dirty="0"/>
              <a:t> </a:t>
            </a:r>
            <a:endParaRPr lang="en-US" dirty="0"/>
          </a:p>
        </p:txBody>
      </p:sp>
      <p:sp>
        <p:nvSpPr>
          <p:cNvPr id="9" name="Ellipse 8">
            <a:extLst>
              <a:ext uri="{FF2B5EF4-FFF2-40B4-BE49-F238E27FC236}">
                <a16:creationId xmlns:a16="http://schemas.microsoft.com/office/drawing/2014/main" id="{C3E257BB-048F-4E32-B748-CD365B778B41}"/>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3E029B32-81F1-F04F-EAB0-D48B78D9BB1A}"/>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DED619D8-16C7-CD20-ECA8-0DD7CA3950EB}"/>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E2881926-AB19-A91E-5508-85CF580073EE}"/>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F568A0A4-6168-4265-6EFF-0C5A7C4F4D2E}"/>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F82792CA-F78C-DD09-1CF5-25D60E70E4D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BDB84D9D-792E-88FC-97BE-EADBC145A01D}"/>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CD0A2B2C-6614-7F2A-45D4-162B569F910A}"/>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4C2CBF84-DF43-8204-B8F5-37438B77FA38}"/>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21825C0-E970-0100-D41E-BBE8AEB6ECF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0B14403D-6B6B-487A-6271-0DED6F195A29}"/>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613951AA-513E-2A75-082F-24C4606087DF}"/>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8901914F-F277-0900-0829-785BB6C19427}"/>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240656D3-A9A9-898E-D62C-D5A0D29BC1C8}"/>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147FD4DA-6F94-6689-9864-F4EDF97601A3}"/>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A60BD76F-BA83-9240-B1FC-F2703ADEE2FC}"/>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823F4C7B-1A5C-37E1-B7A6-5566D0C242B7}"/>
              </a:ext>
            </a:extLst>
          </p:cNvPr>
          <p:cNvSpPr/>
          <p:nvPr/>
        </p:nvSpPr>
        <p:spPr>
          <a:xfrm>
            <a:off x="731837" y="3706368"/>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B9EFE047-0ECC-1B01-3775-1DE6D498FCE3}"/>
              </a:ext>
            </a:extLst>
          </p:cNvPr>
          <p:cNvSpPr/>
          <p:nvPr/>
        </p:nvSpPr>
        <p:spPr>
          <a:xfrm>
            <a:off x="6388607" y="3701229"/>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1DC672C4-E9B7-A972-6435-BB44A187C494}"/>
              </a:ext>
            </a:extLst>
          </p:cNvPr>
          <p:cNvSpPr/>
          <p:nvPr/>
        </p:nvSpPr>
        <p:spPr>
          <a:xfrm>
            <a:off x="73183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F7F5872D-4114-113A-4E9A-FBDF04B6C59B}"/>
              </a:ext>
            </a:extLst>
          </p:cNvPr>
          <p:cNvSpPr/>
          <p:nvPr/>
        </p:nvSpPr>
        <p:spPr>
          <a:xfrm>
            <a:off x="638722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
        <p:nvSpPr>
          <p:cNvPr id="46" name="Textplatzhalter 12">
            <a:extLst>
              <a:ext uri="{FF2B5EF4-FFF2-40B4-BE49-F238E27FC236}">
                <a16:creationId xmlns:a16="http://schemas.microsoft.com/office/drawing/2014/main" id="{05C0BA3E-F604-4149-02F8-513366EF769F}"/>
              </a:ext>
            </a:extLst>
          </p:cNvPr>
          <p:cNvSpPr txBox="1">
            <a:spLocks/>
          </p:cNvSpPr>
          <p:nvPr/>
        </p:nvSpPr>
        <p:spPr bwMode="auto">
          <a:xfrm rot="5400000">
            <a:off x="5976092" y="64671"/>
            <a:ext cx="238434" cy="10726946"/>
          </a:xfrm>
          <a:custGeom>
            <a:avLst/>
            <a:gdLst>
              <a:gd name="connsiteX0" fmla="*/ 0 w 671941"/>
              <a:gd name="connsiteY0" fmla="*/ 671941 h 1343882"/>
              <a:gd name="connsiteX1" fmla="*/ 335971 w 671941"/>
              <a:gd name="connsiteY1" fmla="*/ 0 h 1343882"/>
              <a:gd name="connsiteX2" fmla="*/ 671941 w 671941"/>
              <a:gd name="connsiteY2" fmla="*/ 671941 h 1343882"/>
              <a:gd name="connsiteX3" fmla="*/ 335971 w 671941"/>
              <a:gd name="connsiteY3" fmla="*/ 1343882 h 1343882"/>
              <a:gd name="connsiteX4" fmla="*/ 0 w 671941"/>
              <a:gd name="connsiteY4" fmla="*/ 671941 h 1343882"/>
              <a:gd name="connsiteX0" fmla="*/ 333954 w 335970"/>
              <a:gd name="connsiteY0" fmla="*/ 671941 h 1343882"/>
              <a:gd name="connsiteX1" fmla="*/ 0 w 335970"/>
              <a:gd name="connsiteY1" fmla="*/ 0 h 1343882"/>
              <a:gd name="connsiteX2" fmla="*/ 335970 w 335970"/>
              <a:gd name="connsiteY2" fmla="*/ 671941 h 1343882"/>
              <a:gd name="connsiteX3" fmla="*/ 0 w 335970"/>
              <a:gd name="connsiteY3" fmla="*/ 1343882 h 1343882"/>
              <a:gd name="connsiteX4" fmla="*/ 333954 w 335970"/>
              <a:gd name="connsiteY4" fmla="*/ 671941 h 1343882"/>
              <a:gd name="connsiteX0" fmla="*/ 0 w 1068721"/>
              <a:gd name="connsiteY0" fmla="*/ 701572 h 1343882"/>
              <a:gd name="connsiteX1" fmla="*/ 732751 w 1068721"/>
              <a:gd name="connsiteY1" fmla="*/ 0 h 1343882"/>
              <a:gd name="connsiteX2" fmla="*/ 1068721 w 1068721"/>
              <a:gd name="connsiteY2" fmla="*/ 671941 h 1343882"/>
              <a:gd name="connsiteX3" fmla="*/ 732751 w 1068721"/>
              <a:gd name="connsiteY3" fmla="*/ 1343882 h 1343882"/>
              <a:gd name="connsiteX4" fmla="*/ 0 w 1068721"/>
              <a:gd name="connsiteY4" fmla="*/ 701572 h 1343882"/>
              <a:gd name="connsiteX0" fmla="*/ 0 w 335970"/>
              <a:gd name="connsiteY0" fmla="*/ 1343882 h 1343882"/>
              <a:gd name="connsiteX1" fmla="*/ 0 w 335970"/>
              <a:gd name="connsiteY1" fmla="*/ 0 h 1343882"/>
              <a:gd name="connsiteX2" fmla="*/ 335970 w 335970"/>
              <a:gd name="connsiteY2" fmla="*/ 671941 h 1343882"/>
              <a:gd name="connsiteX3" fmla="*/ 0 w 335970"/>
              <a:gd name="connsiteY3" fmla="*/ 1343882 h 1343882"/>
              <a:gd name="connsiteX0" fmla="*/ 0 w 426682"/>
              <a:gd name="connsiteY0" fmla="*/ 0 h 1343882"/>
              <a:gd name="connsiteX1" fmla="*/ 335970 w 426682"/>
              <a:gd name="connsiteY1" fmla="*/ 671941 h 1343882"/>
              <a:gd name="connsiteX2" fmla="*/ 0 w 426682"/>
              <a:gd name="connsiteY2" fmla="*/ 1343882 h 1343882"/>
              <a:gd name="connsiteX3" fmla="*/ 426682 w 426682"/>
              <a:gd name="connsiteY3" fmla="*/ 853365 h 1343882"/>
              <a:gd name="connsiteX0" fmla="*/ 0 w 335970"/>
              <a:gd name="connsiteY0" fmla="*/ 0 h 1343882"/>
              <a:gd name="connsiteX1" fmla="*/ 335970 w 335970"/>
              <a:gd name="connsiteY1" fmla="*/ 671941 h 1343882"/>
              <a:gd name="connsiteX2" fmla="*/ 0 w 335970"/>
              <a:gd name="connsiteY2" fmla="*/ 1343882 h 1343882"/>
            </a:gdLst>
            <a:ahLst/>
            <a:cxnLst>
              <a:cxn ang="0">
                <a:pos x="connsiteX0" y="connsiteY0"/>
              </a:cxn>
              <a:cxn ang="0">
                <a:pos x="connsiteX1" y="connsiteY1"/>
              </a:cxn>
              <a:cxn ang="0">
                <a:pos x="connsiteX2" y="connsiteY2"/>
              </a:cxn>
            </a:cxnLst>
            <a:rect l="l" t="t" r="r" b="b"/>
            <a:pathLst>
              <a:path w="335970" h="1343882">
                <a:moveTo>
                  <a:pt x="0" y="0"/>
                </a:moveTo>
                <a:lnTo>
                  <a:pt x="335970" y="671941"/>
                </a:lnTo>
                <a:lnTo>
                  <a:pt x="0" y="134388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Tree>
    <p:extLst>
      <p:ext uri="{BB962C8B-B14F-4D97-AF65-F5344CB8AC3E}">
        <p14:creationId xmlns:p14="http://schemas.microsoft.com/office/powerpoint/2010/main" val="2438526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3772CD-310C-3DD3-E54C-EE597E487929}"/>
              </a:ext>
            </a:extLst>
          </p:cNvPr>
          <p:cNvSpPr>
            <a:spLocks noGrp="1"/>
          </p:cNvSpPr>
          <p:nvPr>
            <p:ph type="title"/>
          </p:nvPr>
        </p:nvSpPr>
        <p:spPr/>
        <p:txBody>
          <a:bodyPr/>
          <a:lstStyle/>
          <a:p>
            <a:r>
              <a:rPr lang="de-DE" dirty="0"/>
              <a:t>Single-Stage </a:t>
            </a:r>
            <a:r>
              <a:rPr lang="de-DE" dirty="0" err="1"/>
              <a:t>LightGBM</a:t>
            </a:r>
            <a:r>
              <a:rPr lang="de-DE" dirty="0"/>
              <a:t> </a:t>
            </a:r>
            <a:r>
              <a:rPr lang="de-DE" dirty="0" err="1"/>
              <a:t>rediscovered</a:t>
            </a:r>
            <a:r>
              <a:rPr lang="de-DE" dirty="0"/>
              <a:t> </a:t>
            </a:r>
            <a:r>
              <a:rPr lang="de-DE" dirty="0" err="1"/>
              <a:t>the</a:t>
            </a:r>
            <a:r>
              <a:rPr lang="de-DE" dirty="0"/>
              <a:t> Segmentation</a:t>
            </a:r>
            <a:endParaRPr lang="en-US" dirty="0"/>
          </a:p>
        </p:txBody>
      </p:sp>
      <p:sp>
        <p:nvSpPr>
          <p:cNvPr id="3" name="Inhaltsplatzhalter 2">
            <a:extLst>
              <a:ext uri="{FF2B5EF4-FFF2-40B4-BE49-F238E27FC236}">
                <a16:creationId xmlns:a16="http://schemas.microsoft.com/office/drawing/2014/main" id="{B9519DF1-048C-F4AB-8C0A-ECFC50B9FE2B}"/>
              </a:ext>
            </a:extLst>
          </p:cNvPr>
          <p:cNvSpPr>
            <a:spLocks noGrp="1"/>
          </p:cNvSpPr>
          <p:nvPr>
            <p:ph idx="1"/>
          </p:nvPr>
        </p:nvSpPr>
        <p:spPr>
          <a:xfrm>
            <a:off x="731837" y="1824368"/>
            <a:ext cx="5256000" cy="3954639"/>
          </a:xfrm>
        </p:spPr>
        <p:txBody>
          <a:bodyPr/>
          <a:lstStyle/>
          <a:p>
            <a:r>
              <a:rPr lang="de-DE" dirty="0" err="1"/>
              <a:t>Recency</a:t>
            </a:r>
            <a:r>
              <a:rPr lang="de-DE" dirty="0"/>
              <a:t>, </a:t>
            </a:r>
            <a:r>
              <a:rPr lang="de-DE" dirty="0" err="1"/>
              <a:t>Monetary</a:t>
            </a:r>
            <a:r>
              <a:rPr lang="de-DE" dirty="0"/>
              <a:t>, </a:t>
            </a:r>
            <a:r>
              <a:rPr lang="de-DE" dirty="0" err="1"/>
              <a:t>Monetary</a:t>
            </a:r>
            <a:r>
              <a:rPr lang="de-DE" dirty="0"/>
              <a:t> x </a:t>
            </a:r>
            <a:r>
              <a:rPr lang="de-DE" dirty="0" err="1"/>
              <a:t>Frequency</a:t>
            </a:r>
            <a:r>
              <a:rPr lang="de-DE" dirty="0"/>
              <a:t> (RFM </a:t>
            </a:r>
            <a:r>
              <a:rPr lang="de-DE" dirty="0" err="1"/>
              <a:t>core</a:t>
            </a:r>
            <a:r>
              <a:rPr lang="de-DE" dirty="0"/>
              <a:t>)</a:t>
            </a:r>
          </a:p>
          <a:p>
            <a:r>
              <a:rPr lang="en-US" dirty="0"/>
              <a:t>Weighted revenue, avg revenue, revenue trend, </a:t>
            </a:r>
            <a:r>
              <a:rPr lang="en-US" dirty="0" err="1"/>
              <a:t>tenure_days</a:t>
            </a:r>
            <a:r>
              <a:rPr lang="en-US" dirty="0"/>
              <a:t>, </a:t>
            </a:r>
            <a:r>
              <a:rPr lang="en-US" dirty="0" err="1"/>
              <a:t>max_retail_price</a:t>
            </a:r>
            <a:r>
              <a:rPr lang="en-US" dirty="0"/>
              <a:t>, </a:t>
            </a:r>
            <a:r>
              <a:rPr lang="en-US" dirty="0" err="1"/>
              <a:t>avg_price_per_week</a:t>
            </a:r>
            <a:r>
              <a:rPr lang="en-US" dirty="0"/>
              <a:t> (behavioral depth) </a:t>
            </a:r>
          </a:p>
          <a:p>
            <a:r>
              <a:rPr lang="en-US" dirty="0"/>
              <a:t>Revenue per day, rentals per day, </a:t>
            </a:r>
            <a:r>
              <a:rPr lang="en-US" dirty="0" err="1"/>
              <a:t>pct_weekly_rentals</a:t>
            </a:r>
            <a:r>
              <a:rPr lang="en-US" dirty="0"/>
              <a:t> (velocity)</a:t>
            </a:r>
          </a:p>
          <a:p>
            <a:r>
              <a:rPr lang="en-US" dirty="0"/>
              <a:t>Summer rentals, active months (seasonality)</a:t>
            </a:r>
          </a:p>
          <a:p>
            <a:r>
              <a:rPr lang="en-US" b="1" dirty="0"/>
              <a:t>cluster_affinity_0 (Bags), </a:t>
            </a:r>
            <a:br>
              <a:rPr lang="en-US" b="1" dirty="0"/>
            </a:br>
            <a:r>
              <a:rPr lang="en-US" b="1" dirty="0"/>
              <a:t>cluster_affinity_1 (Tops), </a:t>
            </a:r>
            <a:br>
              <a:rPr lang="en-US" b="1" dirty="0"/>
            </a:br>
            <a:r>
              <a:rPr lang="en-US" b="1" dirty="0"/>
              <a:t>cluster_affinity_2 (Dresses),</a:t>
            </a:r>
            <a:br>
              <a:rPr lang="en-US" b="1" dirty="0"/>
            </a:br>
            <a:r>
              <a:rPr lang="en-US" b="1" dirty="0"/>
              <a:t>cluster_affinity_7 (Jackets)</a:t>
            </a:r>
            <a:endParaRPr lang="en-US" dirty="0"/>
          </a:p>
        </p:txBody>
      </p:sp>
      <p:sp>
        <p:nvSpPr>
          <p:cNvPr id="4" name="Datumsplatzhalter 3">
            <a:extLst>
              <a:ext uri="{FF2B5EF4-FFF2-40B4-BE49-F238E27FC236}">
                <a16:creationId xmlns:a16="http://schemas.microsoft.com/office/drawing/2014/main" id="{D889E5B2-87B5-EDF1-5E84-453FC81ED78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0EDCB64-FEAF-EFB7-C2D1-A126D04839F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EDC4E02-A0AA-EC0B-0957-332AE766D41D}"/>
              </a:ext>
            </a:extLst>
          </p:cNvPr>
          <p:cNvSpPr>
            <a:spLocks noGrp="1"/>
          </p:cNvSpPr>
          <p:nvPr>
            <p:ph type="sldNum" sz="quarter" idx="12"/>
          </p:nvPr>
        </p:nvSpPr>
        <p:spPr/>
        <p:txBody>
          <a:bodyPr/>
          <a:lstStyle/>
          <a:p>
            <a:fld id="{5ACA52AF-F19D-405C-AD5F-7D94B96A5CC3}" type="slidenum">
              <a:rPr lang="de-CH" noProof="0" smtClean="0"/>
              <a:t>12</a:t>
            </a:fld>
            <a:endParaRPr lang="de-CH" noProof="0"/>
          </a:p>
        </p:txBody>
      </p:sp>
      <p:sp>
        <p:nvSpPr>
          <p:cNvPr id="9" name="Textplatzhalter 31">
            <a:extLst>
              <a:ext uri="{FF2B5EF4-FFF2-40B4-BE49-F238E27FC236}">
                <a16:creationId xmlns:a16="http://schemas.microsoft.com/office/drawing/2014/main" id="{9F9E9F9D-03C6-38AB-B9B6-316881435378}"/>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 (</a:t>
            </a:r>
            <a:r>
              <a:rPr lang="de-DE" dirty="0" err="1">
                <a:solidFill>
                  <a:srgbClr val="215CAF"/>
                </a:solidFill>
              </a:rPr>
              <a:t>grouped</a:t>
            </a:r>
            <a:r>
              <a:rPr lang="de-DE" dirty="0">
                <a:solidFill>
                  <a:srgbClr val="215CAF"/>
                </a:solidFill>
              </a:rPr>
              <a:t>)</a:t>
            </a:r>
          </a:p>
        </p:txBody>
      </p:sp>
      <p:sp>
        <p:nvSpPr>
          <p:cNvPr id="10" name="Textplatzhalter 31">
            <a:extLst>
              <a:ext uri="{FF2B5EF4-FFF2-40B4-BE49-F238E27FC236}">
                <a16:creationId xmlns:a16="http://schemas.microsoft.com/office/drawing/2014/main" id="{EAE829C4-7147-086C-D096-5C8F0B45D75E}"/>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Segmentation </a:t>
            </a:r>
            <a:r>
              <a:rPr lang="de-DE" dirty="0" err="1"/>
              <a:t>Findings</a:t>
            </a:r>
            <a:endParaRPr lang="de-DE" dirty="0"/>
          </a:p>
        </p:txBody>
      </p:sp>
      <p:sp>
        <p:nvSpPr>
          <p:cNvPr id="11" name="Textplatzhalter 8">
            <a:extLst>
              <a:ext uri="{FF2B5EF4-FFF2-40B4-BE49-F238E27FC236}">
                <a16:creationId xmlns:a16="http://schemas.microsoft.com/office/drawing/2014/main" id="{70809E54-15A0-15C9-D52C-F044D298D4C9}"/>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4707ABA6-1E6E-D7BA-1D43-BB1CAFC1B590}"/>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4" name="Grafik 13">
            <a:extLst>
              <a:ext uri="{FF2B5EF4-FFF2-40B4-BE49-F238E27FC236}">
                <a16:creationId xmlns:a16="http://schemas.microsoft.com/office/drawing/2014/main" id="{261DD6B0-6B12-AF6B-D8CF-7B7AEF8572AA}"/>
              </a:ext>
            </a:extLst>
          </p:cNvPr>
          <p:cNvPicPr>
            <a:picLocks noChangeAspect="1"/>
          </p:cNvPicPr>
          <p:nvPr/>
        </p:nvPicPr>
        <p:blipFill>
          <a:blip r:embed="rId3"/>
          <a:stretch>
            <a:fillRect/>
          </a:stretch>
        </p:blipFill>
        <p:spPr>
          <a:xfrm>
            <a:off x="6300738" y="1824368"/>
            <a:ext cx="5558806" cy="1870192"/>
          </a:xfrm>
          <a:prstGeom prst="rect">
            <a:avLst/>
          </a:prstGeom>
        </p:spPr>
      </p:pic>
      <p:pic>
        <p:nvPicPr>
          <p:cNvPr id="16" name="Grafik 15">
            <a:extLst>
              <a:ext uri="{FF2B5EF4-FFF2-40B4-BE49-F238E27FC236}">
                <a16:creationId xmlns:a16="http://schemas.microsoft.com/office/drawing/2014/main" id="{2A1F4E20-169F-A0B4-CBD6-8014BF91EE56}"/>
              </a:ext>
            </a:extLst>
          </p:cNvPr>
          <p:cNvPicPr>
            <a:picLocks noChangeAspect="1"/>
          </p:cNvPicPr>
          <p:nvPr/>
        </p:nvPicPr>
        <p:blipFill>
          <a:blip r:embed="rId4"/>
          <a:stretch>
            <a:fillRect/>
          </a:stretch>
        </p:blipFill>
        <p:spPr>
          <a:xfrm>
            <a:off x="6096000" y="3745438"/>
            <a:ext cx="5763544" cy="2833542"/>
          </a:xfrm>
          <a:prstGeom prst="rect">
            <a:avLst/>
          </a:prstGeom>
        </p:spPr>
      </p:pic>
    </p:spTree>
    <p:extLst>
      <p:ext uri="{BB962C8B-B14F-4D97-AF65-F5344CB8AC3E}">
        <p14:creationId xmlns:p14="http://schemas.microsoft.com/office/powerpoint/2010/main" val="3437399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435D-50FC-C24A-EC2A-992FC5F4155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5BB58-C3B0-2CAD-EC81-35E542913229}"/>
              </a:ext>
            </a:extLst>
          </p:cNvPr>
          <p:cNvSpPr>
            <a:spLocks noGrp="1"/>
          </p:cNvSpPr>
          <p:nvPr>
            <p:ph type="title"/>
          </p:nvPr>
        </p:nvSpPr>
        <p:spPr/>
        <p:txBody>
          <a:bodyPr/>
          <a:lstStyle/>
          <a:p>
            <a:r>
              <a:rPr lang="de-DE" dirty="0"/>
              <a:t>The Churn Model </a:t>
            </a:r>
            <a:r>
              <a:rPr lang="de-DE" dirty="0" err="1"/>
              <a:t>Confirms</a:t>
            </a:r>
            <a:r>
              <a:rPr lang="de-DE" dirty="0"/>
              <a:t> </a:t>
            </a:r>
            <a:r>
              <a:rPr lang="de-DE" dirty="0" err="1"/>
              <a:t>the</a:t>
            </a:r>
            <a:r>
              <a:rPr lang="de-DE" dirty="0"/>
              <a:t> Story</a:t>
            </a:r>
            <a:endParaRPr lang="en-US" dirty="0"/>
          </a:p>
        </p:txBody>
      </p:sp>
      <p:sp>
        <p:nvSpPr>
          <p:cNvPr id="4" name="Datumsplatzhalter 3">
            <a:extLst>
              <a:ext uri="{FF2B5EF4-FFF2-40B4-BE49-F238E27FC236}">
                <a16:creationId xmlns:a16="http://schemas.microsoft.com/office/drawing/2014/main" id="{23360D6C-090B-C498-64ED-DE459A23CE4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5DB874DD-55C8-35C1-B57B-6298FC0DF386}"/>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391C2F00-C03B-B690-78F1-E7C0A386F2A0}"/>
              </a:ext>
            </a:extLst>
          </p:cNvPr>
          <p:cNvSpPr>
            <a:spLocks noGrp="1"/>
          </p:cNvSpPr>
          <p:nvPr>
            <p:ph type="sldNum" sz="quarter" idx="12"/>
          </p:nvPr>
        </p:nvSpPr>
        <p:spPr/>
        <p:txBody>
          <a:bodyPr/>
          <a:lstStyle/>
          <a:p>
            <a:fld id="{5ACA52AF-F19D-405C-AD5F-7D94B96A5CC3}" type="slidenum">
              <a:rPr lang="de-CH" noProof="0" smtClean="0"/>
              <a:t>13</a:t>
            </a:fld>
            <a:endParaRPr lang="de-CH" noProof="0"/>
          </a:p>
        </p:txBody>
      </p:sp>
      <p:sp>
        <p:nvSpPr>
          <p:cNvPr id="9" name="Textplatzhalter 31">
            <a:extLst>
              <a:ext uri="{FF2B5EF4-FFF2-40B4-BE49-F238E27FC236}">
                <a16:creationId xmlns:a16="http://schemas.microsoft.com/office/drawing/2014/main" id="{7B9A804A-F7B0-6EE7-6AC3-6EF298495D14}"/>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Churn </a:t>
            </a:r>
            <a:r>
              <a:rPr lang="de-DE" dirty="0" err="1">
                <a:solidFill>
                  <a:srgbClr val="215CAF"/>
                </a:solidFill>
              </a:rPr>
              <a:t>Classifier</a:t>
            </a:r>
            <a:r>
              <a:rPr lang="de-DE" dirty="0">
                <a:solidFill>
                  <a:srgbClr val="215CAF"/>
                </a:solidFill>
              </a:rPr>
              <a:t> Performance</a:t>
            </a:r>
          </a:p>
        </p:txBody>
      </p:sp>
      <p:sp>
        <p:nvSpPr>
          <p:cNvPr id="10" name="Textplatzhalter 31">
            <a:extLst>
              <a:ext uri="{FF2B5EF4-FFF2-40B4-BE49-F238E27FC236}">
                <a16:creationId xmlns:a16="http://schemas.microsoft.com/office/drawing/2014/main" id="{86BE7471-019E-4717-4F6D-B5D385F5BACF}"/>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a:t>
            </a:r>
          </a:p>
        </p:txBody>
      </p:sp>
      <p:sp>
        <p:nvSpPr>
          <p:cNvPr id="11" name="Textplatzhalter 8">
            <a:extLst>
              <a:ext uri="{FF2B5EF4-FFF2-40B4-BE49-F238E27FC236}">
                <a16:creationId xmlns:a16="http://schemas.microsoft.com/office/drawing/2014/main" id="{771096F0-B0F8-FF89-51F6-254634DD94F1}"/>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1A893718-FC7E-15DE-CC78-B536E264E155}"/>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6" name="Grafik 15">
            <a:extLst>
              <a:ext uri="{FF2B5EF4-FFF2-40B4-BE49-F238E27FC236}">
                <a16:creationId xmlns:a16="http://schemas.microsoft.com/office/drawing/2014/main" id="{10B88883-2A0B-6A16-834D-3BD4304C5747}"/>
              </a:ext>
            </a:extLst>
          </p:cNvPr>
          <p:cNvPicPr>
            <a:picLocks noChangeAspect="1"/>
          </p:cNvPicPr>
          <p:nvPr/>
        </p:nvPicPr>
        <p:blipFill>
          <a:blip r:embed="rId3"/>
          <a:stretch>
            <a:fillRect/>
          </a:stretch>
        </p:blipFill>
        <p:spPr>
          <a:xfrm>
            <a:off x="6096000" y="3745438"/>
            <a:ext cx="5763544" cy="2833542"/>
          </a:xfrm>
          <a:prstGeom prst="rect">
            <a:avLst/>
          </a:prstGeom>
        </p:spPr>
      </p:pic>
      <p:sp>
        <p:nvSpPr>
          <p:cNvPr id="7" name="Inhaltsplatzhalter 19">
            <a:extLst>
              <a:ext uri="{FF2B5EF4-FFF2-40B4-BE49-F238E27FC236}">
                <a16:creationId xmlns:a16="http://schemas.microsoft.com/office/drawing/2014/main" id="{50F304D5-EA69-4687-B55D-8780BB25A037}"/>
              </a:ext>
            </a:extLst>
          </p:cNvPr>
          <p:cNvSpPr txBox="1">
            <a:spLocks/>
          </p:cNvSpPr>
          <p:nvPr/>
        </p:nvSpPr>
        <p:spPr>
          <a:xfrm>
            <a:off x="6204163" y="1877901"/>
            <a:ext cx="5256000" cy="2213453"/>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Recency</a:t>
            </a:r>
            <a:endParaRPr lang="de-DE" dirty="0"/>
          </a:p>
          <a:p>
            <a:r>
              <a:rPr lang="de-DE" dirty="0" err="1"/>
              <a:t>Monetary</a:t>
            </a:r>
            <a:r>
              <a:rPr lang="de-DE" dirty="0"/>
              <a:t> x </a:t>
            </a:r>
            <a:r>
              <a:rPr lang="de-DE" dirty="0" err="1"/>
              <a:t>Frequency</a:t>
            </a:r>
            <a:endParaRPr lang="de-DE" dirty="0"/>
          </a:p>
          <a:p>
            <a:r>
              <a:rPr lang="de-DE" dirty="0" err="1"/>
              <a:t>Pct_weekly_rentals</a:t>
            </a:r>
            <a:endParaRPr lang="de-DE" dirty="0"/>
          </a:p>
          <a:p>
            <a:r>
              <a:rPr lang="de-DE" dirty="0"/>
              <a:t>cluster_affinity_6 (</a:t>
            </a:r>
            <a:r>
              <a:rPr lang="de-DE" dirty="0" err="1"/>
              <a:t>Skirts</a:t>
            </a:r>
            <a:r>
              <a:rPr lang="de-DE" dirty="0"/>
              <a:t>) </a:t>
            </a:r>
            <a:r>
              <a:rPr lang="en-US" dirty="0"/>
              <a:t>→ everyday fashion –could be a loyalty signal</a:t>
            </a:r>
            <a:endParaRPr lang="de-DE" dirty="0"/>
          </a:p>
        </p:txBody>
      </p:sp>
      <p:pic>
        <p:nvPicPr>
          <p:cNvPr id="8" name="Grafik 7">
            <a:extLst>
              <a:ext uri="{FF2B5EF4-FFF2-40B4-BE49-F238E27FC236}">
                <a16:creationId xmlns:a16="http://schemas.microsoft.com/office/drawing/2014/main" id="{3588F285-94D5-6DD4-BEE8-9AC03342101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31837" y="1877901"/>
            <a:ext cx="5256000" cy="3126413"/>
          </a:xfrm>
          <a:prstGeom prst="rect">
            <a:avLst/>
          </a:prstGeom>
        </p:spPr>
      </p:pic>
      <p:sp>
        <p:nvSpPr>
          <p:cNvPr id="17" name="Inhaltsplatzhalter 19">
            <a:extLst>
              <a:ext uri="{FF2B5EF4-FFF2-40B4-BE49-F238E27FC236}">
                <a16:creationId xmlns:a16="http://schemas.microsoft.com/office/drawing/2014/main" id="{C33CE04B-909E-1859-A592-E75C683B238E}"/>
              </a:ext>
            </a:extLst>
          </p:cNvPr>
          <p:cNvSpPr txBox="1">
            <a:spLocks/>
          </p:cNvSpPr>
          <p:nvPr/>
        </p:nvSpPr>
        <p:spPr>
          <a:xfrm>
            <a:off x="840000" y="5004315"/>
            <a:ext cx="5256000" cy="1195764"/>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dirty="0" err="1"/>
              <a:t>Assignment</a:t>
            </a:r>
            <a:r>
              <a:rPr lang="de-DE" dirty="0"/>
              <a:t> Evaluation </a:t>
            </a:r>
            <a:r>
              <a:rPr lang="de-DE" dirty="0" err="1"/>
              <a:t>Metrics</a:t>
            </a:r>
            <a:r>
              <a:rPr lang="de-DE" dirty="0"/>
              <a:t>:</a:t>
            </a:r>
          </a:p>
          <a:p>
            <a:r>
              <a:rPr lang="de-DE" dirty="0"/>
              <a:t>Total Hit Ratio (</a:t>
            </a:r>
            <a:r>
              <a:rPr lang="de-DE" dirty="0" err="1"/>
              <a:t>Accuracy</a:t>
            </a:r>
            <a:r>
              <a:rPr lang="de-DE" dirty="0"/>
              <a:t>): 96%</a:t>
            </a:r>
          </a:p>
          <a:p>
            <a:r>
              <a:rPr lang="de-DE" dirty="0"/>
              <a:t>Recall (</a:t>
            </a:r>
            <a:r>
              <a:rPr lang="de-DE" dirty="0" err="1"/>
              <a:t>Inactive</a:t>
            </a:r>
            <a:r>
              <a:rPr lang="de-DE" dirty="0"/>
              <a:t> </a:t>
            </a:r>
            <a:r>
              <a:rPr lang="de-DE" dirty="0" err="1"/>
              <a:t>customers</a:t>
            </a:r>
            <a:r>
              <a:rPr lang="de-DE" dirty="0"/>
              <a:t>): 99%</a:t>
            </a:r>
          </a:p>
        </p:txBody>
      </p:sp>
    </p:spTree>
    <p:extLst>
      <p:ext uri="{BB962C8B-B14F-4D97-AF65-F5344CB8AC3E}">
        <p14:creationId xmlns:p14="http://schemas.microsoft.com/office/powerpoint/2010/main" val="262873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A47A00-249C-434A-EAC5-62C717836070}"/>
              </a:ext>
            </a:extLst>
          </p:cNvPr>
          <p:cNvSpPr>
            <a:spLocks noGrp="1"/>
          </p:cNvSpPr>
          <p:nvPr>
            <p:ph type="title"/>
          </p:nvPr>
        </p:nvSpPr>
        <p:spPr/>
        <p:txBody>
          <a:bodyPr/>
          <a:lstStyle/>
          <a:p>
            <a:r>
              <a:rPr lang="de-DE" dirty="0" err="1"/>
              <a:t>Recommendations</a:t>
            </a:r>
            <a:r>
              <a:rPr lang="de-DE" dirty="0"/>
              <a:t> to </a:t>
            </a:r>
            <a:r>
              <a:rPr lang="de-DE" dirty="0" err="1"/>
              <a:t>Vibrent</a:t>
            </a:r>
            <a:endParaRPr lang="en-US" dirty="0"/>
          </a:p>
        </p:txBody>
      </p:sp>
      <p:sp>
        <p:nvSpPr>
          <p:cNvPr id="4" name="Datumsplatzhalter 3">
            <a:extLst>
              <a:ext uri="{FF2B5EF4-FFF2-40B4-BE49-F238E27FC236}">
                <a16:creationId xmlns:a16="http://schemas.microsoft.com/office/drawing/2014/main" id="{D8FDF408-E51C-4711-3171-1EFC56C40014}"/>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7DB9B62-7DF1-2607-A814-EB54967955C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16D27D-EF82-8204-43AB-60014F84F0EA}"/>
              </a:ext>
            </a:extLst>
          </p:cNvPr>
          <p:cNvSpPr>
            <a:spLocks noGrp="1"/>
          </p:cNvSpPr>
          <p:nvPr>
            <p:ph type="sldNum" sz="quarter" idx="12"/>
          </p:nvPr>
        </p:nvSpPr>
        <p:spPr/>
        <p:txBody>
          <a:bodyPr/>
          <a:lstStyle/>
          <a:p>
            <a:fld id="{5ACA52AF-F19D-405C-AD5F-7D94B96A5CC3}" type="slidenum">
              <a:rPr lang="de-CH" noProof="0" smtClean="0"/>
              <a:t>14</a:t>
            </a:fld>
            <a:endParaRPr lang="de-CH" noProof="0"/>
          </a:p>
        </p:txBody>
      </p:sp>
      <p:grpSp>
        <p:nvGrpSpPr>
          <p:cNvPr id="19" name="Gruppieren 18">
            <a:extLst>
              <a:ext uri="{FF2B5EF4-FFF2-40B4-BE49-F238E27FC236}">
                <a16:creationId xmlns:a16="http://schemas.microsoft.com/office/drawing/2014/main" id="{9CB6AD72-CC2C-0304-AD0C-0CF4AA8BF70E}"/>
              </a:ext>
            </a:extLst>
          </p:cNvPr>
          <p:cNvGrpSpPr/>
          <p:nvPr/>
        </p:nvGrpSpPr>
        <p:grpSpPr>
          <a:xfrm>
            <a:off x="731837" y="1412875"/>
            <a:ext cx="10728325" cy="1194858"/>
            <a:chOff x="731837" y="1412875"/>
            <a:chExt cx="10728325" cy="1194858"/>
          </a:xfrm>
        </p:grpSpPr>
        <p:sp>
          <p:nvSpPr>
            <p:cNvPr id="7" name="Rechteck: abgerundete Ecken 6">
              <a:extLst>
                <a:ext uri="{FF2B5EF4-FFF2-40B4-BE49-F238E27FC236}">
                  <a16:creationId xmlns:a16="http://schemas.microsoft.com/office/drawing/2014/main" id="{1EB69DE7-0668-FF16-B6B3-F6C0054EAD53}"/>
                </a:ext>
              </a:extLst>
            </p:cNvPr>
            <p:cNvSpPr/>
            <p:nvPr/>
          </p:nvSpPr>
          <p:spPr>
            <a:xfrm>
              <a:off x="731837" y="1412875"/>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de-DE" sz="2400" b="1" dirty="0" err="1"/>
                <a:t>Expand</a:t>
              </a:r>
              <a:r>
                <a:rPr lang="de-DE" sz="2400" b="1" dirty="0"/>
                <a:t> Bags &amp; Accessoires</a:t>
              </a:r>
            </a:p>
            <a:p>
              <a:pPr marL="1076325"/>
              <a:r>
                <a:rPr lang="en-US" dirty="0"/>
                <a:t>Highest revenue-per-item in the catalog (10,139 NOK), utilization 71% above average but lowest ROI due to acquisition cost. Growth lever, not efficiency play.</a:t>
              </a:r>
              <a:endParaRPr lang="de-DE" dirty="0"/>
            </a:p>
          </p:txBody>
        </p:sp>
        <p:pic>
          <p:nvPicPr>
            <p:cNvPr id="10" name="Grafik 9" descr="Marke 1 Silhouette">
              <a:extLst>
                <a:ext uri="{FF2B5EF4-FFF2-40B4-BE49-F238E27FC236}">
                  <a16:creationId xmlns:a16="http://schemas.microsoft.com/office/drawing/2014/main" id="{FC61B064-C6DF-B4F1-CA91-E29C56DE837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5049" y="1553104"/>
              <a:ext cx="914400" cy="914400"/>
            </a:xfrm>
            <a:prstGeom prst="rect">
              <a:avLst/>
            </a:prstGeom>
          </p:spPr>
        </p:pic>
      </p:grpSp>
      <p:grpSp>
        <p:nvGrpSpPr>
          <p:cNvPr id="20" name="Gruppieren 19">
            <a:extLst>
              <a:ext uri="{FF2B5EF4-FFF2-40B4-BE49-F238E27FC236}">
                <a16:creationId xmlns:a16="http://schemas.microsoft.com/office/drawing/2014/main" id="{2A333CD4-A0D0-E4A0-86F7-4481AB75BA64}"/>
              </a:ext>
            </a:extLst>
          </p:cNvPr>
          <p:cNvGrpSpPr/>
          <p:nvPr/>
        </p:nvGrpSpPr>
        <p:grpSpPr>
          <a:xfrm>
            <a:off x="731837" y="3060171"/>
            <a:ext cx="10728325" cy="1194858"/>
            <a:chOff x="731837" y="3116713"/>
            <a:chExt cx="10728325" cy="1194858"/>
          </a:xfrm>
        </p:grpSpPr>
        <p:sp>
          <p:nvSpPr>
            <p:cNvPr id="11" name="Rechteck: abgerundete Ecken 10">
              <a:extLst>
                <a:ext uri="{FF2B5EF4-FFF2-40B4-BE49-F238E27FC236}">
                  <a16:creationId xmlns:a16="http://schemas.microsoft.com/office/drawing/2014/main" id="{0D5A5E6D-8A90-A188-7523-62EB848413D8}"/>
                </a:ext>
              </a:extLst>
            </p:cNvPr>
            <p:cNvSpPr/>
            <p:nvPr/>
          </p:nvSpPr>
          <p:spPr>
            <a:xfrm>
              <a:off x="731837" y="3116713"/>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Reallocate away from Trousers &amp; Skirts</a:t>
              </a:r>
              <a:endParaRPr lang="de-DE" sz="2400" b="1" dirty="0"/>
            </a:p>
            <a:p>
              <a:pPr marL="1076325"/>
              <a:r>
                <a:rPr lang="en-US" dirty="0"/>
                <a:t>16% of inventory, 11% of revenue. Never-rented rates up to 35.8%. Shift budget toward Tops &amp; Sweaters with an ROI exceeding 3.5x.</a:t>
              </a:r>
              <a:endParaRPr lang="de-DE" dirty="0"/>
            </a:p>
          </p:txBody>
        </p:sp>
        <p:pic>
          <p:nvPicPr>
            <p:cNvPr id="16" name="Grafik 15" descr="Abzeichen Silhouette">
              <a:extLst>
                <a:ext uri="{FF2B5EF4-FFF2-40B4-BE49-F238E27FC236}">
                  <a16:creationId xmlns:a16="http://schemas.microsoft.com/office/drawing/2014/main" id="{9C365F7B-66C5-3743-AAD4-C67E04DC849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85049" y="3256942"/>
              <a:ext cx="914400" cy="914400"/>
            </a:xfrm>
            <a:prstGeom prst="rect">
              <a:avLst/>
            </a:prstGeom>
          </p:spPr>
        </p:pic>
      </p:grpSp>
      <p:grpSp>
        <p:nvGrpSpPr>
          <p:cNvPr id="21" name="Gruppieren 20">
            <a:extLst>
              <a:ext uri="{FF2B5EF4-FFF2-40B4-BE49-F238E27FC236}">
                <a16:creationId xmlns:a16="http://schemas.microsoft.com/office/drawing/2014/main" id="{D6DE2B58-BD18-E3F5-A419-D95C8B96E1B6}"/>
              </a:ext>
            </a:extLst>
          </p:cNvPr>
          <p:cNvGrpSpPr/>
          <p:nvPr/>
        </p:nvGrpSpPr>
        <p:grpSpPr>
          <a:xfrm>
            <a:off x="731837" y="4707467"/>
            <a:ext cx="10728325" cy="1194858"/>
            <a:chOff x="731837" y="4707467"/>
            <a:chExt cx="10728325" cy="1194858"/>
          </a:xfrm>
        </p:grpSpPr>
        <p:sp>
          <p:nvSpPr>
            <p:cNvPr id="13" name="Rechteck: abgerundete Ecken 12">
              <a:extLst>
                <a:ext uri="{FF2B5EF4-FFF2-40B4-BE49-F238E27FC236}">
                  <a16:creationId xmlns:a16="http://schemas.microsoft.com/office/drawing/2014/main" id="{E044C822-A75B-328F-401D-4E6FD42DA3F3}"/>
                </a:ext>
              </a:extLst>
            </p:cNvPr>
            <p:cNvSpPr/>
            <p:nvPr/>
          </p:nvSpPr>
          <p:spPr>
            <a:xfrm>
              <a:off x="731837" y="4707467"/>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Trigger a second-category nudge after the first Dress rental</a:t>
              </a:r>
              <a:endParaRPr lang="de-DE" sz="2400" b="1" dirty="0"/>
            </a:p>
            <a:p>
              <a:pPr marL="1076325"/>
              <a:r>
                <a:rPr lang="en-US" dirty="0"/>
                <a:t>At-risk customers spend 79% in a single category. One cross-category interaction changes the behavioral profile from occasion renter to subscriber.</a:t>
              </a:r>
              <a:endParaRPr lang="de-DE" dirty="0"/>
            </a:p>
          </p:txBody>
        </p:sp>
        <p:pic>
          <p:nvPicPr>
            <p:cNvPr id="18" name="Grafik 17" descr="Marke 3 Silhouette">
              <a:extLst>
                <a:ext uri="{FF2B5EF4-FFF2-40B4-BE49-F238E27FC236}">
                  <a16:creationId xmlns:a16="http://schemas.microsoft.com/office/drawing/2014/main" id="{3BE42710-EA39-EF11-8A27-095065DFFA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049" y="4847696"/>
              <a:ext cx="914400" cy="914400"/>
            </a:xfrm>
            <a:prstGeom prst="rect">
              <a:avLst/>
            </a:prstGeom>
          </p:spPr>
        </p:pic>
      </p:grpSp>
    </p:spTree>
    <p:extLst>
      <p:ext uri="{BB962C8B-B14F-4D97-AF65-F5344CB8AC3E}">
        <p14:creationId xmlns:p14="http://schemas.microsoft.com/office/powerpoint/2010/main" val="1749823387"/>
      </p:ext>
    </p:extLst>
  </p:cSld>
  <p:clrMapOvr>
    <a:masterClrMapping/>
  </p:clrMapOvr>
</p:sld>
</file>

<file path=ppt/theme/theme1.xml><?xml version="1.0" encoding="utf-8"?>
<a:theme xmlns:a="http://schemas.openxmlformats.org/drawingml/2006/main" name="ETH Zürich">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Präsentation3" id="{9C84984C-18ED-5E49-A574-15FF8A3954B8}" vid="{0B390235-9264-874C-ABEB-5D2188FC234E}"/>
    </a:ext>
  </a:extLst>
</a:theme>
</file>

<file path=ppt/theme/theme2.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D0F59E03F3A02E49BD70E31348545014" ma:contentTypeVersion="7" ma:contentTypeDescription="Ein neues Dokument erstellen." ma:contentTypeScope="" ma:versionID="907cdc0f808be0b4bc1373a5a8f6a492">
  <xsd:schema xmlns:xsd="http://www.w3.org/2001/XMLSchema" xmlns:xs="http://www.w3.org/2001/XMLSchema" xmlns:p="http://schemas.microsoft.com/office/2006/metadata/properties" xmlns:ns2="7fd05bba-d45d-467f-a5a8-3f2970e80e4a" targetNamespace="http://schemas.microsoft.com/office/2006/metadata/properties" ma:root="true" ma:fieldsID="6eaf8534fcc486a778b01aa1a7a62fa4" ns2:_="">
    <xsd:import namespace="7fd05bba-d45d-467f-a5a8-3f2970e80e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d05bba-d45d-467f-a5a8-3f2970e80e4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C3B1C8D-BA84-44B8-B31F-BF26E7BAC85C}">
  <ds:schemaRefs>
    <ds:schemaRef ds:uri="7fd05bba-d45d-467f-a5a8-3f2970e80e4a"/>
    <ds:schemaRef ds:uri="http://schemas.microsoft.com/office/2006/documentManagement/types"/>
    <ds:schemaRef ds:uri="http://schemas.microsoft.com/office/2006/metadata/properties"/>
    <ds:schemaRef ds:uri="http://schemas.openxmlformats.org/package/2006/metadata/core-properties"/>
    <ds:schemaRef ds:uri="http://purl.org/dc/dcmitype/"/>
    <ds:schemaRef ds:uri="http://purl.org/dc/terms/"/>
    <ds:schemaRef ds:uri="http://www.w3.org/XML/1998/namespace"/>
    <ds:schemaRef ds:uri="http://purl.org/dc/elements/1.1/"/>
    <ds:schemaRef ds:uri="http://schemas.microsoft.com/office/infopath/2007/PartnerControls"/>
  </ds:schemaRefs>
</ds:datastoreItem>
</file>

<file path=customXml/itemProps2.xml><?xml version="1.0" encoding="utf-8"?>
<ds:datastoreItem xmlns:ds="http://schemas.openxmlformats.org/officeDocument/2006/customXml" ds:itemID="{E0CFCB78-2973-46E2-963D-C72C98C43B41}">
  <ds:schemaRefs>
    <ds:schemaRef ds:uri="http://schemas.microsoft.com/sharepoint/v3/contenttype/forms"/>
  </ds:schemaRefs>
</ds:datastoreItem>
</file>

<file path=customXml/itemProps3.xml><?xml version="1.0" encoding="utf-8"?>
<ds:datastoreItem xmlns:ds="http://schemas.openxmlformats.org/officeDocument/2006/customXml" ds:itemID="{6B7B52BC-33EF-4C54-820C-9984D5F8AFB1}">
  <ds:schemaRefs>
    <ds:schemaRef ds:uri="7fd05bba-d45d-467f-a5a8-3f2970e80e4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eth_pp_praesentation_ohne_klassifizierung</Template>
  <TotalTime>0</TotalTime>
  <Words>3621</Words>
  <Application>Microsoft Office PowerPoint</Application>
  <PresentationFormat>Widescreen</PresentationFormat>
  <Paragraphs>327</Paragraphs>
  <Slides>14</Slides>
  <Notes>14</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Aptos Black</vt:lpstr>
      <vt:lpstr>Arial</vt:lpstr>
      <vt:lpstr>Courier New</vt:lpstr>
      <vt:lpstr>Segoe UI</vt:lpstr>
      <vt:lpstr>Symbol</vt:lpstr>
      <vt:lpstr>Wingdings</vt:lpstr>
      <vt:lpstr>ETH Zürich</vt:lpstr>
      <vt:lpstr>Final Presentation   Marketing Analytics</vt:lpstr>
      <vt:lpstr>Introduction &amp; Problem Setup</vt:lpstr>
      <vt:lpstr>PowerPoint Presentation</vt:lpstr>
      <vt:lpstr>PowerPoint Presentation</vt:lpstr>
      <vt:lpstr>PowerPoint Presentation</vt:lpstr>
      <vt:lpstr>PowerPoint Presentation</vt:lpstr>
      <vt:lpstr>The Baseline - Comparing RFM-based Models</vt:lpstr>
      <vt:lpstr>The Baseline - LightGBM Already Beats the Industry Benchmark on RFM-Features</vt:lpstr>
      <vt:lpstr>The Modeling Journey – Four Problems, Four Solutions, Three Improvements</vt:lpstr>
      <vt:lpstr>Hybrid Two-Stage Model</vt:lpstr>
      <vt:lpstr>Hybrid Two-Stage Model</vt:lpstr>
      <vt:lpstr>Single-Stage LightGBM rediscovered the Segmentation</vt:lpstr>
      <vt:lpstr>The Churn Model Confirms the Story</vt:lpstr>
      <vt:lpstr>Recommendations to Vibrent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Voss  Julius</dc:creator>
  <cp:lastModifiedBy>Constantin Cimpoes</cp:lastModifiedBy>
  <cp:revision>30</cp:revision>
  <dcterms:created xsi:type="dcterms:W3CDTF">2025-11-07T08:31:52Z</dcterms:created>
  <dcterms:modified xsi:type="dcterms:W3CDTF">2026-04-29T10:30:27Z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0x010100D0F59E03F3A02E49BD70E31348545014</vt:lpwstr>
  </property>
</Properties>
</file>